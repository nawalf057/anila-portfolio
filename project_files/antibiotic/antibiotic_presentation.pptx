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6"/>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IBM Plex Sans Bold" charset="1" panose="020B0803050203000203"/>
      <p:regular r:id="rId29"/>
    </p:embeddedFont>
    <p:embeddedFont>
      <p:font typeface="Source Serif Pro Bold" charset="1" panose="02040803050405020204"/>
      <p:regular r:id="rId30"/>
    </p:embeddedFont>
    <p:embeddedFont>
      <p:font typeface="IBM Plex Sans" charset="1" panose="020B0503050203000203"/>
      <p:regular r:id="rId31"/>
    </p:embeddedFont>
    <p:embeddedFont>
      <p:font typeface="IBM Plex Sans Italics" charset="1" panose="020B0503050203000203"/>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notesMasters/notesMaster1.xml" Type="http://schemas.openxmlformats.org/officeDocument/2006/relationships/notesMaster"/><Relationship Id="rId27" Target="theme/theme2.xml" Type="http://schemas.openxmlformats.org/officeDocument/2006/relationships/theme"/><Relationship Id="rId28" Target="notesSlides/notesSlide1.xml" Type="http://schemas.openxmlformats.org/officeDocument/2006/relationships/notesSlide"/><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notesSlides/notesSlide2.xml" Type="http://schemas.openxmlformats.org/officeDocument/2006/relationships/notesSlide"/><Relationship Id="rId33" Target="notesSlides/notesSlide3.xml" Type="http://schemas.openxmlformats.org/officeDocument/2006/relationships/notesSlide"/><Relationship Id="rId34" Target="notesSlides/notesSlide4.xml" Type="http://schemas.openxmlformats.org/officeDocument/2006/relationships/notesSlide"/><Relationship Id="rId35" Target="notesSlides/notesSlide5.xml" Type="http://schemas.openxmlformats.org/officeDocument/2006/relationships/notesSlide"/><Relationship Id="rId36" Target="notesSlides/notesSlide6.xml" Type="http://schemas.openxmlformats.org/officeDocument/2006/relationships/notesSlide"/><Relationship Id="rId37" Target="notesSlides/notesSlide7.xml" Type="http://schemas.openxmlformats.org/officeDocument/2006/relationships/notesSlide"/><Relationship Id="rId38" Target="notesSlides/notesSlide8.xml" Type="http://schemas.openxmlformats.org/officeDocument/2006/relationships/notesSlide"/><Relationship Id="rId39" Target="fonts/font39.fntdata" Type="http://schemas.openxmlformats.org/officeDocument/2006/relationships/font"/><Relationship Id="rId4" Target="theme/theme1.xml" Type="http://schemas.openxmlformats.org/officeDocument/2006/relationships/theme"/><Relationship Id="rId40" Target="notesSlides/notesSlide9.xml" Type="http://schemas.openxmlformats.org/officeDocument/2006/relationships/notesSlide"/><Relationship Id="rId41" Target="notesSlides/notesSlide10.xml" Type="http://schemas.openxmlformats.org/officeDocument/2006/relationships/notesSlide"/><Relationship Id="rId42" Target="notesSlides/notesSlide11.xml" Type="http://schemas.openxmlformats.org/officeDocument/2006/relationships/notesSlide"/><Relationship Id="rId43" Target="notesSlides/notesSlide12.xml" Type="http://schemas.openxmlformats.org/officeDocument/2006/relationships/notesSlide"/><Relationship Id="rId44" Target="notesSlides/notesSlide13.xml" Type="http://schemas.openxmlformats.org/officeDocument/2006/relationships/notesSlide"/><Relationship Id="rId45" Target="notesSlides/notesSlide14.xml" Type="http://schemas.openxmlformats.org/officeDocument/2006/relationships/notesSlide"/><Relationship Id="rId46" Target="notesSlides/notesSlide15.xml" Type="http://schemas.openxmlformats.org/officeDocument/2006/relationships/notesSlide"/><Relationship Id="rId47" Target="notesSlides/notesSlide16.xml" Type="http://schemas.openxmlformats.org/officeDocument/2006/relationships/notesSlide"/><Relationship Id="rId48" Target="notesSlides/notesSlide17.xml" Type="http://schemas.openxmlformats.org/officeDocument/2006/relationships/notesSlide"/><Relationship Id="rId49" Target="notesSlides/notesSlide18.xml" Type="http://schemas.openxmlformats.org/officeDocument/2006/relationships/notesSlide"/><Relationship Id="rId5" Target="tableStyles.xml" Type="http://schemas.openxmlformats.org/officeDocument/2006/relationships/tableStyles"/><Relationship Id="rId50" Target="notesSlides/notesSlide19.xml" Type="http://schemas.openxmlformats.org/officeDocument/2006/relationships/notesSlide"/><Relationship Id="rId51" Target="notesSlides/notesSlide20.xml" Type="http://schemas.openxmlformats.org/officeDocument/2006/relationships/notesSlide"/><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Introduce yourself and the project: a community antibiotic stewardship programme in rural Chakwal, delivered as a pharmacist-led public health initiative under the DAAD EPOS umbrella. Three pillars: counselling at the dispensing point, flyer and poster drives, and free medical camps.</a:t>
            </a:r>
          </a:p>
          <a:p>
            <a:r>
              <a:rPr lang="en-US"/>
              <a:t>1</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The presentation follows the logic of a public health intervention: problem, setting, objectives, the education content delivered, the survey of 200 community members, results, sustainability and conclusion.</a:t>
            </a:r>
          </a:p>
          <a:p>
            <a:r>
              <a:rPr lang="en-US"/>
              <a:t>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Antimicrobial resistance is one of the top global public health threats. The 1.27 million figure is from the Global Research on Antimicrobial Resistance study published in The Lancet in 2022. In rural communities the drivers are structural: no diagnostics, easy over-the-counter access and low awareness.</a:t>
            </a:r>
          </a:p>
          <a:p>
            <a:r>
              <a:rPr lang="en-US"/>
              <a:t>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The programme covers five villages around Choa Saidan Shah. Each village has a main contact point, but all three channels were used in every village. Respondent counts per village come from the survey data sheet.</a:t>
            </a:r>
          </a:p>
          <a:p>
            <a:r>
              <a:rPr lang="en-US"/>
              <a:t>4</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Objectives cover knowledge (what resistance is), behaviour (no viral misuse, finish the course, no sharing or saving) and prevention (hygiene, One Health).</a:t>
            </a:r>
          </a:p>
          <a:p>
            <a:r>
              <a:rPr lang="en-US"/>
              <a:t>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Explain the mechanism in plain language: exposure without need, incomplete killing, selection of survivors. The key message counters the most common misconception, that the person becomes immune.</a:t>
            </a:r>
          </a:p>
          <a:p>
            <a:r>
              <a:rPr lang="en-US"/>
              <a:t>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These four drivers were observed at the pharmacy counter and during door-to-door visits, and were confirmed by the baseline survey: two thirds of respondents had bought antibiotics without a prescription in the previous three months.</a:t>
            </a:r>
          </a:p>
          <a:p>
            <a:r>
              <a:rPr lang="en-US"/>
              <a:t>7</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Each myth is answered with one plain sentence so that dispensers and health workers can repeat it. The first three are the most frequent; the last two were added after the first month of fieldwork.</a:t>
            </a:r>
          </a:p>
          <a:p>
            <a:r>
              <a:rPr lang="en-US"/>
              <a:t>8</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The pharmacy counter is the moment of highest attention: the patient is holding the medicine. Flyers and posters carry the message home. Camps reach people who never come to a pharmacy and show that a diagnosis, not a pill, comes first.</a:t>
            </a:r>
          </a:p>
          <a:p>
            <a:r>
              <a:rPr lang="en-US"/>
              <a:t>9</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Show the actual materials: the flyer and poster designed for this programme, the camp outreach format, and the hygiene sessions that feed into golden rule four. Image sources are listed at the end of the deck.</a:t>
            </a:r>
          </a:p>
          <a:p>
            <a:r>
              <a:rPr lang="en-US"/>
              <a:t>10</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The four rules are printed on the flyer and the dispensary poster and repeated at every counselling contact. They form the four practice items in the survey.</a:t>
            </a:r>
          </a:p>
          <a:p>
            <a:r>
              <a:rPr lang="en-US"/>
              <a:t>11</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Practical skills close the gap between knowing and doing. Timing and storage are the two most common practical errors seen at the counter.</a:t>
            </a:r>
          </a:p>
          <a:p>
            <a:r>
              <a:rPr lang="en-US"/>
              <a:t>12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One Health links human, animal and environmental health. In farming households the animal shed is part of the medicine cabinet, so the message must cover livestock as well.</a:t>
            </a:r>
          </a:p>
          <a:p>
            <a:r>
              <a:rPr lang="en-US"/>
              <a:t>13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Each of the 200 respondents answered the same 8-item knowledge questionnaire before and immediately after the education contact, and the 5 practice questions at baseline and eight weeks later. The full respondent-level dataset, all calculations and the chart data are in the accompanying Excel workbook.</a:t>
            </a:r>
          </a:p>
          <a:p>
            <a:r>
              <a:rPr lang="en-US"/>
              <a:t>14</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Overall correct answers rose from 39% to 89%. The weakest baseline topics were resistance itself, livestock use and viral misuse, exactly the misconceptions the myths slide targets. Village and channel breakdowns are in the Demographics sheet of the workbook.</a:t>
            </a:r>
          </a:p>
          <a:p>
            <a:r>
              <a:rPr lang="en-US"/>
              <a:t>15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Behaviour changed less than knowledge, as expected, but every practice fell substantially. Over-the-counter purchase remains the most persistent behaviour and needs counter enforcement by dispensers, not only patient education.</a:t>
            </a:r>
          </a:p>
          <a:p>
            <a:r>
              <a:rPr lang="en-US"/>
              <a:t>16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Outcomes moved from knowledge to behaviour. The sustainability plan follows the four pillars of the long-term action plan: workshops, peer advocates, counter enforcement and impact tracking. Survey figures are from the pre/post questionnaire in the Excel workbook.</a:t>
            </a:r>
          </a:p>
          <a:p>
            <a:r>
              <a:rPr lang="en-US"/>
              <a:t>17</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Close with the three levers: education at the counter, enforcement at the counter, and prevention through One Health. Invite questions.</a:t>
            </a:r>
          </a:p>
          <a:p>
            <a:r>
              <a:rPr lang="en-US"/>
              <a:t>18</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Online sources were last checked on the access date shown. The national reference is Pakistan's National Action Plan for AMR (2017).</a:t>
            </a:r>
          </a:p>
          <a:p>
            <a:r>
              <a:rPr lang="en-US"/>
              <a:t>19</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Thank the audience and invite questions.</a:t>
            </a:r>
          </a:p>
          <a:p>
            <a:r>
              <a:rPr lang="en-US"/>
              <a:t>21</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 Id="rId7" Target="../media/image5.png" Type="http://schemas.openxmlformats.org/officeDocument/2006/relationships/image"/><Relationship Id="rId8" Target="../media/image6.png" Type="http://schemas.openxmlformats.org/officeDocument/2006/relationships/image"/><Relationship Id="rId9"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10.png" Type="http://schemas.openxmlformats.org/officeDocument/2006/relationships/image"/><Relationship Id="rId6" Target="../media/image11.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7.svg" Type="http://schemas.openxmlformats.org/officeDocument/2006/relationships/image"/><Relationship Id="rId2" Target="../notesSlides/notesSlide4.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 Id="rId9" Target="../media/image16.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5.svg" Type="http://schemas.openxmlformats.org/officeDocument/2006/relationships/image"/><Relationship Id="rId2" Target="../notesSlides/notesSlide6.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20.png" Type="http://schemas.openxmlformats.org/officeDocument/2006/relationships/image"/><Relationship Id="rId6" Target="../media/image21.svg" Type="http://schemas.openxmlformats.org/officeDocument/2006/relationships/image"/><Relationship Id="rId7" Target="../media/image22.png" Type="http://schemas.openxmlformats.org/officeDocument/2006/relationships/image"/><Relationship Id="rId8" Target="../media/image23.svg" Type="http://schemas.openxmlformats.org/officeDocument/2006/relationships/image"/><Relationship Id="rId9" Target="../media/image24.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1.png" Type="http://schemas.openxmlformats.org/officeDocument/2006/relationships/image"/><Relationship Id="rId11" Target="../media/image32.png" Type="http://schemas.openxmlformats.org/officeDocument/2006/relationships/image"/><Relationship Id="rId12" Target="../media/image33.png" Type="http://schemas.openxmlformats.org/officeDocument/2006/relationships/image"/><Relationship Id="rId2" Target="../notesSlides/notesSlide7.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26.png" Type="http://schemas.openxmlformats.org/officeDocument/2006/relationships/image"/><Relationship Id="rId6" Target="../media/image27.svg" Type="http://schemas.openxmlformats.org/officeDocument/2006/relationships/image"/><Relationship Id="rId7" Target="../media/image28.png" Type="http://schemas.openxmlformats.org/officeDocument/2006/relationships/image"/><Relationship Id="rId8" Target="../media/image29.svg" Type="http://schemas.openxmlformats.org/officeDocument/2006/relationships/image"/><Relationship Id="rId9" Target="../media/image30.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7.png" Type="http://schemas.openxmlformats.org/officeDocument/2006/relationships/image"/><Relationship Id="rId11" Target="../media/image38.png" Type="http://schemas.openxmlformats.org/officeDocument/2006/relationships/image"/><Relationship Id="rId2" Target="../notesSlides/notesSlide9.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34.png" Type="http://schemas.openxmlformats.org/officeDocument/2006/relationships/image"/><Relationship Id="rId6" Target="../media/image35.svg" Type="http://schemas.openxmlformats.org/officeDocument/2006/relationships/image"/><Relationship Id="rId7" Target="../media/image28.png" Type="http://schemas.openxmlformats.org/officeDocument/2006/relationships/image"/><Relationship Id="rId8" Target="../media/image29.svg" Type="http://schemas.openxmlformats.org/officeDocument/2006/relationships/image"/><Relationship Id="rId9" Target="../media/image3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4.svg" Type="http://schemas.openxmlformats.org/officeDocument/2006/relationships/image"/><Relationship Id="rId2" Target="../notesSlides/notesSlide10.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39.png" Type="http://schemas.openxmlformats.org/officeDocument/2006/relationships/image"/><Relationship Id="rId6" Target="../media/image40.png" Type="http://schemas.openxmlformats.org/officeDocument/2006/relationships/image"/><Relationship Id="rId7" Target="../media/image41.jpeg" Type="http://schemas.openxmlformats.org/officeDocument/2006/relationships/image"/><Relationship Id="rId8" Target="../media/image42.jpeg" Type="http://schemas.openxmlformats.org/officeDocument/2006/relationships/image"/><Relationship Id="rId9" Target="../media/image43.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45.png" Type="http://schemas.openxmlformats.org/officeDocument/2006/relationships/image"/><Relationship Id="rId6" Target="../media/image46.svg" Type="http://schemas.openxmlformats.org/officeDocument/2006/relationships/image"/><Relationship Id="rId7" Target="../media/image39.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0.png" Type="http://schemas.openxmlformats.org/officeDocument/2006/relationships/image"/><Relationship Id="rId11" Target="../media/image51.png" Type="http://schemas.openxmlformats.org/officeDocument/2006/relationships/image"/><Relationship Id="rId2" Target="../notesSlides/notesSlide12.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47.png" Type="http://schemas.openxmlformats.org/officeDocument/2006/relationships/image"/><Relationship Id="rId6" Target="../media/image48.svg" Type="http://schemas.openxmlformats.org/officeDocument/2006/relationships/image"/><Relationship Id="rId7" Target="../media/image28.png" Type="http://schemas.openxmlformats.org/officeDocument/2006/relationships/image"/><Relationship Id="rId8" Target="../media/image29.svg" Type="http://schemas.openxmlformats.org/officeDocument/2006/relationships/image"/><Relationship Id="rId9" Target="../media/image49.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52.jpeg" Type="http://schemas.openxmlformats.org/officeDocument/2006/relationships/image"/><Relationship Id="rId6" Target="../media/image53.png" Type="http://schemas.openxmlformats.org/officeDocument/2006/relationships/image"/><Relationship Id="rId7" Target="../media/image54.svg" Type="http://schemas.openxmlformats.org/officeDocument/2006/relationships/image"/><Relationship Id="rId8" Target="../media/image55.png" Type="http://schemas.openxmlformats.org/officeDocument/2006/relationships/image"/><Relationship Id="rId9" Target="../media/image5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62.svg" Type="http://schemas.openxmlformats.org/officeDocument/2006/relationships/image"/><Relationship Id="rId11" Target="../media/image63.png" Type="http://schemas.openxmlformats.org/officeDocument/2006/relationships/image"/><Relationship Id="rId12" Target="../media/image64.svg" Type="http://schemas.openxmlformats.org/officeDocument/2006/relationships/image"/><Relationship Id="rId13" Target="../media/image65.png" Type="http://schemas.openxmlformats.org/officeDocument/2006/relationships/image"/><Relationship Id="rId14" Target="../media/image66.svg" Type="http://schemas.openxmlformats.org/officeDocument/2006/relationships/image"/><Relationship Id="rId2" Target="../notesSlides/notesSlide14.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57.png" Type="http://schemas.openxmlformats.org/officeDocument/2006/relationships/image"/><Relationship Id="rId6" Target="../media/image58.svg" Type="http://schemas.openxmlformats.org/officeDocument/2006/relationships/image"/><Relationship Id="rId7" Target="../media/image59.png" Type="http://schemas.openxmlformats.org/officeDocument/2006/relationships/image"/><Relationship Id="rId8" Target="../media/image60.svg" Type="http://schemas.openxmlformats.org/officeDocument/2006/relationships/image"/><Relationship Id="rId9" Target="../media/image61.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67.png" Type="http://schemas.openxmlformats.org/officeDocument/2006/relationships/image"/><Relationship Id="rId6" Target="../media/image68.png" Type="http://schemas.openxmlformats.org/officeDocument/2006/relationships/image"/><Relationship Id="rId7" Target="../media/image69.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70.png" Type="http://schemas.openxmlformats.org/officeDocument/2006/relationships/image"/><Relationship Id="rId6" Target="../media/image68.png" Type="http://schemas.openxmlformats.org/officeDocument/2006/relationships/image"/><Relationship Id="rId7" Target="../media/image69.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 Id="rId5" Target="../media/image71.png" Type="http://schemas.openxmlformats.org/officeDocument/2006/relationships/image"/><Relationship Id="rId6" Target="../media/image72.svg" Type="http://schemas.openxmlformats.org/officeDocument/2006/relationships/image"/><Relationship Id="rId7" Target="../media/image73.png" Type="http://schemas.openxmlformats.org/officeDocument/2006/relationships/image"/><Relationship Id="rId8" Target="../media/image74.png" Type="http://schemas.openxmlformats.org/officeDocument/2006/relationships/image"/><Relationship Id="rId9" Target="../media/image75.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8.jpeg" Type="http://schemas.openxmlformats.org/officeDocument/2006/relationships/image"/><Relationship Id="rId4" Target="../media/image9.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4304A"/>
        </a:solidFill>
      </p:bgPr>
    </p:bg>
    <p:spTree>
      <p:nvGrpSpPr>
        <p:cNvPr id="1" name=""/>
        <p:cNvGrpSpPr/>
        <p:nvPr/>
      </p:nvGrpSpPr>
      <p:grpSpPr>
        <a:xfrm>
          <a:off x="0" y="0"/>
          <a:ext cx="0" cy="0"/>
          <a:chOff x="0" y="0"/>
          <a:chExt cx="0" cy="0"/>
        </a:xfrm>
      </p:grpSpPr>
      <p:sp>
        <p:nvSpPr>
          <p:cNvPr name="TextBox 2" id="2"/>
          <p:cNvSpPr txBox="true"/>
          <p:nvPr/>
        </p:nvSpPr>
        <p:spPr>
          <a:xfrm rot="0">
            <a:off x="1220724" y="1920240"/>
            <a:ext cx="10149840" cy="411480"/>
          </a:xfrm>
          <a:prstGeom prst="rect">
            <a:avLst/>
          </a:prstGeom>
        </p:spPr>
        <p:txBody>
          <a:bodyPr anchor="t" rtlCol="false" tIns="0" lIns="0" bIns="0" rIns="0">
            <a:spAutoFit/>
          </a:bodyPr>
          <a:lstStyle/>
          <a:p>
            <a:pPr algn="l">
              <a:lnSpc>
                <a:spcPts val="1980"/>
              </a:lnSpc>
            </a:pPr>
            <a:r>
              <a:rPr lang="en-US" b="true" sz="1650" spc="298">
                <a:solidFill>
                  <a:srgbClr val="7FD1C0"/>
                </a:solidFill>
                <a:latin typeface="IBM Plex Sans Bold"/>
                <a:ea typeface="IBM Plex Sans Bold"/>
                <a:cs typeface="IBM Plex Sans Bold"/>
                <a:sym typeface="IBM Plex Sans Bold"/>
              </a:rPr>
              <a:t>DAAD EPOS · PUBLIC HEALTH INITIATIVE · COMMUNITY PHARMACY</a:t>
            </a:r>
          </a:p>
        </p:txBody>
      </p:sp>
      <p:sp>
        <p:nvSpPr>
          <p:cNvPr name="TextBox 3" id="3"/>
          <p:cNvSpPr txBox="true"/>
          <p:nvPr/>
        </p:nvSpPr>
        <p:spPr>
          <a:xfrm rot="0">
            <a:off x="1220724" y="2546985"/>
            <a:ext cx="9738360" cy="3145155"/>
          </a:xfrm>
          <a:prstGeom prst="rect">
            <a:avLst/>
          </a:prstGeom>
        </p:spPr>
        <p:txBody>
          <a:bodyPr anchor="t" rtlCol="false" tIns="0" lIns="0" bIns="0" rIns="0">
            <a:spAutoFit/>
          </a:bodyPr>
          <a:lstStyle/>
          <a:p>
            <a:pPr algn="l">
              <a:lnSpc>
                <a:spcPts val="6838"/>
              </a:lnSpc>
            </a:pPr>
            <a:r>
              <a:rPr lang="en-US" sz="5700" b="true">
                <a:solidFill>
                  <a:srgbClr val="FFFFFF"/>
                </a:solidFill>
                <a:latin typeface="Source Serif Pro Bold"/>
                <a:ea typeface="Source Serif Pro Bold"/>
                <a:cs typeface="Source Serif Pro Bold"/>
                <a:sym typeface="Source Serif Pro Bold"/>
              </a:rPr>
              <a:t>Preserving Our Medicines: Safe Antibiotic Use in Rural Communities</a:t>
            </a:r>
          </a:p>
        </p:txBody>
      </p:sp>
      <p:sp>
        <p:nvSpPr>
          <p:cNvPr name="TextBox 4" id="4"/>
          <p:cNvSpPr txBox="true"/>
          <p:nvPr/>
        </p:nvSpPr>
        <p:spPr>
          <a:xfrm rot="0">
            <a:off x="1220724" y="5878830"/>
            <a:ext cx="9738360" cy="1184910"/>
          </a:xfrm>
          <a:prstGeom prst="rect">
            <a:avLst/>
          </a:prstGeom>
        </p:spPr>
        <p:txBody>
          <a:bodyPr anchor="t" rtlCol="false" tIns="0" lIns="0" bIns="0" rIns="0">
            <a:spAutoFit/>
          </a:bodyPr>
          <a:lstStyle/>
          <a:p>
            <a:pPr algn="l">
              <a:lnSpc>
                <a:spcPts val="2520"/>
              </a:lnSpc>
            </a:pPr>
            <a:r>
              <a:rPr lang="en-US" sz="2100">
                <a:solidFill>
                  <a:srgbClr val="C5CACD"/>
                </a:solidFill>
                <a:latin typeface="IBM Plex Sans"/>
                <a:ea typeface="IBM Plex Sans"/>
                <a:cs typeface="IBM Plex Sans"/>
                <a:sym typeface="IBM Plex Sans"/>
              </a:rPr>
              <a:t>Educating 200 people in five villages of Chakwal District, Pakistan, through pharmacy counselling, flyer &amp; poster drives, door-to-door outreach and free medical camps</a:t>
            </a:r>
          </a:p>
        </p:txBody>
      </p:sp>
      <p:grpSp>
        <p:nvGrpSpPr>
          <p:cNvPr name="Group 5" id="5"/>
          <p:cNvGrpSpPr/>
          <p:nvPr/>
        </p:nvGrpSpPr>
        <p:grpSpPr>
          <a:xfrm rot="0">
            <a:off x="1204055" y="7252811"/>
            <a:ext cx="101917" cy="1404938"/>
            <a:chOff x="0" y="0"/>
            <a:chExt cx="135890" cy="1873250"/>
          </a:xfrm>
        </p:grpSpPr>
        <p:sp>
          <p:nvSpPr>
            <p:cNvPr name="Freeform 6" id="6"/>
            <p:cNvSpPr/>
            <p:nvPr/>
          </p:nvSpPr>
          <p:spPr>
            <a:xfrm flipH="false" flipV="false" rot="0">
              <a:off x="0" y="0"/>
              <a:ext cx="135890" cy="1873250"/>
            </a:xfrm>
            <a:custGeom>
              <a:avLst/>
              <a:gdLst/>
              <a:ahLst/>
              <a:cxnLst/>
              <a:rect r="r" b="b" t="t" l="l"/>
              <a:pathLst>
                <a:path h="1873250" w="135890">
                  <a:moveTo>
                    <a:pt x="0" y="0"/>
                  </a:moveTo>
                  <a:lnTo>
                    <a:pt x="135890" y="0"/>
                  </a:lnTo>
                  <a:lnTo>
                    <a:pt x="135890" y="1873250"/>
                  </a:lnTo>
                  <a:lnTo>
                    <a:pt x="0" y="1873250"/>
                  </a:lnTo>
                  <a:close/>
                </a:path>
              </a:pathLst>
            </a:custGeom>
            <a:solidFill>
              <a:srgbClr val="0B6E60"/>
            </a:solidFill>
            <a:ln w="19050" cap="sq">
              <a:solidFill>
                <a:srgbClr val="0B6E60"/>
              </a:solidFill>
              <a:prstDash val="solid"/>
              <a:miter/>
            </a:ln>
          </p:spPr>
        </p:sp>
      </p:grpSp>
      <p:sp>
        <p:nvSpPr>
          <p:cNvPr name="TextBox 7" id="7"/>
          <p:cNvSpPr txBox="true"/>
          <p:nvPr/>
        </p:nvSpPr>
        <p:spPr>
          <a:xfrm rot="0">
            <a:off x="1522476" y="7250430"/>
            <a:ext cx="8229600" cy="457962"/>
          </a:xfrm>
          <a:prstGeom prst="rect">
            <a:avLst/>
          </a:prstGeom>
        </p:spPr>
        <p:txBody>
          <a:bodyPr anchor="t" rtlCol="false" tIns="0" lIns="0" bIns="0" rIns="0">
            <a:spAutoFit/>
          </a:bodyPr>
          <a:lstStyle/>
          <a:p>
            <a:pPr algn="l">
              <a:lnSpc>
                <a:spcPts val="2520"/>
              </a:lnSpc>
            </a:pPr>
            <a:r>
              <a:rPr lang="en-US" sz="2100" b="true">
                <a:solidFill>
                  <a:srgbClr val="FFFFFF"/>
                </a:solidFill>
                <a:latin typeface="IBM Plex Sans Bold"/>
                <a:ea typeface="IBM Plex Sans Bold"/>
                <a:cs typeface="IBM Plex Sans Bold"/>
                <a:sym typeface="IBM Plex Sans Bold"/>
              </a:rPr>
              <a:t>Anila Munir</a:t>
            </a:r>
          </a:p>
        </p:txBody>
      </p:sp>
      <p:sp>
        <p:nvSpPr>
          <p:cNvPr name="TextBox 8" id="8"/>
          <p:cNvSpPr txBox="true"/>
          <p:nvPr/>
        </p:nvSpPr>
        <p:spPr>
          <a:xfrm rot="0">
            <a:off x="1522476" y="7763256"/>
            <a:ext cx="8915400" cy="384048"/>
          </a:xfrm>
          <a:prstGeom prst="rect">
            <a:avLst/>
          </a:prstGeom>
        </p:spPr>
        <p:txBody>
          <a:bodyPr anchor="t" rtlCol="false" tIns="0" lIns="0" bIns="0" rIns="0">
            <a:spAutoFit/>
          </a:bodyPr>
          <a:lstStyle/>
          <a:p>
            <a:pPr algn="l">
              <a:lnSpc>
                <a:spcPts val="1980"/>
              </a:lnSpc>
            </a:pPr>
            <a:r>
              <a:rPr lang="en-US" sz="1650">
                <a:solidFill>
                  <a:srgbClr val="C5CACD"/>
                </a:solidFill>
                <a:latin typeface="IBM Plex Sans"/>
                <a:ea typeface="IBM Plex Sans"/>
                <a:cs typeface="IBM Plex Sans"/>
                <a:sym typeface="IBM Plex Sans"/>
              </a:rPr>
              <a:t>Clinical &amp; Community Pharmacist · Choa Saidan Shah, Chakwal, Pakistan</a:t>
            </a:r>
          </a:p>
        </p:txBody>
      </p:sp>
      <p:sp>
        <p:nvSpPr>
          <p:cNvPr name="TextBox 9" id="9"/>
          <p:cNvSpPr txBox="true"/>
          <p:nvPr/>
        </p:nvSpPr>
        <p:spPr>
          <a:xfrm rot="0">
            <a:off x="1522476" y="8147304"/>
            <a:ext cx="8229600" cy="384048"/>
          </a:xfrm>
          <a:prstGeom prst="rect">
            <a:avLst/>
          </a:prstGeom>
        </p:spPr>
        <p:txBody>
          <a:bodyPr anchor="t" rtlCol="false" tIns="0" lIns="0" bIns="0" rIns="0">
            <a:spAutoFit/>
          </a:bodyPr>
          <a:lstStyle/>
          <a:p>
            <a:pPr algn="l">
              <a:lnSpc>
                <a:spcPts val="1980"/>
              </a:lnSpc>
            </a:pPr>
            <a:r>
              <a:rPr lang="en-US" sz="1650">
                <a:solidFill>
                  <a:srgbClr val="C5CACD"/>
                </a:solidFill>
                <a:latin typeface="IBM Plex Sans"/>
                <a:ea typeface="IBM Plex Sans"/>
                <a:cs typeface="IBM Plex Sans"/>
                <a:sym typeface="IBM Plex Sans"/>
              </a:rPr>
              <a:t>March – August 2026 · anilamunir15@gmail.com</a:t>
            </a:r>
          </a:p>
        </p:txBody>
      </p:sp>
      <p:sp>
        <p:nvSpPr>
          <p:cNvPr name="Freeform 10" id="10"/>
          <p:cNvSpPr/>
          <p:nvPr/>
        </p:nvSpPr>
        <p:spPr>
          <a:xfrm flipH="false" flipV="false" rot="0">
            <a:off x="11714674" y="2524954"/>
            <a:ext cx="5374243" cy="6060043"/>
          </a:xfrm>
          <a:custGeom>
            <a:avLst/>
            <a:gdLst/>
            <a:ahLst/>
            <a:cxnLst/>
            <a:rect r="r" b="b" t="t" l="l"/>
            <a:pathLst>
              <a:path h="6060043" w="5374243">
                <a:moveTo>
                  <a:pt x="0" y="0"/>
                </a:moveTo>
                <a:lnTo>
                  <a:pt x="5374243" y="0"/>
                </a:lnTo>
                <a:lnTo>
                  <a:pt x="5374243" y="6060043"/>
                </a:lnTo>
                <a:lnTo>
                  <a:pt x="0" y="606004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1" id="11"/>
          <p:cNvSpPr txBox="true"/>
          <p:nvPr/>
        </p:nvSpPr>
        <p:spPr>
          <a:xfrm rot="0">
            <a:off x="12207240" y="2976372"/>
            <a:ext cx="4389120" cy="384048"/>
          </a:xfrm>
          <a:prstGeom prst="rect">
            <a:avLst/>
          </a:prstGeom>
        </p:spPr>
        <p:txBody>
          <a:bodyPr anchor="t" rtlCol="false" tIns="0" lIns="0" bIns="0" rIns="0">
            <a:spAutoFit/>
          </a:bodyPr>
          <a:lstStyle/>
          <a:p>
            <a:pPr algn="l">
              <a:lnSpc>
                <a:spcPts val="1800"/>
              </a:lnSpc>
            </a:pPr>
            <a:r>
              <a:rPr lang="en-US" b="true" sz="1500" spc="300">
                <a:solidFill>
                  <a:srgbClr val="7FD1C0"/>
                </a:solidFill>
                <a:latin typeface="IBM Plex Sans Bold"/>
                <a:ea typeface="IBM Plex Sans Bold"/>
                <a:cs typeface="IBM Plex Sans Bold"/>
                <a:sym typeface="IBM Plex Sans Bold"/>
              </a:rPr>
              <a:t>THREE PILLARS OF FIELDWORK</a:t>
            </a:r>
          </a:p>
        </p:txBody>
      </p:sp>
      <p:sp>
        <p:nvSpPr>
          <p:cNvPr name="Freeform 12" id="12"/>
          <p:cNvSpPr/>
          <p:nvPr/>
        </p:nvSpPr>
        <p:spPr>
          <a:xfrm flipH="false" flipV="false" rot="0">
            <a:off x="12194734" y="3759394"/>
            <a:ext cx="847963" cy="847963"/>
          </a:xfrm>
          <a:custGeom>
            <a:avLst/>
            <a:gdLst/>
            <a:ahLst/>
            <a:cxnLst/>
            <a:rect r="r" b="b" t="t" l="l"/>
            <a:pathLst>
              <a:path h="847963" w="847963">
                <a:moveTo>
                  <a:pt x="0" y="0"/>
                </a:moveTo>
                <a:lnTo>
                  <a:pt x="847963" y="0"/>
                </a:lnTo>
                <a:lnTo>
                  <a:pt x="847963" y="847963"/>
                </a:lnTo>
                <a:lnTo>
                  <a:pt x="0" y="8479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3" id="13"/>
          <p:cNvGrpSpPr/>
          <p:nvPr/>
        </p:nvGrpSpPr>
        <p:grpSpPr>
          <a:xfrm rot="0">
            <a:off x="12412980" y="3977640"/>
            <a:ext cx="411480" cy="411480"/>
            <a:chOff x="0" y="0"/>
            <a:chExt cx="548640" cy="548640"/>
          </a:xfrm>
        </p:grpSpPr>
        <p:sp>
          <p:nvSpPr>
            <p:cNvPr name="Freeform 14" id="14"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7"/>
              <a:stretch>
                <a:fillRect l="0" t="0" r="0" b="0"/>
              </a:stretch>
            </a:blipFill>
          </p:spPr>
        </p:sp>
      </p:grpSp>
      <p:sp>
        <p:nvSpPr>
          <p:cNvPr name="TextBox 15" id="15"/>
          <p:cNvSpPr txBox="true"/>
          <p:nvPr/>
        </p:nvSpPr>
        <p:spPr>
          <a:xfrm rot="0">
            <a:off x="13235940" y="3703320"/>
            <a:ext cx="3429000" cy="438912"/>
          </a:xfrm>
          <a:prstGeom prst="rect">
            <a:avLst/>
          </a:prstGeom>
        </p:spPr>
        <p:txBody>
          <a:bodyPr anchor="t" rtlCol="false" tIns="0" lIns="0" bIns="0" rIns="0">
            <a:spAutoFit/>
          </a:bodyPr>
          <a:lstStyle/>
          <a:p>
            <a:pPr algn="l">
              <a:lnSpc>
                <a:spcPts val="2340"/>
              </a:lnSpc>
            </a:pPr>
            <a:r>
              <a:rPr lang="en-US" sz="1950" b="true">
                <a:solidFill>
                  <a:srgbClr val="FFFFFF"/>
                </a:solidFill>
                <a:latin typeface="IBM Plex Sans Bold"/>
                <a:ea typeface="IBM Plex Sans Bold"/>
                <a:cs typeface="IBM Plex Sans Bold"/>
                <a:sym typeface="IBM Plex Sans Bold"/>
              </a:rPr>
              <a:t>Dispensing counselling</a:t>
            </a:r>
          </a:p>
        </p:txBody>
      </p:sp>
      <p:sp>
        <p:nvSpPr>
          <p:cNvPr name="TextBox 16" id="16"/>
          <p:cNvSpPr txBox="true"/>
          <p:nvPr/>
        </p:nvSpPr>
        <p:spPr>
          <a:xfrm rot="0">
            <a:off x="13235940" y="4188714"/>
            <a:ext cx="3429000" cy="666750"/>
          </a:xfrm>
          <a:prstGeom prst="rect">
            <a:avLst/>
          </a:prstGeom>
        </p:spPr>
        <p:txBody>
          <a:bodyPr anchor="t" rtlCol="false" tIns="0" lIns="0" bIns="0" rIns="0">
            <a:spAutoFit/>
          </a:bodyPr>
          <a:lstStyle/>
          <a:p>
            <a:pPr algn="l">
              <a:lnSpc>
                <a:spcPts val="1889"/>
              </a:lnSpc>
            </a:pPr>
            <a:r>
              <a:rPr lang="en-US" sz="1575">
                <a:solidFill>
                  <a:srgbClr val="C5CACD"/>
                </a:solidFill>
                <a:latin typeface="IBM Plex Sans"/>
                <a:ea typeface="IBM Plex Sans"/>
                <a:cs typeface="IBM Plex Sans"/>
                <a:sym typeface="IBM Plex Sans"/>
              </a:rPr>
              <a:t>Patient education at the pharmacy counter</a:t>
            </a:r>
          </a:p>
        </p:txBody>
      </p:sp>
      <p:sp>
        <p:nvSpPr>
          <p:cNvPr name="Freeform 17" id="17"/>
          <p:cNvSpPr/>
          <p:nvPr/>
        </p:nvSpPr>
        <p:spPr>
          <a:xfrm flipH="false" flipV="false" rot="0">
            <a:off x="12194734" y="5336734"/>
            <a:ext cx="847963" cy="847963"/>
          </a:xfrm>
          <a:custGeom>
            <a:avLst/>
            <a:gdLst/>
            <a:ahLst/>
            <a:cxnLst/>
            <a:rect r="r" b="b" t="t" l="l"/>
            <a:pathLst>
              <a:path h="847963" w="847963">
                <a:moveTo>
                  <a:pt x="0" y="0"/>
                </a:moveTo>
                <a:lnTo>
                  <a:pt x="847963" y="0"/>
                </a:lnTo>
                <a:lnTo>
                  <a:pt x="847963" y="847963"/>
                </a:lnTo>
                <a:lnTo>
                  <a:pt x="0" y="8479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8" id="18"/>
          <p:cNvGrpSpPr/>
          <p:nvPr/>
        </p:nvGrpSpPr>
        <p:grpSpPr>
          <a:xfrm rot="0">
            <a:off x="12412980" y="5554980"/>
            <a:ext cx="411480" cy="411480"/>
            <a:chOff x="0" y="0"/>
            <a:chExt cx="548640" cy="548640"/>
          </a:xfrm>
        </p:grpSpPr>
        <p:sp>
          <p:nvSpPr>
            <p:cNvPr name="Freeform 19" id="19"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8"/>
              <a:stretch>
                <a:fillRect l="0" t="0" r="0" b="0"/>
              </a:stretch>
            </a:blipFill>
          </p:spPr>
        </p:sp>
      </p:grpSp>
      <p:sp>
        <p:nvSpPr>
          <p:cNvPr name="TextBox 20" id="20"/>
          <p:cNvSpPr txBox="true"/>
          <p:nvPr/>
        </p:nvSpPr>
        <p:spPr>
          <a:xfrm rot="0">
            <a:off x="13235940" y="5280660"/>
            <a:ext cx="3429000" cy="438912"/>
          </a:xfrm>
          <a:prstGeom prst="rect">
            <a:avLst/>
          </a:prstGeom>
        </p:spPr>
        <p:txBody>
          <a:bodyPr anchor="t" rtlCol="false" tIns="0" lIns="0" bIns="0" rIns="0">
            <a:spAutoFit/>
          </a:bodyPr>
          <a:lstStyle/>
          <a:p>
            <a:pPr algn="l">
              <a:lnSpc>
                <a:spcPts val="2340"/>
              </a:lnSpc>
            </a:pPr>
            <a:r>
              <a:rPr lang="en-US" sz="1950" b="true">
                <a:solidFill>
                  <a:srgbClr val="FFFFFF"/>
                </a:solidFill>
                <a:latin typeface="IBM Plex Sans Bold"/>
                <a:ea typeface="IBM Plex Sans Bold"/>
                <a:cs typeface="IBM Plex Sans Bold"/>
                <a:sym typeface="IBM Plex Sans Bold"/>
              </a:rPr>
              <a:t>Flyers &amp; posters</a:t>
            </a:r>
          </a:p>
        </p:txBody>
      </p:sp>
      <p:sp>
        <p:nvSpPr>
          <p:cNvPr name="TextBox 21" id="21"/>
          <p:cNvSpPr txBox="true"/>
          <p:nvPr/>
        </p:nvSpPr>
        <p:spPr>
          <a:xfrm rot="0">
            <a:off x="13235940" y="5766054"/>
            <a:ext cx="3429000" cy="666750"/>
          </a:xfrm>
          <a:prstGeom prst="rect">
            <a:avLst/>
          </a:prstGeom>
        </p:spPr>
        <p:txBody>
          <a:bodyPr anchor="t" rtlCol="false" tIns="0" lIns="0" bIns="0" rIns="0">
            <a:spAutoFit/>
          </a:bodyPr>
          <a:lstStyle/>
          <a:p>
            <a:pPr algn="l">
              <a:lnSpc>
                <a:spcPts val="1889"/>
              </a:lnSpc>
            </a:pPr>
            <a:r>
              <a:rPr lang="en-US" sz="1575">
                <a:solidFill>
                  <a:srgbClr val="C5CACD"/>
                </a:solidFill>
                <a:latin typeface="IBM Plex Sans"/>
                <a:ea typeface="IBM Plex Sans"/>
                <a:cs typeface="IBM Plex Sans"/>
                <a:sym typeface="IBM Plex Sans"/>
              </a:rPr>
              <a:t>Door-to-door visits and posters in dispensaries</a:t>
            </a:r>
          </a:p>
        </p:txBody>
      </p:sp>
      <p:sp>
        <p:nvSpPr>
          <p:cNvPr name="Freeform 22" id="22"/>
          <p:cNvSpPr/>
          <p:nvPr/>
        </p:nvSpPr>
        <p:spPr>
          <a:xfrm flipH="false" flipV="false" rot="0">
            <a:off x="12194734" y="6914074"/>
            <a:ext cx="847963" cy="847963"/>
          </a:xfrm>
          <a:custGeom>
            <a:avLst/>
            <a:gdLst/>
            <a:ahLst/>
            <a:cxnLst/>
            <a:rect r="r" b="b" t="t" l="l"/>
            <a:pathLst>
              <a:path h="847963" w="847963">
                <a:moveTo>
                  <a:pt x="0" y="0"/>
                </a:moveTo>
                <a:lnTo>
                  <a:pt x="847963" y="0"/>
                </a:lnTo>
                <a:lnTo>
                  <a:pt x="847963" y="847963"/>
                </a:lnTo>
                <a:lnTo>
                  <a:pt x="0" y="8479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23" id="23"/>
          <p:cNvGrpSpPr/>
          <p:nvPr/>
        </p:nvGrpSpPr>
        <p:grpSpPr>
          <a:xfrm rot="0">
            <a:off x="12412980" y="7132320"/>
            <a:ext cx="411480" cy="411480"/>
            <a:chOff x="0" y="0"/>
            <a:chExt cx="548640" cy="548640"/>
          </a:xfrm>
        </p:grpSpPr>
        <p:sp>
          <p:nvSpPr>
            <p:cNvPr name="Freeform 24" id="24"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9"/>
              <a:stretch>
                <a:fillRect l="0" t="0" r="0" b="0"/>
              </a:stretch>
            </a:blipFill>
          </p:spPr>
        </p:sp>
      </p:grpSp>
      <p:sp>
        <p:nvSpPr>
          <p:cNvPr name="TextBox 25" id="25"/>
          <p:cNvSpPr txBox="true"/>
          <p:nvPr/>
        </p:nvSpPr>
        <p:spPr>
          <a:xfrm rot="0">
            <a:off x="13235940" y="6858000"/>
            <a:ext cx="3429000" cy="438912"/>
          </a:xfrm>
          <a:prstGeom prst="rect">
            <a:avLst/>
          </a:prstGeom>
        </p:spPr>
        <p:txBody>
          <a:bodyPr anchor="t" rtlCol="false" tIns="0" lIns="0" bIns="0" rIns="0">
            <a:spAutoFit/>
          </a:bodyPr>
          <a:lstStyle/>
          <a:p>
            <a:pPr algn="l">
              <a:lnSpc>
                <a:spcPts val="2340"/>
              </a:lnSpc>
            </a:pPr>
            <a:r>
              <a:rPr lang="en-US" sz="1950" b="true">
                <a:solidFill>
                  <a:srgbClr val="FFFFFF"/>
                </a:solidFill>
                <a:latin typeface="IBM Plex Sans Bold"/>
                <a:ea typeface="IBM Plex Sans Bold"/>
                <a:cs typeface="IBM Plex Sans Bold"/>
                <a:sym typeface="IBM Plex Sans Bold"/>
              </a:rPr>
              <a:t>Free medical camps</a:t>
            </a:r>
          </a:p>
        </p:txBody>
      </p:sp>
      <p:sp>
        <p:nvSpPr>
          <p:cNvPr name="TextBox 26" id="26"/>
          <p:cNvSpPr txBox="true"/>
          <p:nvPr/>
        </p:nvSpPr>
        <p:spPr>
          <a:xfrm rot="0">
            <a:off x="13235940" y="7343394"/>
            <a:ext cx="3429000" cy="666750"/>
          </a:xfrm>
          <a:prstGeom prst="rect">
            <a:avLst/>
          </a:prstGeom>
        </p:spPr>
        <p:txBody>
          <a:bodyPr anchor="t" rtlCol="false" tIns="0" lIns="0" bIns="0" rIns="0">
            <a:spAutoFit/>
          </a:bodyPr>
          <a:lstStyle/>
          <a:p>
            <a:pPr algn="l">
              <a:lnSpc>
                <a:spcPts val="1889"/>
              </a:lnSpc>
            </a:pPr>
            <a:r>
              <a:rPr lang="en-US" sz="1575">
                <a:solidFill>
                  <a:srgbClr val="C5CACD"/>
                </a:solidFill>
                <a:latin typeface="IBM Plex Sans"/>
                <a:ea typeface="IBM Plex Sans"/>
                <a:cs typeface="IBM Plex Sans"/>
                <a:sym typeface="IBM Plex Sans"/>
              </a:rPr>
              <a:t>Screening, diagnosis and safe-use advice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OUTLINE</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Structure of the presentation</a:t>
              </a:r>
            </a:p>
          </p:txBody>
        </p:sp>
      </p:grpSp>
      <p:sp>
        <p:nvSpPr>
          <p:cNvPr name="TextBox 12" id="12"/>
          <p:cNvSpPr txBox="true"/>
          <p:nvPr/>
        </p:nvSpPr>
        <p:spPr>
          <a:xfrm rot="0">
            <a:off x="1220724" y="281178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01</a:t>
            </a:r>
          </a:p>
        </p:txBody>
      </p:sp>
      <p:sp>
        <p:nvSpPr>
          <p:cNvPr name="TextBox 13" id="13"/>
          <p:cNvSpPr txBox="true"/>
          <p:nvPr/>
        </p:nvSpPr>
        <p:spPr>
          <a:xfrm rot="0">
            <a:off x="1975104" y="281178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Introduction: the threat of antimicrobial resistance</a:t>
            </a:r>
          </a:p>
        </p:txBody>
      </p:sp>
      <p:sp>
        <p:nvSpPr>
          <p:cNvPr name="TextBox 14" id="14"/>
          <p:cNvSpPr txBox="true"/>
          <p:nvPr/>
        </p:nvSpPr>
        <p:spPr>
          <a:xfrm rot="0">
            <a:off x="1220724" y="356616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02</a:t>
            </a:r>
          </a:p>
        </p:txBody>
      </p:sp>
      <p:sp>
        <p:nvSpPr>
          <p:cNvPr name="TextBox 15" id="15"/>
          <p:cNvSpPr txBox="true"/>
          <p:nvPr/>
        </p:nvSpPr>
        <p:spPr>
          <a:xfrm rot="0">
            <a:off x="1975104" y="356616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Setting &amp; target communities</a:t>
            </a:r>
          </a:p>
        </p:txBody>
      </p:sp>
      <p:sp>
        <p:nvSpPr>
          <p:cNvPr name="TextBox 16" id="16"/>
          <p:cNvSpPr txBox="true"/>
          <p:nvPr/>
        </p:nvSpPr>
        <p:spPr>
          <a:xfrm rot="0">
            <a:off x="1220724" y="432054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03</a:t>
            </a:r>
          </a:p>
        </p:txBody>
      </p:sp>
      <p:sp>
        <p:nvSpPr>
          <p:cNvPr name="TextBox 17" id="17"/>
          <p:cNvSpPr txBox="true"/>
          <p:nvPr/>
        </p:nvSpPr>
        <p:spPr>
          <a:xfrm rot="0">
            <a:off x="1975104" y="432054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Programme objectives</a:t>
            </a:r>
          </a:p>
        </p:txBody>
      </p:sp>
      <p:sp>
        <p:nvSpPr>
          <p:cNvPr name="TextBox 18" id="18"/>
          <p:cNvSpPr txBox="true"/>
          <p:nvPr/>
        </p:nvSpPr>
        <p:spPr>
          <a:xfrm rot="0">
            <a:off x="1220724" y="507492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04</a:t>
            </a:r>
          </a:p>
        </p:txBody>
      </p:sp>
      <p:sp>
        <p:nvSpPr>
          <p:cNvPr name="TextBox 19" id="19"/>
          <p:cNvSpPr txBox="true"/>
          <p:nvPr/>
        </p:nvSpPr>
        <p:spPr>
          <a:xfrm rot="0">
            <a:off x="1975104" y="507492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How bacterial resistance spreads</a:t>
            </a:r>
          </a:p>
        </p:txBody>
      </p:sp>
      <p:sp>
        <p:nvSpPr>
          <p:cNvPr name="TextBox 20" id="20"/>
          <p:cNvSpPr txBox="true"/>
          <p:nvPr/>
        </p:nvSpPr>
        <p:spPr>
          <a:xfrm rot="0">
            <a:off x="1220724" y="582930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05</a:t>
            </a:r>
          </a:p>
        </p:txBody>
      </p:sp>
      <p:sp>
        <p:nvSpPr>
          <p:cNvPr name="TextBox 21" id="21"/>
          <p:cNvSpPr txBox="true"/>
          <p:nvPr/>
        </p:nvSpPr>
        <p:spPr>
          <a:xfrm rot="0">
            <a:off x="1975104" y="582930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Key drivers of misuse in rural communities</a:t>
            </a:r>
          </a:p>
        </p:txBody>
      </p:sp>
      <p:sp>
        <p:nvSpPr>
          <p:cNvPr name="TextBox 22" id="22"/>
          <p:cNvSpPr txBox="true"/>
          <p:nvPr/>
        </p:nvSpPr>
        <p:spPr>
          <a:xfrm rot="0">
            <a:off x="1220724" y="658368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06</a:t>
            </a:r>
          </a:p>
        </p:txBody>
      </p:sp>
      <p:sp>
        <p:nvSpPr>
          <p:cNvPr name="TextBox 23" id="23"/>
          <p:cNvSpPr txBox="true"/>
          <p:nvPr/>
        </p:nvSpPr>
        <p:spPr>
          <a:xfrm rot="0">
            <a:off x="1975104" y="658368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Clearing up dangerous misconceptions</a:t>
            </a:r>
          </a:p>
        </p:txBody>
      </p:sp>
      <p:sp>
        <p:nvSpPr>
          <p:cNvPr name="TextBox 24" id="24"/>
          <p:cNvSpPr txBox="true"/>
          <p:nvPr/>
        </p:nvSpPr>
        <p:spPr>
          <a:xfrm rot="0">
            <a:off x="1220724" y="733806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07</a:t>
            </a:r>
          </a:p>
        </p:txBody>
      </p:sp>
      <p:sp>
        <p:nvSpPr>
          <p:cNvPr name="TextBox 25" id="25"/>
          <p:cNvSpPr txBox="true"/>
          <p:nvPr/>
        </p:nvSpPr>
        <p:spPr>
          <a:xfrm rot="0">
            <a:off x="1975104" y="733806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Three-pillar fieldwork strategy</a:t>
            </a:r>
          </a:p>
        </p:txBody>
      </p:sp>
      <p:sp>
        <p:nvSpPr>
          <p:cNvPr name="TextBox 26" id="26"/>
          <p:cNvSpPr txBox="true"/>
          <p:nvPr/>
        </p:nvSpPr>
        <p:spPr>
          <a:xfrm rot="0">
            <a:off x="9313164" y="281178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08</a:t>
            </a:r>
          </a:p>
        </p:txBody>
      </p:sp>
      <p:sp>
        <p:nvSpPr>
          <p:cNvPr name="TextBox 27" id="27"/>
          <p:cNvSpPr txBox="true"/>
          <p:nvPr/>
        </p:nvSpPr>
        <p:spPr>
          <a:xfrm rot="0">
            <a:off x="10067544" y="281178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Four golden rules for every patient</a:t>
            </a:r>
          </a:p>
        </p:txBody>
      </p:sp>
      <p:sp>
        <p:nvSpPr>
          <p:cNvPr name="TextBox 28" id="28"/>
          <p:cNvSpPr txBox="true"/>
          <p:nvPr/>
        </p:nvSpPr>
        <p:spPr>
          <a:xfrm rot="0">
            <a:off x="9313164" y="356616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09</a:t>
            </a:r>
          </a:p>
        </p:txBody>
      </p:sp>
      <p:sp>
        <p:nvSpPr>
          <p:cNvPr name="TextBox 29" id="29"/>
          <p:cNvSpPr txBox="true"/>
          <p:nvPr/>
        </p:nvSpPr>
        <p:spPr>
          <a:xfrm rot="0">
            <a:off x="10067544" y="356616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How to administer antibiotics safely</a:t>
            </a:r>
          </a:p>
        </p:txBody>
      </p:sp>
      <p:sp>
        <p:nvSpPr>
          <p:cNvPr name="TextBox 30" id="30"/>
          <p:cNvSpPr txBox="true"/>
          <p:nvPr/>
        </p:nvSpPr>
        <p:spPr>
          <a:xfrm rot="0">
            <a:off x="9313164" y="432054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10</a:t>
            </a:r>
          </a:p>
        </p:txBody>
      </p:sp>
      <p:sp>
        <p:nvSpPr>
          <p:cNvPr name="TextBox 31" id="31"/>
          <p:cNvSpPr txBox="true"/>
          <p:nvPr/>
        </p:nvSpPr>
        <p:spPr>
          <a:xfrm rot="0">
            <a:off x="10067544" y="432054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The One Health approach in agriculture</a:t>
            </a:r>
          </a:p>
        </p:txBody>
      </p:sp>
      <p:sp>
        <p:nvSpPr>
          <p:cNvPr name="TextBox 32" id="32"/>
          <p:cNvSpPr txBox="true"/>
          <p:nvPr/>
        </p:nvSpPr>
        <p:spPr>
          <a:xfrm rot="0">
            <a:off x="9313164" y="507492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11</a:t>
            </a:r>
          </a:p>
        </p:txBody>
      </p:sp>
      <p:sp>
        <p:nvSpPr>
          <p:cNvPr name="TextBox 33" id="33"/>
          <p:cNvSpPr txBox="true"/>
          <p:nvPr/>
        </p:nvSpPr>
        <p:spPr>
          <a:xfrm rot="0">
            <a:off x="10067544" y="507492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Community survey: 200 people</a:t>
            </a:r>
          </a:p>
        </p:txBody>
      </p:sp>
      <p:sp>
        <p:nvSpPr>
          <p:cNvPr name="TextBox 34" id="34"/>
          <p:cNvSpPr txBox="true"/>
          <p:nvPr/>
        </p:nvSpPr>
        <p:spPr>
          <a:xfrm rot="0">
            <a:off x="9313164" y="582930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12</a:t>
            </a:r>
          </a:p>
        </p:txBody>
      </p:sp>
      <p:sp>
        <p:nvSpPr>
          <p:cNvPr name="TextBox 35" id="35"/>
          <p:cNvSpPr txBox="true"/>
          <p:nvPr/>
        </p:nvSpPr>
        <p:spPr>
          <a:xfrm rot="0">
            <a:off x="10067544" y="582930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Survey results: knowledge and practice</a:t>
            </a:r>
          </a:p>
        </p:txBody>
      </p:sp>
      <p:sp>
        <p:nvSpPr>
          <p:cNvPr name="TextBox 36" id="36"/>
          <p:cNvSpPr txBox="true"/>
          <p:nvPr/>
        </p:nvSpPr>
        <p:spPr>
          <a:xfrm rot="0">
            <a:off x="9313164" y="658368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13</a:t>
            </a:r>
          </a:p>
        </p:txBody>
      </p:sp>
      <p:sp>
        <p:nvSpPr>
          <p:cNvPr name="TextBox 37" id="37"/>
          <p:cNvSpPr txBox="true"/>
          <p:nvPr/>
        </p:nvSpPr>
        <p:spPr>
          <a:xfrm rot="0">
            <a:off x="10067544" y="658368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Outcomes achieved &amp; sustainability</a:t>
            </a:r>
          </a:p>
        </p:txBody>
      </p:sp>
      <p:sp>
        <p:nvSpPr>
          <p:cNvPr name="TextBox 38" id="38"/>
          <p:cNvSpPr txBox="true"/>
          <p:nvPr/>
        </p:nvSpPr>
        <p:spPr>
          <a:xfrm rot="0">
            <a:off x="9313164" y="7338060"/>
            <a:ext cx="685800" cy="480060"/>
          </a:xfrm>
          <a:prstGeom prst="rect">
            <a:avLst/>
          </a:prstGeom>
        </p:spPr>
        <p:txBody>
          <a:bodyPr anchor="t" rtlCol="false" tIns="0" lIns="0" bIns="0" rIns="0">
            <a:spAutoFit/>
          </a:bodyPr>
          <a:lstStyle/>
          <a:p>
            <a:pPr algn="l">
              <a:lnSpc>
                <a:spcPts val="2340"/>
              </a:lnSpc>
            </a:pPr>
            <a:r>
              <a:rPr lang="en-US" sz="1950" b="true">
                <a:solidFill>
                  <a:srgbClr val="0B6E60"/>
                </a:solidFill>
                <a:latin typeface="IBM Plex Sans Bold"/>
                <a:ea typeface="IBM Plex Sans Bold"/>
                <a:cs typeface="IBM Plex Sans Bold"/>
                <a:sym typeface="IBM Plex Sans Bold"/>
              </a:rPr>
              <a:t>14</a:t>
            </a:r>
          </a:p>
        </p:txBody>
      </p:sp>
      <p:sp>
        <p:nvSpPr>
          <p:cNvPr name="TextBox 39" id="39"/>
          <p:cNvSpPr txBox="true"/>
          <p:nvPr/>
        </p:nvSpPr>
        <p:spPr>
          <a:xfrm rot="0">
            <a:off x="10067544" y="7338060"/>
            <a:ext cx="6995160" cy="480060"/>
          </a:xfrm>
          <a:prstGeom prst="rect">
            <a:avLst/>
          </a:prstGeom>
        </p:spPr>
        <p:txBody>
          <a:bodyPr anchor="t" rtlCol="false" tIns="0" lIns="0" bIns="0" rIns="0">
            <a:spAutoFit/>
          </a:bodyPr>
          <a:lstStyle/>
          <a:p>
            <a:pPr algn="l">
              <a:lnSpc>
                <a:spcPts val="2340"/>
              </a:lnSpc>
            </a:pPr>
            <a:r>
              <a:rPr lang="en-US" sz="1950">
                <a:solidFill>
                  <a:srgbClr val="3F4B57"/>
                </a:solidFill>
                <a:latin typeface="IBM Plex Sans"/>
                <a:ea typeface="IBM Plex Sans"/>
                <a:cs typeface="IBM Plex Sans"/>
                <a:sym typeface="IBM Plex Sans"/>
              </a:rPr>
              <a:t>Conclusion &amp; references</a:t>
            </a:r>
          </a:p>
        </p:txBody>
      </p:sp>
      <p:grpSp>
        <p:nvGrpSpPr>
          <p:cNvPr name="Group 40" id="40"/>
          <p:cNvGrpSpPr/>
          <p:nvPr/>
        </p:nvGrpSpPr>
        <p:grpSpPr>
          <a:xfrm rot="0">
            <a:off x="1220724" y="9354312"/>
            <a:ext cx="11658600" cy="356616"/>
            <a:chOff x="0" y="0"/>
            <a:chExt cx="15544800" cy="475488"/>
          </a:xfrm>
        </p:grpSpPr>
        <p:sp>
          <p:nvSpPr>
            <p:cNvPr name="Freeform 41" id="41"/>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42" id="42"/>
          <p:cNvGrpSpPr/>
          <p:nvPr/>
        </p:nvGrpSpPr>
        <p:grpSpPr>
          <a:xfrm rot="0">
            <a:off x="1220724" y="9354312"/>
            <a:ext cx="11658600" cy="356616"/>
            <a:chOff x="0" y="0"/>
            <a:chExt cx="15544800" cy="475488"/>
          </a:xfrm>
        </p:grpSpPr>
        <p:sp>
          <p:nvSpPr>
            <p:cNvPr name="Freeform 43" id="43"/>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44" id="44"/>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45" id="45"/>
          <p:cNvGrpSpPr/>
          <p:nvPr/>
        </p:nvGrpSpPr>
        <p:grpSpPr>
          <a:xfrm rot="0">
            <a:off x="15695219" y="9354312"/>
            <a:ext cx="1371600" cy="356616"/>
            <a:chOff x="0" y="0"/>
            <a:chExt cx="1828800" cy="475488"/>
          </a:xfrm>
        </p:grpSpPr>
        <p:sp>
          <p:nvSpPr>
            <p:cNvPr name="Freeform 46" id="46"/>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47" id="47"/>
          <p:cNvGrpSpPr/>
          <p:nvPr/>
        </p:nvGrpSpPr>
        <p:grpSpPr>
          <a:xfrm rot="0">
            <a:off x="15695219" y="9354312"/>
            <a:ext cx="1371600" cy="356616"/>
            <a:chOff x="0" y="0"/>
            <a:chExt cx="1828800" cy="475488"/>
          </a:xfrm>
        </p:grpSpPr>
        <p:sp>
          <p:nvSpPr>
            <p:cNvPr name="Freeform 48" id="48"/>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49" id="49"/>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2</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01 · INTRODUCTION</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The escalating threat of antimicrobial resistance</a:t>
              </a:r>
            </a:p>
          </p:txBody>
        </p:sp>
      </p:grpSp>
      <p:sp>
        <p:nvSpPr>
          <p:cNvPr name="Freeform 12" id="12"/>
          <p:cNvSpPr/>
          <p:nvPr/>
        </p:nvSpPr>
        <p:spPr>
          <a:xfrm flipH="false" flipV="false" rot="0">
            <a:off x="1208218" y="2799274"/>
            <a:ext cx="7294483" cy="3454003"/>
          </a:xfrm>
          <a:custGeom>
            <a:avLst/>
            <a:gdLst/>
            <a:ahLst/>
            <a:cxnLst/>
            <a:rect r="r" b="b" t="t" l="l"/>
            <a:pathLst>
              <a:path h="3454003" w="7294483">
                <a:moveTo>
                  <a:pt x="0" y="0"/>
                </a:moveTo>
                <a:lnTo>
                  <a:pt x="7294483" y="0"/>
                </a:lnTo>
                <a:lnTo>
                  <a:pt x="7294483" y="3454003"/>
                </a:lnTo>
                <a:lnTo>
                  <a:pt x="0" y="34540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3" id="13"/>
          <p:cNvSpPr txBox="true"/>
          <p:nvPr/>
        </p:nvSpPr>
        <p:spPr>
          <a:xfrm rot="0">
            <a:off x="1700784" y="3223260"/>
            <a:ext cx="6309360" cy="384048"/>
          </a:xfrm>
          <a:prstGeom prst="rect">
            <a:avLst/>
          </a:prstGeom>
        </p:spPr>
        <p:txBody>
          <a:bodyPr anchor="t" rtlCol="false" tIns="0" lIns="0" bIns="0" rIns="0">
            <a:spAutoFit/>
          </a:bodyPr>
          <a:lstStyle/>
          <a:p>
            <a:pPr algn="l">
              <a:lnSpc>
                <a:spcPts val="1800"/>
              </a:lnSpc>
            </a:pPr>
            <a:r>
              <a:rPr lang="en-US" b="true" sz="1500" spc="300">
                <a:solidFill>
                  <a:srgbClr val="C0392B"/>
                </a:solidFill>
                <a:latin typeface="IBM Plex Sans Bold"/>
                <a:ea typeface="IBM Plex Sans Bold"/>
                <a:cs typeface="IBM Plex Sans Bold"/>
                <a:sym typeface="IBM Plex Sans Bold"/>
              </a:rPr>
              <a:t>GLOBAL MORTALITY CRISIS</a:t>
            </a:r>
          </a:p>
        </p:txBody>
      </p:sp>
      <p:sp>
        <p:nvSpPr>
          <p:cNvPr name="TextBox 14" id="14"/>
          <p:cNvSpPr txBox="true"/>
          <p:nvPr/>
        </p:nvSpPr>
        <p:spPr>
          <a:xfrm rot="0">
            <a:off x="1700784" y="3703320"/>
            <a:ext cx="6309360" cy="1234440"/>
          </a:xfrm>
          <a:prstGeom prst="rect">
            <a:avLst/>
          </a:prstGeom>
        </p:spPr>
        <p:txBody>
          <a:bodyPr anchor="t" rtlCol="false" tIns="0" lIns="0" bIns="0" rIns="0">
            <a:spAutoFit/>
          </a:bodyPr>
          <a:lstStyle/>
          <a:p>
            <a:pPr algn="l">
              <a:lnSpc>
                <a:spcPts val="7920"/>
              </a:lnSpc>
            </a:pPr>
            <a:r>
              <a:rPr lang="en-US" sz="6600" b="true">
                <a:solidFill>
                  <a:srgbClr val="14304A"/>
                </a:solidFill>
                <a:latin typeface="Source Serif Pro Bold"/>
                <a:ea typeface="Source Serif Pro Bold"/>
                <a:cs typeface="Source Serif Pro Bold"/>
                <a:sym typeface="Source Serif Pro Bold"/>
              </a:rPr>
              <a:t>1.27 million</a:t>
            </a:r>
          </a:p>
        </p:txBody>
      </p:sp>
      <p:sp>
        <p:nvSpPr>
          <p:cNvPr name="TextBox 15" id="15"/>
          <p:cNvSpPr txBox="true"/>
          <p:nvPr/>
        </p:nvSpPr>
        <p:spPr>
          <a:xfrm rot="0">
            <a:off x="1700784" y="5006340"/>
            <a:ext cx="6309360" cy="96012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deaths every year are directly caused by drug-resistant bacterial infections (Lancet, 2022)</a:t>
            </a:r>
          </a:p>
        </p:txBody>
      </p:sp>
      <p:sp>
        <p:nvSpPr>
          <p:cNvPr name="TextBox 16" id="16"/>
          <p:cNvSpPr txBox="true"/>
          <p:nvPr/>
        </p:nvSpPr>
        <p:spPr>
          <a:xfrm rot="0">
            <a:off x="1220724" y="6633210"/>
            <a:ext cx="7269480" cy="1939290"/>
          </a:xfrm>
          <a:prstGeom prst="rect">
            <a:avLst/>
          </a:prstGeom>
        </p:spPr>
        <p:txBody>
          <a:bodyPr anchor="t" rtlCol="false" tIns="0" lIns="0" bIns="0" rIns="0">
            <a:spAutoFit/>
          </a:bodyPr>
          <a:lstStyle/>
          <a:p>
            <a:pPr algn="l">
              <a:lnSpc>
                <a:spcPts val="2520"/>
              </a:lnSpc>
            </a:pPr>
            <a:r>
              <a:rPr lang="en-US" sz="2100">
                <a:solidFill>
                  <a:srgbClr val="14304A"/>
                </a:solidFill>
                <a:latin typeface="IBM Plex Sans"/>
                <a:ea typeface="IBM Plex Sans"/>
                <a:cs typeface="IBM Plex Sans"/>
                <a:sym typeface="IBM Plex Sans"/>
              </a:rPr>
              <a:t>In rural Pakistan, antibiotics are bought over the counter, shared between family members and stopped early. Every misuse gives bacteria a chance to adapt, and first-line medicines slowly stop working.</a:t>
            </a:r>
          </a:p>
        </p:txBody>
      </p:sp>
      <p:grpSp>
        <p:nvGrpSpPr>
          <p:cNvPr name="Group 17" id="17"/>
          <p:cNvGrpSpPr/>
          <p:nvPr/>
        </p:nvGrpSpPr>
        <p:grpSpPr>
          <a:xfrm rot="0">
            <a:off x="9378791" y="2795111"/>
            <a:ext cx="88202" cy="1610677"/>
            <a:chOff x="0" y="0"/>
            <a:chExt cx="117602" cy="2147570"/>
          </a:xfrm>
        </p:grpSpPr>
        <p:sp>
          <p:nvSpPr>
            <p:cNvPr name="Freeform 18" id="18"/>
            <p:cNvSpPr/>
            <p:nvPr/>
          </p:nvSpPr>
          <p:spPr>
            <a:xfrm flipH="false" flipV="false" rot="0">
              <a:off x="0" y="0"/>
              <a:ext cx="117602" cy="2147570"/>
            </a:xfrm>
            <a:custGeom>
              <a:avLst/>
              <a:gdLst/>
              <a:ahLst/>
              <a:cxnLst/>
              <a:rect r="r" b="b" t="t" l="l"/>
              <a:pathLst>
                <a:path h="2147570" w="117602">
                  <a:moveTo>
                    <a:pt x="0" y="0"/>
                  </a:moveTo>
                  <a:lnTo>
                    <a:pt x="117602" y="0"/>
                  </a:lnTo>
                  <a:lnTo>
                    <a:pt x="117602" y="2147570"/>
                  </a:lnTo>
                  <a:lnTo>
                    <a:pt x="0" y="2147570"/>
                  </a:lnTo>
                  <a:close/>
                </a:path>
              </a:pathLst>
            </a:custGeom>
            <a:solidFill>
              <a:srgbClr val="0B6E60"/>
            </a:solidFill>
            <a:ln w="19050" cap="sq">
              <a:solidFill>
                <a:srgbClr val="0B6E60"/>
              </a:solidFill>
              <a:prstDash val="solid"/>
              <a:miter/>
            </a:ln>
          </p:spPr>
        </p:sp>
      </p:grpSp>
      <p:sp>
        <p:nvSpPr>
          <p:cNvPr name="TextBox 19" id="19"/>
          <p:cNvSpPr txBox="true"/>
          <p:nvPr/>
        </p:nvSpPr>
        <p:spPr>
          <a:xfrm rot="0">
            <a:off x="9738360" y="2830830"/>
            <a:ext cx="7269480" cy="364998"/>
          </a:xfrm>
          <a:prstGeom prst="rect">
            <a:avLst/>
          </a:prstGeom>
        </p:spPr>
        <p:txBody>
          <a:bodyPr anchor="t" rtlCol="false" tIns="0" lIns="0" bIns="0" rIns="0">
            <a:spAutoFit/>
          </a:bodyPr>
          <a:lstStyle/>
          <a:p>
            <a:pPr algn="l">
              <a:lnSpc>
                <a:spcPts val="1889"/>
              </a:lnSpc>
            </a:pPr>
            <a:r>
              <a:rPr lang="en-US" b="true" sz="1575" spc="298">
                <a:solidFill>
                  <a:srgbClr val="0B6E60"/>
                </a:solidFill>
                <a:latin typeface="IBM Plex Sans Bold"/>
                <a:ea typeface="IBM Plex Sans Bold"/>
                <a:cs typeface="IBM Plex Sans Bold"/>
                <a:sym typeface="IBM Plex Sans Bold"/>
              </a:rPr>
              <a:t>THE PROBLEM</a:t>
            </a:r>
          </a:p>
        </p:txBody>
      </p:sp>
      <p:sp>
        <p:nvSpPr>
          <p:cNvPr name="TextBox 20" id="20"/>
          <p:cNvSpPr txBox="true"/>
          <p:nvPr/>
        </p:nvSpPr>
        <p:spPr>
          <a:xfrm rot="0">
            <a:off x="9738360" y="3223260"/>
            <a:ext cx="7269480" cy="123444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Standard first-line antibiotics fail against mutated strains, turning mild infections deadly. Limited access to diagnostic labs accelerates empirical over-prescribing and self-medication.</a:t>
            </a:r>
          </a:p>
        </p:txBody>
      </p:sp>
      <p:grpSp>
        <p:nvGrpSpPr>
          <p:cNvPr name="Group 21" id="21"/>
          <p:cNvGrpSpPr/>
          <p:nvPr/>
        </p:nvGrpSpPr>
        <p:grpSpPr>
          <a:xfrm rot="0">
            <a:off x="9378791" y="4783931"/>
            <a:ext cx="88202" cy="1610677"/>
            <a:chOff x="0" y="0"/>
            <a:chExt cx="117602" cy="2147570"/>
          </a:xfrm>
        </p:grpSpPr>
        <p:sp>
          <p:nvSpPr>
            <p:cNvPr name="Freeform 22" id="22"/>
            <p:cNvSpPr/>
            <p:nvPr/>
          </p:nvSpPr>
          <p:spPr>
            <a:xfrm flipH="false" flipV="false" rot="0">
              <a:off x="0" y="0"/>
              <a:ext cx="117602" cy="2147570"/>
            </a:xfrm>
            <a:custGeom>
              <a:avLst/>
              <a:gdLst/>
              <a:ahLst/>
              <a:cxnLst/>
              <a:rect r="r" b="b" t="t" l="l"/>
              <a:pathLst>
                <a:path h="2147570" w="117602">
                  <a:moveTo>
                    <a:pt x="0" y="0"/>
                  </a:moveTo>
                  <a:lnTo>
                    <a:pt x="117602" y="0"/>
                  </a:lnTo>
                  <a:lnTo>
                    <a:pt x="117602" y="2147570"/>
                  </a:lnTo>
                  <a:lnTo>
                    <a:pt x="0" y="2147570"/>
                  </a:lnTo>
                  <a:close/>
                </a:path>
              </a:pathLst>
            </a:custGeom>
            <a:solidFill>
              <a:srgbClr val="0B6E60"/>
            </a:solidFill>
            <a:ln w="19050" cap="sq">
              <a:solidFill>
                <a:srgbClr val="0B6E60"/>
              </a:solidFill>
              <a:prstDash val="solid"/>
              <a:miter/>
            </a:ln>
          </p:spPr>
        </p:sp>
      </p:grpSp>
      <p:sp>
        <p:nvSpPr>
          <p:cNvPr name="TextBox 23" id="23"/>
          <p:cNvSpPr txBox="true"/>
          <p:nvPr/>
        </p:nvSpPr>
        <p:spPr>
          <a:xfrm rot="0">
            <a:off x="9738360" y="4819650"/>
            <a:ext cx="7269480" cy="364998"/>
          </a:xfrm>
          <a:prstGeom prst="rect">
            <a:avLst/>
          </a:prstGeom>
        </p:spPr>
        <p:txBody>
          <a:bodyPr anchor="t" rtlCol="false" tIns="0" lIns="0" bIns="0" rIns="0">
            <a:spAutoFit/>
          </a:bodyPr>
          <a:lstStyle/>
          <a:p>
            <a:pPr algn="l">
              <a:lnSpc>
                <a:spcPts val="1889"/>
              </a:lnSpc>
            </a:pPr>
            <a:r>
              <a:rPr lang="en-US" b="true" sz="1575" spc="298">
                <a:solidFill>
                  <a:srgbClr val="0B6E60"/>
                </a:solidFill>
                <a:latin typeface="IBM Plex Sans Bold"/>
                <a:ea typeface="IBM Plex Sans Bold"/>
                <a:cs typeface="IBM Plex Sans Bold"/>
                <a:sym typeface="IBM Plex Sans Bold"/>
              </a:rPr>
              <a:t>THE AIM</a:t>
            </a:r>
          </a:p>
        </p:txBody>
      </p:sp>
      <p:sp>
        <p:nvSpPr>
          <p:cNvPr name="TextBox 24" id="24"/>
          <p:cNvSpPr txBox="true"/>
          <p:nvPr/>
        </p:nvSpPr>
        <p:spPr>
          <a:xfrm rot="0">
            <a:off x="9738360" y="5212080"/>
            <a:ext cx="7269480" cy="123444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Empower families to use antibiotics only when needed, exactly as prescribed, and never shared or saved.</a:t>
            </a:r>
          </a:p>
        </p:txBody>
      </p:sp>
      <p:grpSp>
        <p:nvGrpSpPr>
          <p:cNvPr name="Group 25" id="25"/>
          <p:cNvGrpSpPr/>
          <p:nvPr/>
        </p:nvGrpSpPr>
        <p:grpSpPr>
          <a:xfrm rot="0">
            <a:off x="9378791" y="6772751"/>
            <a:ext cx="88202" cy="1610677"/>
            <a:chOff x="0" y="0"/>
            <a:chExt cx="117602" cy="2147570"/>
          </a:xfrm>
        </p:grpSpPr>
        <p:sp>
          <p:nvSpPr>
            <p:cNvPr name="Freeform 26" id="26"/>
            <p:cNvSpPr/>
            <p:nvPr/>
          </p:nvSpPr>
          <p:spPr>
            <a:xfrm flipH="false" flipV="false" rot="0">
              <a:off x="0" y="0"/>
              <a:ext cx="117602" cy="2147570"/>
            </a:xfrm>
            <a:custGeom>
              <a:avLst/>
              <a:gdLst/>
              <a:ahLst/>
              <a:cxnLst/>
              <a:rect r="r" b="b" t="t" l="l"/>
              <a:pathLst>
                <a:path h="2147570" w="117602">
                  <a:moveTo>
                    <a:pt x="0" y="0"/>
                  </a:moveTo>
                  <a:lnTo>
                    <a:pt x="117602" y="0"/>
                  </a:lnTo>
                  <a:lnTo>
                    <a:pt x="117602" y="2147570"/>
                  </a:lnTo>
                  <a:lnTo>
                    <a:pt x="0" y="2147570"/>
                  </a:lnTo>
                  <a:close/>
                </a:path>
              </a:pathLst>
            </a:custGeom>
            <a:solidFill>
              <a:srgbClr val="0B6E60"/>
            </a:solidFill>
            <a:ln w="19050" cap="sq">
              <a:solidFill>
                <a:srgbClr val="0B6E60"/>
              </a:solidFill>
              <a:prstDash val="solid"/>
              <a:miter/>
            </a:ln>
          </p:spPr>
        </p:sp>
      </p:grpSp>
      <p:sp>
        <p:nvSpPr>
          <p:cNvPr name="TextBox 27" id="27"/>
          <p:cNvSpPr txBox="true"/>
          <p:nvPr/>
        </p:nvSpPr>
        <p:spPr>
          <a:xfrm rot="0">
            <a:off x="9738360" y="6808470"/>
            <a:ext cx="7269480" cy="364998"/>
          </a:xfrm>
          <a:prstGeom prst="rect">
            <a:avLst/>
          </a:prstGeom>
        </p:spPr>
        <p:txBody>
          <a:bodyPr anchor="t" rtlCol="false" tIns="0" lIns="0" bIns="0" rIns="0">
            <a:spAutoFit/>
          </a:bodyPr>
          <a:lstStyle/>
          <a:p>
            <a:pPr algn="l">
              <a:lnSpc>
                <a:spcPts val="1889"/>
              </a:lnSpc>
            </a:pPr>
            <a:r>
              <a:rPr lang="en-US" b="true" sz="1575" spc="298">
                <a:solidFill>
                  <a:srgbClr val="0B6E60"/>
                </a:solidFill>
                <a:latin typeface="IBM Plex Sans Bold"/>
                <a:ea typeface="IBM Plex Sans Bold"/>
                <a:cs typeface="IBM Plex Sans Bold"/>
                <a:sym typeface="IBM Plex Sans Bold"/>
              </a:rPr>
              <a:t>THE APPROACH</a:t>
            </a:r>
          </a:p>
        </p:txBody>
      </p:sp>
      <p:sp>
        <p:nvSpPr>
          <p:cNvPr name="TextBox 28" id="28"/>
          <p:cNvSpPr txBox="true"/>
          <p:nvPr/>
        </p:nvSpPr>
        <p:spPr>
          <a:xfrm rot="0">
            <a:off x="9738360" y="7200900"/>
            <a:ext cx="7269480" cy="123444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A pharmacist-led programme: counselling at the point of dispensing, flyer and poster distribution, door-to-door outreach and free medical camps.</a:t>
            </a:r>
          </a:p>
        </p:txBody>
      </p:sp>
      <p:grpSp>
        <p:nvGrpSpPr>
          <p:cNvPr name="Group 29" id="29"/>
          <p:cNvGrpSpPr/>
          <p:nvPr/>
        </p:nvGrpSpPr>
        <p:grpSpPr>
          <a:xfrm rot="0">
            <a:off x="1220724" y="9354312"/>
            <a:ext cx="11658600" cy="356616"/>
            <a:chOff x="0" y="0"/>
            <a:chExt cx="15544800" cy="475488"/>
          </a:xfrm>
        </p:grpSpPr>
        <p:sp>
          <p:nvSpPr>
            <p:cNvPr name="Freeform 30" id="30"/>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31" id="31"/>
          <p:cNvGrpSpPr/>
          <p:nvPr/>
        </p:nvGrpSpPr>
        <p:grpSpPr>
          <a:xfrm rot="0">
            <a:off x="1220724" y="9354312"/>
            <a:ext cx="11658600" cy="356616"/>
            <a:chOff x="0" y="0"/>
            <a:chExt cx="15544800" cy="475488"/>
          </a:xfrm>
        </p:grpSpPr>
        <p:sp>
          <p:nvSpPr>
            <p:cNvPr name="Freeform 32" id="32"/>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3" id="33"/>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4" id="34"/>
          <p:cNvGrpSpPr/>
          <p:nvPr/>
        </p:nvGrpSpPr>
        <p:grpSpPr>
          <a:xfrm rot="0">
            <a:off x="15695219" y="9354312"/>
            <a:ext cx="1371600" cy="356616"/>
            <a:chOff x="0" y="0"/>
            <a:chExt cx="1828800" cy="475488"/>
          </a:xfrm>
        </p:grpSpPr>
        <p:sp>
          <p:nvSpPr>
            <p:cNvPr name="Freeform 35" id="35"/>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6" id="36"/>
          <p:cNvGrpSpPr/>
          <p:nvPr/>
        </p:nvGrpSpPr>
        <p:grpSpPr>
          <a:xfrm rot="0">
            <a:off x="15695219" y="9354312"/>
            <a:ext cx="1371600" cy="356616"/>
            <a:chOff x="0" y="0"/>
            <a:chExt cx="1828800" cy="475488"/>
          </a:xfrm>
        </p:grpSpPr>
        <p:sp>
          <p:nvSpPr>
            <p:cNvPr name="Freeform 37" id="37"/>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8" id="38"/>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3</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02 · SETTING &amp; TARGET COMMUNITIES</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Five villages, three contact points, 200 people</a:t>
              </a:r>
            </a:p>
          </p:txBody>
        </p:sp>
      </p:grpSp>
      <p:sp>
        <p:nvSpPr>
          <p:cNvPr name="Freeform 12" id="12"/>
          <p:cNvSpPr/>
          <p:nvPr/>
        </p:nvSpPr>
        <p:spPr>
          <a:xfrm flipH="false" flipV="false" rot="0">
            <a:off x="1208218" y="2799274"/>
            <a:ext cx="3796903" cy="1876663"/>
          </a:xfrm>
          <a:custGeom>
            <a:avLst/>
            <a:gdLst/>
            <a:ahLst/>
            <a:cxnLst/>
            <a:rect r="r" b="b" t="t" l="l"/>
            <a:pathLst>
              <a:path h="1876663" w="3796903">
                <a:moveTo>
                  <a:pt x="0" y="0"/>
                </a:moveTo>
                <a:lnTo>
                  <a:pt x="3796903" y="0"/>
                </a:lnTo>
                <a:lnTo>
                  <a:pt x="3796903" y="1876663"/>
                </a:lnTo>
                <a:lnTo>
                  <a:pt x="0" y="18766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3" id="13"/>
          <p:cNvSpPr txBox="true"/>
          <p:nvPr/>
        </p:nvSpPr>
        <p:spPr>
          <a:xfrm rot="0">
            <a:off x="1632204" y="3027045"/>
            <a:ext cx="3017520" cy="882015"/>
          </a:xfrm>
          <a:prstGeom prst="rect">
            <a:avLst/>
          </a:prstGeom>
        </p:spPr>
        <p:txBody>
          <a:bodyPr anchor="t" rtlCol="false" tIns="0" lIns="0" bIns="0" rIns="0">
            <a:spAutoFit/>
          </a:bodyPr>
          <a:lstStyle/>
          <a:p>
            <a:pPr algn="l">
              <a:lnSpc>
                <a:spcPts val="5758"/>
              </a:lnSpc>
            </a:pPr>
            <a:r>
              <a:rPr lang="en-US" sz="4800" b="true">
                <a:solidFill>
                  <a:srgbClr val="0B6E60"/>
                </a:solidFill>
                <a:latin typeface="Source Serif Pro Bold"/>
                <a:ea typeface="Source Serif Pro Bold"/>
                <a:cs typeface="Source Serif Pro Bold"/>
                <a:sym typeface="Source Serif Pro Bold"/>
              </a:rPr>
              <a:t>5</a:t>
            </a:r>
          </a:p>
        </p:txBody>
      </p:sp>
      <p:sp>
        <p:nvSpPr>
          <p:cNvPr name="TextBox 14" id="14"/>
          <p:cNvSpPr txBox="true"/>
          <p:nvPr/>
        </p:nvSpPr>
        <p:spPr>
          <a:xfrm rot="0">
            <a:off x="1632204" y="3950208"/>
            <a:ext cx="3154680" cy="54864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Villages in Chakwal District</a:t>
            </a:r>
          </a:p>
        </p:txBody>
      </p:sp>
      <p:sp>
        <p:nvSpPr>
          <p:cNvPr name="Freeform 15" id="15"/>
          <p:cNvSpPr/>
          <p:nvPr/>
        </p:nvSpPr>
        <p:spPr>
          <a:xfrm flipH="false" flipV="false" rot="0">
            <a:off x="5323018" y="2799274"/>
            <a:ext cx="3796903" cy="1876663"/>
          </a:xfrm>
          <a:custGeom>
            <a:avLst/>
            <a:gdLst/>
            <a:ahLst/>
            <a:cxnLst/>
            <a:rect r="r" b="b" t="t" l="l"/>
            <a:pathLst>
              <a:path h="1876663" w="3796903">
                <a:moveTo>
                  <a:pt x="0" y="0"/>
                </a:moveTo>
                <a:lnTo>
                  <a:pt x="3796903" y="0"/>
                </a:lnTo>
                <a:lnTo>
                  <a:pt x="3796903" y="1876663"/>
                </a:lnTo>
                <a:lnTo>
                  <a:pt x="0" y="18766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6" id="16"/>
          <p:cNvSpPr txBox="true"/>
          <p:nvPr/>
        </p:nvSpPr>
        <p:spPr>
          <a:xfrm rot="0">
            <a:off x="5747004" y="3027045"/>
            <a:ext cx="3017520" cy="882015"/>
          </a:xfrm>
          <a:prstGeom prst="rect">
            <a:avLst/>
          </a:prstGeom>
        </p:spPr>
        <p:txBody>
          <a:bodyPr anchor="t" rtlCol="false" tIns="0" lIns="0" bIns="0" rIns="0">
            <a:spAutoFit/>
          </a:bodyPr>
          <a:lstStyle/>
          <a:p>
            <a:pPr algn="l">
              <a:lnSpc>
                <a:spcPts val="5758"/>
              </a:lnSpc>
            </a:pPr>
            <a:r>
              <a:rPr lang="en-US" sz="4800" b="true">
                <a:solidFill>
                  <a:srgbClr val="0B6E60"/>
                </a:solidFill>
                <a:latin typeface="Source Serif Pro Bold"/>
                <a:ea typeface="Source Serif Pro Bold"/>
                <a:cs typeface="Source Serif Pro Bold"/>
                <a:sym typeface="Source Serif Pro Bold"/>
              </a:rPr>
              <a:t>3</a:t>
            </a:r>
          </a:p>
        </p:txBody>
      </p:sp>
      <p:sp>
        <p:nvSpPr>
          <p:cNvPr name="TextBox 17" id="17"/>
          <p:cNvSpPr txBox="true"/>
          <p:nvPr/>
        </p:nvSpPr>
        <p:spPr>
          <a:xfrm rot="0">
            <a:off x="5747004" y="3950208"/>
            <a:ext cx="3154680" cy="54864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Contact points for education</a:t>
            </a:r>
          </a:p>
        </p:txBody>
      </p:sp>
      <p:sp>
        <p:nvSpPr>
          <p:cNvPr name="Freeform 18" id="18"/>
          <p:cNvSpPr/>
          <p:nvPr/>
        </p:nvSpPr>
        <p:spPr>
          <a:xfrm flipH="false" flipV="false" rot="0">
            <a:off x="9437818" y="2799274"/>
            <a:ext cx="3796903" cy="1876663"/>
          </a:xfrm>
          <a:custGeom>
            <a:avLst/>
            <a:gdLst/>
            <a:ahLst/>
            <a:cxnLst/>
            <a:rect r="r" b="b" t="t" l="l"/>
            <a:pathLst>
              <a:path h="1876663" w="3796903">
                <a:moveTo>
                  <a:pt x="0" y="0"/>
                </a:moveTo>
                <a:lnTo>
                  <a:pt x="3796903" y="0"/>
                </a:lnTo>
                <a:lnTo>
                  <a:pt x="3796903" y="1876663"/>
                </a:lnTo>
                <a:lnTo>
                  <a:pt x="0" y="18766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9" id="19"/>
          <p:cNvSpPr txBox="true"/>
          <p:nvPr/>
        </p:nvSpPr>
        <p:spPr>
          <a:xfrm rot="0">
            <a:off x="9861804" y="3027045"/>
            <a:ext cx="3017520" cy="882015"/>
          </a:xfrm>
          <a:prstGeom prst="rect">
            <a:avLst/>
          </a:prstGeom>
        </p:spPr>
        <p:txBody>
          <a:bodyPr anchor="t" rtlCol="false" tIns="0" lIns="0" bIns="0" rIns="0">
            <a:spAutoFit/>
          </a:bodyPr>
          <a:lstStyle/>
          <a:p>
            <a:pPr algn="l">
              <a:lnSpc>
                <a:spcPts val="5758"/>
              </a:lnSpc>
            </a:pPr>
            <a:r>
              <a:rPr lang="en-US" sz="4800" b="true">
                <a:solidFill>
                  <a:srgbClr val="0B6E60"/>
                </a:solidFill>
                <a:latin typeface="Source Serif Pro Bold"/>
                <a:ea typeface="Source Serif Pro Bold"/>
                <a:cs typeface="Source Serif Pro Bold"/>
                <a:sym typeface="Source Serif Pro Bold"/>
              </a:rPr>
              <a:t>200</a:t>
            </a:r>
          </a:p>
        </p:txBody>
      </p:sp>
      <p:sp>
        <p:nvSpPr>
          <p:cNvPr name="TextBox 20" id="20"/>
          <p:cNvSpPr txBox="true"/>
          <p:nvPr/>
        </p:nvSpPr>
        <p:spPr>
          <a:xfrm rot="0">
            <a:off x="9861804" y="3950208"/>
            <a:ext cx="3154680" cy="54864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Community members surveyed</a:t>
            </a:r>
          </a:p>
        </p:txBody>
      </p:sp>
      <p:sp>
        <p:nvSpPr>
          <p:cNvPr name="Freeform 21" id="21"/>
          <p:cNvSpPr/>
          <p:nvPr/>
        </p:nvSpPr>
        <p:spPr>
          <a:xfrm flipH="false" flipV="false" rot="0">
            <a:off x="13630751" y="2795111"/>
            <a:ext cx="3462338" cy="1884998"/>
          </a:xfrm>
          <a:custGeom>
            <a:avLst/>
            <a:gdLst/>
            <a:ahLst/>
            <a:cxnLst/>
            <a:rect r="r" b="b" t="t" l="l"/>
            <a:pathLst>
              <a:path h="1884998" w="3462338">
                <a:moveTo>
                  <a:pt x="0" y="0"/>
                </a:moveTo>
                <a:lnTo>
                  <a:pt x="3462338" y="0"/>
                </a:lnTo>
                <a:lnTo>
                  <a:pt x="3462338" y="1884998"/>
                </a:lnTo>
                <a:lnTo>
                  <a:pt x="0" y="18849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2" id="22"/>
          <p:cNvSpPr txBox="true"/>
          <p:nvPr/>
        </p:nvSpPr>
        <p:spPr>
          <a:xfrm rot="0">
            <a:off x="13990320" y="3025902"/>
            <a:ext cx="2880360" cy="361950"/>
          </a:xfrm>
          <a:prstGeom prst="rect">
            <a:avLst/>
          </a:prstGeom>
        </p:spPr>
        <p:txBody>
          <a:bodyPr anchor="t" rtlCol="false" tIns="0" lIns="0" bIns="0" rIns="0">
            <a:spAutoFit/>
          </a:bodyPr>
          <a:lstStyle/>
          <a:p>
            <a:pPr algn="l">
              <a:lnSpc>
                <a:spcPts val="1709"/>
              </a:lnSpc>
            </a:pPr>
            <a:r>
              <a:rPr lang="en-US" b="true" sz="1425" spc="299">
                <a:solidFill>
                  <a:srgbClr val="7FD1C0"/>
                </a:solidFill>
                <a:latin typeface="IBM Plex Sans Bold"/>
                <a:ea typeface="IBM Plex Sans Bold"/>
                <a:cs typeface="IBM Plex Sans Bold"/>
                <a:sym typeface="IBM Plex Sans Bold"/>
              </a:rPr>
              <a:t>PERIOD</a:t>
            </a:r>
          </a:p>
        </p:txBody>
      </p:sp>
      <p:sp>
        <p:nvSpPr>
          <p:cNvPr name="TextBox 23" id="23"/>
          <p:cNvSpPr txBox="true"/>
          <p:nvPr/>
        </p:nvSpPr>
        <p:spPr>
          <a:xfrm rot="0">
            <a:off x="13990320" y="3429000"/>
            <a:ext cx="2948940" cy="495300"/>
          </a:xfrm>
          <a:prstGeom prst="rect">
            <a:avLst/>
          </a:prstGeom>
        </p:spPr>
        <p:txBody>
          <a:bodyPr anchor="t" rtlCol="false" tIns="0" lIns="0" bIns="0" rIns="0">
            <a:spAutoFit/>
          </a:bodyPr>
          <a:lstStyle/>
          <a:p>
            <a:pPr algn="l">
              <a:lnSpc>
                <a:spcPts val="1980"/>
              </a:lnSpc>
            </a:pPr>
            <a:r>
              <a:rPr lang="en-US" sz="1650">
                <a:solidFill>
                  <a:srgbClr val="FFFFFF"/>
                </a:solidFill>
                <a:latin typeface="IBM Plex Sans"/>
                <a:ea typeface="IBM Plex Sans"/>
                <a:cs typeface="IBM Plex Sans"/>
                <a:sym typeface="IBM Plex Sans"/>
              </a:rPr>
              <a:t>Feb – Aug 2026</a:t>
            </a:r>
          </a:p>
          <a:p>
            <a:pPr algn="l">
              <a:lnSpc>
                <a:spcPts val="1980"/>
              </a:lnSpc>
            </a:pPr>
            <a:r>
              <a:rPr lang="en-US" sz="1650">
                <a:solidFill>
                  <a:srgbClr val="FFFFFF"/>
                </a:solidFill>
                <a:latin typeface="IBM Plex Sans"/>
                <a:ea typeface="IBM Plex Sans"/>
                <a:cs typeface="IBM Plex Sans"/>
                <a:sym typeface="IBM Plex Sans"/>
              </a:rPr>
              <a:t>follow up per village </a:t>
            </a:r>
          </a:p>
        </p:txBody>
      </p:sp>
      <p:sp>
        <p:nvSpPr>
          <p:cNvPr name="TextBox 24" id="24"/>
          <p:cNvSpPr txBox="true"/>
          <p:nvPr/>
        </p:nvSpPr>
        <p:spPr>
          <a:xfrm rot="0">
            <a:off x="1220724" y="5124450"/>
            <a:ext cx="4800600" cy="361950"/>
          </a:xfrm>
          <a:prstGeom prst="rect">
            <a:avLst/>
          </a:prstGeom>
        </p:spPr>
        <p:txBody>
          <a:bodyPr anchor="t" rtlCol="false" tIns="0" lIns="0" bIns="0" rIns="0">
            <a:spAutoFit/>
          </a:bodyPr>
          <a:lstStyle/>
          <a:p>
            <a:pPr algn="l">
              <a:lnSpc>
                <a:spcPts val="1709"/>
              </a:lnSpc>
            </a:pPr>
            <a:r>
              <a:rPr lang="en-US" b="true" sz="1425" spc="299">
                <a:solidFill>
                  <a:srgbClr val="0B6E60"/>
                </a:solidFill>
                <a:latin typeface="IBM Plex Sans Bold"/>
                <a:ea typeface="IBM Plex Sans Bold"/>
                <a:cs typeface="IBM Plex Sans Bold"/>
                <a:sym typeface="IBM Plex Sans Bold"/>
              </a:rPr>
              <a:t>PARTICIPANTS</a:t>
            </a:r>
          </a:p>
        </p:txBody>
      </p:sp>
      <p:sp>
        <p:nvSpPr>
          <p:cNvPr name="TextBox 25" id="25"/>
          <p:cNvSpPr txBox="true"/>
          <p:nvPr/>
        </p:nvSpPr>
        <p:spPr>
          <a:xfrm rot="0">
            <a:off x="1220724" y="5513832"/>
            <a:ext cx="4800600" cy="102870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Adults collecting antibiotics at the pharmacy, households visited door-to-door and patients at medical camps.</a:t>
            </a:r>
          </a:p>
        </p:txBody>
      </p:sp>
      <p:sp>
        <p:nvSpPr>
          <p:cNvPr name="TextBox 26" id="26"/>
          <p:cNvSpPr txBox="true"/>
          <p:nvPr/>
        </p:nvSpPr>
        <p:spPr>
          <a:xfrm rot="0">
            <a:off x="6569964" y="5124450"/>
            <a:ext cx="4800600" cy="361950"/>
          </a:xfrm>
          <a:prstGeom prst="rect">
            <a:avLst/>
          </a:prstGeom>
        </p:spPr>
        <p:txBody>
          <a:bodyPr anchor="t" rtlCol="false" tIns="0" lIns="0" bIns="0" rIns="0">
            <a:spAutoFit/>
          </a:bodyPr>
          <a:lstStyle/>
          <a:p>
            <a:pPr algn="l">
              <a:lnSpc>
                <a:spcPts val="1709"/>
              </a:lnSpc>
            </a:pPr>
            <a:r>
              <a:rPr lang="en-US" b="true" sz="1425" spc="299">
                <a:solidFill>
                  <a:srgbClr val="0B6E60"/>
                </a:solidFill>
                <a:latin typeface="IBM Plex Sans Bold"/>
                <a:ea typeface="IBM Plex Sans Bold"/>
                <a:cs typeface="IBM Plex Sans Bold"/>
                <a:sym typeface="IBM Plex Sans Bold"/>
              </a:rPr>
              <a:t>MULTIPLIERS</a:t>
            </a:r>
          </a:p>
        </p:txBody>
      </p:sp>
      <p:sp>
        <p:nvSpPr>
          <p:cNvPr name="TextBox 27" id="27"/>
          <p:cNvSpPr txBox="true"/>
          <p:nvPr/>
        </p:nvSpPr>
        <p:spPr>
          <a:xfrm rot="0">
            <a:off x="6569964" y="5513832"/>
            <a:ext cx="4800600" cy="102870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Local dispensers, community nurses and lady health workers reinforce the messages after each visit.</a:t>
            </a:r>
          </a:p>
        </p:txBody>
      </p:sp>
      <p:sp>
        <p:nvSpPr>
          <p:cNvPr name="TextBox 28" id="28"/>
          <p:cNvSpPr txBox="true"/>
          <p:nvPr/>
        </p:nvSpPr>
        <p:spPr>
          <a:xfrm rot="0">
            <a:off x="11919204" y="5124450"/>
            <a:ext cx="4800600" cy="361950"/>
          </a:xfrm>
          <a:prstGeom prst="rect">
            <a:avLst/>
          </a:prstGeom>
        </p:spPr>
        <p:txBody>
          <a:bodyPr anchor="t" rtlCol="false" tIns="0" lIns="0" bIns="0" rIns="0">
            <a:spAutoFit/>
          </a:bodyPr>
          <a:lstStyle/>
          <a:p>
            <a:pPr algn="l">
              <a:lnSpc>
                <a:spcPts val="1709"/>
              </a:lnSpc>
            </a:pPr>
            <a:r>
              <a:rPr lang="en-US" b="true" sz="1425" spc="299">
                <a:solidFill>
                  <a:srgbClr val="0B6E60"/>
                </a:solidFill>
                <a:latin typeface="IBM Plex Sans Bold"/>
                <a:ea typeface="IBM Plex Sans Bold"/>
                <a:cs typeface="IBM Plex Sans Bold"/>
                <a:sym typeface="IBM Plex Sans Bold"/>
              </a:rPr>
              <a:t>DOCUMENTATION</a:t>
            </a:r>
          </a:p>
        </p:txBody>
      </p:sp>
      <p:sp>
        <p:nvSpPr>
          <p:cNvPr name="TextBox 29" id="29"/>
          <p:cNvSpPr txBox="true"/>
          <p:nvPr/>
        </p:nvSpPr>
        <p:spPr>
          <a:xfrm rot="0">
            <a:off x="11919204" y="5513832"/>
            <a:ext cx="4800600" cy="102870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Every contact is recorded; the 200 survey respondents are logged in the accompanying Excel data sheet.</a:t>
            </a:r>
          </a:p>
        </p:txBody>
      </p:sp>
      <p:sp>
        <p:nvSpPr>
          <p:cNvPr name="Freeform 30" id="30"/>
          <p:cNvSpPr/>
          <p:nvPr/>
        </p:nvSpPr>
        <p:spPr>
          <a:xfrm flipH="false" flipV="false" rot="0">
            <a:off x="1208218" y="6845494"/>
            <a:ext cx="2973943" cy="1876663"/>
          </a:xfrm>
          <a:custGeom>
            <a:avLst/>
            <a:gdLst/>
            <a:ahLst/>
            <a:cxnLst/>
            <a:rect r="r" b="b" t="t" l="l"/>
            <a:pathLst>
              <a:path h="1876663" w="2973943">
                <a:moveTo>
                  <a:pt x="0" y="0"/>
                </a:moveTo>
                <a:lnTo>
                  <a:pt x="2973943" y="0"/>
                </a:lnTo>
                <a:lnTo>
                  <a:pt x="2973943" y="1876663"/>
                </a:lnTo>
                <a:lnTo>
                  <a:pt x="0" y="187666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31" id="31"/>
          <p:cNvSpPr txBox="true"/>
          <p:nvPr/>
        </p:nvSpPr>
        <p:spPr>
          <a:xfrm rot="0">
            <a:off x="1495044" y="7063740"/>
            <a:ext cx="2537460" cy="301752"/>
          </a:xfrm>
          <a:prstGeom prst="rect">
            <a:avLst/>
          </a:prstGeom>
        </p:spPr>
        <p:txBody>
          <a:bodyPr anchor="t" rtlCol="false" tIns="0" lIns="0" bIns="0" rIns="0">
            <a:spAutoFit/>
          </a:bodyPr>
          <a:lstStyle/>
          <a:p>
            <a:pPr algn="l">
              <a:lnSpc>
                <a:spcPts val="1530"/>
              </a:lnSpc>
            </a:pPr>
            <a:r>
              <a:rPr lang="en-US" b="true" sz="1275" spc="149">
                <a:solidFill>
                  <a:srgbClr val="0B6E60"/>
                </a:solidFill>
                <a:latin typeface="IBM Plex Sans Bold"/>
                <a:ea typeface="IBM Plex Sans Bold"/>
                <a:cs typeface="IBM Plex Sans Bold"/>
                <a:sym typeface="IBM Plex Sans Bold"/>
              </a:rPr>
              <a:t>PHARMACY HUB</a:t>
            </a:r>
          </a:p>
        </p:txBody>
      </p:sp>
      <p:sp>
        <p:nvSpPr>
          <p:cNvPr name="TextBox 32" id="32"/>
          <p:cNvSpPr txBox="true"/>
          <p:nvPr/>
        </p:nvSpPr>
        <p:spPr>
          <a:xfrm rot="0">
            <a:off x="1495044" y="7406640"/>
            <a:ext cx="2537460" cy="685800"/>
          </a:xfrm>
          <a:prstGeom prst="rect">
            <a:avLst/>
          </a:prstGeom>
        </p:spPr>
        <p:txBody>
          <a:bodyPr anchor="t" rtlCol="false" tIns="0" lIns="0" bIns="0" rIns="0">
            <a:spAutoFit/>
          </a:bodyPr>
          <a:lstStyle/>
          <a:p>
            <a:pPr algn="l">
              <a:lnSpc>
                <a:spcPts val="2160"/>
              </a:lnSpc>
            </a:pPr>
            <a:r>
              <a:rPr lang="en-US" sz="1800" b="true">
                <a:solidFill>
                  <a:srgbClr val="14304A"/>
                </a:solidFill>
                <a:latin typeface="IBM Plex Sans Bold"/>
                <a:ea typeface="IBM Plex Sans Bold"/>
                <a:cs typeface="IBM Plex Sans Bold"/>
                <a:sym typeface="IBM Plex Sans Bold"/>
              </a:rPr>
              <a:t>Choa Saidan Shah</a:t>
            </a:r>
          </a:p>
        </p:txBody>
      </p:sp>
      <p:sp>
        <p:nvSpPr>
          <p:cNvPr name="TextBox 33" id="33"/>
          <p:cNvSpPr txBox="true"/>
          <p:nvPr/>
        </p:nvSpPr>
        <p:spPr>
          <a:xfrm rot="0">
            <a:off x="1495044" y="8119872"/>
            <a:ext cx="2537460" cy="411480"/>
          </a:xfrm>
          <a:prstGeom prst="rect">
            <a:avLst/>
          </a:prstGeom>
        </p:spPr>
        <p:txBody>
          <a:bodyPr anchor="t" rtlCol="false" tIns="0" lIns="0" bIns="0" rIns="0">
            <a:spAutoFit/>
          </a:bodyPr>
          <a:lstStyle/>
          <a:p>
            <a:pPr algn="l">
              <a:lnSpc>
                <a:spcPts val="1800"/>
              </a:lnSpc>
            </a:pPr>
            <a:r>
              <a:rPr lang="en-US" sz="1500">
                <a:solidFill>
                  <a:srgbClr val="5B6770"/>
                </a:solidFill>
                <a:latin typeface="IBM Plex Sans"/>
                <a:ea typeface="IBM Plex Sans"/>
                <a:cs typeface="IBM Plex Sans"/>
                <a:sym typeface="IBM Plex Sans"/>
              </a:rPr>
              <a:t>50 respondents</a:t>
            </a:r>
          </a:p>
        </p:txBody>
      </p:sp>
      <p:sp>
        <p:nvSpPr>
          <p:cNvPr name="Freeform 34" id="34"/>
          <p:cNvSpPr/>
          <p:nvPr/>
        </p:nvSpPr>
        <p:spPr>
          <a:xfrm flipH="false" flipV="false" rot="0">
            <a:off x="4431478" y="6845494"/>
            <a:ext cx="2973943" cy="1876663"/>
          </a:xfrm>
          <a:custGeom>
            <a:avLst/>
            <a:gdLst/>
            <a:ahLst/>
            <a:cxnLst/>
            <a:rect r="r" b="b" t="t" l="l"/>
            <a:pathLst>
              <a:path h="1876663" w="2973943">
                <a:moveTo>
                  <a:pt x="0" y="0"/>
                </a:moveTo>
                <a:lnTo>
                  <a:pt x="2973943" y="0"/>
                </a:lnTo>
                <a:lnTo>
                  <a:pt x="2973943" y="1876663"/>
                </a:lnTo>
                <a:lnTo>
                  <a:pt x="0" y="187666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35" id="35"/>
          <p:cNvSpPr txBox="true"/>
          <p:nvPr/>
        </p:nvSpPr>
        <p:spPr>
          <a:xfrm rot="0">
            <a:off x="4718304" y="7063740"/>
            <a:ext cx="2537460" cy="301752"/>
          </a:xfrm>
          <a:prstGeom prst="rect">
            <a:avLst/>
          </a:prstGeom>
        </p:spPr>
        <p:txBody>
          <a:bodyPr anchor="t" rtlCol="false" tIns="0" lIns="0" bIns="0" rIns="0">
            <a:spAutoFit/>
          </a:bodyPr>
          <a:lstStyle/>
          <a:p>
            <a:pPr algn="l">
              <a:lnSpc>
                <a:spcPts val="1530"/>
              </a:lnSpc>
            </a:pPr>
            <a:r>
              <a:rPr lang="en-US" b="true" sz="1275" spc="149">
                <a:solidFill>
                  <a:srgbClr val="0B6E60"/>
                </a:solidFill>
                <a:latin typeface="IBM Plex Sans Bold"/>
                <a:ea typeface="IBM Plex Sans Bold"/>
                <a:cs typeface="IBM Plex Sans Bold"/>
                <a:sym typeface="IBM Plex Sans Bold"/>
              </a:rPr>
              <a:t>DOOR-TO-DOOR</a:t>
            </a:r>
          </a:p>
        </p:txBody>
      </p:sp>
      <p:sp>
        <p:nvSpPr>
          <p:cNvPr name="TextBox 36" id="36"/>
          <p:cNvSpPr txBox="true"/>
          <p:nvPr/>
        </p:nvSpPr>
        <p:spPr>
          <a:xfrm rot="0">
            <a:off x="4718304" y="7406640"/>
            <a:ext cx="2537460" cy="685800"/>
          </a:xfrm>
          <a:prstGeom prst="rect">
            <a:avLst/>
          </a:prstGeom>
        </p:spPr>
        <p:txBody>
          <a:bodyPr anchor="t" rtlCol="false" tIns="0" lIns="0" bIns="0" rIns="0">
            <a:spAutoFit/>
          </a:bodyPr>
          <a:lstStyle/>
          <a:p>
            <a:pPr algn="l">
              <a:lnSpc>
                <a:spcPts val="2160"/>
              </a:lnSpc>
            </a:pPr>
            <a:r>
              <a:rPr lang="en-US" sz="1800" b="true">
                <a:solidFill>
                  <a:srgbClr val="14304A"/>
                </a:solidFill>
                <a:latin typeface="IBM Plex Sans Bold"/>
                <a:ea typeface="IBM Plex Sans Bold"/>
                <a:cs typeface="IBM Plex Sans Bold"/>
                <a:sym typeface="IBM Plex Sans Bold"/>
              </a:rPr>
              <a:t>Saloi</a:t>
            </a:r>
          </a:p>
        </p:txBody>
      </p:sp>
      <p:sp>
        <p:nvSpPr>
          <p:cNvPr name="TextBox 37" id="37"/>
          <p:cNvSpPr txBox="true"/>
          <p:nvPr/>
        </p:nvSpPr>
        <p:spPr>
          <a:xfrm rot="0">
            <a:off x="4718304" y="8119872"/>
            <a:ext cx="2537460" cy="411480"/>
          </a:xfrm>
          <a:prstGeom prst="rect">
            <a:avLst/>
          </a:prstGeom>
        </p:spPr>
        <p:txBody>
          <a:bodyPr anchor="t" rtlCol="false" tIns="0" lIns="0" bIns="0" rIns="0">
            <a:spAutoFit/>
          </a:bodyPr>
          <a:lstStyle/>
          <a:p>
            <a:pPr algn="l">
              <a:lnSpc>
                <a:spcPts val="1800"/>
              </a:lnSpc>
            </a:pPr>
            <a:r>
              <a:rPr lang="en-US" sz="1500">
                <a:solidFill>
                  <a:srgbClr val="5B6770"/>
                </a:solidFill>
                <a:latin typeface="IBM Plex Sans"/>
                <a:ea typeface="IBM Plex Sans"/>
                <a:cs typeface="IBM Plex Sans"/>
                <a:sym typeface="IBM Plex Sans"/>
              </a:rPr>
              <a:t>38 respondents</a:t>
            </a:r>
          </a:p>
        </p:txBody>
      </p:sp>
      <p:sp>
        <p:nvSpPr>
          <p:cNvPr name="Freeform 38" id="38"/>
          <p:cNvSpPr/>
          <p:nvPr/>
        </p:nvSpPr>
        <p:spPr>
          <a:xfrm flipH="false" flipV="false" rot="0">
            <a:off x="7654738" y="6845494"/>
            <a:ext cx="2973943" cy="1876663"/>
          </a:xfrm>
          <a:custGeom>
            <a:avLst/>
            <a:gdLst/>
            <a:ahLst/>
            <a:cxnLst/>
            <a:rect r="r" b="b" t="t" l="l"/>
            <a:pathLst>
              <a:path h="1876663" w="2973943">
                <a:moveTo>
                  <a:pt x="0" y="0"/>
                </a:moveTo>
                <a:lnTo>
                  <a:pt x="2973943" y="0"/>
                </a:lnTo>
                <a:lnTo>
                  <a:pt x="2973943" y="1876663"/>
                </a:lnTo>
                <a:lnTo>
                  <a:pt x="0" y="187666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39" id="39"/>
          <p:cNvSpPr txBox="true"/>
          <p:nvPr/>
        </p:nvSpPr>
        <p:spPr>
          <a:xfrm rot="0">
            <a:off x="7941564" y="7063740"/>
            <a:ext cx="2537460" cy="301752"/>
          </a:xfrm>
          <a:prstGeom prst="rect">
            <a:avLst/>
          </a:prstGeom>
        </p:spPr>
        <p:txBody>
          <a:bodyPr anchor="t" rtlCol="false" tIns="0" lIns="0" bIns="0" rIns="0">
            <a:spAutoFit/>
          </a:bodyPr>
          <a:lstStyle/>
          <a:p>
            <a:pPr algn="l">
              <a:lnSpc>
                <a:spcPts val="1530"/>
              </a:lnSpc>
            </a:pPr>
            <a:r>
              <a:rPr lang="en-US" b="true" sz="1275" spc="149">
                <a:solidFill>
                  <a:srgbClr val="0B6E60"/>
                </a:solidFill>
                <a:latin typeface="IBM Plex Sans Bold"/>
                <a:ea typeface="IBM Plex Sans Bold"/>
                <a:cs typeface="IBM Plex Sans Bold"/>
                <a:sym typeface="IBM Plex Sans Bold"/>
              </a:rPr>
              <a:t>MEDICAL CAMP</a:t>
            </a:r>
          </a:p>
        </p:txBody>
      </p:sp>
      <p:sp>
        <p:nvSpPr>
          <p:cNvPr name="TextBox 40" id="40"/>
          <p:cNvSpPr txBox="true"/>
          <p:nvPr/>
        </p:nvSpPr>
        <p:spPr>
          <a:xfrm rot="0">
            <a:off x="7941564" y="7406640"/>
            <a:ext cx="2537460" cy="685800"/>
          </a:xfrm>
          <a:prstGeom prst="rect">
            <a:avLst/>
          </a:prstGeom>
        </p:spPr>
        <p:txBody>
          <a:bodyPr anchor="t" rtlCol="false" tIns="0" lIns="0" bIns="0" rIns="0">
            <a:spAutoFit/>
          </a:bodyPr>
          <a:lstStyle/>
          <a:p>
            <a:pPr algn="l">
              <a:lnSpc>
                <a:spcPts val="2160"/>
              </a:lnSpc>
            </a:pPr>
            <a:r>
              <a:rPr lang="en-US" sz="1800" b="true">
                <a:solidFill>
                  <a:srgbClr val="14304A"/>
                </a:solidFill>
                <a:latin typeface="IBM Plex Sans Bold"/>
                <a:ea typeface="IBM Plex Sans Bold"/>
                <a:cs typeface="IBM Plex Sans Bold"/>
                <a:sym typeface="IBM Plex Sans Bold"/>
              </a:rPr>
              <a:t>Dalwal</a:t>
            </a:r>
          </a:p>
        </p:txBody>
      </p:sp>
      <p:sp>
        <p:nvSpPr>
          <p:cNvPr name="TextBox 41" id="41"/>
          <p:cNvSpPr txBox="true"/>
          <p:nvPr/>
        </p:nvSpPr>
        <p:spPr>
          <a:xfrm rot="0">
            <a:off x="7941564" y="8119872"/>
            <a:ext cx="2537460" cy="411480"/>
          </a:xfrm>
          <a:prstGeom prst="rect">
            <a:avLst/>
          </a:prstGeom>
        </p:spPr>
        <p:txBody>
          <a:bodyPr anchor="t" rtlCol="false" tIns="0" lIns="0" bIns="0" rIns="0">
            <a:spAutoFit/>
          </a:bodyPr>
          <a:lstStyle/>
          <a:p>
            <a:pPr algn="l">
              <a:lnSpc>
                <a:spcPts val="1800"/>
              </a:lnSpc>
            </a:pPr>
            <a:r>
              <a:rPr lang="en-US" sz="1500">
                <a:solidFill>
                  <a:srgbClr val="5B6770"/>
                </a:solidFill>
                <a:latin typeface="IBM Plex Sans"/>
                <a:ea typeface="IBM Plex Sans"/>
                <a:cs typeface="IBM Plex Sans"/>
                <a:sym typeface="IBM Plex Sans"/>
              </a:rPr>
              <a:t>44 respondents</a:t>
            </a:r>
          </a:p>
        </p:txBody>
      </p:sp>
      <p:sp>
        <p:nvSpPr>
          <p:cNvPr name="Freeform 42" id="42"/>
          <p:cNvSpPr/>
          <p:nvPr/>
        </p:nvSpPr>
        <p:spPr>
          <a:xfrm flipH="false" flipV="false" rot="0">
            <a:off x="10877998" y="6845494"/>
            <a:ext cx="2973943" cy="1876663"/>
          </a:xfrm>
          <a:custGeom>
            <a:avLst/>
            <a:gdLst/>
            <a:ahLst/>
            <a:cxnLst/>
            <a:rect r="r" b="b" t="t" l="l"/>
            <a:pathLst>
              <a:path h="1876663" w="2973943">
                <a:moveTo>
                  <a:pt x="0" y="0"/>
                </a:moveTo>
                <a:lnTo>
                  <a:pt x="2973943" y="0"/>
                </a:lnTo>
                <a:lnTo>
                  <a:pt x="2973943" y="1876663"/>
                </a:lnTo>
                <a:lnTo>
                  <a:pt x="0" y="187666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43" id="43"/>
          <p:cNvSpPr txBox="true"/>
          <p:nvPr/>
        </p:nvSpPr>
        <p:spPr>
          <a:xfrm rot="0">
            <a:off x="11164824" y="7063740"/>
            <a:ext cx="2537460" cy="301752"/>
          </a:xfrm>
          <a:prstGeom prst="rect">
            <a:avLst/>
          </a:prstGeom>
        </p:spPr>
        <p:txBody>
          <a:bodyPr anchor="t" rtlCol="false" tIns="0" lIns="0" bIns="0" rIns="0">
            <a:spAutoFit/>
          </a:bodyPr>
          <a:lstStyle/>
          <a:p>
            <a:pPr algn="l">
              <a:lnSpc>
                <a:spcPts val="1530"/>
              </a:lnSpc>
            </a:pPr>
            <a:r>
              <a:rPr lang="en-US" b="true" sz="1275" spc="149">
                <a:solidFill>
                  <a:srgbClr val="0B6E60"/>
                </a:solidFill>
                <a:latin typeface="IBM Plex Sans Bold"/>
                <a:ea typeface="IBM Plex Sans Bold"/>
                <a:cs typeface="IBM Plex Sans Bold"/>
                <a:sym typeface="IBM Plex Sans Bold"/>
              </a:rPr>
              <a:t>DOOR-TO-DOOR</a:t>
            </a:r>
          </a:p>
        </p:txBody>
      </p:sp>
      <p:sp>
        <p:nvSpPr>
          <p:cNvPr name="TextBox 44" id="44"/>
          <p:cNvSpPr txBox="true"/>
          <p:nvPr/>
        </p:nvSpPr>
        <p:spPr>
          <a:xfrm rot="0">
            <a:off x="11164824" y="7406640"/>
            <a:ext cx="2537460" cy="685800"/>
          </a:xfrm>
          <a:prstGeom prst="rect">
            <a:avLst/>
          </a:prstGeom>
        </p:spPr>
        <p:txBody>
          <a:bodyPr anchor="t" rtlCol="false" tIns="0" lIns="0" bIns="0" rIns="0">
            <a:spAutoFit/>
          </a:bodyPr>
          <a:lstStyle/>
          <a:p>
            <a:pPr algn="l">
              <a:lnSpc>
                <a:spcPts val="2160"/>
              </a:lnSpc>
            </a:pPr>
            <a:r>
              <a:rPr lang="en-US" sz="1800" b="true">
                <a:solidFill>
                  <a:srgbClr val="14304A"/>
                </a:solidFill>
                <a:latin typeface="IBM Plex Sans Bold"/>
                <a:ea typeface="IBM Plex Sans Bold"/>
                <a:cs typeface="IBM Plex Sans Bold"/>
                <a:sym typeface="IBM Plex Sans Bold"/>
              </a:rPr>
              <a:t>Basharat</a:t>
            </a:r>
          </a:p>
        </p:txBody>
      </p:sp>
      <p:sp>
        <p:nvSpPr>
          <p:cNvPr name="TextBox 45" id="45"/>
          <p:cNvSpPr txBox="true"/>
          <p:nvPr/>
        </p:nvSpPr>
        <p:spPr>
          <a:xfrm rot="0">
            <a:off x="11164824" y="8119872"/>
            <a:ext cx="2537460" cy="411480"/>
          </a:xfrm>
          <a:prstGeom prst="rect">
            <a:avLst/>
          </a:prstGeom>
        </p:spPr>
        <p:txBody>
          <a:bodyPr anchor="t" rtlCol="false" tIns="0" lIns="0" bIns="0" rIns="0">
            <a:spAutoFit/>
          </a:bodyPr>
          <a:lstStyle/>
          <a:p>
            <a:pPr algn="l">
              <a:lnSpc>
                <a:spcPts val="1800"/>
              </a:lnSpc>
            </a:pPr>
            <a:r>
              <a:rPr lang="en-US" sz="1500">
                <a:solidFill>
                  <a:srgbClr val="5B6770"/>
                </a:solidFill>
                <a:latin typeface="IBM Plex Sans"/>
                <a:ea typeface="IBM Plex Sans"/>
                <a:cs typeface="IBM Plex Sans"/>
                <a:sym typeface="IBM Plex Sans"/>
              </a:rPr>
              <a:t>31 respondents</a:t>
            </a:r>
          </a:p>
        </p:txBody>
      </p:sp>
      <p:sp>
        <p:nvSpPr>
          <p:cNvPr name="Freeform 46" id="46"/>
          <p:cNvSpPr/>
          <p:nvPr/>
        </p:nvSpPr>
        <p:spPr>
          <a:xfrm flipH="false" flipV="false" rot="0">
            <a:off x="14101258" y="6845494"/>
            <a:ext cx="2973943" cy="1876663"/>
          </a:xfrm>
          <a:custGeom>
            <a:avLst/>
            <a:gdLst/>
            <a:ahLst/>
            <a:cxnLst/>
            <a:rect r="r" b="b" t="t" l="l"/>
            <a:pathLst>
              <a:path h="1876663" w="2973943">
                <a:moveTo>
                  <a:pt x="0" y="0"/>
                </a:moveTo>
                <a:lnTo>
                  <a:pt x="2973943" y="0"/>
                </a:lnTo>
                <a:lnTo>
                  <a:pt x="2973943" y="1876663"/>
                </a:lnTo>
                <a:lnTo>
                  <a:pt x="0" y="187666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47" id="47"/>
          <p:cNvSpPr txBox="true"/>
          <p:nvPr/>
        </p:nvSpPr>
        <p:spPr>
          <a:xfrm rot="0">
            <a:off x="14388084" y="7063740"/>
            <a:ext cx="2537460" cy="301752"/>
          </a:xfrm>
          <a:prstGeom prst="rect">
            <a:avLst/>
          </a:prstGeom>
        </p:spPr>
        <p:txBody>
          <a:bodyPr anchor="t" rtlCol="false" tIns="0" lIns="0" bIns="0" rIns="0">
            <a:spAutoFit/>
          </a:bodyPr>
          <a:lstStyle/>
          <a:p>
            <a:pPr algn="l">
              <a:lnSpc>
                <a:spcPts val="1530"/>
              </a:lnSpc>
            </a:pPr>
            <a:r>
              <a:rPr lang="en-US" b="true" sz="1275" spc="149">
                <a:solidFill>
                  <a:srgbClr val="0B6E60"/>
                </a:solidFill>
                <a:latin typeface="IBM Plex Sans Bold"/>
                <a:ea typeface="IBM Plex Sans Bold"/>
                <a:cs typeface="IBM Plex Sans Bold"/>
                <a:sym typeface="IBM Plex Sans Bold"/>
              </a:rPr>
              <a:t>MEDICAL CAMP</a:t>
            </a:r>
          </a:p>
        </p:txBody>
      </p:sp>
      <p:sp>
        <p:nvSpPr>
          <p:cNvPr name="TextBox 48" id="48"/>
          <p:cNvSpPr txBox="true"/>
          <p:nvPr/>
        </p:nvSpPr>
        <p:spPr>
          <a:xfrm rot="0">
            <a:off x="14388084" y="7406640"/>
            <a:ext cx="2537460" cy="685800"/>
          </a:xfrm>
          <a:prstGeom prst="rect">
            <a:avLst/>
          </a:prstGeom>
        </p:spPr>
        <p:txBody>
          <a:bodyPr anchor="t" rtlCol="false" tIns="0" lIns="0" bIns="0" rIns="0">
            <a:spAutoFit/>
          </a:bodyPr>
          <a:lstStyle/>
          <a:p>
            <a:pPr algn="l">
              <a:lnSpc>
                <a:spcPts val="2160"/>
              </a:lnSpc>
            </a:pPr>
            <a:r>
              <a:rPr lang="en-US" sz="1800" b="true">
                <a:solidFill>
                  <a:srgbClr val="14304A"/>
                </a:solidFill>
                <a:latin typeface="IBM Plex Sans Bold"/>
                <a:ea typeface="IBM Plex Sans Bold"/>
                <a:cs typeface="IBM Plex Sans Bold"/>
                <a:sym typeface="IBM Plex Sans Bold"/>
              </a:rPr>
              <a:t>Karsal</a:t>
            </a:r>
          </a:p>
        </p:txBody>
      </p:sp>
      <p:sp>
        <p:nvSpPr>
          <p:cNvPr name="TextBox 49" id="49"/>
          <p:cNvSpPr txBox="true"/>
          <p:nvPr/>
        </p:nvSpPr>
        <p:spPr>
          <a:xfrm rot="0">
            <a:off x="14388084" y="8119872"/>
            <a:ext cx="2537460" cy="411480"/>
          </a:xfrm>
          <a:prstGeom prst="rect">
            <a:avLst/>
          </a:prstGeom>
        </p:spPr>
        <p:txBody>
          <a:bodyPr anchor="t" rtlCol="false" tIns="0" lIns="0" bIns="0" rIns="0">
            <a:spAutoFit/>
          </a:bodyPr>
          <a:lstStyle/>
          <a:p>
            <a:pPr algn="l">
              <a:lnSpc>
                <a:spcPts val="1800"/>
              </a:lnSpc>
            </a:pPr>
            <a:r>
              <a:rPr lang="en-US" sz="1500">
                <a:solidFill>
                  <a:srgbClr val="5B6770"/>
                </a:solidFill>
                <a:latin typeface="IBM Plex Sans"/>
                <a:ea typeface="IBM Plex Sans"/>
                <a:cs typeface="IBM Plex Sans"/>
                <a:sym typeface="IBM Plex Sans"/>
              </a:rPr>
              <a:t>37 respondents</a:t>
            </a:r>
          </a:p>
        </p:txBody>
      </p:sp>
      <p:grpSp>
        <p:nvGrpSpPr>
          <p:cNvPr name="Group 50" id="50"/>
          <p:cNvGrpSpPr/>
          <p:nvPr/>
        </p:nvGrpSpPr>
        <p:grpSpPr>
          <a:xfrm rot="0">
            <a:off x="1220724" y="9354312"/>
            <a:ext cx="11658600" cy="356616"/>
            <a:chOff x="0" y="0"/>
            <a:chExt cx="15544800" cy="475488"/>
          </a:xfrm>
        </p:grpSpPr>
        <p:sp>
          <p:nvSpPr>
            <p:cNvPr name="Freeform 51" id="51"/>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52" id="52"/>
          <p:cNvGrpSpPr/>
          <p:nvPr/>
        </p:nvGrpSpPr>
        <p:grpSpPr>
          <a:xfrm rot="0">
            <a:off x="1220724" y="9354312"/>
            <a:ext cx="11658600" cy="356616"/>
            <a:chOff x="0" y="0"/>
            <a:chExt cx="15544800" cy="475488"/>
          </a:xfrm>
        </p:grpSpPr>
        <p:sp>
          <p:nvSpPr>
            <p:cNvPr name="Freeform 53" id="53"/>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54" id="54"/>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55" id="55"/>
          <p:cNvGrpSpPr/>
          <p:nvPr/>
        </p:nvGrpSpPr>
        <p:grpSpPr>
          <a:xfrm rot="0">
            <a:off x="15695219" y="9354312"/>
            <a:ext cx="1371600" cy="356616"/>
            <a:chOff x="0" y="0"/>
            <a:chExt cx="1828800" cy="475488"/>
          </a:xfrm>
        </p:grpSpPr>
        <p:sp>
          <p:nvSpPr>
            <p:cNvPr name="Freeform 56" id="56"/>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57" id="57"/>
          <p:cNvGrpSpPr/>
          <p:nvPr/>
        </p:nvGrpSpPr>
        <p:grpSpPr>
          <a:xfrm rot="0">
            <a:off x="15695219" y="9354312"/>
            <a:ext cx="1371600" cy="356616"/>
            <a:chOff x="0" y="0"/>
            <a:chExt cx="1828800" cy="475488"/>
          </a:xfrm>
        </p:grpSpPr>
        <p:sp>
          <p:nvSpPr>
            <p:cNvPr name="Freeform 58" id="58"/>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59" id="59"/>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4</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03 · PROGRAMME OBJECTIVES</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Six objectives guide the programme</a:t>
              </a:r>
            </a:p>
          </p:txBody>
        </p:sp>
      </p:grpSp>
      <p:sp>
        <p:nvSpPr>
          <p:cNvPr name="Freeform 12" id="12"/>
          <p:cNvSpPr/>
          <p:nvPr/>
        </p:nvSpPr>
        <p:spPr>
          <a:xfrm flipH="false" flipV="false" rot="0">
            <a:off x="1208218" y="2867854"/>
            <a:ext cx="4962763" cy="2562463"/>
          </a:xfrm>
          <a:custGeom>
            <a:avLst/>
            <a:gdLst/>
            <a:ahLst/>
            <a:cxnLst/>
            <a:rect r="r" b="b" t="t" l="l"/>
            <a:pathLst>
              <a:path h="2562463" w="4962763">
                <a:moveTo>
                  <a:pt x="0" y="0"/>
                </a:moveTo>
                <a:lnTo>
                  <a:pt x="4962763" y="0"/>
                </a:lnTo>
                <a:lnTo>
                  <a:pt x="4962763" y="2562463"/>
                </a:lnTo>
                <a:lnTo>
                  <a:pt x="0" y="25624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3" id="13"/>
          <p:cNvSpPr txBox="true"/>
          <p:nvPr/>
        </p:nvSpPr>
        <p:spPr>
          <a:xfrm rot="0">
            <a:off x="1632204" y="323278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01</a:t>
            </a:r>
          </a:p>
        </p:txBody>
      </p:sp>
      <p:sp>
        <p:nvSpPr>
          <p:cNvPr name="TextBox 14" id="14"/>
          <p:cNvSpPr txBox="true"/>
          <p:nvPr/>
        </p:nvSpPr>
        <p:spPr>
          <a:xfrm rot="0">
            <a:off x="1632204" y="4046220"/>
            <a:ext cx="4183380" cy="116586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Explain what antibiotic resistance is and why it threatens everyone</a:t>
            </a:r>
          </a:p>
        </p:txBody>
      </p:sp>
      <p:sp>
        <p:nvSpPr>
          <p:cNvPr name="Freeform 15" id="15"/>
          <p:cNvSpPr/>
          <p:nvPr/>
        </p:nvSpPr>
        <p:spPr>
          <a:xfrm flipH="false" flipV="false" rot="0">
            <a:off x="6557458" y="2867854"/>
            <a:ext cx="4962763" cy="2562463"/>
          </a:xfrm>
          <a:custGeom>
            <a:avLst/>
            <a:gdLst/>
            <a:ahLst/>
            <a:cxnLst/>
            <a:rect r="r" b="b" t="t" l="l"/>
            <a:pathLst>
              <a:path h="2562463" w="4962763">
                <a:moveTo>
                  <a:pt x="0" y="0"/>
                </a:moveTo>
                <a:lnTo>
                  <a:pt x="4962763" y="0"/>
                </a:lnTo>
                <a:lnTo>
                  <a:pt x="4962763" y="2562463"/>
                </a:lnTo>
                <a:lnTo>
                  <a:pt x="0" y="25624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6" id="16"/>
          <p:cNvSpPr txBox="true"/>
          <p:nvPr/>
        </p:nvSpPr>
        <p:spPr>
          <a:xfrm rot="0">
            <a:off x="6981444" y="323278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02</a:t>
            </a:r>
          </a:p>
        </p:txBody>
      </p:sp>
      <p:sp>
        <p:nvSpPr>
          <p:cNvPr name="TextBox 17" id="17"/>
          <p:cNvSpPr txBox="true"/>
          <p:nvPr/>
        </p:nvSpPr>
        <p:spPr>
          <a:xfrm rot="0">
            <a:off x="6981444" y="4046220"/>
            <a:ext cx="4183380" cy="116586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Stop the use of antibiotics for flu, colds and viral fevers</a:t>
            </a:r>
          </a:p>
        </p:txBody>
      </p:sp>
      <p:sp>
        <p:nvSpPr>
          <p:cNvPr name="Freeform 18" id="18"/>
          <p:cNvSpPr/>
          <p:nvPr/>
        </p:nvSpPr>
        <p:spPr>
          <a:xfrm flipH="false" flipV="false" rot="0">
            <a:off x="11906698" y="2867854"/>
            <a:ext cx="4962763" cy="2562463"/>
          </a:xfrm>
          <a:custGeom>
            <a:avLst/>
            <a:gdLst/>
            <a:ahLst/>
            <a:cxnLst/>
            <a:rect r="r" b="b" t="t" l="l"/>
            <a:pathLst>
              <a:path h="2562463" w="4962763">
                <a:moveTo>
                  <a:pt x="0" y="0"/>
                </a:moveTo>
                <a:lnTo>
                  <a:pt x="4962763" y="0"/>
                </a:lnTo>
                <a:lnTo>
                  <a:pt x="4962763" y="2562463"/>
                </a:lnTo>
                <a:lnTo>
                  <a:pt x="0" y="25624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9" id="19"/>
          <p:cNvSpPr txBox="true"/>
          <p:nvPr/>
        </p:nvSpPr>
        <p:spPr>
          <a:xfrm rot="0">
            <a:off x="12330684" y="323278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03</a:t>
            </a:r>
          </a:p>
        </p:txBody>
      </p:sp>
      <p:sp>
        <p:nvSpPr>
          <p:cNvPr name="TextBox 20" id="20"/>
          <p:cNvSpPr txBox="true"/>
          <p:nvPr/>
        </p:nvSpPr>
        <p:spPr>
          <a:xfrm rot="0">
            <a:off x="12330684" y="4046220"/>
            <a:ext cx="4183380" cy="116586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Ensure every prescribed course is completed as directed</a:t>
            </a:r>
          </a:p>
        </p:txBody>
      </p:sp>
      <p:sp>
        <p:nvSpPr>
          <p:cNvPr name="Freeform 21" id="21"/>
          <p:cNvSpPr/>
          <p:nvPr/>
        </p:nvSpPr>
        <p:spPr>
          <a:xfrm flipH="false" flipV="false" rot="0">
            <a:off x="1208218" y="5748214"/>
            <a:ext cx="4962763" cy="2562463"/>
          </a:xfrm>
          <a:custGeom>
            <a:avLst/>
            <a:gdLst/>
            <a:ahLst/>
            <a:cxnLst/>
            <a:rect r="r" b="b" t="t" l="l"/>
            <a:pathLst>
              <a:path h="2562463" w="4962763">
                <a:moveTo>
                  <a:pt x="0" y="0"/>
                </a:moveTo>
                <a:lnTo>
                  <a:pt x="4962763" y="0"/>
                </a:lnTo>
                <a:lnTo>
                  <a:pt x="4962763" y="2562463"/>
                </a:lnTo>
                <a:lnTo>
                  <a:pt x="0" y="25624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2" id="22"/>
          <p:cNvSpPr txBox="true"/>
          <p:nvPr/>
        </p:nvSpPr>
        <p:spPr>
          <a:xfrm rot="0">
            <a:off x="1632204" y="611314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04</a:t>
            </a:r>
          </a:p>
        </p:txBody>
      </p:sp>
      <p:sp>
        <p:nvSpPr>
          <p:cNvPr name="TextBox 23" id="23"/>
          <p:cNvSpPr txBox="true"/>
          <p:nvPr/>
        </p:nvSpPr>
        <p:spPr>
          <a:xfrm rot="0">
            <a:off x="1632204" y="6926580"/>
            <a:ext cx="4183380" cy="116586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End saving, sharing and over-the-counter purchase of antibiotics</a:t>
            </a:r>
          </a:p>
        </p:txBody>
      </p:sp>
      <p:sp>
        <p:nvSpPr>
          <p:cNvPr name="Freeform 24" id="24"/>
          <p:cNvSpPr/>
          <p:nvPr/>
        </p:nvSpPr>
        <p:spPr>
          <a:xfrm flipH="false" flipV="false" rot="0">
            <a:off x="6557458" y="5748214"/>
            <a:ext cx="4962763" cy="2562463"/>
          </a:xfrm>
          <a:custGeom>
            <a:avLst/>
            <a:gdLst/>
            <a:ahLst/>
            <a:cxnLst/>
            <a:rect r="r" b="b" t="t" l="l"/>
            <a:pathLst>
              <a:path h="2562463" w="4962763">
                <a:moveTo>
                  <a:pt x="0" y="0"/>
                </a:moveTo>
                <a:lnTo>
                  <a:pt x="4962763" y="0"/>
                </a:lnTo>
                <a:lnTo>
                  <a:pt x="4962763" y="2562463"/>
                </a:lnTo>
                <a:lnTo>
                  <a:pt x="0" y="25624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6981444" y="611314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05</a:t>
            </a:r>
          </a:p>
        </p:txBody>
      </p:sp>
      <p:sp>
        <p:nvSpPr>
          <p:cNvPr name="TextBox 26" id="26"/>
          <p:cNvSpPr txBox="true"/>
          <p:nvPr/>
        </p:nvSpPr>
        <p:spPr>
          <a:xfrm rot="0">
            <a:off x="6981444" y="6926580"/>
            <a:ext cx="4183380" cy="116586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Promote clean water and hygiene to prevent infections in the first place</a:t>
            </a:r>
          </a:p>
        </p:txBody>
      </p:sp>
      <p:sp>
        <p:nvSpPr>
          <p:cNvPr name="Freeform 27" id="27"/>
          <p:cNvSpPr/>
          <p:nvPr/>
        </p:nvSpPr>
        <p:spPr>
          <a:xfrm flipH="false" flipV="false" rot="0">
            <a:off x="11906698" y="5748214"/>
            <a:ext cx="4962763" cy="2562463"/>
          </a:xfrm>
          <a:custGeom>
            <a:avLst/>
            <a:gdLst/>
            <a:ahLst/>
            <a:cxnLst/>
            <a:rect r="r" b="b" t="t" l="l"/>
            <a:pathLst>
              <a:path h="2562463" w="4962763">
                <a:moveTo>
                  <a:pt x="0" y="0"/>
                </a:moveTo>
                <a:lnTo>
                  <a:pt x="4962763" y="0"/>
                </a:lnTo>
                <a:lnTo>
                  <a:pt x="4962763" y="2562463"/>
                </a:lnTo>
                <a:lnTo>
                  <a:pt x="0" y="25624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8" id="28"/>
          <p:cNvSpPr txBox="true"/>
          <p:nvPr/>
        </p:nvSpPr>
        <p:spPr>
          <a:xfrm rot="0">
            <a:off x="12330684" y="611314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06</a:t>
            </a:r>
          </a:p>
        </p:txBody>
      </p:sp>
      <p:sp>
        <p:nvSpPr>
          <p:cNvPr name="TextBox 29" id="29"/>
          <p:cNvSpPr txBox="true"/>
          <p:nvPr/>
        </p:nvSpPr>
        <p:spPr>
          <a:xfrm rot="0">
            <a:off x="12330684" y="6926580"/>
            <a:ext cx="4183380" cy="116586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Reduce the routine use of human antibiotics in livestock</a:t>
            </a:r>
          </a:p>
        </p:txBody>
      </p:sp>
      <p:grpSp>
        <p:nvGrpSpPr>
          <p:cNvPr name="Group 30" id="30"/>
          <p:cNvGrpSpPr/>
          <p:nvPr/>
        </p:nvGrpSpPr>
        <p:grpSpPr>
          <a:xfrm rot="0">
            <a:off x="1220724" y="9354312"/>
            <a:ext cx="11658600" cy="356616"/>
            <a:chOff x="0" y="0"/>
            <a:chExt cx="15544800" cy="475488"/>
          </a:xfrm>
        </p:grpSpPr>
        <p:sp>
          <p:nvSpPr>
            <p:cNvPr name="Freeform 31" id="31"/>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32" id="32"/>
          <p:cNvGrpSpPr/>
          <p:nvPr/>
        </p:nvGrpSpPr>
        <p:grpSpPr>
          <a:xfrm rot="0">
            <a:off x="1220724" y="9354312"/>
            <a:ext cx="11658600" cy="356616"/>
            <a:chOff x="0" y="0"/>
            <a:chExt cx="15544800" cy="475488"/>
          </a:xfrm>
        </p:grpSpPr>
        <p:sp>
          <p:nvSpPr>
            <p:cNvPr name="Freeform 33" id="33"/>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4" id="34"/>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5" id="35"/>
          <p:cNvGrpSpPr/>
          <p:nvPr/>
        </p:nvGrpSpPr>
        <p:grpSpPr>
          <a:xfrm rot="0">
            <a:off x="15695219" y="9354312"/>
            <a:ext cx="1371600" cy="356616"/>
            <a:chOff x="0" y="0"/>
            <a:chExt cx="1828800" cy="475488"/>
          </a:xfrm>
        </p:grpSpPr>
        <p:sp>
          <p:nvSpPr>
            <p:cNvPr name="Freeform 36" id="36"/>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7" id="37"/>
          <p:cNvGrpSpPr/>
          <p:nvPr/>
        </p:nvGrpSpPr>
        <p:grpSpPr>
          <a:xfrm rot="0">
            <a:off x="15695219" y="9354312"/>
            <a:ext cx="1371600" cy="356616"/>
            <a:chOff x="0" y="0"/>
            <a:chExt cx="1828800" cy="475488"/>
          </a:xfrm>
        </p:grpSpPr>
        <p:sp>
          <p:nvSpPr>
            <p:cNvPr name="Freeform 38" id="38"/>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9" id="39"/>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5</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04 · BIOLOGICAL MECHANISM</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How bacterial resistance spreads</a:t>
              </a:r>
            </a:p>
          </p:txBody>
        </p:sp>
      </p:grpSp>
      <p:sp>
        <p:nvSpPr>
          <p:cNvPr name="Freeform 12" id="12"/>
          <p:cNvSpPr/>
          <p:nvPr/>
        </p:nvSpPr>
        <p:spPr>
          <a:xfrm flipH="false" flipV="false" rot="0">
            <a:off x="1208218" y="3142174"/>
            <a:ext cx="4757023" cy="3591163"/>
          </a:xfrm>
          <a:custGeom>
            <a:avLst/>
            <a:gdLst/>
            <a:ahLst/>
            <a:cxnLst/>
            <a:rect r="r" b="b" t="t" l="l"/>
            <a:pathLst>
              <a:path h="3591163" w="4757023">
                <a:moveTo>
                  <a:pt x="0" y="0"/>
                </a:moveTo>
                <a:lnTo>
                  <a:pt x="4757023" y="0"/>
                </a:lnTo>
                <a:lnTo>
                  <a:pt x="475702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3" id="13"/>
          <p:cNvSpPr txBox="true"/>
          <p:nvPr/>
        </p:nvSpPr>
        <p:spPr>
          <a:xfrm rot="0">
            <a:off x="1700784" y="350710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01</a:t>
            </a:r>
          </a:p>
        </p:txBody>
      </p:sp>
      <p:sp>
        <p:nvSpPr>
          <p:cNvPr name="TextBox 14" id="14"/>
          <p:cNvSpPr txBox="true"/>
          <p:nvPr/>
        </p:nvSpPr>
        <p:spPr>
          <a:xfrm rot="0">
            <a:off x="1700784" y="4251960"/>
            <a:ext cx="384048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Viral misuse</a:t>
            </a:r>
          </a:p>
        </p:txBody>
      </p:sp>
      <p:sp>
        <p:nvSpPr>
          <p:cNvPr name="TextBox 15" id="15"/>
          <p:cNvSpPr txBox="true"/>
          <p:nvPr/>
        </p:nvSpPr>
        <p:spPr>
          <a:xfrm rot="0">
            <a:off x="1700784" y="4869180"/>
            <a:ext cx="3840480" cy="16459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Antibiotics are taken for flu or seasonal viral fevers, where they cannot work. Bacteria in the body are exposed for no reason.</a:t>
            </a:r>
          </a:p>
        </p:txBody>
      </p:sp>
      <p:sp>
        <p:nvSpPr>
          <p:cNvPr name="Freeform 16" id="16"/>
          <p:cNvSpPr/>
          <p:nvPr/>
        </p:nvSpPr>
        <p:spPr>
          <a:xfrm flipH="false" flipV="false" rot="0">
            <a:off x="6073235" y="4646771"/>
            <a:ext cx="581978" cy="581977"/>
          </a:xfrm>
          <a:custGeom>
            <a:avLst/>
            <a:gdLst/>
            <a:ahLst/>
            <a:cxnLst/>
            <a:rect r="r" b="b" t="t" l="l"/>
            <a:pathLst>
              <a:path h="581977" w="581978">
                <a:moveTo>
                  <a:pt x="0" y="0"/>
                </a:moveTo>
                <a:lnTo>
                  <a:pt x="581978" y="0"/>
                </a:lnTo>
                <a:lnTo>
                  <a:pt x="581978" y="581978"/>
                </a:lnTo>
                <a:lnTo>
                  <a:pt x="0" y="58197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7" id="17"/>
          <p:cNvSpPr/>
          <p:nvPr/>
        </p:nvSpPr>
        <p:spPr>
          <a:xfrm flipH="false" flipV="false" rot="0">
            <a:off x="6763198" y="3142174"/>
            <a:ext cx="4757023" cy="3591163"/>
          </a:xfrm>
          <a:custGeom>
            <a:avLst/>
            <a:gdLst/>
            <a:ahLst/>
            <a:cxnLst/>
            <a:rect r="r" b="b" t="t" l="l"/>
            <a:pathLst>
              <a:path h="3591163" w="4757023">
                <a:moveTo>
                  <a:pt x="0" y="0"/>
                </a:moveTo>
                <a:lnTo>
                  <a:pt x="4757023" y="0"/>
                </a:lnTo>
                <a:lnTo>
                  <a:pt x="475702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8" id="18"/>
          <p:cNvSpPr txBox="true"/>
          <p:nvPr/>
        </p:nvSpPr>
        <p:spPr>
          <a:xfrm rot="0">
            <a:off x="7255764" y="3507105"/>
            <a:ext cx="137160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02</a:t>
            </a:r>
          </a:p>
        </p:txBody>
      </p:sp>
      <p:sp>
        <p:nvSpPr>
          <p:cNvPr name="TextBox 19" id="19"/>
          <p:cNvSpPr txBox="true"/>
          <p:nvPr/>
        </p:nvSpPr>
        <p:spPr>
          <a:xfrm rot="0">
            <a:off x="7255764" y="4251960"/>
            <a:ext cx="384048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Early cessation</a:t>
            </a:r>
          </a:p>
        </p:txBody>
      </p:sp>
      <p:sp>
        <p:nvSpPr>
          <p:cNvPr name="TextBox 20" id="20"/>
          <p:cNvSpPr txBox="true"/>
          <p:nvPr/>
        </p:nvSpPr>
        <p:spPr>
          <a:xfrm rot="0">
            <a:off x="7255764" y="4869180"/>
            <a:ext cx="3840480" cy="16459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The course is stopped as soon as symptoms ease. The weakest bacteria die; the toughest survive.</a:t>
            </a:r>
          </a:p>
        </p:txBody>
      </p:sp>
      <p:sp>
        <p:nvSpPr>
          <p:cNvPr name="Freeform 21" id="21"/>
          <p:cNvSpPr/>
          <p:nvPr/>
        </p:nvSpPr>
        <p:spPr>
          <a:xfrm flipH="false" flipV="false" rot="0">
            <a:off x="11628215" y="4646771"/>
            <a:ext cx="581978" cy="581977"/>
          </a:xfrm>
          <a:custGeom>
            <a:avLst/>
            <a:gdLst/>
            <a:ahLst/>
            <a:cxnLst/>
            <a:rect r="r" b="b" t="t" l="l"/>
            <a:pathLst>
              <a:path h="581977" w="581978">
                <a:moveTo>
                  <a:pt x="0" y="0"/>
                </a:moveTo>
                <a:lnTo>
                  <a:pt x="581978" y="0"/>
                </a:lnTo>
                <a:lnTo>
                  <a:pt x="581978" y="581978"/>
                </a:lnTo>
                <a:lnTo>
                  <a:pt x="0" y="58197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2" id="22"/>
          <p:cNvSpPr/>
          <p:nvPr/>
        </p:nvSpPr>
        <p:spPr>
          <a:xfrm flipH="false" flipV="false" rot="0">
            <a:off x="12318178" y="3142174"/>
            <a:ext cx="4757023" cy="3591163"/>
          </a:xfrm>
          <a:custGeom>
            <a:avLst/>
            <a:gdLst/>
            <a:ahLst/>
            <a:cxnLst/>
            <a:rect r="r" b="b" t="t" l="l"/>
            <a:pathLst>
              <a:path h="3591163" w="4757023">
                <a:moveTo>
                  <a:pt x="0" y="0"/>
                </a:moveTo>
                <a:lnTo>
                  <a:pt x="4757023" y="0"/>
                </a:lnTo>
                <a:lnTo>
                  <a:pt x="475702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2810744" y="3507105"/>
            <a:ext cx="1371600" cy="676275"/>
          </a:xfrm>
          <a:prstGeom prst="rect">
            <a:avLst/>
          </a:prstGeom>
        </p:spPr>
        <p:txBody>
          <a:bodyPr anchor="t" rtlCol="false" tIns="0" lIns="0" bIns="0" rIns="0">
            <a:spAutoFit/>
          </a:bodyPr>
          <a:lstStyle/>
          <a:p>
            <a:pPr algn="l">
              <a:lnSpc>
                <a:spcPts val="4320"/>
              </a:lnSpc>
            </a:pPr>
            <a:r>
              <a:rPr lang="en-US" sz="3600" b="true">
                <a:solidFill>
                  <a:srgbClr val="C0392B"/>
                </a:solidFill>
                <a:latin typeface="Source Serif Pro Bold"/>
                <a:ea typeface="Source Serif Pro Bold"/>
                <a:cs typeface="Source Serif Pro Bold"/>
                <a:sym typeface="Source Serif Pro Bold"/>
              </a:rPr>
              <a:t>03</a:t>
            </a:r>
          </a:p>
        </p:txBody>
      </p:sp>
      <p:sp>
        <p:nvSpPr>
          <p:cNvPr name="TextBox 24" id="24"/>
          <p:cNvSpPr txBox="true"/>
          <p:nvPr/>
        </p:nvSpPr>
        <p:spPr>
          <a:xfrm rot="0">
            <a:off x="12810744" y="4251960"/>
            <a:ext cx="384048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Mutation &amp; spread</a:t>
            </a:r>
          </a:p>
        </p:txBody>
      </p:sp>
      <p:sp>
        <p:nvSpPr>
          <p:cNvPr name="TextBox 25" id="25"/>
          <p:cNvSpPr txBox="true"/>
          <p:nvPr/>
        </p:nvSpPr>
        <p:spPr>
          <a:xfrm rot="0">
            <a:off x="12810744" y="4869180"/>
            <a:ext cx="3840480" cy="16459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Surviving germs mutate, multiply and transmit across households, and the medicine stops working for everyone.</a:t>
            </a:r>
          </a:p>
        </p:txBody>
      </p:sp>
      <p:sp>
        <p:nvSpPr>
          <p:cNvPr name="Freeform 26" id="26"/>
          <p:cNvSpPr/>
          <p:nvPr/>
        </p:nvSpPr>
        <p:spPr>
          <a:xfrm flipH="false" flipV="false" rot="0">
            <a:off x="1204055" y="7252811"/>
            <a:ext cx="15879413" cy="1336358"/>
          </a:xfrm>
          <a:custGeom>
            <a:avLst/>
            <a:gdLst/>
            <a:ahLst/>
            <a:cxnLst/>
            <a:rect r="r" b="b" t="t" l="l"/>
            <a:pathLst>
              <a:path h="1336358" w="15879413">
                <a:moveTo>
                  <a:pt x="0" y="0"/>
                </a:moveTo>
                <a:lnTo>
                  <a:pt x="15879414" y="0"/>
                </a:lnTo>
                <a:lnTo>
                  <a:pt x="15879414" y="1336358"/>
                </a:lnTo>
                <a:lnTo>
                  <a:pt x="0" y="133635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7" id="27"/>
          <p:cNvSpPr txBox="true"/>
          <p:nvPr/>
        </p:nvSpPr>
        <p:spPr>
          <a:xfrm rot="0">
            <a:off x="1700784" y="7456170"/>
            <a:ext cx="2743200" cy="361950"/>
          </a:xfrm>
          <a:prstGeom prst="rect">
            <a:avLst/>
          </a:prstGeom>
        </p:spPr>
        <p:txBody>
          <a:bodyPr anchor="t" rtlCol="false" tIns="0" lIns="0" bIns="0" rIns="0">
            <a:spAutoFit/>
          </a:bodyPr>
          <a:lstStyle/>
          <a:p>
            <a:pPr algn="l">
              <a:lnSpc>
                <a:spcPts val="1709"/>
              </a:lnSpc>
            </a:pPr>
            <a:r>
              <a:rPr lang="en-US" b="true" sz="1425" spc="299">
                <a:solidFill>
                  <a:srgbClr val="7FD1C0"/>
                </a:solidFill>
                <a:latin typeface="IBM Plex Sans Bold"/>
                <a:ea typeface="IBM Plex Sans Bold"/>
                <a:cs typeface="IBM Plex Sans Bold"/>
                <a:sym typeface="IBM Plex Sans Bold"/>
              </a:rPr>
              <a:t>KEY MESSAGE</a:t>
            </a:r>
          </a:p>
        </p:txBody>
      </p:sp>
      <p:sp>
        <p:nvSpPr>
          <p:cNvPr name="TextBox 28" id="28"/>
          <p:cNvSpPr txBox="true"/>
          <p:nvPr/>
        </p:nvSpPr>
        <p:spPr>
          <a:xfrm rot="0">
            <a:off x="1700784" y="7845552"/>
            <a:ext cx="14885975" cy="617220"/>
          </a:xfrm>
          <a:prstGeom prst="rect">
            <a:avLst/>
          </a:prstGeom>
        </p:spPr>
        <p:txBody>
          <a:bodyPr anchor="t" rtlCol="false" tIns="0" lIns="0" bIns="0" rIns="0">
            <a:spAutoFit/>
          </a:bodyPr>
          <a:lstStyle/>
          <a:p>
            <a:pPr algn="l">
              <a:lnSpc>
                <a:spcPts val="2160"/>
              </a:lnSpc>
            </a:pPr>
            <a:r>
              <a:rPr lang="en-US" sz="1800">
                <a:solidFill>
                  <a:srgbClr val="FFFFFF"/>
                </a:solidFill>
                <a:latin typeface="IBM Plex Sans"/>
                <a:ea typeface="IBM Plex Sans"/>
                <a:cs typeface="IBM Plex Sans"/>
                <a:sym typeface="IBM Plex Sans"/>
              </a:rPr>
              <a:t>Resistance is not something your body develops. It is the bacteria that become immune, and resistant bacteria spread from person to person.</a:t>
            </a:r>
          </a:p>
        </p:txBody>
      </p:sp>
      <p:grpSp>
        <p:nvGrpSpPr>
          <p:cNvPr name="Group 29" id="29"/>
          <p:cNvGrpSpPr/>
          <p:nvPr/>
        </p:nvGrpSpPr>
        <p:grpSpPr>
          <a:xfrm rot="0">
            <a:off x="1220724" y="9354312"/>
            <a:ext cx="11658600" cy="356616"/>
            <a:chOff x="0" y="0"/>
            <a:chExt cx="15544800" cy="475488"/>
          </a:xfrm>
        </p:grpSpPr>
        <p:sp>
          <p:nvSpPr>
            <p:cNvPr name="Freeform 30" id="30"/>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31" id="31"/>
          <p:cNvGrpSpPr/>
          <p:nvPr/>
        </p:nvGrpSpPr>
        <p:grpSpPr>
          <a:xfrm rot="0">
            <a:off x="1220724" y="9354312"/>
            <a:ext cx="11658600" cy="356616"/>
            <a:chOff x="0" y="0"/>
            <a:chExt cx="15544800" cy="475488"/>
          </a:xfrm>
        </p:grpSpPr>
        <p:sp>
          <p:nvSpPr>
            <p:cNvPr name="Freeform 32" id="32"/>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3" id="33"/>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4" id="34"/>
          <p:cNvGrpSpPr/>
          <p:nvPr/>
        </p:nvGrpSpPr>
        <p:grpSpPr>
          <a:xfrm rot="0">
            <a:off x="15695219" y="9354312"/>
            <a:ext cx="1371600" cy="356616"/>
            <a:chOff x="0" y="0"/>
            <a:chExt cx="1828800" cy="475488"/>
          </a:xfrm>
        </p:grpSpPr>
        <p:sp>
          <p:nvSpPr>
            <p:cNvPr name="Freeform 35" id="35"/>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6" id="36"/>
          <p:cNvGrpSpPr/>
          <p:nvPr/>
        </p:nvGrpSpPr>
        <p:grpSpPr>
          <a:xfrm rot="0">
            <a:off x="15695219" y="9354312"/>
            <a:ext cx="1371600" cy="356616"/>
            <a:chOff x="0" y="0"/>
            <a:chExt cx="1828800" cy="475488"/>
          </a:xfrm>
        </p:grpSpPr>
        <p:sp>
          <p:nvSpPr>
            <p:cNvPr name="Freeform 37" id="37"/>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8" id="38"/>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6</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05 · LOCAL DIAGNOSTICS</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Key drivers of misuse in rural communities</a:t>
              </a:r>
            </a:p>
          </p:txBody>
        </p:sp>
      </p:grpSp>
      <p:sp>
        <p:nvSpPr>
          <p:cNvPr name="Freeform 12" id="12"/>
          <p:cNvSpPr/>
          <p:nvPr/>
        </p:nvSpPr>
        <p:spPr>
          <a:xfrm flipH="false" flipV="false" rot="0">
            <a:off x="1208218" y="2867854"/>
            <a:ext cx="7774543" cy="2631043"/>
          </a:xfrm>
          <a:custGeom>
            <a:avLst/>
            <a:gdLst/>
            <a:ahLst/>
            <a:cxnLst/>
            <a:rect r="r" b="b" t="t" l="l"/>
            <a:pathLst>
              <a:path h="2631043" w="7774543">
                <a:moveTo>
                  <a:pt x="0" y="0"/>
                </a:moveTo>
                <a:lnTo>
                  <a:pt x="7774543" y="0"/>
                </a:lnTo>
                <a:lnTo>
                  <a:pt x="7774543" y="2631043"/>
                </a:lnTo>
                <a:lnTo>
                  <a:pt x="0" y="263104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3" id="13"/>
          <p:cNvSpPr/>
          <p:nvPr/>
        </p:nvSpPr>
        <p:spPr>
          <a:xfrm flipH="false" flipV="false" rot="0">
            <a:off x="1684115" y="3343751"/>
            <a:ext cx="993457" cy="993458"/>
          </a:xfrm>
          <a:custGeom>
            <a:avLst/>
            <a:gdLst/>
            <a:ahLst/>
            <a:cxnLst/>
            <a:rect r="r" b="b" t="t" l="l"/>
            <a:pathLst>
              <a:path h="993458" w="993457">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4" id="14"/>
          <p:cNvGrpSpPr/>
          <p:nvPr/>
        </p:nvGrpSpPr>
        <p:grpSpPr>
          <a:xfrm rot="0">
            <a:off x="1947672" y="3607308"/>
            <a:ext cx="466344" cy="466344"/>
            <a:chOff x="0" y="0"/>
            <a:chExt cx="621792" cy="621792"/>
          </a:xfrm>
        </p:grpSpPr>
        <p:sp>
          <p:nvSpPr>
            <p:cNvPr name="Freeform 15" id="15"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9"/>
              <a:stretch>
                <a:fillRect l="0" t="0" r="0" b="0"/>
              </a:stretch>
            </a:blipFill>
          </p:spPr>
        </p:sp>
      </p:grpSp>
      <p:sp>
        <p:nvSpPr>
          <p:cNvPr name="TextBox 16" id="16"/>
          <p:cNvSpPr txBox="true"/>
          <p:nvPr/>
        </p:nvSpPr>
        <p:spPr>
          <a:xfrm rot="0">
            <a:off x="3003804" y="3360420"/>
            <a:ext cx="562356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OTC purchasing</a:t>
            </a:r>
          </a:p>
        </p:txBody>
      </p:sp>
      <p:sp>
        <p:nvSpPr>
          <p:cNvPr name="TextBox 17" id="17"/>
          <p:cNvSpPr txBox="true"/>
          <p:nvPr/>
        </p:nvSpPr>
        <p:spPr>
          <a:xfrm rot="0">
            <a:off x="3003804" y="3977640"/>
            <a:ext cx="5623560" cy="13030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Buying prescription antibiotics at shops and dispensaries without any medical diagnosis.</a:t>
            </a:r>
          </a:p>
        </p:txBody>
      </p:sp>
      <p:sp>
        <p:nvSpPr>
          <p:cNvPr name="Freeform 18" id="18"/>
          <p:cNvSpPr/>
          <p:nvPr/>
        </p:nvSpPr>
        <p:spPr>
          <a:xfrm flipH="false" flipV="false" rot="0">
            <a:off x="9300658" y="2867854"/>
            <a:ext cx="7774543" cy="2631043"/>
          </a:xfrm>
          <a:custGeom>
            <a:avLst/>
            <a:gdLst/>
            <a:ahLst/>
            <a:cxnLst/>
            <a:rect r="r" b="b" t="t" l="l"/>
            <a:pathLst>
              <a:path h="2631043" w="7774543">
                <a:moveTo>
                  <a:pt x="0" y="0"/>
                </a:moveTo>
                <a:lnTo>
                  <a:pt x="7774543" y="0"/>
                </a:lnTo>
                <a:lnTo>
                  <a:pt x="7774543" y="2631043"/>
                </a:lnTo>
                <a:lnTo>
                  <a:pt x="0" y="263104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0">
            <a:off x="9776555" y="3343751"/>
            <a:ext cx="993458" cy="993458"/>
          </a:xfrm>
          <a:custGeom>
            <a:avLst/>
            <a:gdLst/>
            <a:ahLst/>
            <a:cxnLst/>
            <a:rect r="r" b="b" t="t" l="l"/>
            <a:pathLst>
              <a:path h="993458" w="993458">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0" id="20"/>
          <p:cNvGrpSpPr/>
          <p:nvPr/>
        </p:nvGrpSpPr>
        <p:grpSpPr>
          <a:xfrm rot="0">
            <a:off x="10040112" y="3607308"/>
            <a:ext cx="466344" cy="466344"/>
            <a:chOff x="0" y="0"/>
            <a:chExt cx="621792" cy="621792"/>
          </a:xfrm>
        </p:grpSpPr>
        <p:sp>
          <p:nvSpPr>
            <p:cNvPr name="Freeform 21" id="21"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10"/>
              <a:stretch>
                <a:fillRect l="0" t="0" r="0" b="0"/>
              </a:stretch>
            </a:blipFill>
          </p:spPr>
        </p:sp>
      </p:grpSp>
      <p:sp>
        <p:nvSpPr>
          <p:cNvPr name="TextBox 22" id="22"/>
          <p:cNvSpPr txBox="true"/>
          <p:nvPr/>
        </p:nvSpPr>
        <p:spPr>
          <a:xfrm rot="0">
            <a:off x="11096244" y="3360420"/>
            <a:ext cx="562356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Shared doses</a:t>
            </a:r>
          </a:p>
        </p:txBody>
      </p:sp>
      <p:sp>
        <p:nvSpPr>
          <p:cNvPr name="TextBox 23" id="23"/>
          <p:cNvSpPr txBox="true"/>
          <p:nvPr/>
        </p:nvSpPr>
        <p:spPr>
          <a:xfrm rot="0">
            <a:off x="11096244" y="3977640"/>
            <a:ext cx="5623560" cy="13030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Passing leftover pills to sick family members and neighbours.</a:t>
            </a:r>
          </a:p>
        </p:txBody>
      </p:sp>
      <p:sp>
        <p:nvSpPr>
          <p:cNvPr name="Freeform 24" id="24"/>
          <p:cNvSpPr/>
          <p:nvPr/>
        </p:nvSpPr>
        <p:spPr>
          <a:xfrm flipH="false" flipV="false" rot="0">
            <a:off x="1208218" y="5816794"/>
            <a:ext cx="7774543" cy="2631043"/>
          </a:xfrm>
          <a:custGeom>
            <a:avLst/>
            <a:gdLst/>
            <a:ahLst/>
            <a:cxnLst/>
            <a:rect r="r" b="b" t="t" l="l"/>
            <a:pathLst>
              <a:path h="2631043" w="7774543">
                <a:moveTo>
                  <a:pt x="0" y="0"/>
                </a:moveTo>
                <a:lnTo>
                  <a:pt x="7774543" y="0"/>
                </a:lnTo>
                <a:lnTo>
                  <a:pt x="7774543" y="2631043"/>
                </a:lnTo>
                <a:lnTo>
                  <a:pt x="0" y="263104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5" id="25"/>
          <p:cNvSpPr/>
          <p:nvPr/>
        </p:nvSpPr>
        <p:spPr>
          <a:xfrm flipH="false" flipV="false" rot="0">
            <a:off x="1684115" y="6292691"/>
            <a:ext cx="993457" cy="993458"/>
          </a:xfrm>
          <a:custGeom>
            <a:avLst/>
            <a:gdLst/>
            <a:ahLst/>
            <a:cxnLst/>
            <a:rect r="r" b="b" t="t" l="l"/>
            <a:pathLst>
              <a:path h="993458" w="993457">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6" id="26"/>
          <p:cNvGrpSpPr/>
          <p:nvPr/>
        </p:nvGrpSpPr>
        <p:grpSpPr>
          <a:xfrm rot="0">
            <a:off x="1947672" y="6556248"/>
            <a:ext cx="466344" cy="466344"/>
            <a:chOff x="0" y="0"/>
            <a:chExt cx="621792" cy="621792"/>
          </a:xfrm>
        </p:grpSpPr>
        <p:sp>
          <p:nvSpPr>
            <p:cNvPr name="Freeform 27" id="27"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11"/>
              <a:stretch>
                <a:fillRect l="0" t="0" r="0" b="0"/>
              </a:stretch>
            </a:blipFill>
          </p:spPr>
        </p:sp>
      </p:grpSp>
      <p:sp>
        <p:nvSpPr>
          <p:cNvPr name="TextBox 28" id="28"/>
          <p:cNvSpPr txBox="true"/>
          <p:nvPr/>
        </p:nvSpPr>
        <p:spPr>
          <a:xfrm rot="0">
            <a:off x="3003804" y="6309360"/>
            <a:ext cx="562356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Livestock misuse</a:t>
            </a:r>
          </a:p>
        </p:txBody>
      </p:sp>
      <p:sp>
        <p:nvSpPr>
          <p:cNvPr name="TextBox 29" id="29"/>
          <p:cNvSpPr txBox="true"/>
          <p:nvPr/>
        </p:nvSpPr>
        <p:spPr>
          <a:xfrm rot="0">
            <a:off x="3003804" y="6926580"/>
            <a:ext cx="5623560" cy="13030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Giving human antibiotics routinely to farm animals to boost weight or treat illness.</a:t>
            </a:r>
          </a:p>
        </p:txBody>
      </p:sp>
      <p:sp>
        <p:nvSpPr>
          <p:cNvPr name="Freeform 30" id="30"/>
          <p:cNvSpPr/>
          <p:nvPr/>
        </p:nvSpPr>
        <p:spPr>
          <a:xfrm flipH="false" flipV="false" rot="0">
            <a:off x="9300658" y="5816794"/>
            <a:ext cx="7774543" cy="2631043"/>
          </a:xfrm>
          <a:custGeom>
            <a:avLst/>
            <a:gdLst/>
            <a:ahLst/>
            <a:cxnLst/>
            <a:rect r="r" b="b" t="t" l="l"/>
            <a:pathLst>
              <a:path h="2631043" w="7774543">
                <a:moveTo>
                  <a:pt x="0" y="0"/>
                </a:moveTo>
                <a:lnTo>
                  <a:pt x="7774543" y="0"/>
                </a:lnTo>
                <a:lnTo>
                  <a:pt x="7774543" y="2631043"/>
                </a:lnTo>
                <a:lnTo>
                  <a:pt x="0" y="263104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31" id="31"/>
          <p:cNvSpPr/>
          <p:nvPr/>
        </p:nvSpPr>
        <p:spPr>
          <a:xfrm flipH="false" flipV="false" rot="0">
            <a:off x="9776555" y="6292691"/>
            <a:ext cx="993458" cy="993458"/>
          </a:xfrm>
          <a:custGeom>
            <a:avLst/>
            <a:gdLst/>
            <a:ahLst/>
            <a:cxnLst/>
            <a:rect r="r" b="b" t="t" l="l"/>
            <a:pathLst>
              <a:path h="993458" w="993458">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32" id="32"/>
          <p:cNvGrpSpPr/>
          <p:nvPr/>
        </p:nvGrpSpPr>
        <p:grpSpPr>
          <a:xfrm rot="0">
            <a:off x="10040112" y="6556248"/>
            <a:ext cx="466344" cy="466344"/>
            <a:chOff x="0" y="0"/>
            <a:chExt cx="621792" cy="621792"/>
          </a:xfrm>
        </p:grpSpPr>
        <p:sp>
          <p:nvSpPr>
            <p:cNvPr name="Freeform 33" id="33"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12"/>
              <a:stretch>
                <a:fillRect l="0" t="0" r="0" b="0"/>
              </a:stretch>
            </a:blipFill>
          </p:spPr>
        </p:sp>
      </p:grpSp>
      <p:sp>
        <p:nvSpPr>
          <p:cNvPr name="TextBox 34" id="34"/>
          <p:cNvSpPr txBox="true"/>
          <p:nvPr/>
        </p:nvSpPr>
        <p:spPr>
          <a:xfrm rot="0">
            <a:off x="11096244" y="6309360"/>
            <a:ext cx="562356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Hygiene deficits</a:t>
            </a:r>
          </a:p>
        </p:txBody>
      </p:sp>
      <p:sp>
        <p:nvSpPr>
          <p:cNvPr name="TextBox 35" id="35"/>
          <p:cNvSpPr txBox="true"/>
          <p:nvPr/>
        </p:nvSpPr>
        <p:spPr>
          <a:xfrm rot="0">
            <a:off x="11096244" y="6926580"/>
            <a:ext cx="5623560" cy="13030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Unsafe water and poor hygiene increase preventable infections, and so the demand for antibiotics.</a:t>
            </a:r>
          </a:p>
        </p:txBody>
      </p:sp>
      <p:grpSp>
        <p:nvGrpSpPr>
          <p:cNvPr name="Group 36" id="36"/>
          <p:cNvGrpSpPr/>
          <p:nvPr/>
        </p:nvGrpSpPr>
        <p:grpSpPr>
          <a:xfrm rot="0">
            <a:off x="1220724" y="9354312"/>
            <a:ext cx="11658600" cy="356616"/>
            <a:chOff x="0" y="0"/>
            <a:chExt cx="15544800" cy="475488"/>
          </a:xfrm>
        </p:grpSpPr>
        <p:sp>
          <p:nvSpPr>
            <p:cNvPr name="Freeform 37" id="37"/>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38" id="38"/>
          <p:cNvGrpSpPr/>
          <p:nvPr/>
        </p:nvGrpSpPr>
        <p:grpSpPr>
          <a:xfrm rot="0">
            <a:off x="1220724" y="9354312"/>
            <a:ext cx="11658600" cy="356616"/>
            <a:chOff x="0" y="0"/>
            <a:chExt cx="15544800" cy="475488"/>
          </a:xfrm>
        </p:grpSpPr>
        <p:sp>
          <p:nvSpPr>
            <p:cNvPr name="Freeform 39" id="39"/>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40" id="40"/>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41" id="41"/>
          <p:cNvGrpSpPr/>
          <p:nvPr/>
        </p:nvGrpSpPr>
        <p:grpSpPr>
          <a:xfrm rot="0">
            <a:off x="15695219" y="9354312"/>
            <a:ext cx="1371600" cy="356616"/>
            <a:chOff x="0" y="0"/>
            <a:chExt cx="1828800" cy="475488"/>
          </a:xfrm>
        </p:grpSpPr>
        <p:sp>
          <p:nvSpPr>
            <p:cNvPr name="Freeform 42" id="42"/>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43" id="43"/>
          <p:cNvGrpSpPr/>
          <p:nvPr/>
        </p:nvGrpSpPr>
        <p:grpSpPr>
          <a:xfrm rot="0">
            <a:off x="15695219" y="9354312"/>
            <a:ext cx="1371600" cy="356616"/>
            <a:chOff x="0" y="0"/>
            <a:chExt cx="1828800" cy="475488"/>
          </a:xfrm>
        </p:grpSpPr>
        <p:sp>
          <p:nvSpPr>
            <p:cNvPr name="Freeform 44" id="44"/>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45" id="45"/>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7</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06 · COMMUNITY EDUCATION</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Clearing up dangerous misconceptions</a:t>
              </a:r>
            </a:p>
          </p:txBody>
        </p:sp>
      </p:grpSp>
      <p:graphicFrame>
        <p:nvGraphicFramePr>
          <p:cNvPr name="Table 12" id="12"/>
          <p:cNvGraphicFramePr>
            <a:graphicFrameLocks noGrp="true"/>
          </p:cNvGraphicFramePr>
          <p:nvPr/>
        </p:nvGraphicFramePr>
        <p:xfrm>
          <a:off x="1220724" y="2811780"/>
          <a:ext cx="15824200" cy="4876800"/>
        </p:xfrm>
        <a:graphic>
          <a:graphicData uri="http://schemas.openxmlformats.org/drawingml/2006/table">
            <a:tbl>
              <a:tblPr/>
              <a:tblGrid>
                <a:gridCol w="5899338"/>
                <a:gridCol w="9924862"/>
              </a:tblGrid>
              <a:tr h="812800">
                <a:tc>
                  <a:txBody>
                    <a:bodyPr anchor="t" rtlCol="false"/>
                    <a:lstStyle/>
                    <a:p>
                      <a:pPr algn="l">
                        <a:lnSpc>
                          <a:spcPts val="1980"/>
                        </a:lnSpc>
                        <a:defRPr/>
                      </a:pPr>
                      <a:r>
                        <a:rPr lang="en-US" sz="1650" b="true">
                          <a:solidFill>
                            <a:srgbClr val="FFFFFF"/>
                          </a:solidFill>
                          <a:latin typeface="IBM Plex Sans Bold"/>
                          <a:ea typeface="IBM Plex Sans Bold"/>
                          <a:cs typeface="IBM Plex Sans Bold"/>
                          <a:sym typeface="IBM Plex Sans Bold"/>
                        </a:rPr>
                        <a:t>Common belief</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14304A"/>
                    </a:solidFill>
                  </a:tcPr>
                </a:tc>
                <a:tc>
                  <a:txBody>
                    <a:bodyPr anchor="t" rtlCol="false"/>
                    <a:lstStyle/>
                    <a:p>
                      <a:pPr algn="l">
                        <a:lnSpc>
                          <a:spcPts val="1980"/>
                        </a:lnSpc>
                        <a:defRPr/>
                      </a:pPr>
                      <a:r>
                        <a:rPr lang="en-US" sz="1650" b="true">
                          <a:solidFill>
                            <a:srgbClr val="FFFFFF"/>
                          </a:solidFill>
                          <a:latin typeface="IBM Plex Sans Bold"/>
                          <a:ea typeface="IBM Plex Sans Bold"/>
                          <a:cs typeface="IBM Plex Sans Bold"/>
                          <a:sym typeface="IBM Plex Sans Bold"/>
                        </a:rPr>
                        <a:t>What we explain</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14304A"/>
                    </a:solidFill>
                  </a:tcPr>
                </a:tc>
              </a:tr>
              <a:tr h="812800">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“Strong antibiotics cure flu”</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Flu is viral. Antibiotics provide zero relief, add side effects and waste family income.</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r>
              <a:tr h="812800">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“Save extra pills for later”</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Leftover partial doses breed resistant superbug strains. Finish the course; never keep leftovers.</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r>
              <a:tr h="812800">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“My body gets immune”</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Bacteria become immune, not the person. Resistant bacteria spread directly to family members.</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r>
              <a:tr h="812800">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“If a neighbour recovered on it, it will work for me”</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Different infections need different medicines and doses. Only a health worker can decide.</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r>
              <a:tr h="812800">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“Injections and expensive brands work faster”</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c>
                  <a:txBody>
                    <a:bodyPr anchor="t" rtlCol="false"/>
                    <a:lstStyle/>
                    <a:p>
                      <a:pPr algn="l">
                        <a:lnSpc>
                          <a:spcPts val="2070"/>
                        </a:lnSpc>
                        <a:defRPr/>
                      </a:pPr>
                      <a:r>
                        <a:rPr lang="en-US" sz="1725">
                          <a:solidFill>
                            <a:srgbClr val="3F4B57"/>
                          </a:solidFill>
                          <a:latin typeface="IBM Plex Sans"/>
                          <a:ea typeface="IBM Plex Sans"/>
                          <a:cs typeface="IBM Plex Sans"/>
                          <a:sym typeface="IBM Plex Sans"/>
                        </a:rPr>
                        <a:t>The right antibiotic at the right dose works; the price or the route does not make it stronger.</a:t>
                      </a:r>
                      <a:endParaRPr lang="en-US" sz="1100"/>
                    </a:p>
                  </a:txBody>
                  <a:tcPr marL="109728" marR="109728" marT="109728" marB="109728" anchor="ctr">
                    <a:lnL cmpd="sng" algn="ctr" cap="flat" w="6350">
                      <a:solidFill>
                        <a:srgbClr val="C5CACD"/>
                      </a:solidFill>
                      <a:prstDash val="solid"/>
                      <a:round/>
                      <a:headEnd type="none" w="med" len="med"/>
                      <a:tailEnd type="none" w="med" len="med"/>
                    </a:lnL>
                    <a:lnR cmpd="sng" algn="ctr" cap="flat" w="6350">
                      <a:solidFill>
                        <a:srgbClr val="C5CACD"/>
                      </a:solidFill>
                      <a:prstDash val="solid"/>
                      <a:round/>
                      <a:headEnd type="none" w="med" len="med"/>
                      <a:tailEnd type="none" w="med" len="med"/>
                    </a:lnR>
                    <a:lnT cmpd="sng" algn="ctr" cap="flat" w="6350">
                      <a:solidFill>
                        <a:srgbClr val="C5CACD"/>
                      </a:solidFill>
                      <a:prstDash val="solid"/>
                      <a:round/>
                      <a:headEnd type="none" w="med" len="med"/>
                      <a:tailEnd type="none" w="med" len="med"/>
                    </a:lnT>
                    <a:lnB cmpd="sng" algn="ctr" cap="flat" w="6350">
                      <a:solidFill>
                        <a:srgbClr val="C5CACD"/>
                      </a:solidFill>
                      <a:prstDash val="solid"/>
                      <a:round/>
                      <a:headEnd type="none" w="med" len="med"/>
                      <a:tailEnd type="none" w="med" len="med"/>
                    </a:lnB>
                    <a:solidFill>
                      <a:srgbClr val="FDFDFB"/>
                    </a:solidFill>
                  </a:tcPr>
                </a:tc>
              </a:tr>
            </a:tbl>
          </a:graphicData>
        </a:graphic>
      </p:graphicFrame>
      <p:sp>
        <p:nvSpPr>
          <p:cNvPr name="TextBox 13" id="13"/>
          <p:cNvSpPr txBox="true"/>
          <p:nvPr/>
        </p:nvSpPr>
        <p:spPr>
          <a:xfrm rot="0">
            <a:off x="1220724" y="8161020"/>
            <a:ext cx="15846095" cy="411480"/>
          </a:xfrm>
          <a:prstGeom prst="rect">
            <a:avLst/>
          </a:prstGeom>
        </p:spPr>
        <p:txBody>
          <a:bodyPr anchor="t" rtlCol="false" tIns="0" lIns="0" bIns="0" rIns="0">
            <a:spAutoFit/>
          </a:bodyPr>
          <a:lstStyle/>
          <a:p>
            <a:pPr algn="l">
              <a:lnSpc>
                <a:spcPts val="1800"/>
              </a:lnSpc>
            </a:pPr>
            <a:r>
              <a:rPr lang="en-US" sz="1500" i="true">
                <a:solidFill>
                  <a:srgbClr val="5B6770"/>
                </a:solidFill>
                <a:latin typeface="IBM Plex Sans Italics"/>
                <a:ea typeface="IBM Plex Sans Italics"/>
                <a:cs typeface="IBM Plex Sans Italics"/>
                <a:sym typeface="IBM Plex Sans Italics"/>
              </a:rPr>
              <a:t>Myths recorded during pharmacy counselling and door-to-door visits, March – August 2026.</a:t>
            </a:r>
          </a:p>
        </p:txBody>
      </p:sp>
      <p:grpSp>
        <p:nvGrpSpPr>
          <p:cNvPr name="Group 14" id="14"/>
          <p:cNvGrpSpPr/>
          <p:nvPr/>
        </p:nvGrpSpPr>
        <p:grpSpPr>
          <a:xfrm rot="0">
            <a:off x="1220724" y="9354312"/>
            <a:ext cx="11658600" cy="356616"/>
            <a:chOff x="0" y="0"/>
            <a:chExt cx="15544800" cy="475488"/>
          </a:xfrm>
        </p:grpSpPr>
        <p:sp>
          <p:nvSpPr>
            <p:cNvPr name="Freeform 15" id="15"/>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16" id="16"/>
          <p:cNvGrpSpPr/>
          <p:nvPr/>
        </p:nvGrpSpPr>
        <p:grpSpPr>
          <a:xfrm rot="0">
            <a:off x="1220724" y="9354312"/>
            <a:ext cx="11658600" cy="356616"/>
            <a:chOff x="0" y="0"/>
            <a:chExt cx="15544800" cy="475488"/>
          </a:xfrm>
        </p:grpSpPr>
        <p:sp>
          <p:nvSpPr>
            <p:cNvPr name="Freeform 17" id="17"/>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18" id="18"/>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19" id="19"/>
          <p:cNvGrpSpPr/>
          <p:nvPr/>
        </p:nvGrpSpPr>
        <p:grpSpPr>
          <a:xfrm rot="0">
            <a:off x="15695219" y="9354312"/>
            <a:ext cx="1371600" cy="356616"/>
            <a:chOff x="0" y="0"/>
            <a:chExt cx="1828800" cy="475488"/>
          </a:xfrm>
        </p:grpSpPr>
        <p:sp>
          <p:nvSpPr>
            <p:cNvPr name="Freeform 20" id="20"/>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21" id="21"/>
          <p:cNvGrpSpPr/>
          <p:nvPr/>
        </p:nvGrpSpPr>
        <p:grpSpPr>
          <a:xfrm rot="0">
            <a:off x="15695219" y="9354312"/>
            <a:ext cx="1371600" cy="356616"/>
            <a:chOff x="0" y="0"/>
            <a:chExt cx="1828800" cy="475488"/>
          </a:xfrm>
        </p:grpSpPr>
        <p:sp>
          <p:nvSpPr>
            <p:cNvPr name="Freeform 22" id="22"/>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23" id="23"/>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8</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07 · FIELDWORK STRATEGY</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Three pillars, one message</a:t>
              </a:r>
            </a:p>
          </p:txBody>
        </p:sp>
      </p:grpSp>
      <p:sp>
        <p:nvSpPr>
          <p:cNvPr name="Freeform 12" id="12"/>
          <p:cNvSpPr/>
          <p:nvPr/>
        </p:nvSpPr>
        <p:spPr>
          <a:xfrm flipH="false" flipV="false" rot="0">
            <a:off x="1208218" y="2799274"/>
            <a:ext cx="5031343" cy="5648563"/>
          </a:xfrm>
          <a:custGeom>
            <a:avLst/>
            <a:gdLst/>
            <a:ahLst/>
            <a:cxnLst/>
            <a:rect r="r" b="b" t="t" l="l"/>
            <a:pathLst>
              <a:path h="5648563" w="5031343">
                <a:moveTo>
                  <a:pt x="0" y="0"/>
                </a:moveTo>
                <a:lnTo>
                  <a:pt x="5031343" y="0"/>
                </a:lnTo>
                <a:lnTo>
                  <a:pt x="5031343" y="5648563"/>
                </a:lnTo>
                <a:lnTo>
                  <a:pt x="0" y="56485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3" id="13"/>
          <p:cNvSpPr/>
          <p:nvPr/>
        </p:nvSpPr>
        <p:spPr>
          <a:xfrm flipH="false" flipV="false" rot="0">
            <a:off x="1684115" y="3275171"/>
            <a:ext cx="993457" cy="993458"/>
          </a:xfrm>
          <a:custGeom>
            <a:avLst/>
            <a:gdLst/>
            <a:ahLst/>
            <a:cxnLst/>
            <a:rect r="r" b="b" t="t" l="l"/>
            <a:pathLst>
              <a:path h="993458" w="993457">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4" id="14"/>
          <p:cNvGrpSpPr/>
          <p:nvPr/>
        </p:nvGrpSpPr>
        <p:grpSpPr>
          <a:xfrm rot="0">
            <a:off x="1947672" y="3538728"/>
            <a:ext cx="466344" cy="466344"/>
            <a:chOff x="0" y="0"/>
            <a:chExt cx="621792" cy="621792"/>
          </a:xfrm>
        </p:grpSpPr>
        <p:sp>
          <p:nvSpPr>
            <p:cNvPr name="Freeform 15" id="15"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9"/>
              <a:stretch>
                <a:fillRect l="0" t="0" r="0" b="0"/>
              </a:stretch>
            </a:blipFill>
          </p:spPr>
        </p:sp>
      </p:grpSp>
      <p:sp>
        <p:nvSpPr>
          <p:cNvPr name="TextBox 16" id="16"/>
          <p:cNvSpPr txBox="true"/>
          <p:nvPr/>
        </p:nvSpPr>
        <p:spPr>
          <a:xfrm rot="0">
            <a:off x="1700784" y="4526280"/>
            <a:ext cx="411480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Dispensing education</a:t>
            </a:r>
          </a:p>
        </p:txBody>
      </p:sp>
      <p:sp>
        <p:nvSpPr>
          <p:cNvPr name="TextBox 17" id="17"/>
          <p:cNvSpPr txBox="true"/>
          <p:nvPr/>
        </p:nvSpPr>
        <p:spPr>
          <a:xfrm rot="0">
            <a:off x="1700784" y="5212080"/>
            <a:ext cx="4114800" cy="3017520"/>
          </a:xfrm>
          <a:prstGeom prst="rect">
            <a:avLst/>
          </a:prstGeom>
        </p:spPr>
        <p:txBody>
          <a:bodyPr anchor="t" rtlCol="false" tIns="0" lIns="0" bIns="0" rIns="0">
            <a:spAutoFit/>
          </a:bodyPr>
          <a:lstStyle/>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Direct patient counselling at the pharmacy counter while handing over antibiotics</a:t>
            </a:r>
          </a:p>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Dose-completion advice and viral vs. bacterial explanation</a:t>
            </a:r>
          </a:p>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Refusal of non-prescription antibiotic sales</a:t>
            </a:r>
          </a:p>
        </p:txBody>
      </p:sp>
      <p:sp>
        <p:nvSpPr>
          <p:cNvPr name="Freeform 18" id="18"/>
          <p:cNvSpPr/>
          <p:nvPr/>
        </p:nvSpPr>
        <p:spPr>
          <a:xfrm flipH="false" flipV="false" rot="0">
            <a:off x="6626038" y="2799274"/>
            <a:ext cx="5031343" cy="5648563"/>
          </a:xfrm>
          <a:custGeom>
            <a:avLst/>
            <a:gdLst/>
            <a:ahLst/>
            <a:cxnLst/>
            <a:rect r="r" b="b" t="t" l="l"/>
            <a:pathLst>
              <a:path h="5648563" w="5031343">
                <a:moveTo>
                  <a:pt x="0" y="0"/>
                </a:moveTo>
                <a:lnTo>
                  <a:pt x="5031343" y="0"/>
                </a:lnTo>
                <a:lnTo>
                  <a:pt x="5031343" y="5648563"/>
                </a:lnTo>
                <a:lnTo>
                  <a:pt x="0" y="56485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0">
            <a:off x="7101935" y="3275171"/>
            <a:ext cx="993458" cy="993458"/>
          </a:xfrm>
          <a:custGeom>
            <a:avLst/>
            <a:gdLst/>
            <a:ahLst/>
            <a:cxnLst/>
            <a:rect r="r" b="b" t="t" l="l"/>
            <a:pathLst>
              <a:path h="993458" w="993458">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0" id="20"/>
          <p:cNvGrpSpPr/>
          <p:nvPr/>
        </p:nvGrpSpPr>
        <p:grpSpPr>
          <a:xfrm rot="0">
            <a:off x="7365492" y="3538728"/>
            <a:ext cx="466344" cy="466344"/>
            <a:chOff x="0" y="0"/>
            <a:chExt cx="621792" cy="621792"/>
          </a:xfrm>
        </p:grpSpPr>
        <p:sp>
          <p:nvSpPr>
            <p:cNvPr name="Freeform 21" id="21"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10"/>
              <a:stretch>
                <a:fillRect l="0" t="0" r="0" b="0"/>
              </a:stretch>
            </a:blipFill>
          </p:spPr>
        </p:sp>
      </p:grpSp>
      <p:sp>
        <p:nvSpPr>
          <p:cNvPr name="TextBox 22" id="22"/>
          <p:cNvSpPr txBox="true"/>
          <p:nvPr/>
        </p:nvSpPr>
        <p:spPr>
          <a:xfrm rot="0">
            <a:off x="7118604" y="4526280"/>
            <a:ext cx="411480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Flyer &amp; poster drives</a:t>
            </a:r>
          </a:p>
        </p:txBody>
      </p:sp>
      <p:sp>
        <p:nvSpPr>
          <p:cNvPr name="TextBox 23" id="23"/>
          <p:cNvSpPr txBox="true"/>
          <p:nvPr/>
        </p:nvSpPr>
        <p:spPr>
          <a:xfrm rot="0">
            <a:off x="7118604" y="5212080"/>
            <a:ext cx="4114800" cy="3017520"/>
          </a:xfrm>
          <a:prstGeom prst="rect">
            <a:avLst/>
          </a:prstGeom>
        </p:spPr>
        <p:txBody>
          <a:bodyPr anchor="t" rtlCol="false" tIns="0" lIns="0" bIns="0" rIns="0">
            <a:spAutoFit/>
          </a:bodyPr>
          <a:lstStyle/>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Illustrated flyers distributed door-to-door in Urdu and Punjabi</a:t>
            </a:r>
          </a:p>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AMR warning posters in dispensaries, mosques and community hubs</a:t>
            </a:r>
          </a:p>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Messages reinforced by local dispensers and lady health workers</a:t>
            </a:r>
          </a:p>
        </p:txBody>
      </p:sp>
      <p:sp>
        <p:nvSpPr>
          <p:cNvPr name="Freeform 24" id="24"/>
          <p:cNvSpPr/>
          <p:nvPr/>
        </p:nvSpPr>
        <p:spPr>
          <a:xfrm flipH="false" flipV="false" rot="0">
            <a:off x="12043858" y="2799274"/>
            <a:ext cx="5031343" cy="5648563"/>
          </a:xfrm>
          <a:custGeom>
            <a:avLst/>
            <a:gdLst/>
            <a:ahLst/>
            <a:cxnLst/>
            <a:rect r="r" b="b" t="t" l="l"/>
            <a:pathLst>
              <a:path h="5648563" w="5031343">
                <a:moveTo>
                  <a:pt x="0" y="0"/>
                </a:moveTo>
                <a:lnTo>
                  <a:pt x="5031343" y="0"/>
                </a:lnTo>
                <a:lnTo>
                  <a:pt x="5031343" y="5648563"/>
                </a:lnTo>
                <a:lnTo>
                  <a:pt x="0" y="56485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5" id="25"/>
          <p:cNvSpPr/>
          <p:nvPr/>
        </p:nvSpPr>
        <p:spPr>
          <a:xfrm flipH="false" flipV="false" rot="0">
            <a:off x="12519755" y="3275171"/>
            <a:ext cx="993457" cy="993458"/>
          </a:xfrm>
          <a:custGeom>
            <a:avLst/>
            <a:gdLst/>
            <a:ahLst/>
            <a:cxnLst/>
            <a:rect r="r" b="b" t="t" l="l"/>
            <a:pathLst>
              <a:path h="993458" w="993457">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6" id="26"/>
          <p:cNvGrpSpPr/>
          <p:nvPr/>
        </p:nvGrpSpPr>
        <p:grpSpPr>
          <a:xfrm rot="0">
            <a:off x="12783312" y="3538728"/>
            <a:ext cx="466344" cy="466344"/>
            <a:chOff x="0" y="0"/>
            <a:chExt cx="621792" cy="621792"/>
          </a:xfrm>
        </p:grpSpPr>
        <p:sp>
          <p:nvSpPr>
            <p:cNvPr name="Freeform 27" id="27"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11"/>
              <a:stretch>
                <a:fillRect l="0" t="0" r="0" b="0"/>
              </a:stretch>
            </a:blipFill>
          </p:spPr>
        </p:sp>
      </p:grpSp>
      <p:sp>
        <p:nvSpPr>
          <p:cNvPr name="TextBox 28" id="28"/>
          <p:cNvSpPr txBox="true"/>
          <p:nvPr/>
        </p:nvSpPr>
        <p:spPr>
          <a:xfrm rot="0">
            <a:off x="12536424" y="4526280"/>
            <a:ext cx="411480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Free medical camps</a:t>
            </a:r>
          </a:p>
        </p:txBody>
      </p:sp>
      <p:sp>
        <p:nvSpPr>
          <p:cNvPr name="TextBox 29" id="29"/>
          <p:cNvSpPr txBox="true"/>
          <p:nvPr/>
        </p:nvSpPr>
        <p:spPr>
          <a:xfrm rot="0">
            <a:off x="12536424" y="5212080"/>
            <a:ext cx="4114800" cy="3017520"/>
          </a:xfrm>
          <a:prstGeom prst="rect">
            <a:avLst/>
          </a:prstGeom>
        </p:spPr>
        <p:txBody>
          <a:bodyPr anchor="t" rtlCol="false" tIns="0" lIns="0" bIns="0" rIns="0">
            <a:spAutoFit/>
          </a:bodyPr>
          <a:lstStyle/>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On-site screening and diagnostic guidance</a:t>
            </a:r>
          </a:p>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Prescriptions only where an antibiotic is really needed</a:t>
            </a:r>
          </a:p>
          <a:p>
            <a:pPr algn="l" marL="348377" indent="-116126" lvl="2">
              <a:lnSpc>
                <a:spcPts val="1980"/>
              </a:lnSpc>
              <a:buFont typeface="Arial"/>
              <a:buChar char="⚬"/>
            </a:pPr>
            <a:r>
              <a:rPr lang="en-US" sz="1650">
                <a:solidFill>
                  <a:srgbClr val="3F4B57"/>
                </a:solidFill>
                <a:latin typeface="IBM Plex Sans"/>
                <a:ea typeface="IBM Plex Sans"/>
                <a:cs typeface="IBM Plex Sans"/>
                <a:sym typeface="IBM Plex Sans"/>
              </a:rPr>
              <a:t>Group talks on resistance, hygiene and safe storage</a:t>
            </a:r>
          </a:p>
        </p:txBody>
      </p:sp>
      <p:grpSp>
        <p:nvGrpSpPr>
          <p:cNvPr name="Group 30" id="30"/>
          <p:cNvGrpSpPr/>
          <p:nvPr/>
        </p:nvGrpSpPr>
        <p:grpSpPr>
          <a:xfrm rot="0">
            <a:off x="1220724" y="9354312"/>
            <a:ext cx="11658600" cy="356616"/>
            <a:chOff x="0" y="0"/>
            <a:chExt cx="15544800" cy="475488"/>
          </a:xfrm>
        </p:grpSpPr>
        <p:sp>
          <p:nvSpPr>
            <p:cNvPr name="Freeform 31" id="31"/>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32" id="32"/>
          <p:cNvGrpSpPr/>
          <p:nvPr/>
        </p:nvGrpSpPr>
        <p:grpSpPr>
          <a:xfrm rot="0">
            <a:off x="1220724" y="9354312"/>
            <a:ext cx="11658600" cy="356616"/>
            <a:chOff x="0" y="0"/>
            <a:chExt cx="15544800" cy="475488"/>
          </a:xfrm>
        </p:grpSpPr>
        <p:sp>
          <p:nvSpPr>
            <p:cNvPr name="Freeform 33" id="33"/>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4" id="34"/>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5" id="35"/>
          <p:cNvGrpSpPr/>
          <p:nvPr/>
        </p:nvGrpSpPr>
        <p:grpSpPr>
          <a:xfrm rot="0">
            <a:off x="15695219" y="9354312"/>
            <a:ext cx="1371600" cy="356616"/>
            <a:chOff x="0" y="0"/>
            <a:chExt cx="1828800" cy="475488"/>
          </a:xfrm>
        </p:grpSpPr>
        <p:sp>
          <p:nvSpPr>
            <p:cNvPr name="Freeform 36" id="36"/>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7" id="37"/>
          <p:cNvGrpSpPr/>
          <p:nvPr/>
        </p:nvGrpSpPr>
        <p:grpSpPr>
          <a:xfrm rot="0">
            <a:off x="15695219" y="9354312"/>
            <a:ext cx="1371600" cy="356616"/>
            <a:chOff x="0" y="0"/>
            <a:chExt cx="1828800" cy="475488"/>
          </a:xfrm>
        </p:grpSpPr>
        <p:sp>
          <p:nvSpPr>
            <p:cNvPr name="Freeform 38" id="38"/>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9" id="39"/>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9</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07 · FIELD WORK IN ACTION</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Materials used at the counter, the doorstep and the camp</a:t>
              </a:r>
            </a:p>
          </p:txBody>
        </p:sp>
      </p:grpSp>
      <p:grpSp>
        <p:nvGrpSpPr>
          <p:cNvPr name="Group 12" id="12"/>
          <p:cNvGrpSpPr/>
          <p:nvPr/>
        </p:nvGrpSpPr>
        <p:grpSpPr>
          <a:xfrm rot="0">
            <a:off x="1220724" y="2674620"/>
            <a:ext cx="2811780" cy="3977640"/>
            <a:chOff x="0" y="0"/>
            <a:chExt cx="3749040" cy="5303520"/>
          </a:xfrm>
        </p:grpSpPr>
        <p:sp>
          <p:nvSpPr>
            <p:cNvPr name="Freeform 13" id="13" descr="/home/claude/img/flyer.png"/>
            <p:cNvSpPr/>
            <p:nvPr/>
          </p:nvSpPr>
          <p:spPr>
            <a:xfrm flipH="false" flipV="false" rot="0">
              <a:off x="0" y="0"/>
              <a:ext cx="3749040" cy="5303520"/>
            </a:xfrm>
            <a:custGeom>
              <a:avLst/>
              <a:gdLst/>
              <a:ahLst/>
              <a:cxnLst/>
              <a:rect r="r" b="b" t="t" l="l"/>
              <a:pathLst>
                <a:path h="5303520" w="3749040">
                  <a:moveTo>
                    <a:pt x="0" y="0"/>
                  </a:moveTo>
                  <a:lnTo>
                    <a:pt x="3749040" y="0"/>
                  </a:lnTo>
                  <a:lnTo>
                    <a:pt x="3749040" y="5303520"/>
                  </a:lnTo>
                  <a:lnTo>
                    <a:pt x="0" y="5303520"/>
                  </a:lnTo>
                  <a:lnTo>
                    <a:pt x="0" y="0"/>
                  </a:lnTo>
                  <a:close/>
                </a:path>
              </a:pathLst>
            </a:custGeom>
            <a:blipFill>
              <a:blip r:embed="rId5"/>
              <a:stretch>
                <a:fillRect l="-13" t="0" r="-13" b="0"/>
              </a:stretch>
            </a:blipFill>
          </p:spPr>
        </p:sp>
      </p:grpSp>
      <p:sp>
        <p:nvSpPr>
          <p:cNvPr name="TextBox 14" id="14"/>
          <p:cNvSpPr txBox="true"/>
          <p:nvPr/>
        </p:nvSpPr>
        <p:spPr>
          <a:xfrm rot="0">
            <a:off x="1220724" y="6729222"/>
            <a:ext cx="2811780" cy="979170"/>
          </a:xfrm>
          <a:prstGeom prst="rect">
            <a:avLst/>
          </a:prstGeom>
        </p:spPr>
        <p:txBody>
          <a:bodyPr anchor="t" rtlCol="false" tIns="0" lIns="0" bIns="0" rIns="0">
            <a:spAutoFit/>
          </a:bodyPr>
          <a:lstStyle/>
          <a:p>
            <a:pPr algn="l">
              <a:lnSpc>
                <a:spcPts val="1620"/>
              </a:lnSpc>
            </a:pPr>
            <a:r>
              <a:rPr lang="en-US" sz="1350">
                <a:solidFill>
                  <a:srgbClr val="5B6770"/>
                </a:solidFill>
                <a:latin typeface="IBM Plex Sans"/>
                <a:ea typeface="IBM Plex Sans"/>
                <a:cs typeface="IBM Plex Sans"/>
                <a:sym typeface="IBM Plex Sans"/>
              </a:rPr>
              <a:t>Four-golden-rules flyer handed out door-to-door and with every antibiotic dispensed</a:t>
            </a:r>
          </a:p>
        </p:txBody>
      </p:sp>
      <p:grpSp>
        <p:nvGrpSpPr>
          <p:cNvPr name="Group 15" id="15"/>
          <p:cNvGrpSpPr/>
          <p:nvPr/>
        </p:nvGrpSpPr>
        <p:grpSpPr>
          <a:xfrm rot="0">
            <a:off x="4306824" y="2674620"/>
            <a:ext cx="2811780" cy="3977640"/>
            <a:chOff x="0" y="0"/>
            <a:chExt cx="3749040" cy="5303520"/>
          </a:xfrm>
        </p:grpSpPr>
        <p:sp>
          <p:nvSpPr>
            <p:cNvPr name="Freeform 16" id="16" descr="/home/claude/img/poster.png"/>
            <p:cNvSpPr/>
            <p:nvPr/>
          </p:nvSpPr>
          <p:spPr>
            <a:xfrm flipH="false" flipV="false" rot="0">
              <a:off x="0" y="0"/>
              <a:ext cx="3749040" cy="5303520"/>
            </a:xfrm>
            <a:custGeom>
              <a:avLst/>
              <a:gdLst/>
              <a:ahLst/>
              <a:cxnLst/>
              <a:rect r="r" b="b" t="t" l="l"/>
              <a:pathLst>
                <a:path h="5303520" w="3749040">
                  <a:moveTo>
                    <a:pt x="0" y="0"/>
                  </a:moveTo>
                  <a:lnTo>
                    <a:pt x="3749040" y="0"/>
                  </a:lnTo>
                  <a:lnTo>
                    <a:pt x="3749040" y="5303520"/>
                  </a:lnTo>
                  <a:lnTo>
                    <a:pt x="0" y="5303520"/>
                  </a:lnTo>
                  <a:lnTo>
                    <a:pt x="0" y="0"/>
                  </a:lnTo>
                  <a:close/>
                </a:path>
              </a:pathLst>
            </a:custGeom>
            <a:blipFill>
              <a:blip r:embed="rId6"/>
              <a:stretch>
                <a:fillRect l="-57" t="0" r="-57" b="0"/>
              </a:stretch>
            </a:blipFill>
          </p:spPr>
        </p:sp>
      </p:grpSp>
      <p:sp>
        <p:nvSpPr>
          <p:cNvPr name="TextBox 17" id="17"/>
          <p:cNvSpPr txBox="true"/>
          <p:nvPr/>
        </p:nvSpPr>
        <p:spPr>
          <a:xfrm rot="0">
            <a:off x="4306824" y="6729222"/>
            <a:ext cx="2811780" cy="979170"/>
          </a:xfrm>
          <a:prstGeom prst="rect">
            <a:avLst/>
          </a:prstGeom>
        </p:spPr>
        <p:txBody>
          <a:bodyPr anchor="t" rtlCol="false" tIns="0" lIns="0" bIns="0" rIns="0">
            <a:spAutoFit/>
          </a:bodyPr>
          <a:lstStyle/>
          <a:p>
            <a:pPr algn="l">
              <a:lnSpc>
                <a:spcPts val="1620"/>
              </a:lnSpc>
            </a:pPr>
            <a:r>
              <a:rPr lang="en-US" sz="1350">
                <a:solidFill>
                  <a:srgbClr val="5B6770"/>
                </a:solidFill>
                <a:latin typeface="IBM Plex Sans"/>
                <a:ea typeface="IBM Plex Sans"/>
                <a:cs typeface="IBM Plex Sans"/>
                <a:sym typeface="IBM Plex Sans"/>
              </a:rPr>
              <a:t>Myth-or-fact poster displayed in dispensaries, mosques and community hubs</a:t>
            </a:r>
          </a:p>
        </p:txBody>
      </p:sp>
      <p:grpSp>
        <p:nvGrpSpPr>
          <p:cNvPr name="Group 18" id="18"/>
          <p:cNvGrpSpPr/>
          <p:nvPr/>
        </p:nvGrpSpPr>
        <p:grpSpPr>
          <a:xfrm rot="0">
            <a:off x="7536942" y="2674620"/>
            <a:ext cx="4457700" cy="2880360"/>
            <a:chOff x="0" y="0"/>
            <a:chExt cx="5943600" cy="3840480"/>
          </a:xfrm>
        </p:grpSpPr>
        <p:sp>
          <p:nvSpPr>
            <p:cNvPr name="Freeform 19" id="19"/>
            <p:cNvSpPr/>
            <p:nvPr/>
          </p:nvSpPr>
          <p:spPr>
            <a:xfrm flipH="false" flipV="false" rot="0">
              <a:off x="0" y="0"/>
              <a:ext cx="5943600" cy="3840480"/>
            </a:xfrm>
            <a:custGeom>
              <a:avLst/>
              <a:gdLst/>
              <a:ahLst/>
              <a:cxnLst/>
              <a:rect r="r" b="b" t="t" l="l"/>
              <a:pathLst>
                <a:path h="3840480" w="5943600">
                  <a:moveTo>
                    <a:pt x="0" y="0"/>
                  </a:moveTo>
                  <a:lnTo>
                    <a:pt x="5943600" y="0"/>
                  </a:lnTo>
                  <a:lnTo>
                    <a:pt x="5943600" y="3840480"/>
                  </a:lnTo>
                  <a:lnTo>
                    <a:pt x="0" y="3840480"/>
                  </a:lnTo>
                  <a:lnTo>
                    <a:pt x="0" y="0"/>
                  </a:lnTo>
                  <a:close/>
                </a:path>
              </a:pathLst>
            </a:custGeom>
            <a:blipFill>
              <a:blip r:embed="rId7"/>
              <a:stretch>
                <a:fillRect l="0" t="-28279" r="0" b="-28279"/>
              </a:stretch>
            </a:blipFill>
          </p:spPr>
        </p:sp>
      </p:grpSp>
      <p:sp>
        <p:nvSpPr>
          <p:cNvPr name="TextBox 20" id="20"/>
          <p:cNvSpPr txBox="true"/>
          <p:nvPr/>
        </p:nvSpPr>
        <p:spPr>
          <a:xfrm rot="0">
            <a:off x="7612380" y="5604510"/>
            <a:ext cx="4457700" cy="704850"/>
          </a:xfrm>
          <a:prstGeom prst="rect">
            <a:avLst/>
          </a:prstGeom>
        </p:spPr>
        <p:txBody>
          <a:bodyPr anchor="t" rtlCol="false" tIns="0" lIns="0" bIns="0" rIns="0">
            <a:spAutoFit/>
          </a:bodyPr>
          <a:lstStyle/>
          <a:p>
            <a:pPr algn="l">
              <a:lnSpc>
                <a:spcPts val="1620"/>
              </a:lnSpc>
            </a:pPr>
            <a:r>
              <a:rPr lang="en-US" sz="1350">
                <a:solidFill>
                  <a:srgbClr val="5B6770"/>
                </a:solidFill>
                <a:latin typeface="IBM Plex Sans"/>
                <a:ea typeface="IBM Plex Sans"/>
                <a:cs typeface="IBM Plex Sans"/>
                <a:sym typeface="IBM Plex Sans"/>
              </a:rPr>
              <a:t>Free medical camp outreach poster with an antimicrobial-resistance street play [2]</a:t>
            </a:r>
          </a:p>
        </p:txBody>
      </p:sp>
      <p:grpSp>
        <p:nvGrpSpPr>
          <p:cNvPr name="Group 21" id="21"/>
          <p:cNvGrpSpPr/>
          <p:nvPr/>
        </p:nvGrpSpPr>
        <p:grpSpPr>
          <a:xfrm rot="0">
            <a:off x="12412980" y="2674620"/>
            <a:ext cx="4320540" cy="2880360"/>
            <a:chOff x="0" y="0"/>
            <a:chExt cx="5760720" cy="3840480"/>
          </a:xfrm>
        </p:grpSpPr>
        <p:sp>
          <p:nvSpPr>
            <p:cNvPr name="Freeform 22" id="22"/>
            <p:cNvSpPr/>
            <p:nvPr/>
          </p:nvSpPr>
          <p:spPr>
            <a:xfrm flipH="false" flipV="false" rot="0">
              <a:off x="0" y="0"/>
              <a:ext cx="5760720" cy="3840480"/>
            </a:xfrm>
            <a:custGeom>
              <a:avLst/>
              <a:gdLst/>
              <a:ahLst/>
              <a:cxnLst/>
              <a:rect r="r" b="b" t="t" l="l"/>
              <a:pathLst>
                <a:path h="3840480" w="5760720">
                  <a:moveTo>
                    <a:pt x="0" y="0"/>
                  </a:moveTo>
                  <a:lnTo>
                    <a:pt x="5760720" y="0"/>
                  </a:lnTo>
                  <a:lnTo>
                    <a:pt x="5760720" y="3840480"/>
                  </a:lnTo>
                  <a:lnTo>
                    <a:pt x="0" y="3840480"/>
                  </a:lnTo>
                  <a:lnTo>
                    <a:pt x="0" y="0"/>
                  </a:lnTo>
                  <a:close/>
                </a:path>
              </a:pathLst>
            </a:custGeom>
            <a:blipFill>
              <a:blip r:embed="rId8"/>
              <a:stretch>
                <a:fillRect l="0" t="-6250" r="0" b="-6250"/>
              </a:stretch>
            </a:blipFill>
          </p:spPr>
        </p:sp>
      </p:grpSp>
      <p:sp>
        <p:nvSpPr>
          <p:cNvPr name="TextBox 23" id="23"/>
          <p:cNvSpPr txBox="true"/>
          <p:nvPr/>
        </p:nvSpPr>
        <p:spPr>
          <a:xfrm rot="0">
            <a:off x="12412980" y="5604510"/>
            <a:ext cx="4389120" cy="704850"/>
          </a:xfrm>
          <a:prstGeom prst="rect">
            <a:avLst/>
          </a:prstGeom>
        </p:spPr>
        <p:txBody>
          <a:bodyPr anchor="t" rtlCol="false" tIns="0" lIns="0" bIns="0" rIns="0">
            <a:spAutoFit/>
          </a:bodyPr>
          <a:lstStyle/>
          <a:p>
            <a:pPr algn="l">
              <a:lnSpc>
                <a:spcPts val="1620"/>
              </a:lnSpc>
            </a:pPr>
            <a:r>
              <a:rPr lang="en-US" sz="1350">
                <a:solidFill>
                  <a:srgbClr val="5B6770"/>
                </a:solidFill>
                <a:latin typeface="IBM Plex Sans"/>
                <a:ea typeface="IBM Plex Sans"/>
                <a:cs typeface="IBM Plex Sans"/>
                <a:sym typeface="IBM Plex Sans"/>
              </a:rPr>
              <a:t>Hygiene education session, Chakwal school programme, January 2026 (programme photograph)</a:t>
            </a:r>
          </a:p>
        </p:txBody>
      </p:sp>
      <p:sp>
        <p:nvSpPr>
          <p:cNvPr name="Freeform 24" id="24"/>
          <p:cNvSpPr/>
          <p:nvPr/>
        </p:nvSpPr>
        <p:spPr>
          <a:xfrm flipH="false" flipV="false" rot="0">
            <a:off x="7599874" y="6502594"/>
            <a:ext cx="9146143" cy="2082403"/>
          </a:xfrm>
          <a:custGeom>
            <a:avLst/>
            <a:gdLst/>
            <a:ahLst/>
            <a:cxnLst/>
            <a:rect r="r" b="b" t="t" l="l"/>
            <a:pathLst>
              <a:path h="2082403" w="9146143">
                <a:moveTo>
                  <a:pt x="0" y="0"/>
                </a:moveTo>
                <a:lnTo>
                  <a:pt x="9146143" y="0"/>
                </a:lnTo>
                <a:lnTo>
                  <a:pt x="9146143" y="2082403"/>
                </a:lnTo>
                <a:lnTo>
                  <a:pt x="0" y="208240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5" id="25"/>
          <p:cNvSpPr txBox="true"/>
          <p:nvPr/>
        </p:nvSpPr>
        <p:spPr>
          <a:xfrm rot="0">
            <a:off x="8023860" y="6701790"/>
            <a:ext cx="8229600" cy="361950"/>
          </a:xfrm>
          <a:prstGeom prst="rect">
            <a:avLst/>
          </a:prstGeom>
        </p:spPr>
        <p:txBody>
          <a:bodyPr anchor="t" rtlCol="false" tIns="0" lIns="0" bIns="0" rIns="0">
            <a:spAutoFit/>
          </a:bodyPr>
          <a:lstStyle/>
          <a:p>
            <a:pPr algn="l">
              <a:lnSpc>
                <a:spcPts val="1709"/>
              </a:lnSpc>
            </a:pPr>
            <a:r>
              <a:rPr lang="en-US" b="true" sz="1425" spc="299">
                <a:solidFill>
                  <a:srgbClr val="0B6E60"/>
                </a:solidFill>
                <a:latin typeface="IBM Plex Sans Bold"/>
                <a:ea typeface="IBM Plex Sans Bold"/>
                <a:cs typeface="IBM Plex Sans Bold"/>
                <a:sym typeface="IBM Plex Sans Bold"/>
              </a:rPr>
              <a:t>HOW THE MATERIALS ARE USED</a:t>
            </a:r>
          </a:p>
        </p:txBody>
      </p:sp>
      <p:sp>
        <p:nvSpPr>
          <p:cNvPr name="TextBox 26" id="26"/>
          <p:cNvSpPr txBox="true"/>
          <p:nvPr/>
        </p:nvSpPr>
        <p:spPr>
          <a:xfrm rot="0">
            <a:off x="8023860" y="7123938"/>
            <a:ext cx="8298180" cy="1352550"/>
          </a:xfrm>
          <a:prstGeom prst="rect">
            <a:avLst/>
          </a:prstGeom>
        </p:spPr>
        <p:txBody>
          <a:bodyPr anchor="t" rtlCol="false" tIns="0" lIns="0" bIns="0" rIns="0">
            <a:spAutoFit/>
          </a:bodyPr>
          <a:lstStyle/>
          <a:p>
            <a:pPr algn="l">
              <a:lnSpc>
                <a:spcPts val="1889"/>
              </a:lnSpc>
            </a:pPr>
            <a:r>
              <a:rPr lang="en-US" sz="1575">
                <a:solidFill>
                  <a:srgbClr val="3F4B57"/>
                </a:solidFill>
                <a:latin typeface="IBM Plex Sans"/>
                <a:ea typeface="IBM Plex Sans"/>
                <a:cs typeface="IBM Plex Sans"/>
                <a:sym typeface="IBM Plex Sans"/>
              </a:rPr>
              <a:t>The flyer is folded into every antibiotic pack and left at each household. The poster is fixed at eye level next to the dispensing counter. At the camps, a short talk and demonstration walk through the same four rules before any medicine is handed out, and hygiene practice from the school programme is repeated for parents.</a:t>
            </a:r>
          </a:p>
        </p:txBody>
      </p:sp>
      <p:grpSp>
        <p:nvGrpSpPr>
          <p:cNvPr name="Group 27" id="27"/>
          <p:cNvGrpSpPr/>
          <p:nvPr/>
        </p:nvGrpSpPr>
        <p:grpSpPr>
          <a:xfrm rot="0">
            <a:off x="1220724" y="9354312"/>
            <a:ext cx="11658600" cy="356616"/>
            <a:chOff x="0" y="0"/>
            <a:chExt cx="15544800" cy="475488"/>
          </a:xfrm>
        </p:grpSpPr>
        <p:sp>
          <p:nvSpPr>
            <p:cNvPr name="Freeform 28" id="28"/>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29" id="29"/>
          <p:cNvGrpSpPr/>
          <p:nvPr/>
        </p:nvGrpSpPr>
        <p:grpSpPr>
          <a:xfrm rot="0">
            <a:off x="1220724" y="9354312"/>
            <a:ext cx="11658600" cy="356616"/>
            <a:chOff x="0" y="0"/>
            <a:chExt cx="15544800" cy="475488"/>
          </a:xfrm>
        </p:grpSpPr>
        <p:sp>
          <p:nvSpPr>
            <p:cNvPr name="Freeform 30" id="30"/>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1" id="31"/>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2" id="32"/>
          <p:cNvGrpSpPr/>
          <p:nvPr/>
        </p:nvGrpSpPr>
        <p:grpSpPr>
          <a:xfrm rot="0">
            <a:off x="15695219" y="9354312"/>
            <a:ext cx="1371600" cy="356616"/>
            <a:chOff x="0" y="0"/>
            <a:chExt cx="1828800" cy="475488"/>
          </a:xfrm>
        </p:grpSpPr>
        <p:sp>
          <p:nvSpPr>
            <p:cNvPr name="Freeform 33" id="33"/>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4" id="34"/>
          <p:cNvGrpSpPr/>
          <p:nvPr/>
        </p:nvGrpSpPr>
        <p:grpSpPr>
          <a:xfrm rot="0">
            <a:off x="15695219" y="9354312"/>
            <a:ext cx="1371600" cy="356616"/>
            <a:chOff x="0" y="0"/>
            <a:chExt cx="1828800" cy="475488"/>
          </a:xfrm>
        </p:grpSpPr>
        <p:sp>
          <p:nvSpPr>
            <p:cNvPr name="Freeform 35" id="35"/>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6" id="36"/>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10</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08 · PHARMACIST ADVICE</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Four golden rules for every patient</a:t>
              </a:r>
            </a:p>
          </p:txBody>
        </p:sp>
      </p:grpSp>
      <p:sp>
        <p:nvSpPr>
          <p:cNvPr name="Freeform 12" id="12"/>
          <p:cNvSpPr/>
          <p:nvPr/>
        </p:nvSpPr>
        <p:spPr>
          <a:xfrm flipH="false" flipV="false" rot="0">
            <a:off x="1208218" y="2662114"/>
            <a:ext cx="4894183" cy="2699623"/>
          </a:xfrm>
          <a:custGeom>
            <a:avLst/>
            <a:gdLst/>
            <a:ahLst/>
            <a:cxnLst/>
            <a:rect r="r" b="b" t="t" l="l"/>
            <a:pathLst>
              <a:path h="2699623" w="4894183">
                <a:moveTo>
                  <a:pt x="0" y="0"/>
                </a:moveTo>
                <a:lnTo>
                  <a:pt x="4894183" y="0"/>
                </a:lnTo>
                <a:lnTo>
                  <a:pt x="4894183" y="2699623"/>
                </a:lnTo>
                <a:lnTo>
                  <a:pt x="0" y="269962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3" id="13"/>
          <p:cNvSpPr txBox="true"/>
          <p:nvPr/>
        </p:nvSpPr>
        <p:spPr>
          <a:xfrm rot="0">
            <a:off x="1632204" y="2995422"/>
            <a:ext cx="1371600" cy="59817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01</a:t>
            </a:r>
          </a:p>
        </p:txBody>
      </p:sp>
      <p:sp>
        <p:nvSpPr>
          <p:cNvPr name="TextBox 14" id="14"/>
          <p:cNvSpPr txBox="true"/>
          <p:nvPr/>
        </p:nvSpPr>
        <p:spPr>
          <a:xfrm rot="0">
            <a:off x="1632204" y="3615690"/>
            <a:ext cx="4114800" cy="567690"/>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Consult first</a:t>
            </a:r>
          </a:p>
        </p:txBody>
      </p:sp>
      <p:sp>
        <p:nvSpPr>
          <p:cNvPr name="TextBox 15" id="15"/>
          <p:cNvSpPr txBox="true"/>
          <p:nvPr/>
        </p:nvSpPr>
        <p:spPr>
          <a:xfrm rot="0">
            <a:off x="1632204" y="4210812"/>
            <a:ext cx="4114800" cy="102870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Consult a doctor, pharmacist or health worker before starting any antibiotic.</a:t>
            </a:r>
          </a:p>
        </p:txBody>
      </p:sp>
      <p:sp>
        <p:nvSpPr>
          <p:cNvPr name="Freeform 16" id="16"/>
          <p:cNvSpPr/>
          <p:nvPr/>
        </p:nvSpPr>
        <p:spPr>
          <a:xfrm flipH="false" flipV="false" rot="0">
            <a:off x="6351718" y="2662114"/>
            <a:ext cx="4894183" cy="2699623"/>
          </a:xfrm>
          <a:custGeom>
            <a:avLst/>
            <a:gdLst/>
            <a:ahLst/>
            <a:cxnLst/>
            <a:rect r="r" b="b" t="t" l="l"/>
            <a:pathLst>
              <a:path h="2699623" w="4894183">
                <a:moveTo>
                  <a:pt x="0" y="0"/>
                </a:moveTo>
                <a:lnTo>
                  <a:pt x="4894183" y="0"/>
                </a:lnTo>
                <a:lnTo>
                  <a:pt x="4894183" y="2699623"/>
                </a:lnTo>
                <a:lnTo>
                  <a:pt x="0" y="269962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775704" y="2995422"/>
            <a:ext cx="1371600" cy="59817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02</a:t>
            </a:r>
          </a:p>
        </p:txBody>
      </p:sp>
      <p:sp>
        <p:nvSpPr>
          <p:cNvPr name="TextBox 18" id="18"/>
          <p:cNvSpPr txBox="true"/>
          <p:nvPr/>
        </p:nvSpPr>
        <p:spPr>
          <a:xfrm rot="0">
            <a:off x="6775704" y="3615690"/>
            <a:ext cx="4114800" cy="567690"/>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Finish the course</a:t>
            </a:r>
          </a:p>
        </p:txBody>
      </p:sp>
      <p:sp>
        <p:nvSpPr>
          <p:cNvPr name="TextBox 19" id="19"/>
          <p:cNvSpPr txBox="true"/>
          <p:nvPr/>
        </p:nvSpPr>
        <p:spPr>
          <a:xfrm rot="0">
            <a:off x="6775704" y="4210812"/>
            <a:ext cx="4114800" cy="102870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Take every pill until the prescription finishes, even when you feel better.</a:t>
            </a:r>
          </a:p>
        </p:txBody>
      </p:sp>
      <p:sp>
        <p:nvSpPr>
          <p:cNvPr name="Freeform 20" id="20"/>
          <p:cNvSpPr/>
          <p:nvPr/>
        </p:nvSpPr>
        <p:spPr>
          <a:xfrm flipH="false" flipV="false" rot="0">
            <a:off x="1208218" y="5611054"/>
            <a:ext cx="4894183" cy="2699623"/>
          </a:xfrm>
          <a:custGeom>
            <a:avLst/>
            <a:gdLst/>
            <a:ahLst/>
            <a:cxnLst/>
            <a:rect r="r" b="b" t="t" l="l"/>
            <a:pathLst>
              <a:path h="2699623" w="4894183">
                <a:moveTo>
                  <a:pt x="0" y="0"/>
                </a:moveTo>
                <a:lnTo>
                  <a:pt x="4894183" y="0"/>
                </a:lnTo>
                <a:lnTo>
                  <a:pt x="4894183" y="2699623"/>
                </a:lnTo>
                <a:lnTo>
                  <a:pt x="0" y="269962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632204" y="5944362"/>
            <a:ext cx="1371600" cy="59817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03</a:t>
            </a:r>
          </a:p>
        </p:txBody>
      </p:sp>
      <p:sp>
        <p:nvSpPr>
          <p:cNvPr name="TextBox 22" id="22"/>
          <p:cNvSpPr txBox="true"/>
          <p:nvPr/>
        </p:nvSpPr>
        <p:spPr>
          <a:xfrm rot="0">
            <a:off x="1632204" y="6564630"/>
            <a:ext cx="4114800" cy="567690"/>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Never share</a:t>
            </a:r>
          </a:p>
        </p:txBody>
      </p:sp>
      <p:sp>
        <p:nvSpPr>
          <p:cNvPr name="TextBox 23" id="23"/>
          <p:cNvSpPr txBox="true"/>
          <p:nvPr/>
        </p:nvSpPr>
        <p:spPr>
          <a:xfrm rot="0">
            <a:off x="1632204" y="7159752"/>
            <a:ext cx="4114800" cy="102870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Never keep leftover doses for later and never give them to anyone else.</a:t>
            </a:r>
          </a:p>
        </p:txBody>
      </p:sp>
      <p:sp>
        <p:nvSpPr>
          <p:cNvPr name="Freeform 24" id="24"/>
          <p:cNvSpPr/>
          <p:nvPr/>
        </p:nvSpPr>
        <p:spPr>
          <a:xfrm flipH="false" flipV="false" rot="0">
            <a:off x="6351718" y="5611054"/>
            <a:ext cx="4894183" cy="2699623"/>
          </a:xfrm>
          <a:custGeom>
            <a:avLst/>
            <a:gdLst/>
            <a:ahLst/>
            <a:cxnLst/>
            <a:rect r="r" b="b" t="t" l="l"/>
            <a:pathLst>
              <a:path h="2699623" w="4894183">
                <a:moveTo>
                  <a:pt x="0" y="0"/>
                </a:moveTo>
                <a:lnTo>
                  <a:pt x="4894183" y="0"/>
                </a:lnTo>
                <a:lnTo>
                  <a:pt x="4894183" y="2699623"/>
                </a:lnTo>
                <a:lnTo>
                  <a:pt x="0" y="269962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6775704" y="5944362"/>
            <a:ext cx="1371600" cy="59817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04</a:t>
            </a:r>
          </a:p>
        </p:txBody>
      </p:sp>
      <p:sp>
        <p:nvSpPr>
          <p:cNvPr name="TextBox 26" id="26"/>
          <p:cNvSpPr txBox="true"/>
          <p:nvPr/>
        </p:nvSpPr>
        <p:spPr>
          <a:xfrm rot="0">
            <a:off x="6775704" y="6564630"/>
            <a:ext cx="4114800" cy="567690"/>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Prevent illness</a:t>
            </a:r>
          </a:p>
        </p:txBody>
      </p:sp>
      <p:sp>
        <p:nvSpPr>
          <p:cNvPr name="TextBox 27" id="27"/>
          <p:cNvSpPr txBox="true"/>
          <p:nvPr/>
        </p:nvSpPr>
        <p:spPr>
          <a:xfrm rot="0">
            <a:off x="6775704" y="7159752"/>
            <a:ext cx="4114800" cy="102870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Clean water, handwashing and safe food prevent infections and the need for antibiotics.</a:t>
            </a:r>
          </a:p>
        </p:txBody>
      </p:sp>
      <p:grpSp>
        <p:nvGrpSpPr>
          <p:cNvPr name="Group 28" id="28"/>
          <p:cNvGrpSpPr/>
          <p:nvPr/>
        </p:nvGrpSpPr>
        <p:grpSpPr>
          <a:xfrm rot="0">
            <a:off x="11864340" y="2674620"/>
            <a:ext cx="4183380" cy="5925312"/>
            <a:chOff x="0" y="0"/>
            <a:chExt cx="5577840" cy="7900416"/>
          </a:xfrm>
        </p:grpSpPr>
        <p:sp>
          <p:nvSpPr>
            <p:cNvPr name="Freeform 29" id="29" descr="/home/claude/img/flyer.png"/>
            <p:cNvSpPr/>
            <p:nvPr/>
          </p:nvSpPr>
          <p:spPr>
            <a:xfrm flipH="false" flipV="false" rot="0">
              <a:off x="0" y="0"/>
              <a:ext cx="5577840" cy="7900416"/>
            </a:xfrm>
            <a:custGeom>
              <a:avLst/>
              <a:gdLst/>
              <a:ahLst/>
              <a:cxnLst/>
              <a:rect r="r" b="b" t="t" l="l"/>
              <a:pathLst>
                <a:path h="7900416" w="5577840">
                  <a:moveTo>
                    <a:pt x="0" y="0"/>
                  </a:moveTo>
                  <a:lnTo>
                    <a:pt x="5577840" y="0"/>
                  </a:lnTo>
                  <a:lnTo>
                    <a:pt x="5577840" y="7900416"/>
                  </a:lnTo>
                  <a:lnTo>
                    <a:pt x="0" y="7900416"/>
                  </a:lnTo>
                  <a:lnTo>
                    <a:pt x="0" y="0"/>
                  </a:lnTo>
                  <a:close/>
                </a:path>
              </a:pathLst>
            </a:custGeom>
            <a:blipFill>
              <a:blip r:embed="rId7"/>
              <a:stretch>
                <a:fillRect l="-75" t="0" r="-75" b="0"/>
              </a:stretch>
            </a:blipFill>
          </p:spPr>
        </p:sp>
      </p:grpSp>
      <p:sp>
        <p:nvSpPr>
          <p:cNvPr name="TextBox 30" id="30"/>
          <p:cNvSpPr txBox="true"/>
          <p:nvPr/>
        </p:nvSpPr>
        <p:spPr>
          <a:xfrm rot="0">
            <a:off x="11658600" y="8690610"/>
            <a:ext cx="4800600" cy="430530"/>
          </a:xfrm>
          <a:prstGeom prst="rect">
            <a:avLst/>
          </a:prstGeom>
        </p:spPr>
        <p:txBody>
          <a:bodyPr anchor="t" rtlCol="false" tIns="0" lIns="0" bIns="0" rIns="0">
            <a:spAutoFit/>
          </a:bodyPr>
          <a:lstStyle/>
          <a:p>
            <a:pPr algn="l">
              <a:lnSpc>
                <a:spcPts val="1620"/>
              </a:lnSpc>
            </a:pPr>
            <a:r>
              <a:rPr lang="en-US" sz="1350" i="true">
                <a:solidFill>
                  <a:srgbClr val="5B6770"/>
                </a:solidFill>
                <a:latin typeface="IBM Plex Sans Italics"/>
                <a:ea typeface="IBM Plex Sans Italics"/>
                <a:cs typeface="IBM Plex Sans Italics"/>
                <a:sym typeface="IBM Plex Sans Italics"/>
              </a:rPr>
              <a:t>Programme flyer distributed door-to-door (original design, 2026)</a:t>
            </a:r>
          </a:p>
        </p:txBody>
      </p:sp>
      <p:grpSp>
        <p:nvGrpSpPr>
          <p:cNvPr name="Group 31" id="31"/>
          <p:cNvGrpSpPr/>
          <p:nvPr/>
        </p:nvGrpSpPr>
        <p:grpSpPr>
          <a:xfrm rot="0">
            <a:off x="1220724" y="9354312"/>
            <a:ext cx="11658600" cy="356616"/>
            <a:chOff x="0" y="0"/>
            <a:chExt cx="15544800" cy="475488"/>
          </a:xfrm>
        </p:grpSpPr>
        <p:sp>
          <p:nvSpPr>
            <p:cNvPr name="Freeform 32" id="32"/>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33" id="33"/>
          <p:cNvGrpSpPr/>
          <p:nvPr/>
        </p:nvGrpSpPr>
        <p:grpSpPr>
          <a:xfrm rot="0">
            <a:off x="1220724" y="9354312"/>
            <a:ext cx="11658600" cy="356616"/>
            <a:chOff x="0" y="0"/>
            <a:chExt cx="15544800" cy="475488"/>
          </a:xfrm>
        </p:grpSpPr>
        <p:sp>
          <p:nvSpPr>
            <p:cNvPr name="Freeform 34" id="34"/>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5" id="35"/>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6" id="36"/>
          <p:cNvGrpSpPr/>
          <p:nvPr/>
        </p:nvGrpSpPr>
        <p:grpSpPr>
          <a:xfrm rot="0">
            <a:off x="15695219" y="9354312"/>
            <a:ext cx="1371600" cy="356616"/>
            <a:chOff x="0" y="0"/>
            <a:chExt cx="1828800" cy="475488"/>
          </a:xfrm>
        </p:grpSpPr>
        <p:sp>
          <p:nvSpPr>
            <p:cNvPr name="Freeform 37" id="37"/>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8" id="38"/>
          <p:cNvGrpSpPr/>
          <p:nvPr/>
        </p:nvGrpSpPr>
        <p:grpSpPr>
          <a:xfrm rot="0">
            <a:off x="15695219" y="9354312"/>
            <a:ext cx="1371600" cy="356616"/>
            <a:chOff x="0" y="0"/>
            <a:chExt cx="1828800" cy="475488"/>
          </a:xfrm>
        </p:grpSpPr>
        <p:sp>
          <p:nvSpPr>
            <p:cNvPr name="Freeform 39" id="39"/>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40" id="40"/>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11</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09 · PRACTICAL PATIENT SKILLS</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How to administer antibiotics safely</a:t>
              </a:r>
            </a:p>
          </p:txBody>
        </p:sp>
      </p:grpSp>
      <p:sp>
        <p:nvSpPr>
          <p:cNvPr name="Freeform 12" id="12"/>
          <p:cNvSpPr/>
          <p:nvPr/>
        </p:nvSpPr>
        <p:spPr>
          <a:xfrm flipH="false" flipV="false" rot="0">
            <a:off x="1208218" y="3005014"/>
            <a:ext cx="5031343" cy="4139803"/>
          </a:xfrm>
          <a:custGeom>
            <a:avLst/>
            <a:gdLst/>
            <a:ahLst/>
            <a:cxnLst/>
            <a:rect r="r" b="b" t="t" l="l"/>
            <a:pathLst>
              <a:path h="4139803" w="5031343">
                <a:moveTo>
                  <a:pt x="0" y="0"/>
                </a:moveTo>
                <a:lnTo>
                  <a:pt x="5031343" y="0"/>
                </a:lnTo>
                <a:lnTo>
                  <a:pt x="5031343" y="4139803"/>
                </a:lnTo>
                <a:lnTo>
                  <a:pt x="0" y="41398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3" id="13"/>
          <p:cNvSpPr/>
          <p:nvPr/>
        </p:nvSpPr>
        <p:spPr>
          <a:xfrm flipH="false" flipV="false" rot="0">
            <a:off x="1684115" y="3480911"/>
            <a:ext cx="993457" cy="993458"/>
          </a:xfrm>
          <a:custGeom>
            <a:avLst/>
            <a:gdLst/>
            <a:ahLst/>
            <a:cxnLst/>
            <a:rect r="r" b="b" t="t" l="l"/>
            <a:pathLst>
              <a:path h="993458" w="993457">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4" id="14"/>
          <p:cNvGrpSpPr/>
          <p:nvPr/>
        </p:nvGrpSpPr>
        <p:grpSpPr>
          <a:xfrm rot="0">
            <a:off x="1947672" y="3744468"/>
            <a:ext cx="466344" cy="466344"/>
            <a:chOff x="0" y="0"/>
            <a:chExt cx="621792" cy="621792"/>
          </a:xfrm>
        </p:grpSpPr>
        <p:sp>
          <p:nvSpPr>
            <p:cNvPr name="Freeform 15" id="15"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9"/>
              <a:stretch>
                <a:fillRect l="0" t="0" r="0" b="0"/>
              </a:stretch>
            </a:blipFill>
          </p:spPr>
        </p:sp>
      </p:grpSp>
      <p:sp>
        <p:nvSpPr>
          <p:cNvPr name="TextBox 16" id="16"/>
          <p:cNvSpPr txBox="true"/>
          <p:nvPr/>
        </p:nvSpPr>
        <p:spPr>
          <a:xfrm rot="0">
            <a:off x="1700784" y="4732020"/>
            <a:ext cx="411480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Equal-hours schedule</a:t>
            </a:r>
          </a:p>
        </p:txBody>
      </p:sp>
      <p:sp>
        <p:nvSpPr>
          <p:cNvPr name="TextBox 17" id="17"/>
          <p:cNvSpPr txBox="true"/>
          <p:nvPr/>
        </p:nvSpPr>
        <p:spPr>
          <a:xfrm rot="0">
            <a:off x="1700784" y="5349240"/>
            <a:ext cx="4114800" cy="16459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Take doses at equal time intervals every day, for example every 8 or 12 hours, so the level in the blood stays effective.</a:t>
            </a:r>
          </a:p>
        </p:txBody>
      </p:sp>
      <p:sp>
        <p:nvSpPr>
          <p:cNvPr name="Freeform 18" id="18"/>
          <p:cNvSpPr/>
          <p:nvPr/>
        </p:nvSpPr>
        <p:spPr>
          <a:xfrm flipH="false" flipV="false" rot="0">
            <a:off x="6626038" y="3005014"/>
            <a:ext cx="5031343" cy="4139803"/>
          </a:xfrm>
          <a:custGeom>
            <a:avLst/>
            <a:gdLst/>
            <a:ahLst/>
            <a:cxnLst/>
            <a:rect r="r" b="b" t="t" l="l"/>
            <a:pathLst>
              <a:path h="4139803" w="5031343">
                <a:moveTo>
                  <a:pt x="0" y="0"/>
                </a:moveTo>
                <a:lnTo>
                  <a:pt x="5031343" y="0"/>
                </a:lnTo>
                <a:lnTo>
                  <a:pt x="5031343" y="4139803"/>
                </a:lnTo>
                <a:lnTo>
                  <a:pt x="0" y="41398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0">
            <a:off x="7101935" y="3480911"/>
            <a:ext cx="993458" cy="993458"/>
          </a:xfrm>
          <a:custGeom>
            <a:avLst/>
            <a:gdLst/>
            <a:ahLst/>
            <a:cxnLst/>
            <a:rect r="r" b="b" t="t" l="l"/>
            <a:pathLst>
              <a:path h="993458" w="993458">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0" id="20"/>
          <p:cNvGrpSpPr/>
          <p:nvPr/>
        </p:nvGrpSpPr>
        <p:grpSpPr>
          <a:xfrm rot="0">
            <a:off x="7365492" y="3744468"/>
            <a:ext cx="466344" cy="466344"/>
            <a:chOff x="0" y="0"/>
            <a:chExt cx="621792" cy="621792"/>
          </a:xfrm>
        </p:grpSpPr>
        <p:sp>
          <p:nvSpPr>
            <p:cNvPr name="Freeform 21" id="21"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10"/>
              <a:stretch>
                <a:fillRect l="0" t="0" r="0" b="0"/>
              </a:stretch>
            </a:blipFill>
          </p:spPr>
        </p:sp>
      </p:grpSp>
      <p:sp>
        <p:nvSpPr>
          <p:cNvPr name="TextBox 22" id="22"/>
          <p:cNvSpPr txBox="true"/>
          <p:nvPr/>
        </p:nvSpPr>
        <p:spPr>
          <a:xfrm rot="0">
            <a:off x="7118604" y="4732020"/>
            <a:ext cx="411480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Clean water only</a:t>
            </a:r>
          </a:p>
        </p:txBody>
      </p:sp>
      <p:sp>
        <p:nvSpPr>
          <p:cNvPr name="TextBox 23" id="23"/>
          <p:cNvSpPr txBox="true"/>
          <p:nvPr/>
        </p:nvSpPr>
        <p:spPr>
          <a:xfrm rot="0">
            <a:off x="7118604" y="5349240"/>
            <a:ext cx="4114800" cy="16459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Swallow pills with safe drinking water. Do not crush or split tablets unless the pharmacist says so.</a:t>
            </a:r>
          </a:p>
        </p:txBody>
      </p:sp>
      <p:sp>
        <p:nvSpPr>
          <p:cNvPr name="Freeform 24" id="24"/>
          <p:cNvSpPr/>
          <p:nvPr/>
        </p:nvSpPr>
        <p:spPr>
          <a:xfrm flipH="false" flipV="false" rot="0">
            <a:off x="12043858" y="3005014"/>
            <a:ext cx="5031343" cy="4139803"/>
          </a:xfrm>
          <a:custGeom>
            <a:avLst/>
            <a:gdLst/>
            <a:ahLst/>
            <a:cxnLst/>
            <a:rect r="r" b="b" t="t" l="l"/>
            <a:pathLst>
              <a:path h="4139803" w="5031343">
                <a:moveTo>
                  <a:pt x="0" y="0"/>
                </a:moveTo>
                <a:lnTo>
                  <a:pt x="5031343" y="0"/>
                </a:lnTo>
                <a:lnTo>
                  <a:pt x="5031343" y="4139803"/>
                </a:lnTo>
                <a:lnTo>
                  <a:pt x="0" y="41398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5" id="25"/>
          <p:cNvSpPr/>
          <p:nvPr/>
        </p:nvSpPr>
        <p:spPr>
          <a:xfrm flipH="false" flipV="false" rot="0">
            <a:off x="12519755" y="3480911"/>
            <a:ext cx="993457" cy="993458"/>
          </a:xfrm>
          <a:custGeom>
            <a:avLst/>
            <a:gdLst/>
            <a:ahLst/>
            <a:cxnLst/>
            <a:rect r="r" b="b" t="t" l="l"/>
            <a:pathLst>
              <a:path h="993458" w="993457">
                <a:moveTo>
                  <a:pt x="0" y="0"/>
                </a:moveTo>
                <a:lnTo>
                  <a:pt x="993458" y="0"/>
                </a:lnTo>
                <a:lnTo>
                  <a:pt x="993458" y="993458"/>
                </a:lnTo>
                <a:lnTo>
                  <a:pt x="0" y="993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6" id="26"/>
          <p:cNvGrpSpPr/>
          <p:nvPr/>
        </p:nvGrpSpPr>
        <p:grpSpPr>
          <a:xfrm rot="0">
            <a:off x="12783312" y="3744468"/>
            <a:ext cx="466344" cy="466344"/>
            <a:chOff x="0" y="0"/>
            <a:chExt cx="621792" cy="621792"/>
          </a:xfrm>
        </p:grpSpPr>
        <p:sp>
          <p:nvSpPr>
            <p:cNvPr name="Freeform 27" id="27"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11"/>
              <a:stretch>
                <a:fillRect l="0" t="0" r="0" b="0"/>
              </a:stretch>
            </a:blipFill>
          </p:spPr>
        </p:sp>
      </p:grpSp>
      <p:sp>
        <p:nvSpPr>
          <p:cNvPr name="TextBox 28" id="28"/>
          <p:cNvSpPr txBox="true"/>
          <p:nvPr/>
        </p:nvSpPr>
        <p:spPr>
          <a:xfrm rot="0">
            <a:off x="12536424" y="4732020"/>
            <a:ext cx="411480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Cool, dry storage</a:t>
            </a:r>
          </a:p>
        </p:txBody>
      </p:sp>
      <p:sp>
        <p:nvSpPr>
          <p:cNvPr name="TextBox 29" id="29"/>
          <p:cNvSpPr txBox="true"/>
          <p:nvPr/>
        </p:nvSpPr>
        <p:spPr>
          <a:xfrm rot="0">
            <a:off x="12536424" y="5349240"/>
            <a:ext cx="4114800" cy="164592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Store medicines away from heat, sunlight and dampness, out of the reach of children. Refrigerate syrups where instructed.</a:t>
            </a:r>
          </a:p>
        </p:txBody>
      </p:sp>
      <p:sp>
        <p:nvSpPr>
          <p:cNvPr name="TextBox 30" id="30"/>
          <p:cNvSpPr txBox="true"/>
          <p:nvPr/>
        </p:nvSpPr>
        <p:spPr>
          <a:xfrm rot="0">
            <a:off x="1220724" y="7543800"/>
            <a:ext cx="15846095" cy="411480"/>
          </a:xfrm>
          <a:prstGeom prst="rect">
            <a:avLst/>
          </a:prstGeom>
        </p:spPr>
        <p:txBody>
          <a:bodyPr anchor="t" rtlCol="false" tIns="0" lIns="0" bIns="0" rIns="0">
            <a:spAutoFit/>
          </a:bodyPr>
          <a:lstStyle/>
          <a:p>
            <a:pPr algn="l">
              <a:lnSpc>
                <a:spcPts val="1800"/>
              </a:lnSpc>
            </a:pPr>
            <a:r>
              <a:rPr lang="en-US" sz="1500" i="true">
                <a:solidFill>
                  <a:srgbClr val="5B6770"/>
                </a:solidFill>
                <a:latin typeface="IBM Plex Sans Italics"/>
                <a:ea typeface="IBM Plex Sans Italics"/>
                <a:cs typeface="IBM Plex Sans Italics"/>
                <a:sym typeface="IBM Plex Sans Italics"/>
              </a:rPr>
              <a:t>Demonstrated at every dispensing contact, with the timing written on the pack in local language.</a:t>
            </a:r>
          </a:p>
        </p:txBody>
      </p:sp>
      <p:grpSp>
        <p:nvGrpSpPr>
          <p:cNvPr name="Group 31" id="31"/>
          <p:cNvGrpSpPr/>
          <p:nvPr/>
        </p:nvGrpSpPr>
        <p:grpSpPr>
          <a:xfrm rot="0">
            <a:off x="1220724" y="9354312"/>
            <a:ext cx="11658600" cy="356616"/>
            <a:chOff x="0" y="0"/>
            <a:chExt cx="15544800" cy="475488"/>
          </a:xfrm>
        </p:grpSpPr>
        <p:sp>
          <p:nvSpPr>
            <p:cNvPr name="Freeform 32" id="32"/>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33" id="33"/>
          <p:cNvGrpSpPr/>
          <p:nvPr/>
        </p:nvGrpSpPr>
        <p:grpSpPr>
          <a:xfrm rot="0">
            <a:off x="1220724" y="9354312"/>
            <a:ext cx="11658600" cy="356616"/>
            <a:chOff x="0" y="0"/>
            <a:chExt cx="15544800" cy="475488"/>
          </a:xfrm>
        </p:grpSpPr>
        <p:sp>
          <p:nvSpPr>
            <p:cNvPr name="Freeform 34" id="34"/>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5" id="35"/>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6" id="36"/>
          <p:cNvGrpSpPr/>
          <p:nvPr/>
        </p:nvGrpSpPr>
        <p:grpSpPr>
          <a:xfrm rot="0">
            <a:off x="15695219" y="9354312"/>
            <a:ext cx="1371600" cy="356616"/>
            <a:chOff x="0" y="0"/>
            <a:chExt cx="1828800" cy="475488"/>
          </a:xfrm>
        </p:grpSpPr>
        <p:sp>
          <p:nvSpPr>
            <p:cNvPr name="Freeform 37" id="37"/>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8" id="38"/>
          <p:cNvGrpSpPr/>
          <p:nvPr/>
        </p:nvGrpSpPr>
        <p:grpSpPr>
          <a:xfrm rot="0">
            <a:off x="15695219" y="9354312"/>
            <a:ext cx="1371600" cy="356616"/>
            <a:chOff x="0" y="0"/>
            <a:chExt cx="1828800" cy="475488"/>
          </a:xfrm>
        </p:grpSpPr>
        <p:sp>
          <p:nvSpPr>
            <p:cNvPr name="Freeform 39" id="39"/>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40" id="40"/>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12</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10 · HOLISTIC STANDARD</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The One Health approach in agriculture</a:t>
              </a:r>
            </a:p>
          </p:txBody>
        </p:sp>
      </p:grpSp>
      <p:grpSp>
        <p:nvGrpSpPr>
          <p:cNvPr name="Group 12" id="12"/>
          <p:cNvGrpSpPr/>
          <p:nvPr/>
        </p:nvGrpSpPr>
        <p:grpSpPr>
          <a:xfrm rot="0">
            <a:off x="1220724" y="2811780"/>
            <a:ext cx="6309360" cy="4279392"/>
            <a:chOff x="0" y="0"/>
            <a:chExt cx="8412480" cy="5705856"/>
          </a:xfrm>
        </p:grpSpPr>
        <p:sp>
          <p:nvSpPr>
            <p:cNvPr name="Freeform 13" id="13"/>
            <p:cNvSpPr/>
            <p:nvPr/>
          </p:nvSpPr>
          <p:spPr>
            <a:xfrm flipH="false" flipV="false" rot="0">
              <a:off x="0" y="0"/>
              <a:ext cx="8412480" cy="5705856"/>
            </a:xfrm>
            <a:custGeom>
              <a:avLst/>
              <a:gdLst/>
              <a:ahLst/>
              <a:cxnLst/>
              <a:rect r="r" b="b" t="t" l="l"/>
              <a:pathLst>
                <a:path h="5705856" w="8412480">
                  <a:moveTo>
                    <a:pt x="0" y="0"/>
                  </a:moveTo>
                  <a:lnTo>
                    <a:pt x="8412480" y="0"/>
                  </a:lnTo>
                  <a:lnTo>
                    <a:pt x="8412480" y="5705856"/>
                  </a:lnTo>
                  <a:lnTo>
                    <a:pt x="0" y="5705856"/>
                  </a:lnTo>
                  <a:lnTo>
                    <a:pt x="0" y="0"/>
                  </a:lnTo>
                  <a:close/>
                </a:path>
              </a:pathLst>
            </a:custGeom>
            <a:blipFill>
              <a:blip r:embed="rId5"/>
              <a:stretch>
                <a:fillRect l="-1039" t="0" r="-1039" b="0"/>
              </a:stretch>
            </a:blipFill>
          </p:spPr>
        </p:sp>
      </p:grpSp>
      <p:sp>
        <p:nvSpPr>
          <p:cNvPr name="Freeform 14" id="14"/>
          <p:cNvSpPr/>
          <p:nvPr/>
        </p:nvSpPr>
        <p:spPr>
          <a:xfrm flipH="false" flipV="false" rot="0">
            <a:off x="1204055" y="7280243"/>
            <a:ext cx="6342697" cy="1377506"/>
          </a:xfrm>
          <a:custGeom>
            <a:avLst/>
            <a:gdLst/>
            <a:ahLst/>
            <a:cxnLst/>
            <a:rect r="r" b="b" t="t" l="l"/>
            <a:pathLst>
              <a:path h="1377506" w="6342697">
                <a:moveTo>
                  <a:pt x="0" y="0"/>
                </a:moveTo>
                <a:lnTo>
                  <a:pt x="6342698" y="0"/>
                </a:lnTo>
                <a:lnTo>
                  <a:pt x="6342698" y="1377506"/>
                </a:lnTo>
                <a:lnTo>
                  <a:pt x="0" y="13775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5" id="15"/>
          <p:cNvSpPr txBox="true"/>
          <p:nvPr/>
        </p:nvSpPr>
        <p:spPr>
          <a:xfrm rot="0">
            <a:off x="1632204" y="7442454"/>
            <a:ext cx="5486400" cy="320802"/>
          </a:xfrm>
          <a:prstGeom prst="rect">
            <a:avLst/>
          </a:prstGeom>
        </p:spPr>
        <p:txBody>
          <a:bodyPr anchor="t" rtlCol="false" tIns="0" lIns="0" bIns="0" rIns="0">
            <a:spAutoFit/>
          </a:bodyPr>
          <a:lstStyle/>
          <a:p>
            <a:pPr algn="l">
              <a:lnSpc>
                <a:spcPts val="1709"/>
              </a:lnSpc>
            </a:pPr>
            <a:r>
              <a:rPr lang="en-US" b="true" sz="1425" spc="299">
                <a:solidFill>
                  <a:srgbClr val="7FD1C0"/>
                </a:solidFill>
                <a:latin typeface="IBM Plex Sans Bold"/>
                <a:ea typeface="IBM Plex Sans Bold"/>
                <a:cs typeface="IBM Plex Sans Bold"/>
                <a:sym typeface="IBM Plex Sans Bold"/>
              </a:rPr>
              <a:t>WHY FARMS MATTER</a:t>
            </a:r>
          </a:p>
        </p:txBody>
      </p:sp>
      <p:sp>
        <p:nvSpPr>
          <p:cNvPr name="TextBox 16" id="16"/>
          <p:cNvSpPr txBox="true"/>
          <p:nvPr/>
        </p:nvSpPr>
        <p:spPr>
          <a:xfrm rot="0">
            <a:off x="1632204" y="7790688"/>
            <a:ext cx="5554980" cy="822960"/>
          </a:xfrm>
          <a:prstGeom prst="rect">
            <a:avLst/>
          </a:prstGeom>
        </p:spPr>
        <p:txBody>
          <a:bodyPr anchor="t" rtlCol="false" tIns="0" lIns="0" bIns="0" rIns="0">
            <a:spAutoFit/>
          </a:bodyPr>
          <a:lstStyle/>
          <a:p>
            <a:pPr algn="l">
              <a:lnSpc>
                <a:spcPts val="1800"/>
              </a:lnSpc>
            </a:pPr>
            <a:r>
              <a:rPr lang="en-US" sz="1500">
                <a:solidFill>
                  <a:srgbClr val="FFFFFF"/>
                </a:solidFill>
                <a:latin typeface="IBM Plex Sans"/>
                <a:ea typeface="IBM Plex Sans"/>
                <a:cs typeface="IBM Plex Sans"/>
                <a:sym typeface="IBM Plex Sans"/>
              </a:rPr>
              <a:t>Antibiotics given to cattle, goats and poultry reach milk, meat, manure and well water, and resistant bacteria move from animals to people.</a:t>
            </a:r>
          </a:p>
        </p:txBody>
      </p:sp>
      <p:sp>
        <p:nvSpPr>
          <p:cNvPr name="TextBox 17" id="17"/>
          <p:cNvSpPr txBox="true"/>
          <p:nvPr/>
        </p:nvSpPr>
        <p:spPr>
          <a:xfrm rot="0">
            <a:off x="1220724" y="8778240"/>
            <a:ext cx="6309360" cy="342900"/>
          </a:xfrm>
          <a:prstGeom prst="rect">
            <a:avLst/>
          </a:prstGeom>
        </p:spPr>
        <p:txBody>
          <a:bodyPr anchor="t" rtlCol="false" tIns="0" lIns="0" bIns="0" rIns="0">
            <a:spAutoFit/>
          </a:bodyPr>
          <a:lstStyle/>
          <a:p>
            <a:pPr algn="l">
              <a:lnSpc>
                <a:spcPts val="1530"/>
              </a:lnSpc>
            </a:pPr>
            <a:r>
              <a:rPr lang="en-US" sz="1275" i="true">
                <a:solidFill>
                  <a:srgbClr val="5B6770"/>
                </a:solidFill>
                <a:latin typeface="IBM Plex Sans Italics"/>
                <a:ea typeface="IBM Plex Sans Italics"/>
                <a:cs typeface="IBM Plex Sans Italics"/>
                <a:sym typeface="IBM Plex Sans Italics"/>
              </a:rPr>
              <a:t>Photo: ruminants.ceva.pro [1]</a:t>
            </a:r>
          </a:p>
        </p:txBody>
      </p:sp>
      <p:sp>
        <p:nvSpPr>
          <p:cNvPr name="Freeform 18" id="18"/>
          <p:cNvSpPr/>
          <p:nvPr/>
        </p:nvSpPr>
        <p:spPr>
          <a:xfrm flipH="false" flipV="false" rot="0">
            <a:off x="8011354" y="2799274"/>
            <a:ext cx="9077563" cy="1670923"/>
          </a:xfrm>
          <a:custGeom>
            <a:avLst/>
            <a:gdLst/>
            <a:ahLst/>
            <a:cxnLst/>
            <a:rect r="r" b="b" t="t" l="l"/>
            <a:pathLst>
              <a:path h="1670923" w="9077563">
                <a:moveTo>
                  <a:pt x="0" y="0"/>
                </a:moveTo>
                <a:lnTo>
                  <a:pt x="9077563" y="0"/>
                </a:lnTo>
                <a:lnTo>
                  <a:pt x="9077563" y="1670923"/>
                </a:lnTo>
                <a:lnTo>
                  <a:pt x="0" y="167092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8503920" y="3094482"/>
            <a:ext cx="8229600" cy="499110"/>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No growth promoters</a:t>
            </a:r>
          </a:p>
        </p:txBody>
      </p:sp>
      <p:sp>
        <p:nvSpPr>
          <p:cNvPr name="TextBox 20" id="20"/>
          <p:cNvSpPr txBox="true"/>
          <p:nvPr/>
        </p:nvSpPr>
        <p:spPr>
          <a:xfrm rot="0">
            <a:off x="8503920" y="3634740"/>
            <a:ext cx="8229600" cy="68580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Avoid using human antibiotics to boost livestock weight or as routine prevention.</a:t>
            </a:r>
          </a:p>
        </p:txBody>
      </p:sp>
      <p:sp>
        <p:nvSpPr>
          <p:cNvPr name="Freeform 21" id="21"/>
          <p:cNvSpPr/>
          <p:nvPr/>
        </p:nvSpPr>
        <p:spPr>
          <a:xfrm flipH="false" flipV="false" rot="0">
            <a:off x="8011354" y="4788094"/>
            <a:ext cx="9077563" cy="1670923"/>
          </a:xfrm>
          <a:custGeom>
            <a:avLst/>
            <a:gdLst/>
            <a:ahLst/>
            <a:cxnLst/>
            <a:rect r="r" b="b" t="t" l="l"/>
            <a:pathLst>
              <a:path h="1670923" w="9077563">
                <a:moveTo>
                  <a:pt x="0" y="0"/>
                </a:moveTo>
                <a:lnTo>
                  <a:pt x="9077563" y="0"/>
                </a:lnTo>
                <a:lnTo>
                  <a:pt x="9077563" y="1670923"/>
                </a:lnTo>
                <a:lnTo>
                  <a:pt x="0" y="167092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22" id="22"/>
          <p:cNvSpPr txBox="true"/>
          <p:nvPr/>
        </p:nvSpPr>
        <p:spPr>
          <a:xfrm rot="0">
            <a:off x="8503920" y="5083302"/>
            <a:ext cx="8229600" cy="499110"/>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Water source safety</a:t>
            </a:r>
          </a:p>
        </p:txBody>
      </p:sp>
      <p:sp>
        <p:nvSpPr>
          <p:cNvPr name="TextBox 23" id="23"/>
          <p:cNvSpPr txBox="true"/>
          <p:nvPr/>
        </p:nvSpPr>
        <p:spPr>
          <a:xfrm rot="0">
            <a:off x="8503920" y="5623560"/>
            <a:ext cx="8229600" cy="68580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Prevent agricultural pharmaceutical runoff and manure from reaching village drinking wells.</a:t>
            </a:r>
          </a:p>
        </p:txBody>
      </p:sp>
      <p:sp>
        <p:nvSpPr>
          <p:cNvPr name="Freeform 24" id="24"/>
          <p:cNvSpPr/>
          <p:nvPr/>
        </p:nvSpPr>
        <p:spPr>
          <a:xfrm flipH="false" flipV="false" rot="0">
            <a:off x="8011354" y="6776914"/>
            <a:ext cx="9077563" cy="1670923"/>
          </a:xfrm>
          <a:custGeom>
            <a:avLst/>
            <a:gdLst/>
            <a:ahLst/>
            <a:cxnLst/>
            <a:rect r="r" b="b" t="t" l="l"/>
            <a:pathLst>
              <a:path h="1670923" w="9077563">
                <a:moveTo>
                  <a:pt x="0" y="0"/>
                </a:moveTo>
                <a:lnTo>
                  <a:pt x="9077563" y="0"/>
                </a:lnTo>
                <a:lnTo>
                  <a:pt x="9077563" y="1670923"/>
                </a:lnTo>
                <a:lnTo>
                  <a:pt x="0" y="167092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25" id="25"/>
          <p:cNvSpPr txBox="true"/>
          <p:nvPr/>
        </p:nvSpPr>
        <p:spPr>
          <a:xfrm rot="0">
            <a:off x="8503920" y="7072122"/>
            <a:ext cx="8229600" cy="499110"/>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Veterinary supervision</a:t>
            </a:r>
          </a:p>
        </p:txBody>
      </p:sp>
      <p:sp>
        <p:nvSpPr>
          <p:cNvPr name="TextBox 26" id="26"/>
          <p:cNvSpPr txBox="true"/>
          <p:nvPr/>
        </p:nvSpPr>
        <p:spPr>
          <a:xfrm rot="0">
            <a:off x="8503920" y="7612380"/>
            <a:ext cx="8229600" cy="68580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Treat sick farm animals only under trained veterinary guidance, with animal-specific medicines.</a:t>
            </a:r>
          </a:p>
        </p:txBody>
      </p:sp>
      <p:grpSp>
        <p:nvGrpSpPr>
          <p:cNvPr name="Group 27" id="27"/>
          <p:cNvGrpSpPr/>
          <p:nvPr/>
        </p:nvGrpSpPr>
        <p:grpSpPr>
          <a:xfrm rot="0">
            <a:off x="1220724" y="9354312"/>
            <a:ext cx="11658600" cy="356616"/>
            <a:chOff x="0" y="0"/>
            <a:chExt cx="15544800" cy="475488"/>
          </a:xfrm>
        </p:grpSpPr>
        <p:sp>
          <p:nvSpPr>
            <p:cNvPr name="Freeform 28" id="28"/>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29" id="29"/>
          <p:cNvGrpSpPr/>
          <p:nvPr/>
        </p:nvGrpSpPr>
        <p:grpSpPr>
          <a:xfrm rot="0">
            <a:off x="1220724" y="9354312"/>
            <a:ext cx="11658600" cy="356616"/>
            <a:chOff x="0" y="0"/>
            <a:chExt cx="15544800" cy="475488"/>
          </a:xfrm>
        </p:grpSpPr>
        <p:sp>
          <p:nvSpPr>
            <p:cNvPr name="Freeform 30" id="30"/>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1" id="31"/>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32" id="32"/>
          <p:cNvGrpSpPr/>
          <p:nvPr/>
        </p:nvGrpSpPr>
        <p:grpSpPr>
          <a:xfrm rot="0">
            <a:off x="15695219" y="9354312"/>
            <a:ext cx="1371600" cy="356616"/>
            <a:chOff x="0" y="0"/>
            <a:chExt cx="1828800" cy="475488"/>
          </a:xfrm>
        </p:grpSpPr>
        <p:sp>
          <p:nvSpPr>
            <p:cNvPr name="Freeform 33" id="33"/>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4" id="34"/>
          <p:cNvGrpSpPr/>
          <p:nvPr/>
        </p:nvGrpSpPr>
        <p:grpSpPr>
          <a:xfrm rot="0">
            <a:off x="15695219" y="9354312"/>
            <a:ext cx="1371600" cy="356616"/>
            <a:chOff x="0" y="0"/>
            <a:chExt cx="1828800" cy="475488"/>
          </a:xfrm>
        </p:grpSpPr>
        <p:sp>
          <p:nvSpPr>
            <p:cNvPr name="Freeform 35" id="35"/>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6" id="36"/>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13</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11 · COMMUNITY SURVEY</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Surveying 200 people before and after education</a:t>
              </a:r>
            </a:p>
          </p:txBody>
        </p:sp>
      </p:grpSp>
      <p:sp>
        <p:nvSpPr>
          <p:cNvPr name="Freeform 12" id="12"/>
          <p:cNvSpPr/>
          <p:nvPr/>
        </p:nvSpPr>
        <p:spPr>
          <a:xfrm flipH="false" flipV="false" rot="0">
            <a:off x="1208218" y="2799274"/>
            <a:ext cx="2973943" cy="3591163"/>
          </a:xfrm>
          <a:custGeom>
            <a:avLst/>
            <a:gdLst/>
            <a:ahLst/>
            <a:cxnLst/>
            <a:rect r="r" b="b" t="t" l="l"/>
            <a:pathLst>
              <a:path h="3591163" w="2973943">
                <a:moveTo>
                  <a:pt x="0" y="0"/>
                </a:moveTo>
                <a:lnTo>
                  <a:pt x="2973943" y="0"/>
                </a:lnTo>
                <a:lnTo>
                  <a:pt x="297394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3" id="13"/>
          <p:cNvSpPr/>
          <p:nvPr/>
        </p:nvSpPr>
        <p:spPr>
          <a:xfrm flipH="false" flipV="false" rot="0">
            <a:off x="1478375" y="3069431"/>
            <a:ext cx="609409" cy="609410"/>
          </a:xfrm>
          <a:custGeom>
            <a:avLst/>
            <a:gdLst/>
            <a:ahLst/>
            <a:cxnLst/>
            <a:rect r="r" b="b" t="t" l="l"/>
            <a:pathLst>
              <a:path h="609410" w="609409">
                <a:moveTo>
                  <a:pt x="0" y="0"/>
                </a:moveTo>
                <a:lnTo>
                  <a:pt x="609410" y="0"/>
                </a:lnTo>
                <a:lnTo>
                  <a:pt x="609410" y="609410"/>
                </a:lnTo>
                <a:lnTo>
                  <a:pt x="0" y="60941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4" id="14"/>
          <p:cNvGrpSpPr/>
          <p:nvPr/>
        </p:nvGrpSpPr>
        <p:grpSpPr>
          <a:xfrm rot="0">
            <a:off x="1495044" y="3086100"/>
            <a:ext cx="576072" cy="576072"/>
            <a:chOff x="0" y="0"/>
            <a:chExt cx="768096" cy="768096"/>
          </a:xfrm>
        </p:grpSpPr>
        <p:sp>
          <p:nvSpPr>
            <p:cNvPr name="Freeform 15" id="15"/>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92" t="0" r="-78392" b="0"/>
              </a:stretch>
            </a:blipFill>
          </p:spPr>
        </p:sp>
      </p:grpSp>
      <p:grpSp>
        <p:nvGrpSpPr>
          <p:cNvPr name="Group 16" id="16"/>
          <p:cNvGrpSpPr/>
          <p:nvPr/>
        </p:nvGrpSpPr>
        <p:grpSpPr>
          <a:xfrm rot="0">
            <a:off x="1495044" y="3086100"/>
            <a:ext cx="576072" cy="576072"/>
            <a:chOff x="0" y="0"/>
            <a:chExt cx="768096" cy="768096"/>
          </a:xfrm>
        </p:grpSpPr>
        <p:sp>
          <p:nvSpPr>
            <p:cNvPr name="Freeform 17" id="17"/>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03" t="0" r="-78303" b="0"/>
              </a:stretch>
            </a:blipFill>
          </p:spPr>
        </p:sp>
        <p:sp>
          <p:nvSpPr>
            <p:cNvPr name="TextBox 18" id="18"/>
            <p:cNvSpPr txBox="true"/>
            <p:nvPr/>
          </p:nvSpPr>
          <p:spPr>
            <a:xfrm>
              <a:off x="0" y="0"/>
              <a:ext cx="768096" cy="768096"/>
            </a:xfrm>
            <a:prstGeom prst="rect">
              <a:avLst/>
            </a:prstGeom>
          </p:spPr>
          <p:txBody>
            <a:bodyPr anchor="ctr" rtlCol="false" tIns="0" lIns="0" bIns="0" rIns="0"/>
            <a:lstStyle/>
            <a:p>
              <a:pPr algn="ctr">
                <a:lnSpc>
                  <a:spcPts val="2160"/>
                </a:lnSpc>
              </a:pPr>
              <a:r>
                <a:rPr lang="en-US" sz="1800" b="true">
                  <a:solidFill>
                    <a:srgbClr val="FFFFFF"/>
                  </a:solidFill>
                  <a:latin typeface="IBM Plex Sans Bold"/>
                  <a:ea typeface="IBM Plex Sans Bold"/>
                  <a:cs typeface="IBM Plex Sans Bold"/>
                  <a:sym typeface="IBM Plex Sans Bold"/>
                </a:rPr>
                <a:t>1</a:t>
              </a:r>
            </a:p>
          </p:txBody>
        </p:sp>
      </p:grpSp>
      <p:sp>
        <p:nvSpPr>
          <p:cNvPr name="TextBox 19" id="19"/>
          <p:cNvSpPr txBox="true"/>
          <p:nvPr/>
        </p:nvSpPr>
        <p:spPr>
          <a:xfrm rot="0">
            <a:off x="1495044" y="3813048"/>
            <a:ext cx="2468880" cy="822960"/>
          </a:xfrm>
          <a:prstGeom prst="rect">
            <a:avLst/>
          </a:prstGeom>
        </p:spPr>
        <p:txBody>
          <a:bodyPr anchor="t" rtlCol="false" tIns="0" lIns="0" bIns="0" rIns="0">
            <a:spAutoFit/>
          </a:bodyPr>
          <a:lstStyle/>
          <a:p>
            <a:pPr algn="l">
              <a:lnSpc>
                <a:spcPts val="2340"/>
              </a:lnSpc>
            </a:pPr>
            <a:r>
              <a:rPr lang="en-US" sz="1950" b="true">
                <a:solidFill>
                  <a:srgbClr val="14304A"/>
                </a:solidFill>
                <a:latin typeface="IBM Plex Sans Bold"/>
                <a:ea typeface="IBM Plex Sans Bold"/>
                <a:cs typeface="IBM Plex Sans Bold"/>
                <a:sym typeface="IBM Plex Sans Bold"/>
              </a:rPr>
              <a:t>Enrolment</a:t>
            </a:r>
          </a:p>
        </p:txBody>
      </p:sp>
      <p:sp>
        <p:nvSpPr>
          <p:cNvPr name="TextBox 20" id="20"/>
          <p:cNvSpPr txBox="true"/>
          <p:nvPr/>
        </p:nvSpPr>
        <p:spPr>
          <a:xfrm rot="0">
            <a:off x="1495044" y="4644390"/>
            <a:ext cx="2468880" cy="1664970"/>
          </a:xfrm>
          <a:prstGeom prst="rect">
            <a:avLst/>
          </a:prstGeom>
        </p:spPr>
        <p:txBody>
          <a:bodyPr anchor="t" rtlCol="false" tIns="0" lIns="0" bIns="0" rIns="0">
            <a:spAutoFit/>
          </a:bodyPr>
          <a:lstStyle/>
          <a:p>
            <a:pPr algn="l">
              <a:lnSpc>
                <a:spcPts val="1709"/>
              </a:lnSpc>
            </a:pPr>
            <a:r>
              <a:rPr lang="en-US" sz="1425">
                <a:solidFill>
                  <a:srgbClr val="3F4B57"/>
                </a:solidFill>
                <a:latin typeface="IBM Plex Sans"/>
                <a:ea typeface="IBM Plex Sans"/>
                <a:cs typeface="IBM Plex Sans"/>
                <a:sym typeface="IBM Plex Sans"/>
              </a:rPr>
              <a:t>200 adults in 5 villages, reached at the pharmacy counter (93), door-to-door (60) and medical camps (47)</a:t>
            </a:r>
          </a:p>
        </p:txBody>
      </p:sp>
      <p:sp>
        <p:nvSpPr>
          <p:cNvPr name="Freeform 21" id="21"/>
          <p:cNvSpPr/>
          <p:nvPr/>
        </p:nvSpPr>
        <p:spPr>
          <a:xfrm flipH="false" flipV="false" rot="0">
            <a:off x="1478375" y="6635591"/>
            <a:ext cx="2433638" cy="609410"/>
          </a:xfrm>
          <a:custGeom>
            <a:avLst/>
            <a:gdLst/>
            <a:ahLst/>
            <a:cxnLst/>
            <a:rect r="r" b="b" t="t" l="l"/>
            <a:pathLst>
              <a:path h="609410" w="2433638">
                <a:moveTo>
                  <a:pt x="0" y="0"/>
                </a:moveTo>
                <a:lnTo>
                  <a:pt x="2433638" y="0"/>
                </a:lnTo>
                <a:lnTo>
                  <a:pt x="2433638" y="609410"/>
                </a:lnTo>
                <a:lnTo>
                  <a:pt x="0" y="60941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22" id="22"/>
          <p:cNvGrpSpPr/>
          <p:nvPr/>
        </p:nvGrpSpPr>
        <p:grpSpPr>
          <a:xfrm rot="0">
            <a:off x="1495044" y="6652260"/>
            <a:ext cx="2400300" cy="576072"/>
            <a:chOff x="0" y="0"/>
            <a:chExt cx="3200400" cy="768096"/>
          </a:xfrm>
        </p:grpSpPr>
        <p:sp>
          <p:nvSpPr>
            <p:cNvPr name="Freeform 23" id="23"/>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3">
                <a:alphaModFix amt="0"/>
              </a:blip>
              <a:stretch>
                <a:fillRect l="0" t="-31130" r="0" b="-31130"/>
              </a:stretch>
            </a:blipFill>
          </p:spPr>
        </p:sp>
      </p:grpSp>
      <p:grpSp>
        <p:nvGrpSpPr>
          <p:cNvPr name="Group 24" id="24"/>
          <p:cNvGrpSpPr/>
          <p:nvPr/>
        </p:nvGrpSpPr>
        <p:grpSpPr>
          <a:xfrm rot="0">
            <a:off x="1495044" y="6652260"/>
            <a:ext cx="2400300" cy="576072"/>
            <a:chOff x="0" y="0"/>
            <a:chExt cx="3200400" cy="768096"/>
          </a:xfrm>
        </p:grpSpPr>
        <p:sp>
          <p:nvSpPr>
            <p:cNvPr name="Freeform 25" id="25"/>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4">
                <a:alphaModFix amt="0"/>
              </a:blip>
              <a:stretch>
                <a:fillRect l="0" t="-31187" r="0" b="-31187"/>
              </a:stretch>
            </a:blipFill>
          </p:spPr>
        </p:sp>
        <p:sp>
          <p:nvSpPr>
            <p:cNvPr name="TextBox 26" id="26"/>
            <p:cNvSpPr txBox="true"/>
            <p:nvPr/>
          </p:nvSpPr>
          <p:spPr>
            <a:xfrm>
              <a:off x="0" y="0"/>
              <a:ext cx="3200400" cy="768096"/>
            </a:xfrm>
            <a:prstGeom prst="rect">
              <a:avLst/>
            </a:prstGeom>
          </p:spPr>
          <p:txBody>
            <a:bodyPr anchor="ctr" rtlCol="false" tIns="0" lIns="0" bIns="0" rIns="0"/>
            <a:lstStyle/>
            <a:p>
              <a:pPr algn="ctr">
                <a:lnSpc>
                  <a:spcPts val="1980"/>
                </a:lnSpc>
              </a:pPr>
              <a:r>
                <a:rPr lang="en-US" sz="1650" b="true">
                  <a:solidFill>
                    <a:srgbClr val="FFFFFF"/>
                  </a:solidFill>
                  <a:latin typeface="IBM Plex Sans Bold"/>
                  <a:ea typeface="IBM Plex Sans Bold"/>
                  <a:cs typeface="IBM Plex Sans Bold"/>
                  <a:sym typeface="IBM Plex Sans Bold"/>
                </a:rPr>
                <a:t>200 people</a:t>
              </a:r>
            </a:p>
          </p:txBody>
        </p:sp>
      </p:grpSp>
      <p:sp>
        <p:nvSpPr>
          <p:cNvPr name="Freeform 27" id="27"/>
          <p:cNvSpPr/>
          <p:nvPr/>
        </p:nvSpPr>
        <p:spPr>
          <a:xfrm flipH="false" flipV="false" rot="0">
            <a:off x="4180427" y="4372451"/>
            <a:ext cx="252793" cy="444817"/>
          </a:xfrm>
          <a:custGeom>
            <a:avLst/>
            <a:gdLst/>
            <a:ahLst/>
            <a:cxnLst/>
            <a:rect r="r" b="b" t="t" l="l"/>
            <a:pathLst>
              <a:path h="444817" w="252793">
                <a:moveTo>
                  <a:pt x="0" y="0"/>
                </a:moveTo>
                <a:lnTo>
                  <a:pt x="252794" y="0"/>
                </a:lnTo>
                <a:lnTo>
                  <a:pt x="252794" y="444818"/>
                </a:lnTo>
                <a:lnTo>
                  <a:pt x="0" y="44481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28" id="28"/>
          <p:cNvSpPr/>
          <p:nvPr/>
        </p:nvSpPr>
        <p:spPr>
          <a:xfrm flipH="false" flipV="false" rot="0">
            <a:off x="4431478" y="2799274"/>
            <a:ext cx="2973943" cy="3591163"/>
          </a:xfrm>
          <a:custGeom>
            <a:avLst/>
            <a:gdLst/>
            <a:ahLst/>
            <a:cxnLst/>
            <a:rect r="r" b="b" t="t" l="l"/>
            <a:pathLst>
              <a:path h="3591163" w="2973943">
                <a:moveTo>
                  <a:pt x="0" y="0"/>
                </a:moveTo>
                <a:lnTo>
                  <a:pt x="2973943" y="0"/>
                </a:lnTo>
                <a:lnTo>
                  <a:pt x="297394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9" id="29"/>
          <p:cNvSpPr/>
          <p:nvPr/>
        </p:nvSpPr>
        <p:spPr>
          <a:xfrm flipH="false" flipV="false" rot="0">
            <a:off x="4701635" y="3069431"/>
            <a:ext cx="609410" cy="609410"/>
          </a:xfrm>
          <a:custGeom>
            <a:avLst/>
            <a:gdLst/>
            <a:ahLst/>
            <a:cxnLst/>
            <a:rect r="r" b="b" t="t" l="l"/>
            <a:pathLst>
              <a:path h="609410" w="609410">
                <a:moveTo>
                  <a:pt x="0" y="0"/>
                </a:moveTo>
                <a:lnTo>
                  <a:pt x="609410" y="0"/>
                </a:lnTo>
                <a:lnTo>
                  <a:pt x="609410" y="609410"/>
                </a:lnTo>
                <a:lnTo>
                  <a:pt x="0" y="60941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30" id="30"/>
          <p:cNvGrpSpPr/>
          <p:nvPr/>
        </p:nvGrpSpPr>
        <p:grpSpPr>
          <a:xfrm rot="0">
            <a:off x="4718304" y="3086100"/>
            <a:ext cx="576072" cy="576072"/>
            <a:chOff x="0" y="0"/>
            <a:chExt cx="768096" cy="768096"/>
          </a:xfrm>
        </p:grpSpPr>
        <p:sp>
          <p:nvSpPr>
            <p:cNvPr name="Freeform 31" id="31"/>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92" t="0" r="-78392" b="0"/>
              </a:stretch>
            </a:blipFill>
          </p:spPr>
        </p:sp>
      </p:grpSp>
      <p:grpSp>
        <p:nvGrpSpPr>
          <p:cNvPr name="Group 32" id="32"/>
          <p:cNvGrpSpPr/>
          <p:nvPr/>
        </p:nvGrpSpPr>
        <p:grpSpPr>
          <a:xfrm rot="0">
            <a:off x="4718304" y="3086100"/>
            <a:ext cx="576072" cy="576072"/>
            <a:chOff x="0" y="0"/>
            <a:chExt cx="768096" cy="768096"/>
          </a:xfrm>
        </p:grpSpPr>
        <p:sp>
          <p:nvSpPr>
            <p:cNvPr name="Freeform 33" id="33"/>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03" t="0" r="-78303" b="0"/>
              </a:stretch>
            </a:blipFill>
          </p:spPr>
        </p:sp>
        <p:sp>
          <p:nvSpPr>
            <p:cNvPr name="TextBox 34" id="34"/>
            <p:cNvSpPr txBox="true"/>
            <p:nvPr/>
          </p:nvSpPr>
          <p:spPr>
            <a:xfrm>
              <a:off x="0" y="0"/>
              <a:ext cx="768096" cy="768096"/>
            </a:xfrm>
            <a:prstGeom prst="rect">
              <a:avLst/>
            </a:prstGeom>
          </p:spPr>
          <p:txBody>
            <a:bodyPr anchor="ctr" rtlCol="false" tIns="0" lIns="0" bIns="0" rIns="0"/>
            <a:lstStyle/>
            <a:p>
              <a:pPr algn="ctr">
                <a:lnSpc>
                  <a:spcPts val="2160"/>
                </a:lnSpc>
              </a:pPr>
              <a:r>
                <a:rPr lang="en-US" sz="1800" b="true">
                  <a:solidFill>
                    <a:srgbClr val="FFFFFF"/>
                  </a:solidFill>
                  <a:latin typeface="IBM Plex Sans Bold"/>
                  <a:ea typeface="IBM Plex Sans Bold"/>
                  <a:cs typeface="IBM Plex Sans Bold"/>
                  <a:sym typeface="IBM Plex Sans Bold"/>
                </a:rPr>
                <a:t>2</a:t>
              </a:r>
            </a:p>
          </p:txBody>
        </p:sp>
      </p:grpSp>
      <p:sp>
        <p:nvSpPr>
          <p:cNvPr name="TextBox 35" id="35"/>
          <p:cNvSpPr txBox="true"/>
          <p:nvPr/>
        </p:nvSpPr>
        <p:spPr>
          <a:xfrm rot="0">
            <a:off x="4718304" y="3813048"/>
            <a:ext cx="2468880" cy="822960"/>
          </a:xfrm>
          <a:prstGeom prst="rect">
            <a:avLst/>
          </a:prstGeom>
        </p:spPr>
        <p:txBody>
          <a:bodyPr anchor="t" rtlCol="false" tIns="0" lIns="0" bIns="0" rIns="0">
            <a:spAutoFit/>
          </a:bodyPr>
          <a:lstStyle/>
          <a:p>
            <a:pPr algn="l">
              <a:lnSpc>
                <a:spcPts val="2340"/>
              </a:lnSpc>
            </a:pPr>
            <a:r>
              <a:rPr lang="en-US" sz="1950" b="true">
                <a:solidFill>
                  <a:srgbClr val="14304A"/>
                </a:solidFill>
                <a:latin typeface="IBM Plex Sans Bold"/>
                <a:ea typeface="IBM Plex Sans Bold"/>
                <a:cs typeface="IBM Plex Sans Bold"/>
                <a:sym typeface="IBM Plex Sans Bold"/>
              </a:rPr>
              <a:t>Baseline survey</a:t>
            </a:r>
          </a:p>
        </p:txBody>
      </p:sp>
      <p:sp>
        <p:nvSpPr>
          <p:cNvPr name="TextBox 36" id="36"/>
          <p:cNvSpPr txBox="true"/>
          <p:nvPr/>
        </p:nvSpPr>
        <p:spPr>
          <a:xfrm rot="0">
            <a:off x="4718304" y="4644390"/>
            <a:ext cx="2468880" cy="1664970"/>
          </a:xfrm>
          <a:prstGeom prst="rect">
            <a:avLst/>
          </a:prstGeom>
        </p:spPr>
        <p:txBody>
          <a:bodyPr anchor="t" rtlCol="false" tIns="0" lIns="0" bIns="0" rIns="0">
            <a:spAutoFit/>
          </a:bodyPr>
          <a:lstStyle/>
          <a:p>
            <a:pPr algn="l">
              <a:lnSpc>
                <a:spcPts val="1709"/>
              </a:lnSpc>
            </a:pPr>
            <a:r>
              <a:rPr lang="en-US" sz="1425">
                <a:solidFill>
                  <a:srgbClr val="3F4B57"/>
                </a:solidFill>
                <a:latin typeface="IBM Plex Sans"/>
                <a:ea typeface="IBM Plex Sans"/>
                <a:cs typeface="IBM Plex Sans"/>
                <a:sym typeface="IBM Plex Sans"/>
              </a:rPr>
              <a:t>8-item knowledge questionnaire plus 5 questions on antibiotic practices in the last 3 months</a:t>
            </a:r>
          </a:p>
        </p:txBody>
      </p:sp>
      <p:sp>
        <p:nvSpPr>
          <p:cNvPr name="Freeform 37" id="37"/>
          <p:cNvSpPr/>
          <p:nvPr/>
        </p:nvSpPr>
        <p:spPr>
          <a:xfrm flipH="false" flipV="false" rot="0">
            <a:off x="4701635" y="6635591"/>
            <a:ext cx="2433638" cy="609410"/>
          </a:xfrm>
          <a:custGeom>
            <a:avLst/>
            <a:gdLst/>
            <a:ahLst/>
            <a:cxnLst/>
            <a:rect r="r" b="b" t="t" l="l"/>
            <a:pathLst>
              <a:path h="609410" w="2433638">
                <a:moveTo>
                  <a:pt x="0" y="0"/>
                </a:moveTo>
                <a:lnTo>
                  <a:pt x="2433638" y="0"/>
                </a:lnTo>
                <a:lnTo>
                  <a:pt x="2433638" y="609410"/>
                </a:lnTo>
                <a:lnTo>
                  <a:pt x="0" y="609410"/>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grpSp>
        <p:nvGrpSpPr>
          <p:cNvPr name="Group 38" id="38"/>
          <p:cNvGrpSpPr/>
          <p:nvPr/>
        </p:nvGrpSpPr>
        <p:grpSpPr>
          <a:xfrm rot="0">
            <a:off x="4718304" y="6652260"/>
            <a:ext cx="2400300" cy="576072"/>
            <a:chOff x="0" y="0"/>
            <a:chExt cx="3200400" cy="768096"/>
          </a:xfrm>
        </p:grpSpPr>
        <p:sp>
          <p:nvSpPr>
            <p:cNvPr name="Freeform 39" id="39"/>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3">
                <a:alphaModFix amt="0"/>
              </a:blip>
              <a:stretch>
                <a:fillRect l="0" t="-31130" r="0" b="-31130"/>
              </a:stretch>
            </a:blipFill>
          </p:spPr>
        </p:sp>
      </p:grpSp>
      <p:grpSp>
        <p:nvGrpSpPr>
          <p:cNvPr name="Group 40" id="40"/>
          <p:cNvGrpSpPr/>
          <p:nvPr/>
        </p:nvGrpSpPr>
        <p:grpSpPr>
          <a:xfrm rot="0">
            <a:off x="4718304" y="6652260"/>
            <a:ext cx="2400300" cy="576072"/>
            <a:chOff x="0" y="0"/>
            <a:chExt cx="3200400" cy="768096"/>
          </a:xfrm>
        </p:grpSpPr>
        <p:sp>
          <p:nvSpPr>
            <p:cNvPr name="Freeform 41" id="41"/>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4">
                <a:alphaModFix amt="0"/>
              </a:blip>
              <a:stretch>
                <a:fillRect l="0" t="-31187" r="0" b="-31187"/>
              </a:stretch>
            </a:blipFill>
          </p:spPr>
        </p:sp>
        <p:sp>
          <p:nvSpPr>
            <p:cNvPr name="TextBox 42" id="42"/>
            <p:cNvSpPr txBox="true"/>
            <p:nvPr/>
          </p:nvSpPr>
          <p:spPr>
            <a:xfrm>
              <a:off x="0" y="0"/>
              <a:ext cx="3200400" cy="768096"/>
            </a:xfrm>
            <a:prstGeom prst="rect">
              <a:avLst/>
            </a:prstGeom>
          </p:spPr>
          <p:txBody>
            <a:bodyPr anchor="ctr" rtlCol="false" tIns="0" lIns="0" bIns="0" rIns="0"/>
            <a:lstStyle/>
            <a:p>
              <a:pPr algn="ctr">
                <a:lnSpc>
                  <a:spcPts val="1980"/>
                </a:lnSpc>
              </a:pPr>
              <a:r>
                <a:rPr lang="en-US" sz="1650" b="true">
                  <a:solidFill>
                    <a:srgbClr val="FFFFFF"/>
                  </a:solidFill>
                  <a:latin typeface="IBM Plex Sans Bold"/>
                  <a:ea typeface="IBM Plex Sans Bold"/>
                  <a:cs typeface="IBM Plex Sans Bold"/>
                  <a:sym typeface="IBM Plex Sans Bold"/>
                </a:rPr>
                <a:t>39% correct</a:t>
              </a:r>
            </a:p>
          </p:txBody>
        </p:sp>
      </p:grpSp>
      <p:sp>
        <p:nvSpPr>
          <p:cNvPr name="Freeform 43" id="43"/>
          <p:cNvSpPr/>
          <p:nvPr/>
        </p:nvSpPr>
        <p:spPr>
          <a:xfrm flipH="false" flipV="false" rot="0">
            <a:off x="7403687" y="4372451"/>
            <a:ext cx="252793" cy="444817"/>
          </a:xfrm>
          <a:custGeom>
            <a:avLst/>
            <a:gdLst/>
            <a:ahLst/>
            <a:cxnLst/>
            <a:rect r="r" b="b" t="t" l="l"/>
            <a:pathLst>
              <a:path h="444817" w="252793">
                <a:moveTo>
                  <a:pt x="0" y="0"/>
                </a:moveTo>
                <a:lnTo>
                  <a:pt x="252794" y="0"/>
                </a:lnTo>
                <a:lnTo>
                  <a:pt x="252794" y="444818"/>
                </a:lnTo>
                <a:lnTo>
                  <a:pt x="0" y="44481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44" id="44"/>
          <p:cNvSpPr/>
          <p:nvPr/>
        </p:nvSpPr>
        <p:spPr>
          <a:xfrm flipH="false" flipV="false" rot="0">
            <a:off x="7654738" y="2799274"/>
            <a:ext cx="2973943" cy="3591163"/>
          </a:xfrm>
          <a:custGeom>
            <a:avLst/>
            <a:gdLst/>
            <a:ahLst/>
            <a:cxnLst/>
            <a:rect r="r" b="b" t="t" l="l"/>
            <a:pathLst>
              <a:path h="3591163" w="2973943">
                <a:moveTo>
                  <a:pt x="0" y="0"/>
                </a:moveTo>
                <a:lnTo>
                  <a:pt x="2973943" y="0"/>
                </a:lnTo>
                <a:lnTo>
                  <a:pt x="297394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45" id="45"/>
          <p:cNvSpPr/>
          <p:nvPr/>
        </p:nvSpPr>
        <p:spPr>
          <a:xfrm flipH="false" flipV="false" rot="0">
            <a:off x="7924895" y="3069431"/>
            <a:ext cx="609410" cy="609410"/>
          </a:xfrm>
          <a:custGeom>
            <a:avLst/>
            <a:gdLst/>
            <a:ahLst/>
            <a:cxnLst/>
            <a:rect r="r" b="b" t="t" l="l"/>
            <a:pathLst>
              <a:path h="609410" w="609410">
                <a:moveTo>
                  <a:pt x="0" y="0"/>
                </a:moveTo>
                <a:lnTo>
                  <a:pt x="609410" y="0"/>
                </a:lnTo>
                <a:lnTo>
                  <a:pt x="609410" y="609410"/>
                </a:lnTo>
                <a:lnTo>
                  <a:pt x="0" y="60941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46" id="46"/>
          <p:cNvGrpSpPr/>
          <p:nvPr/>
        </p:nvGrpSpPr>
        <p:grpSpPr>
          <a:xfrm rot="0">
            <a:off x="7941564" y="3086100"/>
            <a:ext cx="576072" cy="576072"/>
            <a:chOff x="0" y="0"/>
            <a:chExt cx="768096" cy="768096"/>
          </a:xfrm>
        </p:grpSpPr>
        <p:sp>
          <p:nvSpPr>
            <p:cNvPr name="Freeform 47" id="47"/>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92" t="0" r="-78392" b="0"/>
              </a:stretch>
            </a:blipFill>
          </p:spPr>
        </p:sp>
      </p:grpSp>
      <p:grpSp>
        <p:nvGrpSpPr>
          <p:cNvPr name="Group 48" id="48"/>
          <p:cNvGrpSpPr/>
          <p:nvPr/>
        </p:nvGrpSpPr>
        <p:grpSpPr>
          <a:xfrm rot="0">
            <a:off x="7941564" y="3086100"/>
            <a:ext cx="576072" cy="576072"/>
            <a:chOff x="0" y="0"/>
            <a:chExt cx="768096" cy="768096"/>
          </a:xfrm>
        </p:grpSpPr>
        <p:sp>
          <p:nvSpPr>
            <p:cNvPr name="Freeform 49" id="49"/>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03" t="0" r="-78303" b="0"/>
              </a:stretch>
            </a:blipFill>
          </p:spPr>
        </p:sp>
        <p:sp>
          <p:nvSpPr>
            <p:cNvPr name="TextBox 50" id="50"/>
            <p:cNvSpPr txBox="true"/>
            <p:nvPr/>
          </p:nvSpPr>
          <p:spPr>
            <a:xfrm>
              <a:off x="0" y="0"/>
              <a:ext cx="768096" cy="768096"/>
            </a:xfrm>
            <a:prstGeom prst="rect">
              <a:avLst/>
            </a:prstGeom>
          </p:spPr>
          <p:txBody>
            <a:bodyPr anchor="ctr" rtlCol="false" tIns="0" lIns="0" bIns="0" rIns="0"/>
            <a:lstStyle/>
            <a:p>
              <a:pPr algn="ctr">
                <a:lnSpc>
                  <a:spcPts val="2160"/>
                </a:lnSpc>
              </a:pPr>
              <a:r>
                <a:rPr lang="en-US" sz="1800" b="true">
                  <a:solidFill>
                    <a:srgbClr val="FFFFFF"/>
                  </a:solidFill>
                  <a:latin typeface="IBM Plex Sans Bold"/>
                  <a:ea typeface="IBM Plex Sans Bold"/>
                  <a:cs typeface="IBM Plex Sans Bold"/>
                  <a:sym typeface="IBM Plex Sans Bold"/>
                </a:rPr>
                <a:t>3</a:t>
              </a:r>
            </a:p>
          </p:txBody>
        </p:sp>
      </p:grpSp>
      <p:sp>
        <p:nvSpPr>
          <p:cNvPr name="TextBox 51" id="51"/>
          <p:cNvSpPr txBox="true"/>
          <p:nvPr/>
        </p:nvSpPr>
        <p:spPr>
          <a:xfrm rot="0">
            <a:off x="7941564" y="3813048"/>
            <a:ext cx="2468880" cy="822960"/>
          </a:xfrm>
          <a:prstGeom prst="rect">
            <a:avLst/>
          </a:prstGeom>
        </p:spPr>
        <p:txBody>
          <a:bodyPr anchor="t" rtlCol="false" tIns="0" lIns="0" bIns="0" rIns="0">
            <a:spAutoFit/>
          </a:bodyPr>
          <a:lstStyle/>
          <a:p>
            <a:pPr algn="l">
              <a:lnSpc>
                <a:spcPts val="2340"/>
              </a:lnSpc>
            </a:pPr>
            <a:r>
              <a:rPr lang="en-US" sz="1950" b="true">
                <a:solidFill>
                  <a:srgbClr val="14304A"/>
                </a:solidFill>
                <a:latin typeface="IBM Plex Sans Bold"/>
                <a:ea typeface="IBM Plex Sans Bold"/>
                <a:cs typeface="IBM Plex Sans Bold"/>
                <a:sym typeface="IBM Plex Sans Bold"/>
              </a:rPr>
              <a:t>Education contact</a:t>
            </a:r>
          </a:p>
        </p:txBody>
      </p:sp>
      <p:sp>
        <p:nvSpPr>
          <p:cNvPr name="TextBox 52" id="52"/>
          <p:cNvSpPr txBox="true"/>
          <p:nvPr/>
        </p:nvSpPr>
        <p:spPr>
          <a:xfrm rot="0">
            <a:off x="7941564" y="4644390"/>
            <a:ext cx="2468880" cy="1664970"/>
          </a:xfrm>
          <a:prstGeom prst="rect">
            <a:avLst/>
          </a:prstGeom>
        </p:spPr>
        <p:txBody>
          <a:bodyPr anchor="t" rtlCol="false" tIns="0" lIns="0" bIns="0" rIns="0">
            <a:spAutoFit/>
          </a:bodyPr>
          <a:lstStyle/>
          <a:p>
            <a:pPr algn="l">
              <a:lnSpc>
                <a:spcPts val="1709"/>
              </a:lnSpc>
            </a:pPr>
            <a:r>
              <a:rPr lang="en-US" sz="1425">
                <a:solidFill>
                  <a:srgbClr val="3F4B57"/>
                </a:solidFill>
                <a:latin typeface="IBM Plex Sans"/>
                <a:ea typeface="IBM Plex Sans"/>
                <a:cs typeface="IBM Plex Sans"/>
                <a:sym typeface="IBM Plex Sans"/>
              </a:rPr>
              <a:t>Counselling, flyer, poster and camp talk: the four golden rules and the myths</a:t>
            </a:r>
          </a:p>
        </p:txBody>
      </p:sp>
      <p:sp>
        <p:nvSpPr>
          <p:cNvPr name="Freeform 53" id="53"/>
          <p:cNvSpPr/>
          <p:nvPr/>
        </p:nvSpPr>
        <p:spPr>
          <a:xfrm flipH="false" flipV="false" rot="0">
            <a:off x="7924895" y="6635591"/>
            <a:ext cx="2433638" cy="609410"/>
          </a:xfrm>
          <a:custGeom>
            <a:avLst/>
            <a:gdLst/>
            <a:ahLst/>
            <a:cxnLst/>
            <a:rect r="r" b="b" t="t" l="l"/>
            <a:pathLst>
              <a:path h="609410" w="2433638">
                <a:moveTo>
                  <a:pt x="0" y="0"/>
                </a:moveTo>
                <a:lnTo>
                  <a:pt x="2433638" y="0"/>
                </a:lnTo>
                <a:lnTo>
                  <a:pt x="2433638" y="609410"/>
                </a:lnTo>
                <a:lnTo>
                  <a:pt x="0" y="60941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54" id="54"/>
          <p:cNvGrpSpPr/>
          <p:nvPr/>
        </p:nvGrpSpPr>
        <p:grpSpPr>
          <a:xfrm rot="0">
            <a:off x="7941564" y="6652260"/>
            <a:ext cx="2400300" cy="576072"/>
            <a:chOff x="0" y="0"/>
            <a:chExt cx="3200400" cy="768096"/>
          </a:xfrm>
        </p:grpSpPr>
        <p:sp>
          <p:nvSpPr>
            <p:cNvPr name="Freeform 55" id="55"/>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3">
                <a:alphaModFix amt="0"/>
              </a:blip>
              <a:stretch>
                <a:fillRect l="0" t="-31130" r="0" b="-31130"/>
              </a:stretch>
            </a:blipFill>
          </p:spPr>
        </p:sp>
      </p:grpSp>
      <p:grpSp>
        <p:nvGrpSpPr>
          <p:cNvPr name="Group 56" id="56"/>
          <p:cNvGrpSpPr/>
          <p:nvPr/>
        </p:nvGrpSpPr>
        <p:grpSpPr>
          <a:xfrm rot="0">
            <a:off x="7941564" y="6652260"/>
            <a:ext cx="2400300" cy="576072"/>
            <a:chOff x="0" y="0"/>
            <a:chExt cx="3200400" cy="768096"/>
          </a:xfrm>
        </p:grpSpPr>
        <p:sp>
          <p:nvSpPr>
            <p:cNvPr name="Freeform 57" id="57"/>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4">
                <a:alphaModFix amt="0"/>
              </a:blip>
              <a:stretch>
                <a:fillRect l="0" t="-31187" r="0" b="-31187"/>
              </a:stretch>
            </a:blipFill>
          </p:spPr>
        </p:sp>
        <p:sp>
          <p:nvSpPr>
            <p:cNvPr name="TextBox 58" id="58"/>
            <p:cNvSpPr txBox="true"/>
            <p:nvPr/>
          </p:nvSpPr>
          <p:spPr>
            <a:xfrm>
              <a:off x="0" y="0"/>
              <a:ext cx="3200400" cy="768096"/>
            </a:xfrm>
            <a:prstGeom prst="rect">
              <a:avLst/>
            </a:prstGeom>
          </p:spPr>
          <p:txBody>
            <a:bodyPr anchor="ctr" rtlCol="false" tIns="0" lIns="0" bIns="0" rIns="0"/>
            <a:lstStyle/>
            <a:p>
              <a:pPr algn="ctr">
                <a:lnSpc>
                  <a:spcPts val="1980"/>
                </a:lnSpc>
              </a:pPr>
              <a:r>
                <a:rPr lang="en-US" sz="1650" b="true">
                  <a:solidFill>
                    <a:srgbClr val="FFFFFF"/>
                  </a:solidFill>
                  <a:latin typeface="IBM Plex Sans Bold"/>
                  <a:ea typeface="IBM Plex Sans Bold"/>
                  <a:cs typeface="IBM Plex Sans Bold"/>
                  <a:sym typeface="IBM Plex Sans Bold"/>
                </a:rPr>
                <a:t>3 channels</a:t>
              </a:r>
            </a:p>
          </p:txBody>
        </p:sp>
      </p:grpSp>
      <p:sp>
        <p:nvSpPr>
          <p:cNvPr name="Freeform 59" id="59"/>
          <p:cNvSpPr/>
          <p:nvPr/>
        </p:nvSpPr>
        <p:spPr>
          <a:xfrm flipH="false" flipV="false" rot="0">
            <a:off x="10626947" y="4372451"/>
            <a:ext cx="252793" cy="444817"/>
          </a:xfrm>
          <a:custGeom>
            <a:avLst/>
            <a:gdLst/>
            <a:ahLst/>
            <a:cxnLst/>
            <a:rect r="r" b="b" t="t" l="l"/>
            <a:pathLst>
              <a:path h="444817" w="252793">
                <a:moveTo>
                  <a:pt x="0" y="0"/>
                </a:moveTo>
                <a:lnTo>
                  <a:pt x="252794" y="0"/>
                </a:lnTo>
                <a:lnTo>
                  <a:pt x="252794" y="444818"/>
                </a:lnTo>
                <a:lnTo>
                  <a:pt x="0" y="44481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60" id="60"/>
          <p:cNvSpPr/>
          <p:nvPr/>
        </p:nvSpPr>
        <p:spPr>
          <a:xfrm flipH="false" flipV="false" rot="0">
            <a:off x="10877998" y="2799274"/>
            <a:ext cx="2973943" cy="3591163"/>
          </a:xfrm>
          <a:custGeom>
            <a:avLst/>
            <a:gdLst/>
            <a:ahLst/>
            <a:cxnLst/>
            <a:rect r="r" b="b" t="t" l="l"/>
            <a:pathLst>
              <a:path h="3591163" w="2973943">
                <a:moveTo>
                  <a:pt x="0" y="0"/>
                </a:moveTo>
                <a:lnTo>
                  <a:pt x="2973943" y="0"/>
                </a:lnTo>
                <a:lnTo>
                  <a:pt x="297394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1" id="61"/>
          <p:cNvSpPr/>
          <p:nvPr/>
        </p:nvSpPr>
        <p:spPr>
          <a:xfrm flipH="false" flipV="false" rot="0">
            <a:off x="11148155" y="3069431"/>
            <a:ext cx="609410" cy="609410"/>
          </a:xfrm>
          <a:custGeom>
            <a:avLst/>
            <a:gdLst/>
            <a:ahLst/>
            <a:cxnLst/>
            <a:rect r="r" b="b" t="t" l="l"/>
            <a:pathLst>
              <a:path h="609410" w="609410">
                <a:moveTo>
                  <a:pt x="0" y="0"/>
                </a:moveTo>
                <a:lnTo>
                  <a:pt x="609410" y="0"/>
                </a:lnTo>
                <a:lnTo>
                  <a:pt x="609410" y="609410"/>
                </a:lnTo>
                <a:lnTo>
                  <a:pt x="0" y="60941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62" id="62"/>
          <p:cNvGrpSpPr/>
          <p:nvPr/>
        </p:nvGrpSpPr>
        <p:grpSpPr>
          <a:xfrm rot="0">
            <a:off x="11164824" y="3086100"/>
            <a:ext cx="576072" cy="576072"/>
            <a:chOff x="0" y="0"/>
            <a:chExt cx="768096" cy="768096"/>
          </a:xfrm>
        </p:grpSpPr>
        <p:sp>
          <p:nvSpPr>
            <p:cNvPr name="Freeform 63" id="63"/>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92" t="0" r="-78392" b="0"/>
              </a:stretch>
            </a:blipFill>
          </p:spPr>
        </p:sp>
      </p:grpSp>
      <p:grpSp>
        <p:nvGrpSpPr>
          <p:cNvPr name="Group 64" id="64"/>
          <p:cNvGrpSpPr/>
          <p:nvPr/>
        </p:nvGrpSpPr>
        <p:grpSpPr>
          <a:xfrm rot="0">
            <a:off x="11164824" y="3086100"/>
            <a:ext cx="576072" cy="576072"/>
            <a:chOff x="0" y="0"/>
            <a:chExt cx="768096" cy="768096"/>
          </a:xfrm>
        </p:grpSpPr>
        <p:sp>
          <p:nvSpPr>
            <p:cNvPr name="Freeform 65" id="65"/>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03" t="0" r="-78303" b="0"/>
              </a:stretch>
            </a:blipFill>
          </p:spPr>
        </p:sp>
        <p:sp>
          <p:nvSpPr>
            <p:cNvPr name="TextBox 66" id="66"/>
            <p:cNvSpPr txBox="true"/>
            <p:nvPr/>
          </p:nvSpPr>
          <p:spPr>
            <a:xfrm>
              <a:off x="0" y="0"/>
              <a:ext cx="768096" cy="768096"/>
            </a:xfrm>
            <a:prstGeom prst="rect">
              <a:avLst/>
            </a:prstGeom>
          </p:spPr>
          <p:txBody>
            <a:bodyPr anchor="ctr" rtlCol="false" tIns="0" lIns="0" bIns="0" rIns="0"/>
            <a:lstStyle/>
            <a:p>
              <a:pPr algn="ctr">
                <a:lnSpc>
                  <a:spcPts val="2160"/>
                </a:lnSpc>
              </a:pPr>
              <a:r>
                <a:rPr lang="en-US" sz="1800" b="true">
                  <a:solidFill>
                    <a:srgbClr val="FFFFFF"/>
                  </a:solidFill>
                  <a:latin typeface="IBM Plex Sans Bold"/>
                  <a:ea typeface="IBM Plex Sans Bold"/>
                  <a:cs typeface="IBM Plex Sans Bold"/>
                  <a:sym typeface="IBM Plex Sans Bold"/>
                </a:rPr>
                <a:t>4</a:t>
              </a:r>
            </a:p>
          </p:txBody>
        </p:sp>
      </p:grpSp>
      <p:sp>
        <p:nvSpPr>
          <p:cNvPr name="TextBox 67" id="67"/>
          <p:cNvSpPr txBox="true"/>
          <p:nvPr/>
        </p:nvSpPr>
        <p:spPr>
          <a:xfrm rot="0">
            <a:off x="11164824" y="3813048"/>
            <a:ext cx="2468880" cy="822960"/>
          </a:xfrm>
          <a:prstGeom prst="rect">
            <a:avLst/>
          </a:prstGeom>
        </p:spPr>
        <p:txBody>
          <a:bodyPr anchor="t" rtlCol="false" tIns="0" lIns="0" bIns="0" rIns="0">
            <a:spAutoFit/>
          </a:bodyPr>
          <a:lstStyle/>
          <a:p>
            <a:pPr algn="l">
              <a:lnSpc>
                <a:spcPts val="2340"/>
              </a:lnSpc>
            </a:pPr>
            <a:r>
              <a:rPr lang="en-US" sz="1950" b="true">
                <a:solidFill>
                  <a:srgbClr val="14304A"/>
                </a:solidFill>
                <a:latin typeface="IBM Plex Sans Bold"/>
                <a:ea typeface="IBM Plex Sans Bold"/>
                <a:cs typeface="IBM Plex Sans Bold"/>
                <a:sym typeface="IBM Plex Sans Bold"/>
              </a:rPr>
              <a:t>Post-education survey</a:t>
            </a:r>
          </a:p>
        </p:txBody>
      </p:sp>
      <p:sp>
        <p:nvSpPr>
          <p:cNvPr name="TextBox 68" id="68"/>
          <p:cNvSpPr txBox="true"/>
          <p:nvPr/>
        </p:nvSpPr>
        <p:spPr>
          <a:xfrm rot="0">
            <a:off x="11164824" y="4644390"/>
            <a:ext cx="2468880" cy="1664970"/>
          </a:xfrm>
          <a:prstGeom prst="rect">
            <a:avLst/>
          </a:prstGeom>
        </p:spPr>
        <p:txBody>
          <a:bodyPr anchor="t" rtlCol="false" tIns="0" lIns="0" bIns="0" rIns="0">
            <a:spAutoFit/>
          </a:bodyPr>
          <a:lstStyle/>
          <a:p>
            <a:pPr algn="l">
              <a:lnSpc>
                <a:spcPts val="1709"/>
              </a:lnSpc>
            </a:pPr>
            <a:r>
              <a:rPr lang="en-US" sz="1425">
                <a:solidFill>
                  <a:srgbClr val="3F4B57"/>
                </a:solidFill>
                <a:latin typeface="IBM Plex Sans"/>
                <a:ea typeface="IBM Plex Sans"/>
                <a:cs typeface="IBM Plex Sans"/>
                <a:sym typeface="IBM Plex Sans"/>
              </a:rPr>
              <a:t>Same 8 knowledge items repeated immediately after the contact</a:t>
            </a:r>
          </a:p>
        </p:txBody>
      </p:sp>
      <p:sp>
        <p:nvSpPr>
          <p:cNvPr name="Freeform 69" id="69"/>
          <p:cNvSpPr/>
          <p:nvPr/>
        </p:nvSpPr>
        <p:spPr>
          <a:xfrm flipH="false" flipV="false" rot="0">
            <a:off x="11148155" y="6635591"/>
            <a:ext cx="2433638" cy="609410"/>
          </a:xfrm>
          <a:custGeom>
            <a:avLst/>
            <a:gdLst/>
            <a:ahLst/>
            <a:cxnLst/>
            <a:rect r="r" b="b" t="t" l="l"/>
            <a:pathLst>
              <a:path h="609410" w="2433638">
                <a:moveTo>
                  <a:pt x="0" y="0"/>
                </a:moveTo>
                <a:lnTo>
                  <a:pt x="2433638" y="0"/>
                </a:lnTo>
                <a:lnTo>
                  <a:pt x="2433638" y="609410"/>
                </a:lnTo>
                <a:lnTo>
                  <a:pt x="0" y="609410"/>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grpSp>
        <p:nvGrpSpPr>
          <p:cNvPr name="Group 70" id="70"/>
          <p:cNvGrpSpPr/>
          <p:nvPr/>
        </p:nvGrpSpPr>
        <p:grpSpPr>
          <a:xfrm rot="0">
            <a:off x="11164824" y="6652260"/>
            <a:ext cx="2400300" cy="576072"/>
            <a:chOff x="0" y="0"/>
            <a:chExt cx="3200400" cy="768096"/>
          </a:xfrm>
        </p:grpSpPr>
        <p:sp>
          <p:nvSpPr>
            <p:cNvPr name="Freeform 71" id="71"/>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3">
                <a:alphaModFix amt="0"/>
              </a:blip>
              <a:stretch>
                <a:fillRect l="0" t="-31130" r="0" b="-31130"/>
              </a:stretch>
            </a:blipFill>
          </p:spPr>
        </p:sp>
      </p:grpSp>
      <p:grpSp>
        <p:nvGrpSpPr>
          <p:cNvPr name="Group 72" id="72"/>
          <p:cNvGrpSpPr/>
          <p:nvPr/>
        </p:nvGrpSpPr>
        <p:grpSpPr>
          <a:xfrm rot="0">
            <a:off x="11164824" y="6652260"/>
            <a:ext cx="2400300" cy="576072"/>
            <a:chOff x="0" y="0"/>
            <a:chExt cx="3200400" cy="768096"/>
          </a:xfrm>
        </p:grpSpPr>
        <p:sp>
          <p:nvSpPr>
            <p:cNvPr name="Freeform 73" id="73"/>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4">
                <a:alphaModFix amt="0"/>
              </a:blip>
              <a:stretch>
                <a:fillRect l="0" t="-31187" r="0" b="-31187"/>
              </a:stretch>
            </a:blipFill>
          </p:spPr>
        </p:sp>
        <p:sp>
          <p:nvSpPr>
            <p:cNvPr name="TextBox 74" id="74"/>
            <p:cNvSpPr txBox="true"/>
            <p:nvPr/>
          </p:nvSpPr>
          <p:spPr>
            <a:xfrm>
              <a:off x="0" y="0"/>
              <a:ext cx="3200400" cy="768096"/>
            </a:xfrm>
            <a:prstGeom prst="rect">
              <a:avLst/>
            </a:prstGeom>
          </p:spPr>
          <p:txBody>
            <a:bodyPr anchor="ctr" rtlCol="false" tIns="0" lIns="0" bIns="0" rIns="0"/>
            <a:lstStyle/>
            <a:p>
              <a:pPr algn="ctr">
                <a:lnSpc>
                  <a:spcPts val="1980"/>
                </a:lnSpc>
              </a:pPr>
              <a:r>
                <a:rPr lang="en-US" sz="1650" b="true">
                  <a:solidFill>
                    <a:srgbClr val="FFFFFF"/>
                  </a:solidFill>
                  <a:latin typeface="IBM Plex Sans Bold"/>
                  <a:ea typeface="IBM Plex Sans Bold"/>
                  <a:cs typeface="IBM Plex Sans Bold"/>
                  <a:sym typeface="IBM Plex Sans Bold"/>
                </a:rPr>
                <a:t>89% correct</a:t>
              </a:r>
            </a:p>
          </p:txBody>
        </p:sp>
      </p:grpSp>
      <p:sp>
        <p:nvSpPr>
          <p:cNvPr name="Freeform 75" id="75"/>
          <p:cNvSpPr/>
          <p:nvPr/>
        </p:nvSpPr>
        <p:spPr>
          <a:xfrm flipH="false" flipV="false" rot="0">
            <a:off x="13850207" y="4372451"/>
            <a:ext cx="252793" cy="444817"/>
          </a:xfrm>
          <a:custGeom>
            <a:avLst/>
            <a:gdLst/>
            <a:ahLst/>
            <a:cxnLst/>
            <a:rect r="r" b="b" t="t" l="l"/>
            <a:pathLst>
              <a:path h="444817" w="252793">
                <a:moveTo>
                  <a:pt x="0" y="0"/>
                </a:moveTo>
                <a:lnTo>
                  <a:pt x="252794" y="0"/>
                </a:lnTo>
                <a:lnTo>
                  <a:pt x="252794" y="444818"/>
                </a:lnTo>
                <a:lnTo>
                  <a:pt x="0" y="44481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76" id="76"/>
          <p:cNvSpPr/>
          <p:nvPr/>
        </p:nvSpPr>
        <p:spPr>
          <a:xfrm flipH="false" flipV="false" rot="0">
            <a:off x="14101258" y="2799274"/>
            <a:ext cx="2973943" cy="3591163"/>
          </a:xfrm>
          <a:custGeom>
            <a:avLst/>
            <a:gdLst/>
            <a:ahLst/>
            <a:cxnLst/>
            <a:rect r="r" b="b" t="t" l="l"/>
            <a:pathLst>
              <a:path h="3591163" w="2973943">
                <a:moveTo>
                  <a:pt x="0" y="0"/>
                </a:moveTo>
                <a:lnTo>
                  <a:pt x="2973943" y="0"/>
                </a:lnTo>
                <a:lnTo>
                  <a:pt x="2973943" y="3591163"/>
                </a:lnTo>
                <a:lnTo>
                  <a:pt x="0" y="35911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7" id="77"/>
          <p:cNvSpPr/>
          <p:nvPr/>
        </p:nvSpPr>
        <p:spPr>
          <a:xfrm flipH="false" flipV="false" rot="0">
            <a:off x="14371415" y="3069431"/>
            <a:ext cx="609409" cy="609410"/>
          </a:xfrm>
          <a:custGeom>
            <a:avLst/>
            <a:gdLst/>
            <a:ahLst/>
            <a:cxnLst/>
            <a:rect r="r" b="b" t="t" l="l"/>
            <a:pathLst>
              <a:path h="609410" w="609409">
                <a:moveTo>
                  <a:pt x="0" y="0"/>
                </a:moveTo>
                <a:lnTo>
                  <a:pt x="609410" y="0"/>
                </a:lnTo>
                <a:lnTo>
                  <a:pt x="609410" y="609410"/>
                </a:lnTo>
                <a:lnTo>
                  <a:pt x="0" y="60941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78" id="78"/>
          <p:cNvGrpSpPr/>
          <p:nvPr/>
        </p:nvGrpSpPr>
        <p:grpSpPr>
          <a:xfrm rot="0">
            <a:off x="14388084" y="3086100"/>
            <a:ext cx="576072" cy="576072"/>
            <a:chOff x="0" y="0"/>
            <a:chExt cx="768096" cy="768096"/>
          </a:xfrm>
        </p:grpSpPr>
        <p:sp>
          <p:nvSpPr>
            <p:cNvPr name="Freeform 79" id="79"/>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92" t="0" r="-78392" b="0"/>
              </a:stretch>
            </a:blipFill>
          </p:spPr>
        </p:sp>
      </p:grpSp>
      <p:grpSp>
        <p:nvGrpSpPr>
          <p:cNvPr name="Group 80" id="80"/>
          <p:cNvGrpSpPr/>
          <p:nvPr/>
        </p:nvGrpSpPr>
        <p:grpSpPr>
          <a:xfrm rot="0">
            <a:off x="14388084" y="3086100"/>
            <a:ext cx="576072" cy="576072"/>
            <a:chOff x="0" y="0"/>
            <a:chExt cx="768096" cy="768096"/>
          </a:xfrm>
        </p:grpSpPr>
        <p:sp>
          <p:nvSpPr>
            <p:cNvPr name="Freeform 81" id="81"/>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03" t="0" r="-78303" b="0"/>
              </a:stretch>
            </a:blipFill>
          </p:spPr>
        </p:sp>
        <p:sp>
          <p:nvSpPr>
            <p:cNvPr name="TextBox 82" id="82"/>
            <p:cNvSpPr txBox="true"/>
            <p:nvPr/>
          </p:nvSpPr>
          <p:spPr>
            <a:xfrm>
              <a:off x="0" y="0"/>
              <a:ext cx="768096" cy="768096"/>
            </a:xfrm>
            <a:prstGeom prst="rect">
              <a:avLst/>
            </a:prstGeom>
          </p:spPr>
          <p:txBody>
            <a:bodyPr anchor="ctr" rtlCol="false" tIns="0" lIns="0" bIns="0" rIns="0"/>
            <a:lstStyle/>
            <a:p>
              <a:pPr algn="ctr">
                <a:lnSpc>
                  <a:spcPts val="2160"/>
                </a:lnSpc>
              </a:pPr>
              <a:r>
                <a:rPr lang="en-US" sz="1800" b="true">
                  <a:solidFill>
                    <a:srgbClr val="FFFFFF"/>
                  </a:solidFill>
                  <a:latin typeface="IBM Plex Sans Bold"/>
                  <a:ea typeface="IBM Plex Sans Bold"/>
                  <a:cs typeface="IBM Plex Sans Bold"/>
                  <a:sym typeface="IBM Plex Sans Bold"/>
                </a:rPr>
                <a:t>5</a:t>
              </a:r>
            </a:p>
          </p:txBody>
        </p:sp>
      </p:grpSp>
      <p:sp>
        <p:nvSpPr>
          <p:cNvPr name="TextBox 83" id="83"/>
          <p:cNvSpPr txBox="true"/>
          <p:nvPr/>
        </p:nvSpPr>
        <p:spPr>
          <a:xfrm rot="0">
            <a:off x="14388084" y="3813048"/>
            <a:ext cx="2468880" cy="822960"/>
          </a:xfrm>
          <a:prstGeom prst="rect">
            <a:avLst/>
          </a:prstGeom>
        </p:spPr>
        <p:txBody>
          <a:bodyPr anchor="t" rtlCol="false" tIns="0" lIns="0" bIns="0" rIns="0">
            <a:spAutoFit/>
          </a:bodyPr>
          <a:lstStyle/>
          <a:p>
            <a:pPr algn="l">
              <a:lnSpc>
                <a:spcPts val="2340"/>
              </a:lnSpc>
            </a:pPr>
            <a:r>
              <a:rPr lang="en-US" sz="1950" b="true">
                <a:solidFill>
                  <a:srgbClr val="14304A"/>
                </a:solidFill>
                <a:latin typeface="IBM Plex Sans Bold"/>
                <a:ea typeface="IBM Plex Sans Bold"/>
                <a:cs typeface="IBM Plex Sans Bold"/>
                <a:sym typeface="IBM Plex Sans Bold"/>
              </a:rPr>
              <a:t>8-week follow-up</a:t>
            </a:r>
          </a:p>
        </p:txBody>
      </p:sp>
      <p:sp>
        <p:nvSpPr>
          <p:cNvPr name="TextBox 84" id="84"/>
          <p:cNvSpPr txBox="true"/>
          <p:nvPr/>
        </p:nvSpPr>
        <p:spPr>
          <a:xfrm rot="0">
            <a:off x="14388084" y="4644390"/>
            <a:ext cx="2468880" cy="1664970"/>
          </a:xfrm>
          <a:prstGeom prst="rect">
            <a:avLst/>
          </a:prstGeom>
        </p:spPr>
        <p:txBody>
          <a:bodyPr anchor="t" rtlCol="false" tIns="0" lIns="0" bIns="0" rIns="0">
            <a:spAutoFit/>
          </a:bodyPr>
          <a:lstStyle/>
          <a:p>
            <a:pPr algn="l">
              <a:lnSpc>
                <a:spcPts val="1709"/>
              </a:lnSpc>
            </a:pPr>
            <a:r>
              <a:rPr lang="en-US" sz="1425">
                <a:solidFill>
                  <a:srgbClr val="3F4B57"/>
                </a:solidFill>
                <a:latin typeface="IBM Plex Sans"/>
                <a:ea typeface="IBM Plex Sans"/>
                <a:cs typeface="IBM Plex Sans"/>
                <a:sym typeface="IBM Plex Sans"/>
              </a:rPr>
              <a:t>The 5 practice questions repeated to measure behaviour change</a:t>
            </a:r>
          </a:p>
        </p:txBody>
      </p:sp>
      <p:sp>
        <p:nvSpPr>
          <p:cNvPr name="Freeform 85" id="85"/>
          <p:cNvSpPr/>
          <p:nvPr/>
        </p:nvSpPr>
        <p:spPr>
          <a:xfrm flipH="false" flipV="false" rot="0">
            <a:off x="14371415" y="6635591"/>
            <a:ext cx="2433638" cy="609410"/>
          </a:xfrm>
          <a:custGeom>
            <a:avLst/>
            <a:gdLst/>
            <a:ahLst/>
            <a:cxnLst/>
            <a:rect r="r" b="b" t="t" l="l"/>
            <a:pathLst>
              <a:path h="609410" w="2433638">
                <a:moveTo>
                  <a:pt x="0" y="0"/>
                </a:moveTo>
                <a:lnTo>
                  <a:pt x="2433638" y="0"/>
                </a:lnTo>
                <a:lnTo>
                  <a:pt x="2433638" y="609410"/>
                </a:lnTo>
                <a:lnTo>
                  <a:pt x="0" y="60941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86" id="86"/>
          <p:cNvGrpSpPr/>
          <p:nvPr/>
        </p:nvGrpSpPr>
        <p:grpSpPr>
          <a:xfrm rot="0">
            <a:off x="14388084" y="6652260"/>
            <a:ext cx="2400300" cy="576072"/>
            <a:chOff x="0" y="0"/>
            <a:chExt cx="3200400" cy="768096"/>
          </a:xfrm>
        </p:grpSpPr>
        <p:sp>
          <p:nvSpPr>
            <p:cNvPr name="Freeform 87" id="87"/>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3">
                <a:alphaModFix amt="0"/>
              </a:blip>
              <a:stretch>
                <a:fillRect l="0" t="-31130" r="0" b="-31130"/>
              </a:stretch>
            </a:blipFill>
          </p:spPr>
        </p:sp>
      </p:grpSp>
      <p:grpSp>
        <p:nvGrpSpPr>
          <p:cNvPr name="Group 88" id="88"/>
          <p:cNvGrpSpPr/>
          <p:nvPr/>
        </p:nvGrpSpPr>
        <p:grpSpPr>
          <a:xfrm rot="0">
            <a:off x="14388084" y="6652260"/>
            <a:ext cx="2400300" cy="576072"/>
            <a:chOff x="0" y="0"/>
            <a:chExt cx="3200400" cy="768096"/>
          </a:xfrm>
        </p:grpSpPr>
        <p:sp>
          <p:nvSpPr>
            <p:cNvPr name="Freeform 89" id="89"/>
            <p:cNvSpPr/>
            <p:nvPr/>
          </p:nvSpPr>
          <p:spPr>
            <a:xfrm flipH="false" flipV="false" rot="0">
              <a:off x="0" y="0"/>
              <a:ext cx="3200400" cy="768096"/>
            </a:xfrm>
            <a:custGeom>
              <a:avLst/>
              <a:gdLst/>
              <a:ahLst/>
              <a:cxnLst/>
              <a:rect r="r" b="b" t="t" l="l"/>
              <a:pathLst>
                <a:path h="768096" w="3200400">
                  <a:moveTo>
                    <a:pt x="0" y="0"/>
                  </a:moveTo>
                  <a:lnTo>
                    <a:pt x="3200400" y="0"/>
                  </a:lnTo>
                  <a:lnTo>
                    <a:pt x="3200400" y="768096"/>
                  </a:lnTo>
                  <a:lnTo>
                    <a:pt x="0" y="768096"/>
                  </a:lnTo>
                  <a:close/>
                </a:path>
              </a:pathLst>
            </a:custGeom>
            <a:blipFill>
              <a:blip r:embed="rId4">
                <a:alphaModFix amt="0"/>
              </a:blip>
              <a:stretch>
                <a:fillRect l="0" t="-31187" r="0" b="-31187"/>
              </a:stretch>
            </a:blipFill>
          </p:spPr>
        </p:sp>
        <p:sp>
          <p:nvSpPr>
            <p:cNvPr name="TextBox 90" id="90"/>
            <p:cNvSpPr txBox="true"/>
            <p:nvPr/>
          </p:nvSpPr>
          <p:spPr>
            <a:xfrm>
              <a:off x="0" y="0"/>
              <a:ext cx="3200400" cy="768096"/>
            </a:xfrm>
            <a:prstGeom prst="rect">
              <a:avLst/>
            </a:prstGeom>
          </p:spPr>
          <p:txBody>
            <a:bodyPr anchor="ctr" rtlCol="false" tIns="0" lIns="0" bIns="0" rIns="0"/>
            <a:lstStyle/>
            <a:p>
              <a:pPr algn="ctr">
                <a:lnSpc>
                  <a:spcPts val="1980"/>
                </a:lnSpc>
              </a:pPr>
              <a:r>
                <a:rPr lang="en-US" sz="1650" b="true">
                  <a:solidFill>
                    <a:srgbClr val="FFFFFF"/>
                  </a:solidFill>
                  <a:latin typeface="IBM Plex Sans Bold"/>
                  <a:ea typeface="IBM Plex Sans Bold"/>
                  <a:cs typeface="IBM Plex Sans Bold"/>
                  <a:sym typeface="IBM Plex Sans Bold"/>
                </a:rPr>
                <a:t>72% any risk</a:t>
              </a:r>
            </a:p>
          </p:txBody>
        </p:sp>
      </p:grpSp>
      <p:sp>
        <p:nvSpPr>
          <p:cNvPr name="TextBox 91" id="91"/>
          <p:cNvSpPr txBox="true"/>
          <p:nvPr/>
        </p:nvSpPr>
        <p:spPr>
          <a:xfrm rot="0">
            <a:off x="1220724" y="7631430"/>
            <a:ext cx="15846095" cy="1009650"/>
          </a:xfrm>
          <a:prstGeom prst="rect">
            <a:avLst/>
          </a:prstGeom>
        </p:spPr>
        <p:txBody>
          <a:bodyPr anchor="t" rtlCol="false" tIns="0" lIns="0" bIns="0" rIns="0">
            <a:spAutoFit/>
          </a:bodyPr>
          <a:lstStyle/>
          <a:p>
            <a:pPr algn="l">
              <a:lnSpc>
                <a:spcPts val="1889"/>
              </a:lnSpc>
            </a:pPr>
            <a:r>
              <a:rPr lang="en-US" sz="1575" b="true">
                <a:solidFill>
                  <a:srgbClr val="0B6E60"/>
                </a:solidFill>
                <a:latin typeface="IBM Plex Sans Bold"/>
                <a:ea typeface="IBM Plex Sans Bold"/>
                <a:cs typeface="IBM Plex Sans Bold"/>
                <a:sym typeface="IBM Plex Sans Bold"/>
              </a:rPr>
              <a:t>SURVEY DESIGN   </a:t>
            </a:r>
            <a:r>
              <a:rPr lang="en-US" sz="1575">
                <a:solidFill>
                  <a:srgbClr val="3F4B57"/>
                </a:solidFill>
                <a:latin typeface="IBM Plex Sans"/>
                <a:ea typeface="IBM Plex Sans"/>
                <a:cs typeface="IBM Plex Sans"/>
                <a:sym typeface="IBM Plex Sans"/>
              </a:rPr>
              <a:t>Pre/post design · same 8-item questionnaire before and after the education contact · practice questions at baseline and 8-week follow-up · anonymous, reported by village and channel only · full data and formulas: Antibiotic_Stewardship_Community_Survey_Data.xlsx</a:t>
            </a:r>
          </a:p>
        </p:txBody>
      </p:sp>
      <p:grpSp>
        <p:nvGrpSpPr>
          <p:cNvPr name="Group 92" id="92"/>
          <p:cNvGrpSpPr/>
          <p:nvPr/>
        </p:nvGrpSpPr>
        <p:grpSpPr>
          <a:xfrm rot="0">
            <a:off x="1220724" y="9354312"/>
            <a:ext cx="11658600" cy="356616"/>
            <a:chOff x="0" y="0"/>
            <a:chExt cx="15544800" cy="475488"/>
          </a:xfrm>
        </p:grpSpPr>
        <p:sp>
          <p:nvSpPr>
            <p:cNvPr name="Freeform 93" id="93"/>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94" id="94"/>
          <p:cNvGrpSpPr/>
          <p:nvPr/>
        </p:nvGrpSpPr>
        <p:grpSpPr>
          <a:xfrm rot="0">
            <a:off x="1220724" y="9354312"/>
            <a:ext cx="11658600" cy="356616"/>
            <a:chOff x="0" y="0"/>
            <a:chExt cx="15544800" cy="475488"/>
          </a:xfrm>
        </p:grpSpPr>
        <p:sp>
          <p:nvSpPr>
            <p:cNvPr name="Freeform 95" id="95"/>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96" id="96"/>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97" id="97"/>
          <p:cNvGrpSpPr/>
          <p:nvPr/>
        </p:nvGrpSpPr>
        <p:grpSpPr>
          <a:xfrm rot="0">
            <a:off x="15695219" y="9354312"/>
            <a:ext cx="1371600" cy="356616"/>
            <a:chOff x="0" y="0"/>
            <a:chExt cx="1828800" cy="475488"/>
          </a:xfrm>
        </p:grpSpPr>
        <p:sp>
          <p:nvSpPr>
            <p:cNvPr name="Freeform 98" id="98"/>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99" id="99"/>
          <p:cNvGrpSpPr/>
          <p:nvPr/>
        </p:nvGrpSpPr>
        <p:grpSpPr>
          <a:xfrm rot="0">
            <a:off x="15695219" y="9354312"/>
            <a:ext cx="1371600" cy="356616"/>
            <a:chOff x="0" y="0"/>
            <a:chExt cx="1828800" cy="475488"/>
          </a:xfrm>
        </p:grpSpPr>
        <p:sp>
          <p:nvSpPr>
            <p:cNvPr name="Freeform 100" id="100"/>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101" id="101"/>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14</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12 · SURVEY RESULTS: KNOWLEDGE</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Correct answers more than doubled in every topic</a:t>
              </a:r>
            </a:p>
          </p:txBody>
        </p:sp>
      </p:grpSp>
      <p:grpSp>
        <p:nvGrpSpPr>
          <p:cNvPr name="Group 12" id="12"/>
          <p:cNvGrpSpPr/>
          <p:nvPr/>
        </p:nvGrpSpPr>
        <p:grpSpPr>
          <a:xfrm rot="0">
            <a:off x="178308" y="1700784"/>
            <a:ext cx="12508992" cy="7845552"/>
            <a:chOff x="0" y="0"/>
            <a:chExt cx="16678656" cy="10460736"/>
          </a:xfrm>
        </p:grpSpPr>
        <p:sp>
          <p:nvSpPr>
            <p:cNvPr name="Freeform 13" id="13"/>
            <p:cNvSpPr/>
            <p:nvPr/>
          </p:nvSpPr>
          <p:spPr>
            <a:xfrm flipH="false" flipV="false" rot="0">
              <a:off x="0" y="0"/>
              <a:ext cx="16678656" cy="10460736"/>
            </a:xfrm>
            <a:custGeom>
              <a:avLst/>
              <a:gdLst/>
              <a:ahLst/>
              <a:cxnLst/>
              <a:rect r="r" b="b" t="t" l="l"/>
              <a:pathLst>
                <a:path h="10460736" w="16678656">
                  <a:moveTo>
                    <a:pt x="0" y="0"/>
                  </a:moveTo>
                  <a:lnTo>
                    <a:pt x="16678656" y="0"/>
                  </a:lnTo>
                  <a:lnTo>
                    <a:pt x="16678656" y="10460736"/>
                  </a:lnTo>
                  <a:lnTo>
                    <a:pt x="0" y="10460736"/>
                  </a:lnTo>
                  <a:lnTo>
                    <a:pt x="0" y="0"/>
                  </a:lnTo>
                  <a:close/>
                </a:path>
              </a:pathLst>
            </a:custGeom>
            <a:blipFill>
              <a:blip r:embed="rId5"/>
              <a:stretch>
                <a:fillRect l="0" t="-30" r="0" b="-30"/>
              </a:stretch>
            </a:blipFill>
          </p:spPr>
        </p:sp>
      </p:grpSp>
      <p:sp>
        <p:nvSpPr>
          <p:cNvPr name="Freeform 14" id="14"/>
          <p:cNvSpPr/>
          <p:nvPr/>
        </p:nvSpPr>
        <p:spPr>
          <a:xfrm flipH="false" flipV="false" rot="0">
            <a:off x="12126154" y="2730694"/>
            <a:ext cx="4962763" cy="1739503"/>
          </a:xfrm>
          <a:custGeom>
            <a:avLst/>
            <a:gdLst/>
            <a:ahLst/>
            <a:cxnLst/>
            <a:rect r="r" b="b" t="t" l="l"/>
            <a:pathLst>
              <a:path h="1739503" w="4962763">
                <a:moveTo>
                  <a:pt x="0" y="0"/>
                </a:moveTo>
                <a:lnTo>
                  <a:pt x="4962763" y="0"/>
                </a:lnTo>
                <a:lnTo>
                  <a:pt x="4962763" y="1739503"/>
                </a:lnTo>
                <a:lnTo>
                  <a:pt x="0" y="173950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5" id="15"/>
          <p:cNvSpPr txBox="true"/>
          <p:nvPr/>
        </p:nvSpPr>
        <p:spPr>
          <a:xfrm rot="0">
            <a:off x="12481560" y="2999613"/>
            <a:ext cx="425196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3.2 → 7.1</a:t>
            </a:r>
          </a:p>
        </p:txBody>
      </p:sp>
      <p:sp>
        <p:nvSpPr>
          <p:cNvPr name="TextBox 16" id="16"/>
          <p:cNvSpPr txBox="true"/>
          <p:nvPr/>
        </p:nvSpPr>
        <p:spPr>
          <a:xfrm rot="0">
            <a:off x="12481560" y="3722370"/>
            <a:ext cx="4320540" cy="666750"/>
          </a:xfrm>
          <a:prstGeom prst="rect">
            <a:avLst/>
          </a:prstGeom>
        </p:spPr>
        <p:txBody>
          <a:bodyPr anchor="t" rtlCol="false" tIns="0" lIns="0" bIns="0" rIns="0">
            <a:spAutoFit/>
          </a:bodyPr>
          <a:lstStyle/>
          <a:p>
            <a:pPr algn="l">
              <a:lnSpc>
                <a:spcPts val="1889"/>
              </a:lnSpc>
            </a:pPr>
            <a:r>
              <a:rPr lang="en-US" sz="1575">
                <a:solidFill>
                  <a:srgbClr val="3F4B57"/>
                </a:solidFill>
                <a:latin typeface="IBM Plex Sans"/>
                <a:ea typeface="IBM Plex Sans"/>
                <a:cs typeface="IBM Plex Sans"/>
                <a:sym typeface="IBM Plex Sans"/>
              </a:rPr>
              <a:t>mean score out of 8, before → after the education contact</a:t>
            </a:r>
          </a:p>
        </p:txBody>
      </p:sp>
      <p:sp>
        <p:nvSpPr>
          <p:cNvPr name="Freeform 17" id="17"/>
          <p:cNvSpPr/>
          <p:nvPr/>
        </p:nvSpPr>
        <p:spPr>
          <a:xfrm flipH="false" flipV="false" rot="0">
            <a:off x="12126154" y="4678366"/>
            <a:ext cx="4962763" cy="1739503"/>
          </a:xfrm>
          <a:custGeom>
            <a:avLst/>
            <a:gdLst/>
            <a:ahLst/>
            <a:cxnLst/>
            <a:rect r="r" b="b" t="t" l="l"/>
            <a:pathLst>
              <a:path h="1739503" w="4962763">
                <a:moveTo>
                  <a:pt x="0" y="0"/>
                </a:moveTo>
                <a:lnTo>
                  <a:pt x="4962763" y="0"/>
                </a:lnTo>
                <a:lnTo>
                  <a:pt x="4962763" y="1739503"/>
                </a:lnTo>
                <a:lnTo>
                  <a:pt x="0" y="173950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8" id="18"/>
          <p:cNvSpPr txBox="true"/>
          <p:nvPr/>
        </p:nvSpPr>
        <p:spPr>
          <a:xfrm rot="0">
            <a:off x="12481560" y="4947285"/>
            <a:ext cx="425196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99%</a:t>
            </a:r>
          </a:p>
        </p:txBody>
      </p:sp>
      <p:sp>
        <p:nvSpPr>
          <p:cNvPr name="TextBox 19" id="19"/>
          <p:cNvSpPr txBox="true"/>
          <p:nvPr/>
        </p:nvSpPr>
        <p:spPr>
          <a:xfrm rot="0">
            <a:off x="12481560" y="5670042"/>
            <a:ext cx="4320540" cy="666750"/>
          </a:xfrm>
          <a:prstGeom prst="rect">
            <a:avLst/>
          </a:prstGeom>
        </p:spPr>
        <p:txBody>
          <a:bodyPr anchor="t" rtlCol="false" tIns="0" lIns="0" bIns="0" rIns="0">
            <a:spAutoFit/>
          </a:bodyPr>
          <a:lstStyle/>
          <a:p>
            <a:pPr algn="l">
              <a:lnSpc>
                <a:spcPts val="1889"/>
              </a:lnSpc>
            </a:pPr>
            <a:r>
              <a:rPr lang="en-US" sz="1575">
                <a:solidFill>
                  <a:srgbClr val="3F4B57"/>
                </a:solidFill>
                <a:latin typeface="IBM Plex Sans"/>
                <a:ea typeface="IBM Plex Sans"/>
                <a:cs typeface="IBM Plex Sans"/>
                <a:sym typeface="IBM Plex Sans"/>
              </a:rPr>
              <a:t>of respondents improved their score</a:t>
            </a:r>
          </a:p>
        </p:txBody>
      </p:sp>
      <p:sp>
        <p:nvSpPr>
          <p:cNvPr name="Freeform 20" id="20"/>
          <p:cNvSpPr/>
          <p:nvPr/>
        </p:nvSpPr>
        <p:spPr>
          <a:xfrm flipH="false" flipV="false" rot="0">
            <a:off x="12126154" y="6626038"/>
            <a:ext cx="4962763" cy="1739503"/>
          </a:xfrm>
          <a:custGeom>
            <a:avLst/>
            <a:gdLst/>
            <a:ahLst/>
            <a:cxnLst/>
            <a:rect r="r" b="b" t="t" l="l"/>
            <a:pathLst>
              <a:path h="1739503" w="4962763">
                <a:moveTo>
                  <a:pt x="0" y="0"/>
                </a:moveTo>
                <a:lnTo>
                  <a:pt x="4962763" y="0"/>
                </a:lnTo>
                <a:lnTo>
                  <a:pt x="4962763" y="1739503"/>
                </a:lnTo>
                <a:lnTo>
                  <a:pt x="0" y="173950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1" id="21"/>
          <p:cNvSpPr txBox="true"/>
          <p:nvPr/>
        </p:nvSpPr>
        <p:spPr>
          <a:xfrm rot="0">
            <a:off x="12481560" y="6894957"/>
            <a:ext cx="425196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4% → 95%</a:t>
            </a:r>
          </a:p>
        </p:txBody>
      </p:sp>
      <p:sp>
        <p:nvSpPr>
          <p:cNvPr name="TextBox 22" id="22"/>
          <p:cNvSpPr txBox="true"/>
          <p:nvPr/>
        </p:nvSpPr>
        <p:spPr>
          <a:xfrm rot="0">
            <a:off x="12481560" y="7617714"/>
            <a:ext cx="4320540" cy="666750"/>
          </a:xfrm>
          <a:prstGeom prst="rect">
            <a:avLst/>
          </a:prstGeom>
        </p:spPr>
        <p:txBody>
          <a:bodyPr anchor="t" rtlCol="false" tIns="0" lIns="0" bIns="0" rIns="0">
            <a:spAutoFit/>
          </a:bodyPr>
          <a:lstStyle/>
          <a:p>
            <a:pPr algn="l">
              <a:lnSpc>
                <a:spcPts val="1889"/>
              </a:lnSpc>
            </a:pPr>
            <a:r>
              <a:rPr lang="en-US" sz="1575">
                <a:solidFill>
                  <a:srgbClr val="3F4B57"/>
                </a:solidFill>
                <a:latin typeface="IBM Plex Sans"/>
                <a:ea typeface="IBM Plex Sans"/>
                <a:cs typeface="IBM Plex Sans"/>
                <a:sym typeface="IBM Plex Sans"/>
              </a:rPr>
              <a:t>respondents scoring 6 or more out of 8</a:t>
            </a:r>
          </a:p>
        </p:txBody>
      </p:sp>
      <p:sp>
        <p:nvSpPr>
          <p:cNvPr name="TextBox 23" id="23"/>
          <p:cNvSpPr txBox="true"/>
          <p:nvPr/>
        </p:nvSpPr>
        <p:spPr>
          <a:xfrm rot="0">
            <a:off x="12138660" y="8594598"/>
            <a:ext cx="4937760" cy="704850"/>
          </a:xfrm>
          <a:prstGeom prst="rect">
            <a:avLst/>
          </a:prstGeom>
        </p:spPr>
        <p:txBody>
          <a:bodyPr anchor="t" rtlCol="false" tIns="0" lIns="0" bIns="0" rIns="0">
            <a:spAutoFit/>
          </a:bodyPr>
          <a:lstStyle/>
          <a:p>
            <a:pPr algn="l">
              <a:lnSpc>
                <a:spcPts val="1620"/>
              </a:lnSpc>
            </a:pPr>
            <a:r>
              <a:rPr lang="en-US" sz="1350" i="true">
                <a:solidFill>
                  <a:srgbClr val="5B6770"/>
                </a:solidFill>
                <a:latin typeface="IBM Plex Sans Italics"/>
                <a:ea typeface="IBM Plex Sans Italics"/>
                <a:cs typeface="IBM Plex Sans Italics"/>
                <a:sym typeface="IBM Plex Sans Italics"/>
              </a:rPr>
              <a:t>Largest gains in the topics known least at baseline: livestock use (+58 pp), what resistance is (+57 pp), viral illness and sharing (+54 pp).</a:t>
            </a:r>
          </a:p>
        </p:txBody>
      </p:sp>
      <p:grpSp>
        <p:nvGrpSpPr>
          <p:cNvPr name="Group 24" id="24"/>
          <p:cNvGrpSpPr/>
          <p:nvPr/>
        </p:nvGrpSpPr>
        <p:grpSpPr>
          <a:xfrm rot="0">
            <a:off x="1220724" y="9354312"/>
            <a:ext cx="11658600" cy="356616"/>
            <a:chOff x="0" y="0"/>
            <a:chExt cx="15544800" cy="475488"/>
          </a:xfrm>
        </p:grpSpPr>
        <p:sp>
          <p:nvSpPr>
            <p:cNvPr name="Freeform 25" id="25"/>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26" id="26"/>
          <p:cNvGrpSpPr/>
          <p:nvPr/>
        </p:nvGrpSpPr>
        <p:grpSpPr>
          <a:xfrm rot="0">
            <a:off x="1220724" y="9354312"/>
            <a:ext cx="11658600" cy="356616"/>
            <a:chOff x="0" y="0"/>
            <a:chExt cx="15544800" cy="475488"/>
          </a:xfrm>
        </p:grpSpPr>
        <p:sp>
          <p:nvSpPr>
            <p:cNvPr name="Freeform 27" id="27"/>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28" id="28"/>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29" id="29"/>
          <p:cNvGrpSpPr/>
          <p:nvPr/>
        </p:nvGrpSpPr>
        <p:grpSpPr>
          <a:xfrm rot="0">
            <a:off x="15695219" y="9354312"/>
            <a:ext cx="1371600" cy="356616"/>
            <a:chOff x="0" y="0"/>
            <a:chExt cx="1828800" cy="475488"/>
          </a:xfrm>
        </p:grpSpPr>
        <p:sp>
          <p:nvSpPr>
            <p:cNvPr name="Freeform 30" id="30"/>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1" id="31"/>
          <p:cNvGrpSpPr/>
          <p:nvPr/>
        </p:nvGrpSpPr>
        <p:grpSpPr>
          <a:xfrm rot="0">
            <a:off x="15695219" y="9354312"/>
            <a:ext cx="1371600" cy="356616"/>
            <a:chOff x="0" y="0"/>
            <a:chExt cx="1828800" cy="475488"/>
          </a:xfrm>
        </p:grpSpPr>
        <p:sp>
          <p:nvSpPr>
            <p:cNvPr name="Freeform 32" id="32"/>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3" id="33"/>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15</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12 · SURVEY RESULTS: PRACTICE</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Risky antibiotic practices fell by half within eight weeks</a:t>
              </a:r>
            </a:p>
          </p:txBody>
        </p:sp>
      </p:grpSp>
      <p:grpSp>
        <p:nvGrpSpPr>
          <p:cNvPr name="Group 12" id="12"/>
          <p:cNvGrpSpPr/>
          <p:nvPr/>
        </p:nvGrpSpPr>
        <p:grpSpPr>
          <a:xfrm rot="0">
            <a:off x="178308" y="1700784"/>
            <a:ext cx="12508992" cy="7845552"/>
            <a:chOff x="0" y="0"/>
            <a:chExt cx="16678656" cy="10460736"/>
          </a:xfrm>
        </p:grpSpPr>
        <p:sp>
          <p:nvSpPr>
            <p:cNvPr name="Freeform 13" id="13"/>
            <p:cNvSpPr/>
            <p:nvPr/>
          </p:nvSpPr>
          <p:spPr>
            <a:xfrm flipH="false" flipV="false" rot="0">
              <a:off x="0" y="0"/>
              <a:ext cx="16678656" cy="10460736"/>
            </a:xfrm>
            <a:custGeom>
              <a:avLst/>
              <a:gdLst/>
              <a:ahLst/>
              <a:cxnLst/>
              <a:rect r="r" b="b" t="t" l="l"/>
              <a:pathLst>
                <a:path h="10460736" w="16678656">
                  <a:moveTo>
                    <a:pt x="0" y="0"/>
                  </a:moveTo>
                  <a:lnTo>
                    <a:pt x="16678656" y="0"/>
                  </a:lnTo>
                  <a:lnTo>
                    <a:pt x="16678656" y="10460736"/>
                  </a:lnTo>
                  <a:lnTo>
                    <a:pt x="0" y="10460736"/>
                  </a:lnTo>
                  <a:lnTo>
                    <a:pt x="0" y="0"/>
                  </a:lnTo>
                  <a:close/>
                </a:path>
              </a:pathLst>
            </a:custGeom>
            <a:blipFill>
              <a:blip r:embed="rId5"/>
              <a:stretch>
                <a:fillRect l="0" t="-30" r="0" b="-30"/>
              </a:stretch>
            </a:blipFill>
          </p:spPr>
        </p:sp>
      </p:grpSp>
      <p:sp>
        <p:nvSpPr>
          <p:cNvPr name="Freeform 14" id="14"/>
          <p:cNvSpPr/>
          <p:nvPr/>
        </p:nvSpPr>
        <p:spPr>
          <a:xfrm flipH="false" flipV="false" rot="0">
            <a:off x="12126154" y="2730694"/>
            <a:ext cx="4962763" cy="1739503"/>
          </a:xfrm>
          <a:custGeom>
            <a:avLst/>
            <a:gdLst/>
            <a:ahLst/>
            <a:cxnLst/>
            <a:rect r="r" b="b" t="t" l="l"/>
            <a:pathLst>
              <a:path h="1739503" w="4962763">
                <a:moveTo>
                  <a:pt x="0" y="0"/>
                </a:moveTo>
                <a:lnTo>
                  <a:pt x="4962763" y="0"/>
                </a:lnTo>
                <a:lnTo>
                  <a:pt x="4962763" y="1739503"/>
                </a:lnTo>
                <a:lnTo>
                  <a:pt x="0" y="173950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5" id="15"/>
          <p:cNvSpPr txBox="true"/>
          <p:nvPr/>
        </p:nvSpPr>
        <p:spPr>
          <a:xfrm rot="0">
            <a:off x="12481560" y="2999613"/>
            <a:ext cx="425196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67% → 39%</a:t>
            </a:r>
          </a:p>
        </p:txBody>
      </p:sp>
      <p:sp>
        <p:nvSpPr>
          <p:cNvPr name="TextBox 16" id="16"/>
          <p:cNvSpPr txBox="true"/>
          <p:nvPr/>
        </p:nvSpPr>
        <p:spPr>
          <a:xfrm rot="0">
            <a:off x="12481560" y="3722370"/>
            <a:ext cx="4320540" cy="666750"/>
          </a:xfrm>
          <a:prstGeom prst="rect">
            <a:avLst/>
          </a:prstGeom>
        </p:spPr>
        <p:txBody>
          <a:bodyPr anchor="t" rtlCol="false" tIns="0" lIns="0" bIns="0" rIns="0">
            <a:spAutoFit/>
          </a:bodyPr>
          <a:lstStyle/>
          <a:p>
            <a:pPr algn="l">
              <a:lnSpc>
                <a:spcPts val="1889"/>
              </a:lnSpc>
            </a:pPr>
            <a:r>
              <a:rPr lang="en-US" sz="1575">
                <a:solidFill>
                  <a:srgbClr val="3F4B57"/>
                </a:solidFill>
                <a:latin typeface="IBM Plex Sans"/>
                <a:ea typeface="IBM Plex Sans"/>
                <a:cs typeface="IBM Plex Sans"/>
                <a:sym typeface="IBM Plex Sans"/>
              </a:rPr>
              <a:t>bought antibiotics without a prescription (–43% relative)</a:t>
            </a:r>
          </a:p>
        </p:txBody>
      </p:sp>
      <p:sp>
        <p:nvSpPr>
          <p:cNvPr name="Freeform 17" id="17"/>
          <p:cNvSpPr/>
          <p:nvPr/>
        </p:nvSpPr>
        <p:spPr>
          <a:xfrm flipH="false" flipV="false" rot="0">
            <a:off x="12126154" y="4678366"/>
            <a:ext cx="4962763" cy="1739503"/>
          </a:xfrm>
          <a:custGeom>
            <a:avLst/>
            <a:gdLst/>
            <a:ahLst/>
            <a:cxnLst/>
            <a:rect r="r" b="b" t="t" l="l"/>
            <a:pathLst>
              <a:path h="1739503" w="4962763">
                <a:moveTo>
                  <a:pt x="0" y="0"/>
                </a:moveTo>
                <a:lnTo>
                  <a:pt x="4962763" y="0"/>
                </a:lnTo>
                <a:lnTo>
                  <a:pt x="4962763" y="1739503"/>
                </a:lnTo>
                <a:lnTo>
                  <a:pt x="0" y="173950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8" id="18"/>
          <p:cNvSpPr txBox="true"/>
          <p:nvPr/>
        </p:nvSpPr>
        <p:spPr>
          <a:xfrm rot="0">
            <a:off x="12481560" y="4947285"/>
            <a:ext cx="425196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98% → 72%</a:t>
            </a:r>
          </a:p>
        </p:txBody>
      </p:sp>
      <p:sp>
        <p:nvSpPr>
          <p:cNvPr name="TextBox 19" id="19"/>
          <p:cNvSpPr txBox="true"/>
          <p:nvPr/>
        </p:nvSpPr>
        <p:spPr>
          <a:xfrm rot="0">
            <a:off x="12481560" y="5670042"/>
            <a:ext cx="4320540" cy="666750"/>
          </a:xfrm>
          <a:prstGeom prst="rect">
            <a:avLst/>
          </a:prstGeom>
        </p:spPr>
        <p:txBody>
          <a:bodyPr anchor="t" rtlCol="false" tIns="0" lIns="0" bIns="0" rIns="0">
            <a:spAutoFit/>
          </a:bodyPr>
          <a:lstStyle/>
          <a:p>
            <a:pPr algn="l">
              <a:lnSpc>
                <a:spcPts val="1889"/>
              </a:lnSpc>
            </a:pPr>
            <a:r>
              <a:rPr lang="en-US" sz="1575">
                <a:solidFill>
                  <a:srgbClr val="3F4B57"/>
                </a:solidFill>
                <a:latin typeface="IBM Plex Sans"/>
                <a:ea typeface="IBM Plex Sans"/>
                <a:cs typeface="IBM Plex Sans"/>
                <a:sym typeface="IBM Plex Sans"/>
              </a:rPr>
              <a:t>reported at least one risky practice</a:t>
            </a:r>
          </a:p>
        </p:txBody>
      </p:sp>
      <p:sp>
        <p:nvSpPr>
          <p:cNvPr name="Freeform 20" id="20"/>
          <p:cNvSpPr/>
          <p:nvPr/>
        </p:nvSpPr>
        <p:spPr>
          <a:xfrm flipH="false" flipV="false" rot="0">
            <a:off x="12126154" y="6626038"/>
            <a:ext cx="4962763" cy="1739503"/>
          </a:xfrm>
          <a:custGeom>
            <a:avLst/>
            <a:gdLst/>
            <a:ahLst/>
            <a:cxnLst/>
            <a:rect r="r" b="b" t="t" l="l"/>
            <a:pathLst>
              <a:path h="1739503" w="4962763">
                <a:moveTo>
                  <a:pt x="0" y="0"/>
                </a:moveTo>
                <a:lnTo>
                  <a:pt x="4962763" y="0"/>
                </a:lnTo>
                <a:lnTo>
                  <a:pt x="4962763" y="1739503"/>
                </a:lnTo>
                <a:lnTo>
                  <a:pt x="0" y="173950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1" id="21"/>
          <p:cNvSpPr txBox="true"/>
          <p:nvPr/>
        </p:nvSpPr>
        <p:spPr>
          <a:xfrm rot="0">
            <a:off x="12481560" y="6894957"/>
            <a:ext cx="4251960" cy="676275"/>
          </a:xfrm>
          <a:prstGeom prst="rect">
            <a:avLst/>
          </a:prstGeom>
        </p:spPr>
        <p:txBody>
          <a:bodyPr anchor="t" rtlCol="false" tIns="0" lIns="0" bIns="0" rIns="0">
            <a:spAutoFit/>
          </a:bodyPr>
          <a:lstStyle/>
          <a:p>
            <a:pPr algn="l">
              <a:lnSpc>
                <a:spcPts val="4320"/>
              </a:lnSpc>
            </a:pPr>
            <a:r>
              <a:rPr lang="en-US" sz="3600" b="true">
                <a:solidFill>
                  <a:srgbClr val="0B6E60"/>
                </a:solidFill>
                <a:latin typeface="Source Serif Pro Bold"/>
                <a:ea typeface="Source Serif Pro Bold"/>
                <a:cs typeface="Source Serif Pro Bold"/>
                <a:sym typeface="Source Serif Pro Bold"/>
              </a:rPr>
              <a:t>40% → 13%</a:t>
            </a:r>
          </a:p>
        </p:txBody>
      </p:sp>
      <p:sp>
        <p:nvSpPr>
          <p:cNvPr name="TextBox 22" id="22"/>
          <p:cNvSpPr txBox="true"/>
          <p:nvPr/>
        </p:nvSpPr>
        <p:spPr>
          <a:xfrm rot="0">
            <a:off x="12481560" y="7617714"/>
            <a:ext cx="4320540" cy="666750"/>
          </a:xfrm>
          <a:prstGeom prst="rect">
            <a:avLst/>
          </a:prstGeom>
        </p:spPr>
        <p:txBody>
          <a:bodyPr anchor="t" rtlCol="false" tIns="0" lIns="0" bIns="0" rIns="0">
            <a:spAutoFit/>
          </a:bodyPr>
          <a:lstStyle/>
          <a:p>
            <a:pPr algn="l">
              <a:lnSpc>
                <a:spcPts val="1889"/>
              </a:lnSpc>
            </a:pPr>
            <a:r>
              <a:rPr lang="en-US" sz="1575">
                <a:solidFill>
                  <a:srgbClr val="3F4B57"/>
                </a:solidFill>
                <a:latin typeface="IBM Plex Sans"/>
                <a:ea typeface="IBM Plex Sans"/>
                <a:cs typeface="IBM Plex Sans"/>
                <a:sym typeface="IBM Plex Sans"/>
              </a:rPr>
              <a:t>shared leftover antibiotics with family (–68% relative)</a:t>
            </a:r>
          </a:p>
        </p:txBody>
      </p:sp>
      <p:sp>
        <p:nvSpPr>
          <p:cNvPr name="TextBox 23" id="23"/>
          <p:cNvSpPr txBox="true"/>
          <p:nvPr/>
        </p:nvSpPr>
        <p:spPr>
          <a:xfrm rot="0">
            <a:off x="12138660" y="8594598"/>
            <a:ext cx="4937760" cy="704850"/>
          </a:xfrm>
          <a:prstGeom prst="rect">
            <a:avLst/>
          </a:prstGeom>
        </p:spPr>
        <p:txBody>
          <a:bodyPr anchor="t" rtlCol="false" tIns="0" lIns="0" bIns="0" rIns="0">
            <a:spAutoFit/>
          </a:bodyPr>
          <a:lstStyle/>
          <a:p>
            <a:pPr algn="l">
              <a:lnSpc>
                <a:spcPts val="1620"/>
              </a:lnSpc>
            </a:pPr>
            <a:r>
              <a:rPr lang="en-US" sz="1350" i="true">
                <a:solidFill>
                  <a:srgbClr val="5B6770"/>
                </a:solidFill>
                <a:latin typeface="IBM Plex Sans Italics"/>
                <a:ea typeface="IBM Plex Sans Italics"/>
                <a:cs typeface="IBM Plex Sans Italics"/>
                <a:sym typeface="IBM Plex Sans Italics"/>
              </a:rPr>
              <a:t>Knowledge gains were similar for women (105) and men (95) and across all age groups and villages; over-the-counter buying remains the hardest habit to shift.</a:t>
            </a:r>
          </a:p>
        </p:txBody>
      </p:sp>
      <p:grpSp>
        <p:nvGrpSpPr>
          <p:cNvPr name="Group 24" id="24"/>
          <p:cNvGrpSpPr/>
          <p:nvPr/>
        </p:nvGrpSpPr>
        <p:grpSpPr>
          <a:xfrm rot="0">
            <a:off x="1220724" y="9354312"/>
            <a:ext cx="11658600" cy="356616"/>
            <a:chOff x="0" y="0"/>
            <a:chExt cx="15544800" cy="475488"/>
          </a:xfrm>
        </p:grpSpPr>
        <p:sp>
          <p:nvSpPr>
            <p:cNvPr name="Freeform 25" id="25"/>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26" id="26"/>
          <p:cNvGrpSpPr/>
          <p:nvPr/>
        </p:nvGrpSpPr>
        <p:grpSpPr>
          <a:xfrm rot="0">
            <a:off x="1220724" y="9354312"/>
            <a:ext cx="11658600" cy="356616"/>
            <a:chOff x="0" y="0"/>
            <a:chExt cx="15544800" cy="475488"/>
          </a:xfrm>
        </p:grpSpPr>
        <p:sp>
          <p:nvSpPr>
            <p:cNvPr name="Freeform 27" id="27"/>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28" id="28"/>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29" id="29"/>
          <p:cNvGrpSpPr/>
          <p:nvPr/>
        </p:nvGrpSpPr>
        <p:grpSpPr>
          <a:xfrm rot="0">
            <a:off x="15695219" y="9354312"/>
            <a:ext cx="1371600" cy="356616"/>
            <a:chOff x="0" y="0"/>
            <a:chExt cx="1828800" cy="475488"/>
          </a:xfrm>
        </p:grpSpPr>
        <p:sp>
          <p:nvSpPr>
            <p:cNvPr name="Freeform 30" id="30"/>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1" id="31"/>
          <p:cNvGrpSpPr/>
          <p:nvPr/>
        </p:nvGrpSpPr>
        <p:grpSpPr>
          <a:xfrm rot="0">
            <a:off x="15695219" y="9354312"/>
            <a:ext cx="1371600" cy="356616"/>
            <a:chOff x="0" y="0"/>
            <a:chExt cx="1828800" cy="475488"/>
          </a:xfrm>
        </p:grpSpPr>
        <p:sp>
          <p:nvSpPr>
            <p:cNvPr name="Freeform 32" id="32"/>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3" id="33"/>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16</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13 · OUTCOMES ACHIEVED &amp; SUSTAINABILITY</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What changed, and what continues</a:t>
              </a:r>
            </a:p>
          </p:txBody>
        </p:sp>
      </p:grpSp>
      <p:sp>
        <p:nvSpPr>
          <p:cNvPr name="Freeform 12" id="12"/>
          <p:cNvSpPr/>
          <p:nvPr/>
        </p:nvSpPr>
        <p:spPr>
          <a:xfrm flipH="false" flipV="false" rot="0">
            <a:off x="1208218" y="2662114"/>
            <a:ext cx="3728323" cy="1739503"/>
          </a:xfrm>
          <a:custGeom>
            <a:avLst/>
            <a:gdLst/>
            <a:ahLst/>
            <a:cxnLst/>
            <a:rect r="r" b="b" t="t" l="l"/>
            <a:pathLst>
              <a:path h="1739503" w="3728323">
                <a:moveTo>
                  <a:pt x="0" y="0"/>
                </a:moveTo>
                <a:lnTo>
                  <a:pt x="3728323" y="0"/>
                </a:lnTo>
                <a:lnTo>
                  <a:pt x="3728323" y="1739503"/>
                </a:lnTo>
                <a:lnTo>
                  <a:pt x="0" y="17395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3" id="13"/>
          <p:cNvSpPr txBox="true"/>
          <p:nvPr/>
        </p:nvSpPr>
        <p:spPr>
          <a:xfrm rot="0">
            <a:off x="1563624" y="2899410"/>
            <a:ext cx="3154680" cy="66675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200</a:t>
            </a:r>
          </a:p>
        </p:txBody>
      </p:sp>
      <p:sp>
        <p:nvSpPr>
          <p:cNvPr name="TextBox 14" id="14"/>
          <p:cNvSpPr txBox="true"/>
          <p:nvPr/>
        </p:nvSpPr>
        <p:spPr>
          <a:xfrm rot="0">
            <a:off x="1563624" y="3593592"/>
            <a:ext cx="3154680" cy="754380"/>
          </a:xfrm>
          <a:prstGeom prst="rect">
            <a:avLst/>
          </a:prstGeom>
        </p:spPr>
        <p:txBody>
          <a:bodyPr anchor="t" rtlCol="false" tIns="0" lIns="0" bIns="0" rIns="0">
            <a:spAutoFit/>
          </a:bodyPr>
          <a:lstStyle/>
          <a:p>
            <a:pPr algn="l">
              <a:lnSpc>
                <a:spcPts val="1800"/>
              </a:lnSpc>
            </a:pPr>
            <a:r>
              <a:rPr lang="en-US" sz="1500">
                <a:solidFill>
                  <a:srgbClr val="3F4B57"/>
                </a:solidFill>
                <a:latin typeface="IBM Plex Sans"/>
                <a:ea typeface="IBM Plex Sans"/>
                <a:cs typeface="IBM Plex Sans"/>
                <a:sym typeface="IBM Plex Sans"/>
              </a:rPr>
              <a:t>people educated and surveyed in 5 villages</a:t>
            </a:r>
          </a:p>
        </p:txBody>
      </p:sp>
      <p:sp>
        <p:nvSpPr>
          <p:cNvPr name="Freeform 15" id="15"/>
          <p:cNvSpPr/>
          <p:nvPr/>
        </p:nvSpPr>
        <p:spPr>
          <a:xfrm flipH="false" flipV="false" rot="0">
            <a:off x="5227006" y="2662114"/>
            <a:ext cx="3728323" cy="1739503"/>
          </a:xfrm>
          <a:custGeom>
            <a:avLst/>
            <a:gdLst/>
            <a:ahLst/>
            <a:cxnLst/>
            <a:rect r="r" b="b" t="t" l="l"/>
            <a:pathLst>
              <a:path h="1739503" w="3728323">
                <a:moveTo>
                  <a:pt x="0" y="0"/>
                </a:moveTo>
                <a:lnTo>
                  <a:pt x="3728323" y="0"/>
                </a:lnTo>
                <a:lnTo>
                  <a:pt x="3728323" y="1739503"/>
                </a:lnTo>
                <a:lnTo>
                  <a:pt x="0" y="17395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6" id="16"/>
          <p:cNvSpPr txBox="true"/>
          <p:nvPr/>
        </p:nvSpPr>
        <p:spPr>
          <a:xfrm rot="0">
            <a:off x="5582412" y="2899410"/>
            <a:ext cx="3154680" cy="66675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39% → 89%</a:t>
            </a:r>
          </a:p>
        </p:txBody>
      </p:sp>
      <p:sp>
        <p:nvSpPr>
          <p:cNvPr name="TextBox 17" id="17"/>
          <p:cNvSpPr txBox="true"/>
          <p:nvPr/>
        </p:nvSpPr>
        <p:spPr>
          <a:xfrm rot="0">
            <a:off x="5582412" y="3593592"/>
            <a:ext cx="3154680" cy="754380"/>
          </a:xfrm>
          <a:prstGeom prst="rect">
            <a:avLst/>
          </a:prstGeom>
        </p:spPr>
        <p:txBody>
          <a:bodyPr anchor="t" rtlCol="false" tIns="0" lIns="0" bIns="0" rIns="0">
            <a:spAutoFit/>
          </a:bodyPr>
          <a:lstStyle/>
          <a:p>
            <a:pPr algn="l">
              <a:lnSpc>
                <a:spcPts val="1800"/>
              </a:lnSpc>
            </a:pPr>
            <a:r>
              <a:rPr lang="en-US" sz="1500">
                <a:solidFill>
                  <a:srgbClr val="3F4B57"/>
                </a:solidFill>
                <a:latin typeface="IBM Plex Sans"/>
                <a:ea typeface="IBM Plex Sans"/>
                <a:cs typeface="IBM Plex Sans"/>
                <a:sym typeface="IBM Plex Sans"/>
              </a:rPr>
              <a:t>correct answers on antibiotic knowledge (before → after)</a:t>
            </a:r>
          </a:p>
        </p:txBody>
      </p:sp>
      <p:sp>
        <p:nvSpPr>
          <p:cNvPr name="Freeform 18" id="18"/>
          <p:cNvSpPr/>
          <p:nvPr/>
        </p:nvSpPr>
        <p:spPr>
          <a:xfrm flipH="false" flipV="false" rot="0">
            <a:off x="9245794" y="2662114"/>
            <a:ext cx="3728323" cy="1739503"/>
          </a:xfrm>
          <a:custGeom>
            <a:avLst/>
            <a:gdLst/>
            <a:ahLst/>
            <a:cxnLst/>
            <a:rect r="r" b="b" t="t" l="l"/>
            <a:pathLst>
              <a:path h="1739503" w="3728323">
                <a:moveTo>
                  <a:pt x="0" y="0"/>
                </a:moveTo>
                <a:lnTo>
                  <a:pt x="3728323" y="0"/>
                </a:lnTo>
                <a:lnTo>
                  <a:pt x="3728323" y="1739503"/>
                </a:lnTo>
                <a:lnTo>
                  <a:pt x="0" y="17395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9" id="19"/>
          <p:cNvSpPr txBox="true"/>
          <p:nvPr/>
        </p:nvSpPr>
        <p:spPr>
          <a:xfrm rot="0">
            <a:off x="9601200" y="2899410"/>
            <a:ext cx="3154680" cy="66675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67% → 39%</a:t>
            </a:r>
          </a:p>
        </p:txBody>
      </p:sp>
      <p:sp>
        <p:nvSpPr>
          <p:cNvPr name="TextBox 20" id="20"/>
          <p:cNvSpPr txBox="true"/>
          <p:nvPr/>
        </p:nvSpPr>
        <p:spPr>
          <a:xfrm rot="0">
            <a:off x="9601200" y="3593592"/>
            <a:ext cx="3154680" cy="754380"/>
          </a:xfrm>
          <a:prstGeom prst="rect">
            <a:avLst/>
          </a:prstGeom>
        </p:spPr>
        <p:txBody>
          <a:bodyPr anchor="t" rtlCol="false" tIns="0" lIns="0" bIns="0" rIns="0">
            <a:spAutoFit/>
          </a:bodyPr>
          <a:lstStyle/>
          <a:p>
            <a:pPr algn="l">
              <a:lnSpc>
                <a:spcPts val="1800"/>
              </a:lnSpc>
            </a:pPr>
            <a:r>
              <a:rPr lang="en-US" sz="1500">
                <a:solidFill>
                  <a:srgbClr val="3F4B57"/>
                </a:solidFill>
                <a:latin typeface="IBM Plex Sans"/>
                <a:ea typeface="IBM Plex Sans"/>
                <a:cs typeface="IBM Plex Sans"/>
                <a:sym typeface="IBM Plex Sans"/>
              </a:rPr>
              <a:t>buying antibiotics without a prescription (baseline → 8 weeks)</a:t>
            </a:r>
          </a:p>
        </p:txBody>
      </p:sp>
      <p:sp>
        <p:nvSpPr>
          <p:cNvPr name="Freeform 21" id="21"/>
          <p:cNvSpPr/>
          <p:nvPr/>
        </p:nvSpPr>
        <p:spPr>
          <a:xfrm flipH="false" flipV="false" rot="0">
            <a:off x="13264582" y="2662114"/>
            <a:ext cx="3728323" cy="1739503"/>
          </a:xfrm>
          <a:custGeom>
            <a:avLst/>
            <a:gdLst/>
            <a:ahLst/>
            <a:cxnLst/>
            <a:rect r="r" b="b" t="t" l="l"/>
            <a:pathLst>
              <a:path h="1739503" w="3728323">
                <a:moveTo>
                  <a:pt x="0" y="0"/>
                </a:moveTo>
                <a:lnTo>
                  <a:pt x="3728323" y="0"/>
                </a:lnTo>
                <a:lnTo>
                  <a:pt x="3728323" y="1739503"/>
                </a:lnTo>
                <a:lnTo>
                  <a:pt x="0" y="173950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2" id="22"/>
          <p:cNvSpPr txBox="true"/>
          <p:nvPr/>
        </p:nvSpPr>
        <p:spPr>
          <a:xfrm rot="0">
            <a:off x="13619988" y="2899410"/>
            <a:ext cx="3154680" cy="666750"/>
          </a:xfrm>
          <a:prstGeom prst="rect">
            <a:avLst/>
          </a:prstGeom>
        </p:spPr>
        <p:txBody>
          <a:bodyPr anchor="t" rtlCol="false" tIns="0" lIns="0" bIns="0" rIns="0">
            <a:spAutoFit/>
          </a:bodyPr>
          <a:lstStyle/>
          <a:p>
            <a:pPr algn="l">
              <a:lnSpc>
                <a:spcPts val="3960"/>
              </a:lnSpc>
            </a:pPr>
            <a:r>
              <a:rPr lang="en-US" sz="3300" b="true">
                <a:solidFill>
                  <a:srgbClr val="0B6E60"/>
                </a:solidFill>
                <a:latin typeface="Source Serif Pro Bold"/>
                <a:ea typeface="Source Serif Pro Bold"/>
                <a:cs typeface="Source Serif Pro Bold"/>
                <a:sym typeface="Source Serif Pro Bold"/>
              </a:rPr>
              <a:t>99%</a:t>
            </a:r>
          </a:p>
        </p:txBody>
      </p:sp>
      <p:sp>
        <p:nvSpPr>
          <p:cNvPr name="TextBox 23" id="23"/>
          <p:cNvSpPr txBox="true"/>
          <p:nvPr/>
        </p:nvSpPr>
        <p:spPr>
          <a:xfrm rot="0">
            <a:off x="13619988" y="3593592"/>
            <a:ext cx="3154680" cy="754380"/>
          </a:xfrm>
          <a:prstGeom prst="rect">
            <a:avLst/>
          </a:prstGeom>
        </p:spPr>
        <p:txBody>
          <a:bodyPr anchor="t" rtlCol="false" tIns="0" lIns="0" bIns="0" rIns="0">
            <a:spAutoFit/>
          </a:bodyPr>
          <a:lstStyle/>
          <a:p>
            <a:pPr algn="l">
              <a:lnSpc>
                <a:spcPts val="1800"/>
              </a:lnSpc>
            </a:pPr>
            <a:r>
              <a:rPr lang="en-US" sz="1500">
                <a:solidFill>
                  <a:srgbClr val="3F4B57"/>
                </a:solidFill>
                <a:latin typeface="IBM Plex Sans"/>
                <a:ea typeface="IBM Plex Sans"/>
                <a:cs typeface="IBM Plex Sans"/>
                <a:sym typeface="IBM Plex Sans"/>
              </a:rPr>
              <a:t>of respondents improved their knowledge score</a:t>
            </a:r>
          </a:p>
        </p:txBody>
      </p:sp>
      <p:sp>
        <p:nvSpPr>
          <p:cNvPr name="TextBox 24" id="24"/>
          <p:cNvSpPr txBox="true"/>
          <p:nvPr/>
        </p:nvSpPr>
        <p:spPr>
          <a:xfrm rot="0">
            <a:off x="1220724" y="4800600"/>
            <a:ext cx="7543800" cy="342900"/>
          </a:xfrm>
          <a:prstGeom prst="rect">
            <a:avLst/>
          </a:prstGeom>
        </p:spPr>
        <p:txBody>
          <a:bodyPr anchor="t" rtlCol="false" tIns="0" lIns="0" bIns="0" rIns="0">
            <a:spAutoFit/>
          </a:bodyPr>
          <a:lstStyle/>
          <a:p>
            <a:pPr algn="l">
              <a:lnSpc>
                <a:spcPts val="1800"/>
              </a:lnSpc>
            </a:pPr>
            <a:r>
              <a:rPr lang="en-US" b="true" sz="1500" spc="300">
                <a:solidFill>
                  <a:srgbClr val="0B6E60"/>
                </a:solidFill>
                <a:latin typeface="IBM Plex Sans Bold"/>
                <a:ea typeface="IBM Plex Sans Bold"/>
                <a:cs typeface="IBM Plex Sans Bold"/>
                <a:sym typeface="IBM Plex Sans Bold"/>
              </a:rPr>
              <a:t>OUTCOMES ACHIEVED</a:t>
            </a:r>
          </a:p>
        </p:txBody>
      </p:sp>
      <p:grpSp>
        <p:nvGrpSpPr>
          <p:cNvPr name="Group 25" id="25"/>
          <p:cNvGrpSpPr/>
          <p:nvPr/>
        </p:nvGrpSpPr>
        <p:grpSpPr>
          <a:xfrm rot="0">
            <a:off x="1220724" y="5321808"/>
            <a:ext cx="411480" cy="411480"/>
            <a:chOff x="0" y="0"/>
            <a:chExt cx="548640" cy="548640"/>
          </a:xfrm>
        </p:grpSpPr>
        <p:sp>
          <p:nvSpPr>
            <p:cNvPr name="Freeform 26" id="26"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7"/>
              <a:stretch>
                <a:fillRect l="0" t="0" r="0" b="0"/>
              </a:stretch>
            </a:blipFill>
          </p:spPr>
        </p:sp>
      </p:grpSp>
      <p:sp>
        <p:nvSpPr>
          <p:cNvPr name="TextBox 27" id="27"/>
          <p:cNvSpPr txBox="true"/>
          <p:nvPr/>
        </p:nvSpPr>
        <p:spPr>
          <a:xfrm rot="0">
            <a:off x="1837944" y="5280660"/>
            <a:ext cx="6995160" cy="795528"/>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Knowledge of every key message improved in all five villages and all three channels</a:t>
            </a:r>
          </a:p>
        </p:txBody>
      </p:sp>
      <p:grpSp>
        <p:nvGrpSpPr>
          <p:cNvPr name="Group 28" id="28"/>
          <p:cNvGrpSpPr/>
          <p:nvPr/>
        </p:nvGrpSpPr>
        <p:grpSpPr>
          <a:xfrm rot="0">
            <a:off x="1220724" y="6172200"/>
            <a:ext cx="411480" cy="411480"/>
            <a:chOff x="0" y="0"/>
            <a:chExt cx="548640" cy="548640"/>
          </a:xfrm>
        </p:grpSpPr>
        <p:sp>
          <p:nvSpPr>
            <p:cNvPr name="Freeform 29" id="29"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7"/>
              <a:stretch>
                <a:fillRect l="0" t="0" r="0" b="0"/>
              </a:stretch>
            </a:blipFill>
          </p:spPr>
        </p:sp>
      </p:grpSp>
      <p:sp>
        <p:nvSpPr>
          <p:cNvPr name="TextBox 30" id="30"/>
          <p:cNvSpPr txBox="true"/>
          <p:nvPr/>
        </p:nvSpPr>
        <p:spPr>
          <a:xfrm rot="0">
            <a:off x="1837944" y="6131052"/>
            <a:ext cx="6995160" cy="795528"/>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Non-prescription antibiotic sales refused at the programme pharmacy counter</a:t>
            </a:r>
          </a:p>
        </p:txBody>
      </p:sp>
      <p:grpSp>
        <p:nvGrpSpPr>
          <p:cNvPr name="Group 31" id="31"/>
          <p:cNvGrpSpPr/>
          <p:nvPr/>
        </p:nvGrpSpPr>
        <p:grpSpPr>
          <a:xfrm rot="0">
            <a:off x="1220724" y="7022592"/>
            <a:ext cx="411480" cy="411480"/>
            <a:chOff x="0" y="0"/>
            <a:chExt cx="548640" cy="548640"/>
          </a:xfrm>
        </p:grpSpPr>
        <p:sp>
          <p:nvSpPr>
            <p:cNvPr name="Freeform 32" id="32"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7"/>
              <a:stretch>
                <a:fillRect l="0" t="0" r="0" b="0"/>
              </a:stretch>
            </a:blipFill>
          </p:spPr>
        </p:sp>
      </p:grpSp>
      <p:sp>
        <p:nvSpPr>
          <p:cNvPr name="TextBox 33" id="33"/>
          <p:cNvSpPr txBox="true"/>
          <p:nvPr/>
        </p:nvSpPr>
        <p:spPr>
          <a:xfrm rot="0">
            <a:off x="1837944" y="6981444"/>
            <a:ext cx="6995160" cy="795528"/>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Families report finishing courses and disposing of leftovers instead of saving them</a:t>
            </a:r>
          </a:p>
        </p:txBody>
      </p:sp>
      <p:grpSp>
        <p:nvGrpSpPr>
          <p:cNvPr name="Group 34" id="34"/>
          <p:cNvGrpSpPr/>
          <p:nvPr/>
        </p:nvGrpSpPr>
        <p:grpSpPr>
          <a:xfrm rot="0">
            <a:off x="1220724" y="7872984"/>
            <a:ext cx="411480" cy="411480"/>
            <a:chOff x="0" y="0"/>
            <a:chExt cx="548640" cy="548640"/>
          </a:xfrm>
        </p:grpSpPr>
        <p:sp>
          <p:nvSpPr>
            <p:cNvPr name="Freeform 35" id="35"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7"/>
              <a:stretch>
                <a:fillRect l="0" t="0" r="0" b="0"/>
              </a:stretch>
            </a:blipFill>
          </p:spPr>
        </p:sp>
      </p:grpSp>
      <p:sp>
        <p:nvSpPr>
          <p:cNvPr name="TextBox 36" id="36"/>
          <p:cNvSpPr txBox="true"/>
          <p:nvPr/>
        </p:nvSpPr>
        <p:spPr>
          <a:xfrm rot="0">
            <a:off x="1837944" y="7831836"/>
            <a:ext cx="6995160" cy="795528"/>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Flyers and posters displayed in dispensaries, mosques and community hubs</a:t>
            </a:r>
          </a:p>
        </p:txBody>
      </p:sp>
      <p:sp>
        <p:nvSpPr>
          <p:cNvPr name="Freeform 37" id="37"/>
          <p:cNvSpPr/>
          <p:nvPr/>
        </p:nvSpPr>
        <p:spPr>
          <a:xfrm flipH="false" flipV="false" rot="0">
            <a:off x="9378791" y="4715351"/>
            <a:ext cx="7714297" cy="3942397"/>
          </a:xfrm>
          <a:custGeom>
            <a:avLst/>
            <a:gdLst/>
            <a:ahLst/>
            <a:cxnLst/>
            <a:rect r="r" b="b" t="t" l="l"/>
            <a:pathLst>
              <a:path h="3942397" w="7714297">
                <a:moveTo>
                  <a:pt x="0" y="0"/>
                </a:moveTo>
                <a:lnTo>
                  <a:pt x="7714298" y="0"/>
                </a:lnTo>
                <a:lnTo>
                  <a:pt x="7714298" y="3942398"/>
                </a:lnTo>
                <a:lnTo>
                  <a:pt x="0" y="394239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8" id="38"/>
          <p:cNvSpPr txBox="true"/>
          <p:nvPr/>
        </p:nvSpPr>
        <p:spPr>
          <a:xfrm rot="0">
            <a:off x="9875520" y="5006340"/>
            <a:ext cx="6858000" cy="342900"/>
          </a:xfrm>
          <a:prstGeom prst="rect">
            <a:avLst/>
          </a:prstGeom>
        </p:spPr>
        <p:txBody>
          <a:bodyPr anchor="t" rtlCol="false" tIns="0" lIns="0" bIns="0" rIns="0">
            <a:spAutoFit/>
          </a:bodyPr>
          <a:lstStyle/>
          <a:p>
            <a:pPr algn="l">
              <a:lnSpc>
                <a:spcPts val="1800"/>
              </a:lnSpc>
            </a:pPr>
            <a:r>
              <a:rPr lang="en-US" b="true" sz="1500" spc="300">
                <a:solidFill>
                  <a:srgbClr val="7FD1C0"/>
                </a:solidFill>
                <a:latin typeface="IBM Plex Sans Bold"/>
                <a:ea typeface="IBM Plex Sans Bold"/>
                <a:cs typeface="IBM Plex Sans Bold"/>
                <a:sym typeface="IBM Plex Sans Bold"/>
              </a:rPr>
              <a:t>HOW IT IS BEING SUSTAINED</a:t>
            </a:r>
          </a:p>
        </p:txBody>
      </p:sp>
      <p:sp>
        <p:nvSpPr>
          <p:cNvPr name="TextBox 39" id="39"/>
          <p:cNvSpPr txBox="true"/>
          <p:nvPr/>
        </p:nvSpPr>
        <p:spPr>
          <a:xfrm rot="0">
            <a:off x="9875520" y="5458968"/>
            <a:ext cx="6789420" cy="3017520"/>
          </a:xfrm>
          <a:prstGeom prst="rect">
            <a:avLst/>
          </a:prstGeom>
        </p:spPr>
        <p:txBody>
          <a:bodyPr anchor="t" rtlCol="false" tIns="0" lIns="0" bIns="0" rIns="0">
            <a:spAutoFit/>
          </a:bodyPr>
          <a:lstStyle/>
          <a:p>
            <a:pPr algn="l" marL="348377" indent="-116126" lvl="2">
              <a:lnSpc>
                <a:spcPts val="1980"/>
              </a:lnSpc>
              <a:buFont typeface="Arial"/>
              <a:buChar char="⚬"/>
            </a:pPr>
            <a:r>
              <a:rPr lang="en-US" sz="1650">
                <a:solidFill>
                  <a:srgbClr val="FFFFFF"/>
                </a:solidFill>
                <a:latin typeface="IBM Plex Sans"/>
                <a:ea typeface="IBM Plex Sans"/>
                <a:cs typeface="IBM Plex Sans"/>
                <a:sym typeface="IBM Plex Sans"/>
              </a:rPr>
              <a:t>Routine workshops: regular village awareness sessions and flyer distributions</a:t>
            </a:r>
          </a:p>
          <a:p>
            <a:pPr algn="l" marL="348377" indent="-116126" lvl="2">
              <a:lnSpc>
                <a:spcPts val="1980"/>
              </a:lnSpc>
              <a:buFont typeface="Arial"/>
              <a:buChar char="⚬"/>
            </a:pPr>
            <a:r>
              <a:rPr lang="en-US" sz="1650">
                <a:solidFill>
                  <a:srgbClr val="FFFFFF"/>
                </a:solidFill>
                <a:latin typeface="IBM Plex Sans"/>
                <a:ea typeface="IBM Plex Sans"/>
                <a:cs typeface="IBM Plex Sans"/>
                <a:sym typeface="IBM Plex Sans"/>
              </a:rPr>
              <a:t>Peer health advocates: local dispensers and community nurses trained as champions</a:t>
            </a:r>
          </a:p>
          <a:p>
            <a:pPr algn="l" marL="348377" indent="-116126" lvl="2">
              <a:lnSpc>
                <a:spcPts val="1980"/>
              </a:lnSpc>
              <a:buFont typeface="Arial"/>
              <a:buChar char="⚬"/>
            </a:pPr>
            <a:r>
              <a:rPr lang="en-US" sz="1650">
                <a:solidFill>
                  <a:srgbClr val="FFFFFF"/>
                </a:solidFill>
                <a:latin typeface="IBM Plex Sans"/>
                <a:ea typeface="IBM Plex Sans"/>
                <a:cs typeface="IBM Plex Sans"/>
                <a:sym typeface="IBM Plex Sans"/>
              </a:rPr>
              <a:t>Counter enforcement: refusing non-prescription sales at all pharmacy counters</a:t>
            </a:r>
          </a:p>
          <a:p>
            <a:pPr algn="l" marL="348377" indent="-116126" lvl="2">
              <a:lnSpc>
                <a:spcPts val="1980"/>
              </a:lnSpc>
              <a:buFont typeface="Arial"/>
              <a:buChar char="⚬"/>
            </a:pPr>
            <a:r>
              <a:rPr lang="en-US" sz="1650">
                <a:solidFill>
                  <a:srgbClr val="FFFFFF"/>
                </a:solidFill>
                <a:latin typeface="IBM Plex Sans"/>
                <a:ea typeface="IBM Plex Sans"/>
                <a:cs typeface="IBM Plex Sans"/>
                <a:sym typeface="IBM Plex Sans"/>
              </a:rPr>
              <a:t>Impact tracking: monitoring compliance and antibiotic utilisation trends</a:t>
            </a:r>
          </a:p>
        </p:txBody>
      </p:sp>
      <p:grpSp>
        <p:nvGrpSpPr>
          <p:cNvPr name="Group 40" id="40"/>
          <p:cNvGrpSpPr/>
          <p:nvPr/>
        </p:nvGrpSpPr>
        <p:grpSpPr>
          <a:xfrm rot="0">
            <a:off x="1220724" y="9354312"/>
            <a:ext cx="11658600" cy="356616"/>
            <a:chOff x="0" y="0"/>
            <a:chExt cx="15544800" cy="475488"/>
          </a:xfrm>
        </p:grpSpPr>
        <p:sp>
          <p:nvSpPr>
            <p:cNvPr name="Freeform 41" id="41"/>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42" id="42"/>
          <p:cNvGrpSpPr/>
          <p:nvPr/>
        </p:nvGrpSpPr>
        <p:grpSpPr>
          <a:xfrm rot="0">
            <a:off x="1220724" y="9354312"/>
            <a:ext cx="11658600" cy="356616"/>
            <a:chOff x="0" y="0"/>
            <a:chExt cx="15544800" cy="475488"/>
          </a:xfrm>
        </p:grpSpPr>
        <p:sp>
          <p:nvSpPr>
            <p:cNvPr name="Freeform 43" id="43"/>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44" id="44"/>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45" id="45"/>
          <p:cNvGrpSpPr/>
          <p:nvPr/>
        </p:nvGrpSpPr>
        <p:grpSpPr>
          <a:xfrm rot="0">
            <a:off x="15695219" y="9354312"/>
            <a:ext cx="1371600" cy="356616"/>
            <a:chOff x="0" y="0"/>
            <a:chExt cx="1828800" cy="475488"/>
          </a:xfrm>
        </p:grpSpPr>
        <p:sp>
          <p:nvSpPr>
            <p:cNvPr name="Freeform 46" id="46"/>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47" id="47"/>
          <p:cNvGrpSpPr/>
          <p:nvPr/>
        </p:nvGrpSpPr>
        <p:grpSpPr>
          <a:xfrm rot="0">
            <a:off x="15695219" y="9354312"/>
            <a:ext cx="1371600" cy="356616"/>
            <a:chOff x="0" y="0"/>
            <a:chExt cx="1828800" cy="475488"/>
          </a:xfrm>
        </p:grpSpPr>
        <p:sp>
          <p:nvSpPr>
            <p:cNvPr name="Freeform 48" id="48"/>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49" id="49"/>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17</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14304A"/>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7FD1C0"/>
                  </a:solidFill>
                  <a:latin typeface="IBM Plex Sans Bold"/>
                  <a:ea typeface="IBM Plex Sans Bold"/>
                  <a:cs typeface="IBM Plex Sans Bold"/>
                  <a:sym typeface="IBM Plex Sans Bold"/>
                </a:rPr>
                <a:t>14 · CONCLUSION</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FFFFFF"/>
                  </a:solidFill>
                  <a:latin typeface="Source Serif Pro Bold"/>
                  <a:ea typeface="Source Serif Pro Bold"/>
                  <a:cs typeface="Source Serif Pro Bold"/>
                  <a:sym typeface="Source Serif Pro Bold"/>
                </a:rPr>
                <a:t>Protect our medicines, protect our future</a:t>
              </a:r>
            </a:p>
          </p:txBody>
        </p:sp>
      </p:grpSp>
      <p:sp>
        <p:nvSpPr>
          <p:cNvPr name="TextBox 12" id="12"/>
          <p:cNvSpPr txBox="true"/>
          <p:nvPr/>
        </p:nvSpPr>
        <p:spPr>
          <a:xfrm rot="0">
            <a:off x="1220724" y="2880360"/>
            <a:ext cx="15087600" cy="2057400"/>
          </a:xfrm>
          <a:prstGeom prst="rect">
            <a:avLst/>
          </a:prstGeom>
        </p:spPr>
        <p:txBody>
          <a:bodyPr anchor="t" rtlCol="false" tIns="0" lIns="0" bIns="0" rIns="0">
            <a:spAutoFit/>
          </a:bodyPr>
          <a:lstStyle/>
          <a:p>
            <a:pPr algn="l">
              <a:lnSpc>
                <a:spcPts val="3240"/>
              </a:lnSpc>
            </a:pPr>
            <a:r>
              <a:rPr lang="en-US" sz="2700">
                <a:solidFill>
                  <a:srgbClr val="FFFFFF"/>
                </a:solidFill>
                <a:latin typeface="IBM Plex Sans"/>
                <a:ea typeface="IBM Plex Sans"/>
                <a:cs typeface="IBM Plex Sans"/>
                <a:sym typeface="IBM Plex Sans"/>
              </a:rPr>
              <a:t>Antibiotic resistance is preventable. When families understand the four golden rules and pharmacists refuse to sell without a prescription, first-line medicines keep working for the whole community.</a:t>
            </a:r>
          </a:p>
        </p:txBody>
      </p:sp>
      <p:grpSp>
        <p:nvGrpSpPr>
          <p:cNvPr name="Group 13" id="13"/>
          <p:cNvGrpSpPr/>
          <p:nvPr/>
        </p:nvGrpSpPr>
        <p:grpSpPr>
          <a:xfrm rot="0">
            <a:off x="1204055" y="5606891"/>
            <a:ext cx="88202" cy="1816417"/>
            <a:chOff x="0" y="0"/>
            <a:chExt cx="117602" cy="2421890"/>
          </a:xfrm>
        </p:grpSpPr>
        <p:sp>
          <p:nvSpPr>
            <p:cNvPr name="Freeform 14" id="14"/>
            <p:cNvSpPr/>
            <p:nvPr/>
          </p:nvSpPr>
          <p:spPr>
            <a:xfrm flipH="false" flipV="false" rot="0">
              <a:off x="0" y="0"/>
              <a:ext cx="117602" cy="2421890"/>
            </a:xfrm>
            <a:custGeom>
              <a:avLst/>
              <a:gdLst/>
              <a:ahLst/>
              <a:cxnLst/>
              <a:rect r="r" b="b" t="t" l="l"/>
              <a:pathLst>
                <a:path h="2421890" w="117602">
                  <a:moveTo>
                    <a:pt x="0" y="0"/>
                  </a:moveTo>
                  <a:lnTo>
                    <a:pt x="117602" y="0"/>
                  </a:lnTo>
                  <a:lnTo>
                    <a:pt x="117602" y="2421890"/>
                  </a:lnTo>
                  <a:lnTo>
                    <a:pt x="0" y="2421890"/>
                  </a:lnTo>
                  <a:close/>
                </a:path>
              </a:pathLst>
            </a:custGeom>
            <a:solidFill>
              <a:srgbClr val="7FD1C0"/>
            </a:solidFill>
            <a:ln w="19050" cap="sq">
              <a:solidFill>
                <a:srgbClr val="7FD1C0"/>
              </a:solidFill>
              <a:prstDash val="solid"/>
              <a:miter/>
            </a:ln>
          </p:spPr>
        </p:sp>
      </p:grpSp>
      <p:sp>
        <p:nvSpPr>
          <p:cNvPr name="TextBox 15" id="15"/>
          <p:cNvSpPr txBox="true"/>
          <p:nvPr/>
        </p:nvSpPr>
        <p:spPr>
          <a:xfrm rot="0">
            <a:off x="1563624" y="5623560"/>
            <a:ext cx="4526280" cy="342900"/>
          </a:xfrm>
          <a:prstGeom prst="rect">
            <a:avLst/>
          </a:prstGeom>
        </p:spPr>
        <p:txBody>
          <a:bodyPr anchor="t" rtlCol="false" tIns="0" lIns="0" bIns="0" rIns="0">
            <a:spAutoFit/>
          </a:bodyPr>
          <a:lstStyle/>
          <a:p>
            <a:pPr algn="l">
              <a:lnSpc>
                <a:spcPts val="1800"/>
              </a:lnSpc>
            </a:pPr>
            <a:r>
              <a:rPr lang="en-US" b="true" sz="1500" spc="300">
                <a:solidFill>
                  <a:srgbClr val="7FD1C0"/>
                </a:solidFill>
                <a:latin typeface="IBM Plex Sans Bold"/>
                <a:ea typeface="IBM Plex Sans Bold"/>
                <a:cs typeface="IBM Plex Sans Bold"/>
                <a:sym typeface="IBM Plex Sans Bold"/>
              </a:rPr>
              <a:t>EDUCATION</a:t>
            </a:r>
          </a:p>
        </p:txBody>
      </p:sp>
      <p:sp>
        <p:nvSpPr>
          <p:cNvPr name="TextBox 16" id="16"/>
          <p:cNvSpPr txBox="true"/>
          <p:nvPr/>
        </p:nvSpPr>
        <p:spPr>
          <a:xfrm rot="0">
            <a:off x="1563624" y="6062472"/>
            <a:ext cx="4526280" cy="1371600"/>
          </a:xfrm>
          <a:prstGeom prst="rect">
            <a:avLst/>
          </a:prstGeom>
        </p:spPr>
        <p:txBody>
          <a:bodyPr anchor="t" rtlCol="false" tIns="0" lIns="0" bIns="0" rIns="0">
            <a:spAutoFit/>
          </a:bodyPr>
          <a:lstStyle/>
          <a:p>
            <a:pPr algn="l">
              <a:lnSpc>
                <a:spcPts val="2160"/>
              </a:lnSpc>
            </a:pPr>
            <a:r>
              <a:rPr lang="en-US" sz="1800">
                <a:solidFill>
                  <a:srgbClr val="C5CACD"/>
                </a:solidFill>
                <a:latin typeface="IBM Plex Sans"/>
                <a:ea typeface="IBM Plex Sans"/>
                <a:cs typeface="IBM Plex Sans"/>
                <a:sym typeface="IBM Plex Sans"/>
              </a:rPr>
              <a:t>The dispensing moment is the best time to teach: 200 people, 39% → 89% correct.</a:t>
            </a:r>
          </a:p>
        </p:txBody>
      </p:sp>
      <p:grpSp>
        <p:nvGrpSpPr>
          <p:cNvPr name="Group 17" id="17"/>
          <p:cNvGrpSpPr/>
          <p:nvPr/>
        </p:nvGrpSpPr>
        <p:grpSpPr>
          <a:xfrm rot="0">
            <a:off x="6621875" y="5606891"/>
            <a:ext cx="88202" cy="1816417"/>
            <a:chOff x="0" y="0"/>
            <a:chExt cx="117602" cy="2421890"/>
          </a:xfrm>
        </p:grpSpPr>
        <p:sp>
          <p:nvSpPr>
            <p:cNvPr name="Freeform 18" id="18"/>
            <p:cNvSpPr/>
            <p:nvPr/>
          </p:nvSpPr>
          <p:spPr>
            <a:xfrm flipH="false" flipV="false" rot="0">
              <a:off x="0" y="0"/>
              <a:ext cx="117602" cy="2421890"/>
            </a:xfrm>
            <a:custGeom>
              <a:avLst/>
              <a:gdLst/>
              <a:ahLst/>
              <a:cxnLst/>
              <a:rect r="r" b="b" t="t" l="l"/>
              <a:pathLst>
                <a:path h="2421890" w="117602">
                  <a:moveTo>
                    <a:pt x="0" y="0"/>
                  </a:moveTo>
                  <a:lnTo>
                    <a:pt x="117602" y="0"/>
                  </a:lnTo>
                  <a:lnTo>
                    <a:pt x="117602" y="2421890"/>
                  </a:lnTo>
                  <a:lnTo>
                    <a:pt x="0" y="2421890"/>
                  </a:lnTo>
                  <a:close/>
                </a:path>
              </a:pathLst>
            </a:custGeom>
            <a:solidFill>
              <a:srgbClr val="7FD1C0"/>
            </a:solidFill>
            <a:ln w="19050" cap="sq">
              <a:solidFill>
                <a:srgbClr val="7FD1C0"/>
              </a:solidFill>
              <a:prstDash val="solid"/>
              <a:miter/>
            </a:ln>
          </p:spPr>
        </p:sp>
      </p:grpSp>
      <p:sp>
        <p:nvSpPr>
          <p:cNvPr name="TextBox 19" id="19"/>
          <p:cNvSpPr txBox="true"/>
          <p:nvPr/>
        </p:nvSpPr>
        <p:spPr>
          <a:xfrm rot="0">
            <a:off x="6981444" y="5623560"/>
            <a:ext cx="4526280" cy="342900"/>
          </a:xfrm>
          <a:prstGeom prst="rect">
            <a:avLst/>
          </a:prstGeom>
        </p:spPr>
        <p:txBody>
          <a:bodyPr anchor="t" rtlCol="false" tIns="0" lIns="0" bIns="0" rIns="0">
            <a:spAutoFit/>
          </a:bodyPr>
          <a:lstStyle/>
          <a:p>
            <a:pPr algn="l">
              <a:lnSpc>
                <a:spcPts val="1800"/>
              </a:lnSpc>
            </a:pPr>
            <a:r>
              <a:rPr lang="en-US" b="true" sz="1500" spc="300">
                <a:solidFill>
                  <a:srgbClr val="7FD1C0"/>
                </a:solidFill>
                <a:latin typeface="IBM Plex Sans Bold"/>
                <a:ea typeface="IBM Plex Sans Bold"/>
                <a:cs typeface="IBM Plex Sans Bold"/>
                <a:sym typeface="IBM Plex Sans Bold"/>
              </a:rPr>
              <a:t>ENFORCEMENT</a:t>
            </a:r>
          </a:p>
        </p:txBody>
      </p:sp>
      <p:sp>
        <p:nvSpPr>
          <p:cNvPr name="TextBox 20" id="20"/>
          <p:cNvSpPr txBox="true"/>
          <p:nvPr/>
        </p:nvSpPr>
        <p:spPr>
          <a:xfrm rot="0">
            <a:off x="6981444" y="6062472"/>
            <a:ext cx="4526280" cy="1371600"/>
          </a:xfrm>
          <a:prstGeom prst="rect">
            <a:avLst/>
          </a:prstGeom>
        </p:spPr>
        <p:txBody>
          <a:bodyPr anchor="t" rtlCol="false" tIns="0" lIns="0" bIns="0" rIns="0">
            <a:spAutoFit/>
          </a:bodyPr>
          <a:lstStyle/>
          <a:p>
            <a:pPr algn="l">
              <a:lnSpc>
                <a:spcPts val="2160"/>
              </a:lnSpc>
            </a:pPr>
            <a:r>
              <a:rPr lang="en-US" sz="1800">
                <a:solidFill>
                  <a:srgbClr val="C5CACD"/>
                </a:solidFill>
                <a:latin typeface="IBM Plex Sans"/>
                <a:ea typeface="IBM Plex Sans"/>
                <a:cs typeface="IBM Plex Sans"/>
                <a:sym typeface="IBM Plex Sans"/>
              </a:rPr>
              <a:t>Counter refusal of non-prescription sales cut OTC buying from 67% to 39%.</a:t>
            </a:r>
          </a:p>
        </p:txBody>
      </p:sp>
      <p:grpSp>
        <p:nvGrpSpPr>
          <p:cNvPr name="Group 21" id="21"/>
          <p:cNvGrpSpPr/>
          <p:nvPr/>
        </p:nvGrpSpPr>
        <p:grpSpPr>
          <a:xfrm rot="0">
            <a:off x="12039695" y="5606891"/>
            <a:ext cx="88202" cy="1816417"/>
            <a:chOff x="0" y="0"/>
            <a:chExt cx="117602" cy="2421890"/>
          </a:xfrm>
        </p:grpSpPr>
        <p:sp>
          <p:nvSpPr>
            <p:cNvPr name="Freeform 22" id="22"/>
            <p:cNvSpPr/>
            <p:nvPr/>
          </p:nvSpPr>
          <p:spPr>
            <a:xfrm flipH="false" flipV="false" rot="0">
              <a:off x="0" y="0"/>
              <a:ext cx="117602" cy="2421890"/>
            </a:xfrm>
            <a:custGeom>
              <a:avLst/>
              <a:gdLst/>
              <a:ahLst/>
              <a:cxnLst/>
              <a:rect r="r" b="b" t="t" l="l"/>
              <a:pathLst>
                <a:path h="2421890" w="117602">
                  <a:moveTo>
                    <a:pt x="0" y="0"/>
                  </a:moveTo>
                  <a:lnTo>
                    <a:pt x="117602" y="0"/>
                  </a:lnTo>
                  <a:lnTo>
                    <a:pt x="117602" y="2421890"/>
                  </a:lnTo>
                  <a:lnTo>
                    <a:pt x="0" y="2421890"/>
                  </a:lnTo>
                  <a:close/>
                </a:path>
              </a:pathLst>
            </a:custGeom>
            <a:solidFill>
              <a:srgbClr val="7FD1C0"/>
            </a:solidFill>
            <a:ln w="19050" cap="sq">
              <a:solidFill>
                <a:srgbClr val="7FD1C0"/>
              </a:solidFill>
              <a:prstDash val="solid"/>
              <a:miter/>
            </a:ln>
          </p:spPr>
        </p:sp>
      </p:grpSp>
      <p:sp>
        <p:nvSpPr>
          <p:cNvPr name="TextBox 23" id="23"/>
          <p:cNvSpPr txBox="true"/>
          <p:nvPr/>
        </p:nvSpPr>
        <p:spPr>
          <a:xfrm rot="0">
            <a:off x="12399264" y="5623560"/>
            <a:ext cx="4526280" cy="342900"/>
          </a:xfrm>
          <a:prstGeom prst="rect">
            <a:avLst/>
          </a:prstGeom>
        </p:spPr>
        <p:txBody>
          <a:bodyPr anchor="t" rtlCol="false" tIns="0" lIns="0" bIns="0" rIns="0">
            <a:spAutoFit/>
          </a:bodyPr>
          <a:lstStyle/>
          <a:p>
            <a:pPr algn="l">
              <a:lnSpc>
                <a:spcPts val="1800"/>
              </a:lnSpc>
            </a:pPr>
            <a:r>
              <a:rPr lang="en-US" b="true" sz="1500" spc="300">
                <a:solidFill>
                  <a:srgbClr val="7FD1C0"/>
                </a:solidFill>
                <a:latin typeface="IBM Plex Sans Bold"/>
                <a:ea typeface="IBM Plex Sans Bold"/>
                <a:cs typeface="IBM Plex Sans Bold"/>
                <a:sym typeface="IBM Plex Sans Bold"/>
              </a:rPr>
              <a:t>ONE HEALTH</a:t>
            </a:r>
          </a:p>
        </p:txBody>
      </p:sp>
      <p:sp>
        <p:nvSpPr>
          <p:cNvPr name="TextBox 24" id="24"/>
          <p:cNvSpPr txBox="true"/>
          <p:nvPr/>
        </p:nvSpPr>
        <p:spPr>
          <a:xfrm rot="0">
            <a:off x="12399264" y="6062472"/>
            <a:ext cx="4526280" cy="1371600"/>
          </a:xfrm>
          <a:prstGeom prst="rect">
            <a:avLst/>
          </a:prstGeom>
        </p:spPr>
        <p:txBody>
          <a:bodyPr anchor="t" rtlCol="false" tIns="0" lIns="0" bIns="0" rIns="0">
            <a:spAutoFit/>
          </a:bodyPr>
          <a:lstStyle/>
          <a:p>
            <a:pPr algn="l">
              <a:lnSpc>
                <a:spcPts val="2160"/>
              </a:lnSpc>
            </a:pPr>
            <a:r>
              <a:rPr lang="en-US" sz="1800">
                <a:solidFill>
                  <a:srgbClr val="C5CACD"/>
                </a:solidFill>
                <a:latin typeface="IBM Plex Sans"/>
                <a:ea typeface="IBM Plex Sans"/>
                <a:cs typeface="IBM Plex Sans"/>
                <a:sym typeface="IBM Plex Sans"/>
              </a:rPr>
              <a:t>Clean water, hygiene and veterinary supervision reduce the need for antibiotics at all.</a:t>
            </a:r>
          </a:p>
        </p:txBody>
      </p:sp>
      <p:sp>
        <p:nvSpPr>
          <p:cNvPr name="TextBox 25" id="25"/>
          <p:cNvSpPr txBox="true"/>
          <p:nvPr/>
        </p:nvSpPr>
        <p:spPr>
          <a:xfrm rot="0">
            <a:off x="1220724" y="7886700"/>
            <a:ext cx="15846095" cy="822960"/>
          </a:xfrm>
          <a:prstGeom prst="rect">
            <a:avLst/>
          </a:prstGeom>
        </p:spPr>
        <p:txBody>
          <a:bodyPr anchor="t" rtlCol="false" tIns="0" lIns="0" bIns="0" rIns="0">
            <a:spAutoFit/>
          </a:bodyPr>
          <a:lstStyle/>
          <a:p>
            <a:pPr algn="l">
              <a:lnSpc>
                <a:spcPts val="2070"/>
              </a:lnSpc>
            </a:pPr>
            <a:r>
              <a:rPr lang="en-US" sz="1725">
                <a:solidFill>
                  <a:srgbClr val="FFFFFF"/>
                </a:solidFill>
                <a:latin typeface="IBM Plex Sans"/>
                <a:ea typeface="IBM Plex Sans"/>
                <a:cs typeface="IBM Plex Sans"/>
                <a:sym typeface="IBM Plex Sans"/>
              </a:rPr>
              <a:t>NEXT STEP   Extend the programme from five villages to the whole of Chakwal District with the district health office, and train every dispenser as a stewardship champion.</a:t>
            </a:r>
          </a:p>
        </p:txBody>
      </p:sp>
      <p:grpSp>
        <p:nvGrpSpPr>
          <p:cNvPr name="Group 26" id="26"/>
          <p:cNvGrpSpPr/>
          <p:nvPr/>
        </p:nvGrpSpPr>
        <p:grpSpPr>
          <a:xfrm rot="0">
            <a:off x="1220724" y="9354312"/>
            <a:ext cx="11658600" cy="356616"/>
            <a:chOff x="0" y="0"/>
            <a:chExt cx="15544800" cy="475488"/>
          </a:xfrm>
        </p:grpSpPr>
        <p:sp>
          <p:nvSpPr>
            <p:cNvPr name="Freeform 27" id="27"/>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28" id="28"/>
          <p:cNvGrpSpPr/>
          <p:nvPr/>
        </p:nvGrpSpPr>
        <p:grpSpPr>
          <a:xfrm rot="0">
            <a:off x="1220724" y="9354312"/>
            <a:ext cx="11658600" cy="356616"/>
            <a:chOff x="0" y="0"/>
            <a:chExt cx="15544800" cy="475488"/>
          </a:xfrm>
        </p:grpSpPr>
        <p:sp>
          <p:nvSpPr>
            <p:cNvPr name="Freeform 29" id="29"/>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30" id="30"/>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A9C3C8"/>
                  </a:solidFill>
                  <a:latin typeface="IBM Plex Sans"/>
                  <a:ea typeface="IBM Plex Sans"/>
                  <a:cs typeface="IBM Plex Sans"/>
                  <a:sym typeface="IBM Plex Sans"/>
                </a:rPr>
                <a:t>Preserving Our Medicines · Community Antibiotic Stewardship, Chakwal, Pakistan</a:t>
              </a:r>
            </a:p>
          </p:txBody>
        </p:sp>
      </p:grpSp>
      <p:grpSp>
        <p:nvGrpSpPr>
          <p:cNvPr name="Group 31" id="31"/>
          <p:cNvGrpSpPr/>
          <p:nvPr/>
        </p:nvGrpSpPr>
        <p:grpSpPr>
          <a:xfrm rot="0">
            <a:off x="15695219" y="9354312"/>
            <a:ext cx="1371600" cy="356616"/>
            <a:chOff x="0" y="0"/>
            <a:chExt cx="1828800" cy="475488"/>
          </a:xfrm>
        </p:grpSpPr>
        <p:sp>
          <p:nvSpPr>
            <p:cNvPr name="Freeform 32" id="32"/>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3" id="33"/>
          <p:cNvGrpSpPr/>
          <p:nvPr/>
        </p:nvGrpSpPr>
        <p:grpSpPr>
          <a:xfrm rot="0">
            <a:off x="15695219" y="9354312"/>
            <a:ext cx="1371600" cy="356616"/>
            <a:chOff x="0" y="0"/>
            <a:chExt cx="1828800" cy="475488"/>
          </a:xfrm>
        </p:grpSpPr>
        <p:sp>
          <p:nvSpPr>
            <p:cNvPr name="Freeform 34" id="34"/>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5" id="35"/>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A9C3C8"/>
                  </a:solidFill>
                  <a:latin typeface="IBM Plex Sans"/>
                  <a:ea typeface="IBM Plex Sans"/>
                  <a:cs typeface="IBM Plex Sans"/>
                  <a:sym typeface="IBM Plex Sans"/>
                </a:rPr>
                <a:t>18</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grpSp>
        <p:nvGrpSpPr>
          <p:cNvPr name="Group 2" id="2"/>
          <p:cNvGrpSpPr/>
          <p:nvPr/>
        </p:nvGrpSpPr>
        <p:grpSpPr>
          <a:xfrm rot="0">
            <a:off x="1220724" y="1124712"/>
            <a:ext cx="15846095" cy="384048"/>
            <a:chOff x="0" y="0"/>
            <a:chExt cx="21128126" cy="512064"/>
          </a:xfrm>
        </p:grpSpPr>
        <p:sp>
          <p:nvSpPr>
            <p:cNvPr name="Freeform 3" id="3"/>
            <p:cNvSpPr/>
            <p:nvPr/>
          </p:nvSpPr>
          <p:spPr>
            <a:xfrm flipH="false" flipV="false" rot="0">
              <a:off x="0" y="0"/>
              <a:ext cx="21128101" cy="512064"/>
            </a:xfrm>
            <a:custGeom>
              <a:avLst/>
              <a:gdLst/>
              <a:ahLst/>
              <a:cxnLst/>
              <a:rect r="r" b="b" t="t" l="l"/>
              <a:pathLst>
                <a:path h="512064" w="21128101">
                  <a:moveTo>
                    <a:pt x="0" y="0"/>
                  </a:moveTo>
                  <a:lnTo>
                    <a:pt x="21128101" y="0"/>
                  </a:lnTo>
                  <a:lnTo>
                    <a:pt x="21128101" y="512064"/>
                  </a:lnTo>
                  <a:lnTo>
                    <a:pt x="0" y="512064"/>
                  </a:lnTo>
                  <a:close/>
                </a:path>
              </a:pathLst>
            </a:custGeom>
            <a:blipFill>
              <a:blip r:embed="rId3">
                <a:alphaModFix amt="0"/>
              </a:blip>
              <a:stretch>
                <a:fillRect l="0" t="-753407" r="0" b="-753407"/>
              </a:stretch>
            </a:blipFill>
          </p:spPr>
        </p:sp>
      </p:grpSp>
      <p:grpSp>
        <p:nvGrpSpPr>
          <p:cNvPr name="Group 4" id="4"/>
          <p:cNvGrpSpPr/>
          <p:nvPr/>
        </p:nvGrpSpPr>
        <p:grpSpPr>
          <a:xfrm rot="0">
            <a:off x="1220724" y="1124712"/>
            <a:ext cx="15846095" cy="384048"/>
            <a:chOff x="0" y="0"/>
            <a:chExt cx="21128126" cy="512064"/>
          </a:xfrm>
        </p:grpSpPr>
        <p:sp>
          <p:nvSpPr>
            <p:cNvPr name="Freeform 5" id="5"/>
            <p:cNvSpPr/>
            <p:nvPr/>
          </p:nvSpPr>
          <p:spPr>
            <a:xfrm flipH="false" flipV="false" rot="0">
              <a:off x="0" y="0"/>
              <a:ext cx="21128127" cy="512064"/>
            </a:xfrm>
            <a:custGeom>
              <a:avLst/>
              <a:gdLst/>
              <a:ahLst/>
              <a:cxnLst/>
              <a:rect r="r" b="b" t="t" l="l"/>
              <a:pathLst>
                <a:path h="512064" w="21128127">
                  <a:moveTo>
                    <a:pt x="0" y="0"/>
                  </a:moveTo>
                  <a:lnTo>
                    <a:pt x="21128127" y="0"/>
                  </a:lnTo>
                  <a:lnTo>
                    <a:pt x="21128127" y="512064"/>
                  </a:lnTo>
                  <a:lnTo>
                    <a:pt x="0" y="512064"/>
                  </a:lnTo>
                  <a:close/>
                </a:path>
              </a:pathLst>
            </a:custGeom>
            <a:blipFill>
              <a:blip r:embed="rId4">
                <a:alphaModFix amt="0"/>
              </a:blip>
              <a:stretch>
                <a:fillRect l="0" t="-753966" r="0" b="-753966"/>
              </a:stretch>
            </a:blipFill>
          </p:spPr>
        </p:sp>
        <p:sp>
          <p:nvSpPr>
            <p:cNvPr name="TextBox 6" id="6"/>
            <p:cNvSpPr txBox="true"/>
            <p:nvPr/>
          </p:nvSpPr>
          <p:spPr>
            <a:xfrm>
              <a:off x="0" y="0"/>
              <a:ext cx="21128126" cy="512064"/>
            </a:xfrm>
            <a:prstGeom prst="rect">
              <a:avLst/>
            </a:prstGeom>
          </p:spPr>
          <p:txBody>
            <a:bodyPr anchor="ctr" rtlCol="false" tIns="0" lIns="0" bIns="0" rIns="0"/>
            <a:lstStyle/>
            <a:p>
              <a:pPr algn="l">
                <a:lnSpc>
                  <a:spcPts val="1980"/>
                </a:lnSpc>
              </a:pPr>
              <a:r>
                <a:rPr lang="en-US" b="true" sz="1650" spc="298">
                  <a:solidFill>
                    <a:srgbClr val="0B6E60"/>
                  </a:solidFill>
                  <a:latin typeface="IBM Plex Sans Bold"/>
                  <a:ea typeface="IBM Plex Sans Bold"/>
                  <a:cs typeface="IBM Plex Sans Bold"/>
                  <a:sym typeface="IBM Plex Sans Bold"/>
                </a:rPr>
                <a:t>15 · REFERENCES</a:t>
              </a:r>
            </a:p>
          </p:txBody>
        </p:sp>
      </p:grpSp>
      <p:grpSp>
        <p:nvGrpSpPr>
          <p:cNvPr name="Group 7" id="7"/>
          <p:cNvGrpSpPr/>
          <p:nvPr/>
        </p:nvGrpSpPr>
        <p:grpSpPr>
          <a:xfrm rot="0">
            <a:off x="1220724" y="1536192"/>
            <a:ext cx="15846095" cy="850392"/>
            <a:chOff x="0" y="0"/>
            <a:chExt cx="21128126" cy="1133856"/>
          </a:xfrm>
        </p:grpSpPr>
        <p:sp>
          <p:nvSpPr>
            <p:cNvPr name="Freeform 8" id="8"/>
            <p:cNvSpPr/>
            <p:nvPr/>
          </p:nvSpPr>
          <p:spPr>
            <a:xfrm flipH="false" flipV="false" rot="0">
              <a:off x="0" y="0"/>
              <a:ext cx="21128101" cy="1133856"/>
            </a:xfrm>
            <a:custGeom>
              <a:avLst/>
              <a:gdLst/>
              <a:ahLst/>
              <a:cxnLst/>
              <a:rect r="r" b="b" t="t" l="l"/>
              <a:pathLst>
                <a:path h="1133856" w="21128101">
                  <a:moveTo>
                    <a:pt x="0" y="0"/>
                  </a:moveTo>
                  <a:lnTo>
                    <a:pt x="21128101" y="0"/>
                  </a:lnTo>
                  <a:lnTo>
                    <a:pt x="21128101" y="1133856"/>
                  </a:lnTo>
                  <a:lnTo>
                    <a:pt x="0" y="1133856"/>
                  </a:lnTo>
                  <a:close/>
                </a:path>
              </a:pathLst>
            </a:custGeom>
            <a:blipFill>
              <a:blip r:embed="rId3">
                <a:alphaModFix amt="0"/>
              </a:blip>
              <a:stretch>
                <a:fillRect l="0" t="-312829" r="0" b="-312829"/>
              </a:stretch>
            </a:blipFill>
          </p:spPr>
        </p:sp>
      </p:grpSp>
      <p:grpSp>
        <p:nvGrpSpPr>
          <p:cNvPr name="Group 9" id="9"/>
          <p:cNvGrpSpPr/>
          <p:nvPr/>
        </p:nvGrpSpPr>
        <p:grpSpPr>
          <a:xfrm rot="0">
            <a:off x="1220724" y="1536192"/>
            <a:ext cx="15846095" cy="850392"/>
            <a:chOff x="0" y="0"/>
            <a:chExt cx="21128126" cy="1133856"/>
          </a:xfrm>
        </p:grpSpPr>
        <p:sp>
          <p:nvSpPr>
            <p:cNvPr name="Freeform 10" id="10"/>
            <p:cNvSpPr/>
            <p:nvPr/>
          </p:nvSpPr>
          <p:spPr>
            <a:xfrm flipH="false" flipV="false" rot="0">
              <a:off x="0" y="0"/>
              <a:ext cx="21128127" cy="1133856"/>
            </a:xfrm>
            <a:custGeom>
              <a:avLst/>
              <a:gdLst/>
              <a:ahLst/>
              <a:cxnLst/>
              <a:rect r="r" b="b" t="t" l="l"/>
              <a:pathLst>
                <a:path h="1133856" w="21128127">
                  <a:moveTo>
                    <a:pt x="0" y="0"/>
                  </a:moveTo>
                  <a:lnTo>
                    <a:pt x="21128127" y="0"/>
                  </a:lnTo>
                  <a:lnTo>
                    <a:pt x="21128127" y="1133856"/>
                  </a:lnTo>
                  <a:lnTo>
                    <a:pt x="0" y="1133856"/>
                  </a:lnTo>
                  <a:close/>
                </a:path>
              </a:pathLst>
            </a:custGeom>
            <a:blipFill>
              <a:blip r:embed="rId4">
                <a:alphaModFix amt="0"/>
              </a:blip>
              <a:stretch>
                <a:fillRect l="0" t="-313081" r="0" b="-313081"/>
              </a:stretch>
            </a:blipFill>
          </p:spPr>
        </p:sp>
        <p:sp>
          <p:nvSpPr>
            <p:cNvPr name="TextBox 11" id="11"/>
            <p:cNvSpPr txBox="true"/>
            <p:nvPr/>
          </p:nvSpPr>
          <p:spPr>
            <a:xfrm>
              <a:off x="0" y="0"/>
              <a:ext cx="21128126" cy="1133856"/>
            </a:xfrm>
            <a:prstGeom prst="rect">
              <a:avLst/>
            </a:prstGeom>
          </p:spPr>
          <p:txBody>
            <a:bodyPr anchor="ctr" rtlCol="false" tIns="0" lIns="0" bIns="0" rIns="0"/>
            <a:lstStyle/>
            <a:p>
              <a:pPr algn="l">
                <a:lnSpc>
                  <a:spcPts val="5400"/>
                </a:lnSpc>
              </a:pPr>
              <a:r>
                <a:rPr lang="en-US" sz="4500" b="true">
                  <a:solidFill>
                    <a:srgbClr val="14304A"/>
                  </a:solidFill>
                  <a:latin typeface="Source Serif Pro Bold"/>
                  <a:ea typeface="Source Serif Pro Bold"/>
                  <a:cs typeface="Source Serif Pro Bold"/>
                  <a:sym typeface="Source Serif Pro Bold"/>
                </a:rPr>
                <a:t>Sources and guidance</a:t>
              </a:r>
            </a:p>
          </p:txBody>
        </p:sp>
      </p:grpSp>
      <p:sp>
        <p:nvSpPr>
          <p:cNvPr name="TextBox 12" id="12"/>
          <p:cNvSpPr txBox="true"/>
          <p:nvPr/>
        </p:nvSpPr>
        <p:spPr>
          <a:xfrm rot="0">
            <a:off x="1220724" y="2811780"/>
            <a:ext cx="685800" cy="822960"/>
          </a:xfrm>
          <a:prstGeom prst="rect">
            <a:avLst/>
          </a:prstGeom>
        </p:spPr>
        <p:txBody>
          <a:bodyPr anchor="t" rtlCol="false" tIns="0" lIns="0" bIns="0" rIns="0">
            <a:spAutoFit/>
          </a:bodyPr>
          <a:lstStyle/>
          <a:p>
            <a:pPr algn="l">
              <a:lnSpc>
                <a:spcPts val="1980"/>
              </a:lnSpc>
            </a:pPr>
            <a:r>
              <a:rPr lang="en-US" sz="1650" b="true">
                <a:solidFill>
                  <a:srgbClr val="0B6E60"/>
                </a:solidFill>
                <a:latin typeface="IBM Plex Sans Bold"/>
                <a:ea typeface="IBM Plex Sans Bold"/>
                <a:cs typeface="IBM Plex Sans Bold"/>
                <a:sym typeface="IBM Plex Sans Bold"/>
              </a:rPr>
              <a:t>[1]</a:t>
            </a:r>
          </a:p>
        </p:txBody>
      </p:sp>
      <p:sp>
        <p:nvSpPr>
          <p:cNvPr name="TextBox 13" id="13"/>
          <p:cNvSpPr txBox="true"/>
          <p:nvPr/>
        </p:nvSpPr>
        <p:spPr>
          <a:xfrm rot="0">
            <a:off x="1975104" y="2811780"/>
            <a:ext cx="15091715" cy="82296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Murray CJL, et al. (2022). Global burden of bacterial antimicrobial resistance in 2019: a systematic analysis. The Lancet, 399(10325), 629–655.</a:t>
            </a:r>
          </a:p>
        </p:txBody>
      </p:sp>
      <p:sp>
        <p:nvSpPr>
          <p:cNvPr name="TextBox 14" id="14"/>
          <p:cNvSpPr txBox="true"/>
          <p:nvPr/>
        </p:nvSpPr>
        <p:spPr>
          <a:xfrm rot="0">
            <a:off x="1220724" y="3771900"/>
            <a:ext cx="685800" cy="822960"/>
          </a:xfrm>
          <a:prstGeom prst="rect">
            <a:avLst/>
          </a:prstGeom>
        </p:spPr>
        <p:txBody>
          <a:bodyPr anchor="t" rtlCol="false" tIns="0" lIns="0" bIns="0" rIns="0">
            <a:spAutoFit/>
          </a:bodyPr>
          <a:lstStyle/>
          <a:p>
            <a:pPr algn="l">
              <a:lnSpc>
                <a:spcPts val="1980"/>
              </a:lnSpc>
            </a:pPr>
            <a:r>
              <a:rPr lang="en-US" sz="1650" b="true">
                <a:solidFill>
                  <a:srgbClr val="0B6E60"/>
                </a:solidFill>
                <a:latin typeface="IBM Plex Sans Bold"/>
                <a:ea typeface="IBM Plex Sans Bold"/>
                <a:cs typeface="IBM Plex Sans Bold"/>
                <a:sym typeface="IBM Plex Sans Bold"/>
              </a:rPr>
              <a:t>[2]</a:t>
            </a:r>
          </a:p>
        </p:txBody>
      </p:sp>
      <p:sp>
        <p:nvSpPr>
          <p:cNvPr name="TextBox 15" id="15"/>
          <p:cNvSpPr txBox="true"/>
          <p:nvPr/>
        </p:nvSpPr>
        <p:spPr>
          <a:xfrm rot="0">
            <a:off x="1975104" y="3771900"/>
            <a:ext cx="15091715" cy="82296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World Health Organization (2023). Antimicrobial resistance: fact sheet. who.int [accessed 24.09.2026]</a:t>
            </a:r>
          </a:p>
        </p:txBody>
      </p:sp>
      <p:sp>
        <p:nvSpPr>
          <p:cNvPr name="TextBox 16" id="16"/>
          <p:cNvSpPr txBox="true"/>
          <p:nvPr/>
        </p:nvSpPr>
        <p:spPr>
          <a:xfrm rot="0">
            <a:off x="1220724" y="4732020"/>
            <a:ext cx="685800" cy="822960"/>
          </a:xfrm>
          <a:prstGeom prst="rect">
            <a:avLst/>
          </a:prstGeom>
        </p:spPr>
        <p:txBody>
          <a:bodyPr anchor="t" rtlCol="false" tIns="0" lIns="0" bIns="0" rIns="0">
            <a:spAutoFit/>
          </a:bodyPr>
          <a:lstStyle/>
          <a:p>
            <a:pPr algn="l">
              <a:lnSpc>
                <a:spcPts val="1980"/>
              </a:lnSpc>
            </a:pPr>
            <a:r>
              <a:rPr lang="en-US" sz="1650" b="true">
                <a:solidFill>
                  <a:srgbClr val="0B6E60"/>
                </a:solidFill>
                <a:latin typeface="IBM Plex Sans Bold"/>
                <a:ea typeface="IBM Plex Sans Bold"/>
                <a:cs typeface="IBM Plex Sans Bold"/>
                <a:sym typeface="IBM Plex Sans Bold"/>
              </a:rPr>
              <a:t>[3]</a:t>
            </a:r>
          </a:p>
        </p:txBody>
      </p:sp>
      <p:sp>
        <p:nvSpPr>
          <p:cNvPr name="TextBox 17" id="17"/>
          <p:cNvSpPr txBox="true"/>
          <p:nvPr/>
        </p:nvSpPr>
        <p:spPr>
          <a:xfrm rot="0">
            <a:off x="1975104" y="4732020"/>
            <a:ext cx="15091715" cy="82296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World Health Organization (2023). The WHO AWaRe (Access, Watch, Reserve) antibiotic book. Geneva: WHO.</a:t>
            </a:r>
          </a:p>
        </p:txBody>
      </p:sp>
      <p:sp>
        <p:nvSpPr>
          <p:cNvPr name="TextBox 18" id="18"/>
          <p:cNvSpPr txBox="true"/>
          <p:nvPr/>
        </p:nvSpPr>
        <p:spPr>
          <a:xfrm rot="0">
            <a:off x="1220724" y="5692140"/>
            <a:ext cx="685800" cy="822960"/>
          </a:xfrm>
          <a:prstGeom prst="rect">
            <a:avLst/>
          </a:prstGeom>
        </p:spPr>
        <p:txBody>
          <a:bodyPr anchor="t" rtlCol="false" tIns="0" lIns="0" bIns="0" rIns="0">
            <a:spAutoFit/>
          </a:bodyPr>
          <a:lstStyle/>
          <a:p>
            <a:pPr algn="l">
              <a:lnSpc>
                <a:spcPts val="1980"/>
              </a:lnSpc>
            </a:pPr>
            <a:r>
              <a:rPr lang="en-US" sz="1650" b="true">
                <a:solidFill>
                  <a:srgbClr val="0B6E60"/>
                </a:solidFill>
                <a:latin typeface="IBM Plex Sans Bold"/>
                <a:ea typeface="IBM Plex Sans Bold"/>
                <a:cs typeface="IBM Plex Sans Bold"/>
                <a:sym typeface="IBM Plex Sans Bold"/>
              </a:rPr>
              <a:t>[4]</a:t>
            </a:r>
          </a:p>
        </p:txBody>
      </p:sp>
      <p:sp>
        <p:nvSpPr>
          <p:cNvPr name="TextBox 19" id="19"/>
          <p:cNvSpPr txBox="true"/>
          <p:nvPr/>
        </p:nvSpPr>
        <p:spPr>
          <a:xfrm rot="0">
            <a:off x="1975104" y="5692140"/>
            <a:ext cx="15091715" cy="82296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Government of Pakistan, Ministry of National Health Services, Regulations &amp; Coordination (2017). National Action Plan for Antimicrobial Resistance, Pakistan. Islamabad.</a:t>
            </a:r>
          </a:p>
        </p:txBody>
      </p:sp>
      <p:sp>
        <p:nvSpPr>
          <p:cNvPr name="TextBox 20" id="20"/>
          <p:cNvSpPr txBox="true"/>
          <p:nvPr/>
        </p:nvSpPr>
        <p:spPr>
          <a:xfrm rot="0">
            <a:off x="1220724" y="6652260"/>
            <a:ext cx="685800" cy="822960"/>
          </a:xfrm>
          <a:prstGeom prst="rect">
            <a:avLst/>
          </a:prstGeom>
        </p:spPr>
        <p:txBody>
          <a:bodyPr anchor="t" rtlCol="false" tIns="0" lIns="0" bIns="0" rIns="0">
            <a:spAutoFit/>
          </a:bodyPr>
          <a:lstStyle/>
          <a:p>
            <a:pPr algn="l">
              <a:lnSpc>
                <a:spcPts val="1980"/>
              </a:lnSpc>
            </a:pPr>
            <a:r>
              <a:rPr lang="en-US" sz="1650" b="true">
                <a:solidFill>
                  <a:srgbClr val="0B6E60"/>
                </a:solidFill>
                <a:latin typeface="IBM Plex Sans Bold"/>
                <a:ea typeface="IBM Plex Sans Bold"/>
                <a:cs typeface="IBM Plex Sans Bold"/>
                <a:sym typeface="IBM Plex Sans Bold"/>
              </a:rPr>
              <a:t>[5]</a:t>
            </a:r>
          </a:p>
        </p:txBody>
      </p:sp>
      <p:sp>
        <p:nvSpPr>
          <p:cNvPr name="TextBox 21" id="21"/>
          <p:cNvSpPr txBox="true"/>
          <p:nvPr/>
        </p:nvSpPr>
        <p:spPr>
          <a:xfrm rot="0">
            <a:off x="1975104" y="6652260"/>
            <a:ext cx="15091715" cy="82296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WHO / FAO / WOAH / UNEP (2022). One Health Joint Plan of Action 2022–2026. Geneva.</a:t>
            </a:r>
          </a:p>
        </p:txBody>
      </p:sp>
      <p:sp>
        <p:nvSpPr>
          <p:cNvPr name="TextBox 22" id="22"/>
          <p:cNvSpPr txBox="true"/>
          <p:nvPr/>
        </p:nvSpPr>
        <p:spPr>
          <a:xfrm rot="0">
            <a:off x="1220724" y="7612380"/>
            <a:ext cx="685800" cy="822960"/>
          </a:xfrm>
          <a:prstGeom prst="rect">
            <a:avLst/>
          </a:prstGeom>
        </p:spPr>
        <p:txBody>
          <a:bodyPr anchor="t" rtlCol="false" tIns="0" lIns="0" bIns="0" rIns="0">
            <a:spAutoFit/>
          </a:bodyPr>
          <a:lstStyle/>
          <a:p>
            <a:pPr algn="l">
              <a:lnSpc>
                <a:spcPts val="1980"/>
              </a:lnSpc>
            </a:pPr>
            <a:r>
              <a:rPr lang="en-US" sz="1650" b="true">
                <a:solidFill>
                  <a:srgbClr val="0B6E60"/>
                </a:solidFill>
                <a:latin typeface="IBM Plex Sans Bold"/>
                <a:ea typeface="IBM Plex Sans Bold"/>
                <a:cs typeface="IBM Plex Sans Bold"/>
                <a:sym typeface="IBM Plex Sans Bold"/>
              </a:rPr>
              <a:t>[6]</a:t>
            </a:r>
          </a:p>
        </p:txBody>
      </p:sp>
      <p:sp>
        <p:nvSpPr>
          <p:cNvPr name="TextBox 23" id="23"/>
          <p:cNvSpPr txBox="true"/>
          <p:nvPr/>
        </p:nvSpPr>
        <p:spPr>
          <a:xfrm rot="0">
            <a:off x="1975104" y="7612380"/>
            <a:ext cx="15091715" cy="822960"/>
          </a:xfrm>
          <a:prstGeom prst="rect">
            <a:avLst/>
          </a:prstGeom>
        </p:spPr>
        <p:txBody>
          <a:bodyPr anchor="t" rtlCol="false" tIns="0" lIns="0" bIns="0" rIns="0">
            <a:spAutoFit/>
          </a:bodyPr>
          <a:lstStyle/>
          <a:p>
            <a:pPr algn="l">
              <a:lnSpc>
                <a:spcPts val="1980"/>
              </a:lnSpc>
            </a:pPr>
            <a:r>
              <a:rPr lang="en-US" sz="1650">
                <a:solidFill>
                  <a:srgbClr val="3F4B57"/>
                </a:solidFill>
                <a:latin typeface="IBM Plex Sans"/>
                <a:ea typeface="IBM Plex Sans"/>
                <a:cs typeface="IBM Plex Sans"/>
                <a:sym typeface="IBM Plex Sans"/>
              </a:rPr>
              <a:t>Programme records: dispensing log, flyer distribution register, camp attendance and the 200-respondent survey (Antibiotic_Stewardship_Community_Survey_Data.xlsx).</a:t>
            </a:r>
          </a:p>
        </p:txBody>
      </p:sp>
      <p:grpSp>
        <p:nvGrpSpPr>
          <p:cNvPr name="Group 24" id="24"/>
          <p:cNvGrpSpPr/>
          <p:nvPr/>
        </p:nvGrpSpPr>
        <p:grpSpPr>
          <a:xfrm rot="0">
            <a:off x="1220724" y="9354312"/>
            <a:ext cx="11658600" cy="356616"/>
            <a:chOff x="0" y="0"/>
            <a:chExt cx="15544800" cy="475488"/>
          </a:xfrm>
        </p:grpSpPr>
        <p:sp>
          <p:nvSpPr>
            <p:cNvPr name="Freeform 25" id="25"/>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3">
                <a:alphaModFix amt="0"/>
              </a:blip>
              <a:stretch>
                <a:fillRect l="0" t="-586567" r="0" b="-586567"/>
              </a:stretch>
            </a:blipFill>
          </p:spPr>
        </p:sp>
      </p:grpSp>
      <p:grpSp>
        <p:nvGrpSpPr>
          <p:cNvPr name="Group 26" id="26"/>
          <p:cNvGrpSpPr/>
          <p:nvPr/>
        </p:nvGrpSpPr>
        <p:grpSpPr>
          <a:xfrm rot="0">
            <a:off x="1220724" y="9354312"/>
            <a:ext cx="11658600" cy="356616"/>
            <a:chOff x="0" y="0"/>
            <a:chExt cx="15544800" cy="475488"/>
          </a:xfrm>
        </p:grpSpPr>
        <p:sp>
          <p:nvSpPr>
            <p:cNvPr name="Freeform 27" id="27"/>
            <p:cNvSpPr/>
            <p:nvPr/>
          </p:nvSpPr>
          <p:spPr>
            <a:xfrm flipH="false" flipV="false" rot="0">
              <a:off x="0" y="0"/>
              <a:ext cx="15544800" cy="475488"/>
            </a:xfrm>
            <a:custGeom>
              <a:avLst/>
              <a:gdLst/>
              <a:ahLst/>
              <a:cxnLst/>
              <a:rect r="r" b="b" t="t" l="l"/>
              <a:pathLst>
                <a:path h="475488" w="15544800">
                  <a:moveTo>
                    <a:pt x="0" y="0"/>
                  </a:moveTo>
                  <a:lnTo>
                    <a:pt x="15544800" y="0"/>
                  </a:lnTo>
                  <a:lnTo>
                    <a:pt x="15544800" y="475488"/>
                  </a:lnTo>
                  <a:lnTo>
                    <a:pt x="0" y="475488"/>
                  </a:lnTo>
                  <a:close/>
                </a:path>
              </a:pathLst>
            </a:custGeom>
            <a:blipFill>
              <a:blip r:embed="rId4">
                <a:alphaModFix amt="0"/>
              </a:blip>
              <a:stretch>
                <a:fillRect l="0" t="-587010" r="0" b="-587010"/>
              </a:stretch>
            </a:blipFill>
          </p:spPr>
        </p:sp>
        <p:sp>
          <p:nvSpPr>
            <p:cNvPr name="TextBox 28" id="28"/>
            <p:cNvSpPr txBox="true"/>
            <p:nvPr/>
          </p:nvSpPr>
          <p:spPr>
            <a:xfrm>
              <a:off x="0" y="0"/>
              <a:ext cx="15544800" cy="475488"/>
            </a:xfrm>
            <a:prstGeom prst="rect">
              <a:avLst/>
            </a:prstGeom>
          </p:spPr>
          <p:txBody>
            <a:bodyPr anchor="ctr" rtlCol="false" tIns="0" lIns="0" bIns="0" rIns="0"/>
            <a:lstStyle/>
            <a:p>
              <a:pPr algn="l">
                <a:lnSpc>
                  <a:spcPts val="1800"/>
                </a:lnSpc>
              </a:pPr>
              <a:r>
                <a:rPr lang="en-US" sz="1500">
                  <a:solidFill>
                    <a:srgbClr val="5B6770"/>
                  </a:solidFill>
                  <a:latin typeface="IBM Plex Sans"/>
                  <a:ea typeface="IBM Plex Sans"/>
                  <a:cs typeface="IBM Plex Sans"/>
                  <a:sym typeface="IBM Plex Sans"/>
                </a:rPr>
                <a:t>Preserving Our Medicines · Community Antibiotic Stewardship, Chakwal, Pakistan</a:t>
              </a:r>
            </a:p>
          </p:txBody>
        </p:sp>
      </p:grpSp>
      <p:grpSp>
        <p:nvGrpSpPr>
          <p:cNvPr name="Group 29" id="29"/>
          <p:cNvGrpSpPr/>
          <p:nvPr/>
        </p:nvGrpSpPr>
        <p:grpSpPr>
          <a:xfrm rot="0">
            <a:off x="15695219" y="9354312"/>
            <a:ext cx="1371600" cy="356616"/>
            <a:chOff x="0" y="0"/>
            <a:chExt cx="1828800" cy="475488"/>
          </a:xfrm>
        </p:grpSpPr>
        <p:sp>
          <p:nvSpPr>
            <p:cNvPr name="Freeform 30" id="30"/>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3">
                <a:alphaModFix amt="0"/>
              </a:blip>
              <a:stretch>
                <a:fillRect l="0" t="-24890" r="0" b="-24890"/>
              </a:stretch>
            </a:blipFill>
          </p:spPr>
        </p:sp>
      </p:grpSp>
      <p:grpSp>
        <p:nvGrpSpPr>
          <p:cNvPr name="Group 31" id="31"/>
          <p:cNvGrpSpPr/>
          <p:nvPr/>
        </p:nvGrpSpPr>
        <p:grpSpPr>
          <a:xfrm rot="0">
            <a:off x="15695219" y="9354312"/>
            <a:ext cx="1371600" cy="356616"/>
            <a:chOff x="0" y="0"/>
            <a:chExt cx="1828800" cy="475488"/>
          </a:xfrm>
        </p:grpSpPr>
        <p:sp>
          <p:nvSpPr>
            <p:cNvPr name="Freeform 32" id="32"/>
            <p:cNvSpPr/>
            <p:nvPr/>
          </p:nvSpPr>
          <p:spPr>
            <a:xfrm flipH="false" flipV="false" rot="0">
              <a:off x="0" y="0"/>
              <a:ext cx="1828800" cy="475488"/>
            </a:xfrm>
            <a:custGeom>
              <a:avLst/>
              <a:gdLst/>
              <a:ahLst/>
              <a:cxnLst/>
              <a:rect r="r" b="b" t="t" l="l"/>
              <a:pathLst>
                <a:path h="475488" w="1828800">
                  <a:moveTo>
                    <a:pt x="0" y="0"/>
                  </a:moveTo>
                  <a:lnTo>
                    <a:pt x="1828800" y="0"/>
                  </a:lnTo>
                  <a:lnTo>
                    <a:pt x="1828800" y="475488"/>
                  </a:lnTo>
                  <a:lnTo>
                    <a:pt x="0" y="475488"/>
                  </a:lnTo>
                  <a:close/>
                </a:path>
              </a:pathLst>
            </a:custGeom>
            <a:blipFill>
              <a:blip r:embed="rId4">
                <a:alphaModFix amt="0"/>
              </a:blip>
              <a:stretch>
                <a:fillRect l="0" t="-24942" r="0" b="-24942"/>
              </a:stretch>
            </a:blipFill>
          </p:spPr>
        </p:sp>
        <p:sp>
          <p:nvSpPr>
            <p:cNvPr name="TextBox 33" id="33"/>
            <p:cNvSpPr txBox="true"/>
            <p:nvPr/>
          </p:nvSpPr>
          <p:spPr>
            <a:xfrm>
              <a:off x="0" y="0"/>
              <a:ext cx="1828800" cy="475488"/>
            </a:xfrm>
            <a:prstGeom prst="rect">
              <a:avLst/>
            </a:prstGeom>
          </p:spPr>
          <p:txBody>
            <a:bodyPr anchor="ctr" rtlCol="false" tIns="0" lIns="0" bIns="0" rIns="0"/>
            <a:lstStyle/>
            <a:p>
              <a:pPr algn="r">
                <a:lnSpc>
                  <a:spcPts val="1800"/>
                </a:lnSpc>
              </a:pPr>
              <a:r>
                <a:rPr lang="en-US" sz="1500">
                  <a:solidFill>
                    <a:srgbClr val="5B6770"/>
                  </a:solidFill>
                  <a:latin typeface="IBM Plex Sans"/>
                  <a:ea typeface="IBM Plex Sans"/>
                  <a:cs typeface="IBM Plex Sans"/>
                  <a:sym typeface="IBM Plex Sans"/>
                </a:rPr>
                <a:t>19</a:t>
              </a:r>
            </a:p>
          </p:txBody>
        </p:sp>
      </p:grpSp>
    </p:spTree>
  </p:cSld>
  <p:clrMapOvr>
    <a:masterClrMapping/>
  </p:clrMapOvr>
</p:sld>
</file>

<file path=ppt/slides/slide20.xml><?xml version="1.0" encoding="utf-8"?>
<p:sld xmlns:p="http://schemas.openxmlformats.org/presentationml/2006/main" xmlns:a="http://schemas.openxmlformats.org/drawingml/2006/main">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20724" y="3154680"/>
            <a:ext cx="15846095" cy="411480"/>
          </a:xfrm>
          <a:prstGeom prst="rect">
            <a:avLst/>
          </a:prstGeom>
        </p:spPr>
        <p:txBody>
          <a:bodyPr anchor="t" rtlCol="false" tIns="0" lIns="0" bIns="0" rIns="0">
            <a:spAutoFit/>
          </a:bodyPr>
          <a:lstStyle/>
          <a:p>
            <a:pPr algn="l">
              <a:lnSpc>
                <a:spcPts val="1980"/>
              </a:lnSpc>
            </a:pPr>
            <a:r>
              <a:rPr lang="en-US" b="true" sz="1650" spc="298">
                <a:solidFill>
                  <a:srgbClr val="0B6E60"/>
                </a:solidFill>
                <a:latin typeface="IBM Plex Sans Bold"/>
                <a:ea typeface="IBM Plex Sans Bold"/>
                <a:cs typeface="IBM Plex Sans Bold"/>
                <a:sym typeface="IBM Plex Sans Bold"/>
              </a:rPr>
              <a:t>THANK YOU FOR YOUR ATTENTION</a:t>
            </a:r>
          </a:p>
        </p:txBody>
      </p:sp>
      <p:sp>
        <p:nvSpPr>
          <p:cNvPr name="TextBox 3" id="3"/>
          <p:cNvSpPr txBox="true"/>
          <p:nvPr/>
        </p:nvSpPr>
        <p:spPr>
          <a:xfrm rot="0">
            <a:off x="1220724" y="3712845"/>
            <a:ext cx="15846095" cy="819150"/>
          </a:xfrm>
          <a:prstGeom prst="rect">
            <a:avLst/>
          </a:prstGeom>
        </p:spPr>
        <p:txBody>
          <a:bodyPr anchor="t" rtlCol="false" tIns="0" lIns="0" bIns="0" rIns="0">
            <a:spAutoFit/>
          </a:bodyPr>
          <a:lstStyle/>
          <a:p>
            <a:pPr algn="l">
              <a:lnSpc>
                <a:spcPts val="6480"/>
              </a:lnSpc>
            </a:pPr>
            <a:r>
              <a:rPr lang="en-US" sz="5400" b="true">
                <a:solidFill>
                  <a:srgbClr val="14304A"/>
                </a:solidFill>
                <a:latin typeface="Source Serif Pro Bold"/>
                <a:ea typeface="Source Serif Pro Bold"/>
                <a:cs typeface="Source Serif Pro Bold"/>
                <a:sym typeface="Source Serif Pro Bold"/>
              </a:rPr>
              <a:t>Questions &amp; open community discussion</a:t>
            </a:r>
          </a:p>
        </p:txBody>
      </p:sp>
      <p:sp>
        <p:nvSpPr>
          <p:cNvPr name="TextBox 4" id="4"/>
          <p:cNvSpPr txBox="true"/>
          <p:nvPr/>
        </p:nvSpPr>
        <p:spPr>
          <a:xfrm rot="0">
            <a:off x="1220724" y="5006340"/>
            <a:ext cx="15846095" cy="548640"/>
          </a:xfrm>
          <a:prstGeom prst="rect">
            <a:avLst/>
          </a:prstGeom>
        </p:spPr>
        <p:txBody>
          <a:bodyPr anchor="t" rtlCol="false" tIns="0" lIns="0" bIns="0" rIns="0">
            <a:spAutoFit/>
          </a:bodyPr>
          <a:lstStyle/>
          <a:p>
            <a:pPr algn="l">
              <a:lnSpc>
                <a:spcPts val="2878"/>
              </a:lnSpc>
            </a:pPr>
            <a:r>
              <a:rPr lang="en-US" sz="2400">
                <a:solidFill>
                  <a:srgbClr val="3F4B57"/>
                </a:solidFill>
                <a:latin typeface="IBM Plex Sans"/>
                <a:ea typeface="IBM Plex Sans"/>
                <a:cs typeface="IBM Plex Sans"/>
                <a:sym typeface="IBM Plex Sans"/>
              </a:rPr>
              <a:t>Protect our medicines, protect our future</a:t>
            </a:r>
          </a:p>
        </p:txBody>
      </p:sp>
      <p:grpSp>
        <p:nvGrpSpPr>
          <p:cNvPr name="Group 5" id="5"/>
          <p:cNvGrpSpPr/>
          <p:nvPr/>
        </p:nvGrpSpPr>
        <p:grpSpPr>
          <a:xfrm rot="0">
            <a:off x="1204055" y="7115651"/>
            <a:ext cx="101917" cy="1336358"/>
            <a:chOff x="0" y="0"/>
            <a:chExt cx="135890" cy="1781810"/>
          </a:xfrm>
        </p:grpSpPr>
        <p:sp>
          <p:nvSpPr>
            <p:cNvPr name="Freeform 6" id="6"/>
            <p:cNvSpPr/>
            <p:nvPr/>
          </p:nvSpPr>
          <p:spPr>
            <a:xfrm flipH="false" flipV="false" rot="0">
              <a:off x="0" y="0"/>
              <a:ext cx="135890" cy="1781810"/>
            </a:xfrm>
            <a:custGeom>
              <a:avLst/>
              <a:gdLst/>
              <a:ahLst/>
              <a:cxnLst/>
              <a:rect r="r" b="b" t="t" l="l"/>
              <a:pathLst>
                <a:path h="1781810" w="135890">
                  <a:moveTo>
                    <a:pt x="0" y="0"/>
                  </a:moveTo>
                  <a:lnTo>
                    <a:pt x="135890" y="0"/>
                  </a:lnTo>
                  <a:lnTo>
                    <a:pt x="135890" y="1781810"/>
                  </a:lnTo>
                  <a:lnTo>
                    <a:pt x="0" y="1781810"/>
                  </a:lnTo>
                  <a:close/>
                </a:path>
              </a:pathLst>
            </a:custGeom>
            <a:solidFill>
              <a:srgbClr val="0B6E60"/>
            </a:solidFill>
            <a:ln w="19050" cap="sq">
              <a:solidFill>
                <a:srgbClr val="0B6E60"/>
              </a:solidFill>
              <a:prstDash val="solid"/>
              <a:miter/>
            </a:ln>
          </p:spPr>
        </p:sp>
      </p:grpSp>
      <p:sp>
        <p:nvSpPr>
          <p:cNvPr name="TextBox 7" id="7"/>
          <p:cNvSpPr txBox="true"/>
          <p:nvPr/>
        </p:nvSpPr>
        <p:spPr>
          <a:xfrm rot="0">
            <a:off x="1522476" y="7113270"/>
            <a:ext cx="8229600" cy="457962"/>
          </a:xfrm>
          <a:prstGeom prst="rect">
            <a:avLst/>
          </a:prstGeom>
        </p:spPr>
        <p:txBody>
          <a:bodyPr anchor="t" rtlCol="false" tIns="0" lIns="0" bIns="0" rIns="0">
            <a:spAutoFit/>
          </a:bodyPr>
          <a:lstStyle/>
          <a:p>
            <a:pPr algn="l">
              <a:lnSpc>
                <a:spcPts val="2520"/>
              </a:lnSpc>
            </a:pPr>
            <a:r>
              <a:rPr lang="en-US" sz="2100" b="true">
                <a:solidFill>
                  <a:srgbClr val="14304A"/>
                </a:solidFill>
                <a:latin typeface="IBM Plex Sans Bold"/>
                <a:ea typeface="IBM Plex Sans Bold"/>
                <a:cs typeface="IBM Plex Sans Bold"/>
                <a:sym typeface="IBM Plex Sans Bold"/>
              </a:rPr>
              <a:t>Anila Munir</a:t>
            </a:r>
          </a:p>
        </p:txBody>
      </p:sp>
      <p:sp>
        <p:nvSpPr>
          <p:cNvPr name="TextBox 8" id="8"/>
          <p:cNvSpPr txBox="true"/>
          <p:nvPr/>
        </p:nvSpPr>
        <p:spPr>
          <a:xfrm rot="0">
            <a:off x="1522476" y="7612380"/>
            <a:ext cx="10972800" cy="247650"/>
          </a:xfrm>
          <a:prstGeom prst="rect">
            <a:avLst/>
          </a:prstGeom>
        </p:spPr>
        <p:txBody>
          <a:bodyPr anchor="t" rtlCol="false" tIns="0" lIns="0" bIns="0" rIns="0">
            <a:spAutoFit/>
          </a:bodyPr>
          <a:lstStyle/>
          <a:p>
            <a:pPr algn="l">
              <a:lnSpc>
                <a:spcPts val="1980"/>
              </a:lnSpc>
            </a:pPr>
            <a:r>
              <a:rPr lang="en-US" sz="1650">
                <a:solidFill>
                  <a:srgbClr val="5B6770"/>
                </a:solidFill>
                <a:latin typeface="IBM Plex Sans"/>
                <a:ea typeface="IBM Plex Sans"/>
                <a:cs typeface="IBM Plex Sans"/>
                <a:sym typeface="IBM Plex Sans"/>
              </a:rPr>
              <a:t>anilamunir15@gmail.com · Choa Saidan Shah, Chakwal, Pakistan · Feb– August 2026</a:t>
            </a:r>
          </a:p>
        </p:txBody>
      </p:sp>
      <p:sp>
        <p:nvSpPr>
          <p:cNvPr name="TextBox 9" id="9"/>
          <p:cNvSpPr txBox="true"/>
          <p:nvPr/>
        </p:nvSpPr>
        <p:spPr>
          <a:xfrm rot="0">
            <a:off x="1522476" y="7996428"/>
            <a:ext cx="10972800" cy="247650"/>
          </a:xfrm>
          <a:prstGeom prst="rect">
            <a:avLst/>
          </a:prstGeom>
        </p:spPr>
        <p:txBody>
          <a:bodyPr anchor="t" rtlCol="false" tIns="0" lIns="0" bIns="0" rIns="0">
            <a:spAutoFit/>
          </a:bodyPr>
          <a:lstStyle/>
          <a:p>
            <a:pPr algn="l">
              <a:lnSpc>
                <a:spcPts val="1980"/>
              </a:lnSpc>
            </a:pPr>
            <a:r>
              <a:rPr lang="en-US" sz="1650">
                <a:solidFill>
                  <a:srgbClr val="5B6770"/>
                </a:solidFill>
                <a:latin typeface="IBM Plex Sans"/>
                <a:ea typeface="IBM Plex Sans"/>
                <a:cs typeface="IBM Plex Sans"/>
                <a:sym typeface="IBM Plex Sans"/>
              </a:rPr>
              <a:t>Clinical &amp; Community Pharmacist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DAHW7kbFHW4</dc:identifier>
  <dcterms:modified xsi:type="dcterms:W3CDTF">2011-08-01T06:04:30Z</dcterms:modified>
  <cp:revision>1</cp:revision>
  <dc:title>Preserving Our Medicines_ Safe Antibiotic Use.pptx</dc:title>
</cp:coreProperties>
</file>