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6"/>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IBM Plex Sans Bold" charset="1" panose="020B0803050203000203"/>
      <p:regular r:id="rId29"/>
    </p:embeddedFont>
    <p:embeddedFont>
      <p:font typeface="Source Serif Pro Bold" charset="1" panose="02040803050405020204"/>
      <p:regular r:id="rId30"/>
    </p:embeddedFont>
    <p:embeddedFont>
      <p:font typeface="IBM Plex Sans" charset="1" panose="020B0503050203000203"/>
      <p:regular r:id="rId31"/>
    </p:embeddedFont>
    <p:embeddedFont>
      <p:font typeface="IBM Plex Sans Italics" charset="1" panose="020B0503050203000203"/>
      <p:regular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notesMasters/notesMaster1.xml" Type="http://schemas.openxmlformats.org/officeDocument/2006/relationships/notesMaster"/><Relationship Id="rId27" Target="theme/theme2.xml" Type="http://schemas.openxmlformats.org/officeDocument/2006/relationships/theme"/><Relationship Id="rId28" Target="notesSlides/notesSlide1.xml" Type="http://schemas.openxmlformats.org/officeDocument/2006/relationships/note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notesSlides/notesSlide2.xml" Type="http://schemas.openxmlformats.org/officeDocument/2006/relationships/notesSlide"/><Relationship Id="rId33" Target="notesSlides/notesSlide3.xml" Type="http://schemas.openxmlformats.org/officeDocument/2006/relationships/notesSlide"/><Relationship Id="rId34" Target="notesSlides/notesSlide4.xml" Type="http://schemas.openxmlformats.org/officeDocument/2006/relationships/notesSlide"/><Relationship Id="rId35" Target="notesSlides/notesSlide5.xml" Type="http://schemas.openxmlformats.org/officeDocument/2006/relationships/notesSlide"/><Relationship Id="rId36" Target="notesSlides/notesSlide6.xml" Type="http://schemas.openxmlformats.org/officeDocument/2006/relationships/notesSlide"/><Relationship Id="rId37" Target="notesSlides/notesSlide7.xml" Type="http://schemas.openxmlformats.org/officeDocument/2006/relationships/notesSlide"/><Relationship Id="rId38" Target="notesSlides/notesSlide8.xml" Type="http://schemas.openxmlformats.org/officeDocument/2006/relationships/notesSlide"/><Relationship Id="rId39" Target="fonts/font39.fntdata" Type="http://schemas.openxmlformats.org/officeDocument/2006/relationships/font"/><Relationship Id="rId4" Target="theme/theme1.xml" Type="http://schemas.openxmlformats.org/officeDocument/2006/relationships/theme"/><Relationship Id="rId40" Target="notesSlides/notesSlide9.xml" Type="http://schemas.openxmlformats.org/officeDocument/2006/relationships/notesSlide"/><Relationship Id="rId41" Target="notesSlides/notesSlide10.xml" Type="http://schemas.openxmlformats.org/officeDocument/2006/relationships/notesSlide"/><Relationship Id="rId42" Target="notesSlides/notesSlide11.xml" Type="http://schemas.openxmlformats.org/officeDocument/2006/relationships/notesSlide"/><Relationship Id="rId43" Target="notesSlides/notesSlide12.xml" Type="http://schemas.openxmlformats.org/officeDocument/2006/relationships/notesSlide"/><Relationship Id="rId44" Target="notesSlides/notesSlide13.xml" Type="http://schemas.openxmlformats.org/officeDocument/2006/relationships/notesSlide"/><Relationship Id="rId45" Target="notesSlides/notesSlide14.xml" Type="http://schemas.openxmlformats.org/officeDocument/2006/relationships/notesSlide"/><Relationship Id="rId46" Target="notesSlides/notesSlide15.xml" Type="http://schemas.openxmlformats.org/officeDocument/2006/relationships/notesSlide"/><Relationship Id="rId47" Target="notesSlides/notesSlide16.xml" Type="http://schemas.openxmlformats.org/officeDocument/2006/relationships/notesSlide"/><Relationship Id="rId48" Target="notesSlides/notesSlide17.xml" Type="http://schemas.openxmlformats.org/officeDocument/2006/relationships/notesSlide"/><Relationship Id="rId49" Target="notesSlides/notesSlide18.xml" Type="http://schemas.openxmlformats.org/officeDocument/2006/relationships/notesSlide"/><Relationship Id="rId5" Target="tableStyles.xml" Type="http://schemas.openxmlformats.org/officeDocument/2006/relationships/tableStyles"/><Relationship Id="rId50" Target="notesSlides/notesSlide19.xml" Type="http://schemas.openxmlformats.org/officeDocument/2006/relationships/notesSlide"/><Relationship Id="rId51" Target="notesSlides/notesSlide20.xml" Type="http://schemas.openxmlformats.org/officeDocument/2006/relationships/notesSlide"/><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Introduce yourself and the project: a community antibiotic stewardship programme in rural Chakwal, delivered as a pharmacist-led public health initiative under the DAAD EPOS umbrella. Three pillars: counselling at the dispensing point, flyer and poster drives, and free medical camps.</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presentation follows the logic of a public health intervention: problem, setting, objectives, the education content delivered, the survey of 200 community members, results, sustainability and conclusion.</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Antimicrobial resistance is one of the top global public health threats. The 1.27 million figure is from the Global Research on Antimicrobial Resistance study published in The Lancet in 2022. In rural communities the drivers are structural: no diagnostics, easy over-the-counter access and low awareness.</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programme covers five villages around Choa Saidan Shah. Each village has a main contact point, but all three channels were used in every village. Respondent counts per village come from the survey data sheet.</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Objectives cover knowledge (what resistance is), behaviour (no viral misuse, finish the course, no sharing or saving) and prevention (hygiene, One Health).</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Explain the mechanism in plain language: exposure without need, incomplete killing, selection of survivors. The key message counters the most common misconception, that the person becomes immune.</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These four drivers were observed at the pharmacy counter and during door-to-door visits, and were confirmed by the baseline survey: two thirds of respondents had bought antibiotics without a prescription in the previous three months.</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Each myth is answered with one plain sentence so that dispensers and health workers can repeat it. The first three are the most frequent; the last two were added after the first month of fieldwork.</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pharmacy counter is the moment of highest attention: the patient is holding the medicine. Flyers and posters carry the message home. Camps reach people who never come to a pharmacy and show that a diagnosis, not a pill, comes first.</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Show the actual materials: the flyer and poster designed for this programme, the camp outreach format, and the hygiene sessions that feed into golden rule four. Image sources are listed at the end of the deck.</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four rules are printed on the flyer and the dispensary poster and repeated at every counselling contact. They form the four practice items in the survey.</a:t>
            </a:r>
          </a:p>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Practical skills close the gap between knowing and doing. Timing and storage are the two most common practical errors seen at the counter.</a:t>
            </a:r>
          </a:p>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One Health links human, animal and environmental health. In farming households the animal shed is part of the medicine cabinet, so the message must cover livestock as well.</a:t>
            </a:r>
          </a:p>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Each of the 200 respondents answered the same 8-item knowledge questionnaire before and immediately after the education contact, and the 5 practice questions at baseline and eight weeks later. The full respondent-level dataset, all calculations and the chart data are in the accompanying Excel workbook.</a:t>
            </a:r>
          </a:p>
          <a:p>
            <a:r>
              <a:rPr lang="en-US"/>
              <a:t>14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Overall correct answers rose from 39% to 89%. The weakest baseline topics were resistance itself, livestock use and viral misuse, exactly the misconceptions the myths slide targets. Village and channel breakdowns are in the Demographics sheet of the workbook.</a:t>
            </a:r>
          </a:p>
          <a:p>
            <a:r>
              <a:rPr lang="en-US"/>
              <a:t>15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Behaviour changed less than knowledge, as expected, but every practice fell substantially. Over-the-counter purchase remains the most persistent behaviour and needs counter enforcement by dispensers, not only patient education.</a:t>
            </a:r>
          </a:p>
          <a:p>
            <a:r>
              <a:rPr lang="en-US"/>
              <a:t>16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Outcomes moved from knowledge to behaviour. The sustainability plan follows the four pillars of the long-term action plan: workshops, peer advocates, counter enforcement and impact tracking. Survey figures are from the pre/post questionnaire in the Excel workbook.</a:t>
            </a:r>
          </a:p>
          <a:p>
            <a:r>
              <a:rPr lang="en-US"/>
              <a:t>17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Close with the three levers: education at the counter, enforcement at the counter, and prevention through One Health. Invite questions.</a:t>
            </a:r>
          </a:p>
          <a:p>
            <a:r>
              <a:rPr lang="en-US"/>
              <a:t>18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Online sources were last checked on the access date shown. The national reference is Pakistan's National Action Plan for AMR (2017).</a:t>
            </a:r>
          </a:p>
          <a:p>
            <a:r>
              <a:rPr lang="en-US"/>
              <a:t>19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Thank the audience and invite questions.</a:t>
            </a:r>
          </a:p>
          <a:p>
            <a:r>
              <a:rPr lang="en-US"/>
              <a:t>21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4.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4.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4.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4.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4.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4.jpe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 Id="rId6" Target="../media/image7.png" Type="http://schemas.openxmlformats.org/officeDocument/2006/relationships/image"/><Relationship Id="rId7" Target="../media/image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4.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4.jpe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4.jpe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jpeg" Type="http://schemas.openxmlformats.org/officeDocument/2006/relationships/image"/><Relationship Id="rId7" Target="../media/image15.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4.jpeg" Type="http://schemas.openxmlformats.org/officeDocument/2006/relationships/image"/><Relationship Id="rId4" Target="../media/image1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4.jpe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 Id="rId6" Target="../media/image1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4.jpeg" Type="http://schemas.openxmlformats.org/officeDocument/2006/relationships/image"/><Relationship Id="rId4" Target="../media/image19.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4.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4.jpeg" Type="http://schemas.openxmlformats.org/officeDocument/2006/relationships/image"/><Relationship Id="rId4" Target="../media/image20.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4.jpeg" Type="http://schemas.openxmlformats.org/officeDocument/2006/relationships/image"/><Relationship Id="rId4" Target="../media/image21.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4.jpeg" Type="http://schemas.openxmlformats.org/officeDocument/2006/relationships/image"/><Relationship Id="rId4" Target="../media/image2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4.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4.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4304A"/>
        </a:solidFill>
      </p:bgPr>
    </p:bg>
    <p:spTree>
      <p:nvGrpSpPr>
        <p:cNvPr id="1" name=""/>
        <p:cNvGrpSpPr/>
        <p:nvPr/>
      </p:nvGrpSpPr>
      <p:grpSpPr>
        <a:xfrm>
          <a:off x="0" y="0"/>
          <a:ext cx="0" cy="0"/>
          <a:chOff x="0" y="0"/>
          <a:chExt cx="0" cy="0"/>
        </a:xfrm>
      </p:grpSpPr>
      <p:sp>
        <p:nvSpPr>
          <p:cNvPr name="TextBox 2" id="2"/>
          <p:cNvSpPr txBox="true"/>
          <p:nvPr/>
        </p:nvSpPr>
        <p:spPr>
          <a:xfrm rot="0">
            <a:off x="1220724" y="1920240"/>
            <a:ext cx="10149840" cy="411480"/>
          </a:xfrm>
          <a:prstGeom prst="rect">
            <a:avLst/>
          </a:prstGeom>
        </p:spPr>
        <p:txBody>
          <a:bodyPr anchor="t" rtlCol="false" tIns="0" lIns="0" bIns="0" rIns="0">
            <a:spAutoFit/>
          </a:bodyPr>
          <a:lstStyle/>
          <a:p>
            <a:pPr algn="l">
              <a:lnSpc>
                <a:spcPts val="1980"/>
              </a:lnSpc>
            </a:pPr>
            <a:r>
              <a:rPr lang="en-US" b="true" sz="1650" spc="299">
                <a:solidFill>
                  <a:srgbClr val="7FD1C0"/>
                </a:solidFill>
                <a:latin typeface="IBM Plex Sans Bold"/>
                <a:ea typeface="IBM Plex Sans Bold"/>
                <a:cs typeface="IBM Plex Sans Bold"/>
                <a:sym typeface="IBM Plex Sans Bold"/>
              </a:rPr>
              <a:t>DAAD EPOS · PUBLIC HEALTH INITIATIVE · COMMUNITY PHARMACY</a:t>
            </a:r>
          </a:p>
        </p:txBody>
      </p:sp>
      <p:sp>
        <p:nvSpPr>
          <p:cNvPr name="TextBox 3" id="3"/>
          <p:cNvSpPr txBox="true"/>
          <p:nvPr/>
        </p:nvSpPr>
        <p:spPr>
          <a:xfrm rot="0">
            <a:off x="1220724" y="2537460"/>
            <a:ext cx="9738360" cy="3154680"/>
          </a:xfrm>
          <a:prstGeom prst="rect">
            <a:avLst/>
          </a:prstGeom>
        </p:spPr>
        <p:txBody>
          <a:bodyPr anchor="t" rtlCol="false" tIns="0" lIns="0" bIns="0" rIns="0">
            <a:spAutoFit/>
          </a:bodyPr>
          <a:lstStyle/>
          <a:p>
            <a:pPr algn="l">
              <a:lnSpc>
                <a:spcPts val="6839"/>
              </a:lnSpc>
            </a:pPr>
            <a:r>
              <a:rPr lang="en-US" sz="5700" b="true">
                <a:solidFill>
                  <a:srgbClr val="FFFFFF"/>
                </a:solidFill>
                <a:latin typeface="Source Serif Pro Bold"/>
                <a:ea typeface="Source Serif Pro Bold"/>
                <a:cs typeface="Source Serif Pro Bold"/>
                <a:sym typeface="Source Serif Pro Bold"/>
              </a:rPr>
              <a:t>Preserving Our Medicines: Safe Antibiotic Use in Rural Communities</a:t>
            </a:r>
          </a:p>
        </p:txBody>
      </p:sp>
      <p:sp>
        <p:nvSpPr>
          <p:cNvPr name="TextBox 4" id="4"/>
          <p:cNvSpPr txBox="true"/>
          <p:nvPr/>
        </p:nvSpPr>
        <p:spPr>
          <a:xfrm rot="0">
            <a:off x="1220724" y="5888355"/>
            <a:ext cx="9738360" cy="1175385"/>
          </a:xfrm>
          <a:prstGeom prst="rect">
            <a:avLst/>
          </a:prstGeom>
        </p:spPr>
        <p:txBody>
          <a:bodyPr anchor="t" rtlCol="false" tIns="0" lIns="0" bIns="0" rIns="0">
            <a:spAutoFit/>
          </a:bodyPr>
          <a:lstStyle/>
          <a:p>
            <a:pPr algn="l">
              <a:lnSpc>
                <a:spcPts val="2520"/>
              </a:lnSpc>
            </a:pPr>
            <a:r>
              <a:rPr lang="en-US" sz="2100">
                <a:solidFill>
                  <a:srgbClr val="C5CACD"/>
                </a:solidFill>
                <a:latin typeface="IBM Plex Sans"/>
                <a:ea typeface="IBM Plex Sans"/>
                <a:cs typeface="IBM Plex Sans"/>
                <a:sym typeface="IBM Plex Sans"/>
              </a:rPr>
              <a:t>Educating 200 people in five villages of Chakwal District, Pakistan, through pharmacy counselling, flyer &amp; poster drives, door-to-door outreach and free medical camps</a:t>
            </a:r>
          </a:p>
        </p:txBody>
      </p:sp>
      <p:grpSp>
        <p:nvGrpSpPr>
          <p:cNvPr name="Group 5" id="5"/>
          <p:cNvGrpSpPr/>
          <p:nvPr/>
        </p:nvGrpSpPr>
        <p:grpSpPr>
          <a:xfrm rot="0">
            <a:off x="1211199" y="7259955"/>
            <a:ext cx="87630" cy="1390650"/>
            <a:chOff x="0" y="0"/>
            <a:chExt cx="116840" cy="1854200"/>
          </a:xfrm>
        </p:grpSpPr>
        <p:sp>
          <p:nvSpPr>
            <p:cNvPr name="Freeform 6" id="6"/>
            <p:cNvSpPr/>
            <p:nvPr/>
          </p:nvSpPr>
          <p:spPr>
            <a:xfrm flipH="false" flipV="false" rot="0">
              <a:off x="0" y="0"/>
              <a:ext cx="116840" cy="1854200"/>
            </a:xfrm>
            <a:custGeom>
              <a:avLst/>
              <a:gdLst/>
              <a:ahLst/>
              <a:cxnLst/>
              <a:rect r="r" b="b" t="t" l="l"/>
              <a:pathLst>
                <a:path h="1854200" w="116840">
                  <a:moveTo>
                    <a:pt x="0" y="0"/>
                  </a:moveTo>
                  <a:lnTo>
                    <a:pt x="116840" y="0"/>
                  </a:lnTo>
                  <a:lnTo>
                    <a:pt x="116840" y="1854200"/>
                  </a:lnTo>
                  <a:lnTo>
                    <a:pt x="0" y="1854200"/>
                  </a:lnTo>
                  <a:close/>
                </a:path>
              </a:pathLst>
            </a:custGeom>
            <a:solidFill>
              <a:srgbClr val="0B6E60"/>
            </a:solidFill>
            <a:ln w="19050" cap="sq">
              <a:solidFill>
                <a:srgbClr val="0B6E60"/>
              </a:solidFill>
              <a:prstDash val="solid"/>
              <a:miter/>
            </a:ln>
          </p:spPr>
        </p:sp>
      </p:grpSp>
      <p:sp>
        <p:nvSpPr>
          <p:cNvPr name="TextBox 7" id="7"/>
          <p:cNvSpPr txBox="true"/>
          <p:nvPr/>
        </p:nvSpPr>
        <p:spPr>
          <a:xfrm rot="0">
            <a:off x="1522476" y="7259955"/>
            <a:ext cx="8229600" cy="448437"/>
          </a:xfrm>
          <a:prstGeom prst="rect">
            <a:avLst/>
          </a:prstGeom>
        </p:spPr>
        <p:txBody>
          <a:bodyPr anchor="t" rtlCol="false" tIns="0" lIns="0" bIns="0" rIns="0">
            <a:spAutoFit/>
          </a:bodyPr>
          <a:lstStyle/>
          <a:p>
            <a:pPr algn="l">
              <a:lnSpc>
                <a:spcPts val="2520"/>
              </a:lnSpc>
            </a:pPr>
            <a:r>
              <a:rPr lang="en-US" sz="2100" b="true">
                <a:solidFill>
                  <a:srgbClr val="FFFFFF"/>
                </a:solidFill>
                <a:latin typeface="IBM Plex Sans Bold"/>
                <a:ea typeface="IBM Plex Sans Bold"/>
                <a:cs typeface="IBM Plex Sans Bold"/>
                <a:sym typeface="IBM Plex Sans Bold"/>
              </a:rPr>
              <a:t>Anila Munir</a:t>
            </a:r>
          </a:p>
        </p:txBody>
      </p:sp>
      <p:sp>
        <p:nvSpPr>
          <p:cNvPr name="TextBox 8" id="8"/>
          <p:cNvSpPr txBox="true"/>
          <p:nvPr/>
        </p:nvSpPr>
        <p:spPr>
          <a:xfrm rot="0">
            <a:off x="1522476" y="7763256"/>
            <a:ext cx="8915400" cy="384048"/>
          </a:xfrm>
          <a:prstGeom prst="rect">
            <a:avLst/>
          </a:prstGeom>
        </p:spPr>
        <p:txBody>
          <a:bodyPr anchor="t" rtlCol="false" tIns="0" lIns="0" bIns="0" rIns="0">
            <a:spAutoFit/>
          </a:bodyPr>
          <a:lstStyle/>
          <a:p>
            <a:pPr algn="l">
              <a:lnSpc>
                <a:spcPts val="1980"/>
              </a:lnSpc>
            </a:pPr>
            <a:r>
              <a:rPr lang="en-US" sz="1650">
                <a:solidFill>
                  <a:srgbClr val="C5CACD"/>
                </a:solidFill>
                <a:latin typeface="IBM Plex Sans"/>
                <a:ea typeface="IBM Plex Sans"/>
                <a:cs typeface="IBM Plex Sans"/>
                <a:sym typeface="IBM Plex Sans"/>
              </a:rPr>
              <a:t>Clinical &amp; Community Pharmacist · Choa Saidan Shah, Chakwal, Pakistan</a:t>
            </a:r>
          </a:p>
        </p:txBody>
      </p:sp>
      <p:sp>
        <p:nvSpPr>
          <p:cNvPr name="TextBox 9" id="9"/>
          <p:cNvSpPr txBox="true"/>
          <p:nvPr/>
        </p:nvSpPr>
        <p:spPr>
          <a:xfrm rot="0">
            <a:off x="1522476" y="8147304"/>
            <a:ext cx="8229600" cy="384048"/>
          </a:xfrm>
          <a:prstGeom prst="rect">
            <a:avLst/>
          </a:prstGeom>
        </p:spPr>
        <p:txBody>
          <a:bodyPr anchor="t" rtlCol="false" tIns="0" lIns="0" bIns="0" rIns="0">
            <a:spAutoFit/>
          </a:bodyPr>
          <a:lstStyle/>
          <a:p>
            <a:pPr algn="l">
              <a:lnSpc>
                <a:spcPts val="1980"/>
              </a:lnSpc>
            </a:pPr>
            <a:r>
              <a:rPr lang="en-US" sz="1650">
                <a:solidFill>
                  <a:srgbClr val="C5CACD"/>
                </a:solidFill>
                <a:latin typeface="IBM Plex Sans"/>
                <a:ea typeface="IBM Plex Sans"/>
                <a:cs typeface="IBM Plex Sans"/>
                <a:sym typeface="IBM Plex Sans"/>
              </a:rPr>
              <a:t>March – August 2026 · anilamunir15@gmail.com</a:t>
            </a:r>
          </a:p>
        </p:txBody>
      </p:sp>
      <p:grpSp>
        <p:nvGrpSpPr>
          <p:cNvPr name="Group 10" id="10"/>
          <p:cNvGrpSpPr/>
          <p:nvPr/>
        </p:nvGrpSpPr>
        <p:grpSpPr>
          <a:xfrm rot="0">
            <a:off x="11720036" y="2530316"/>
            <a:ext cx="5363528" cy="6049328"/>
            <a:chOff x="0" y="0"/>
            <a:chExt cx="7151370" cy="8065770"/>
          </a:xfrm>
        </p:grpSpPr>
        <p:sp>
          <p:nvSpPr>
            <p:cNvPr name="Freeform 11" id="11"/>
            <p:cNvSpPr/>
            <p:nvPr/>
          </p:nvSpPr>
          <p:spPr>
            <a:xfrm flipH="false" flipV="false" rot="0">
              <a:off x="0" y="0"/>
              <a:ext cx="7151370" cy="8065770"/>
            </a:xfrm>
            <a:custGeom>
              <a:avLst/>
              <a:gdLst/>
              <a:ahLst/>
              <a:cxnLst/>
              <a:rect r="r" b="b" t="t" l="l"/>
              <a:pathLst>
                <a:path h="8065770" w="7151370">
                  <a:moveTo>
                    <a:pt x="0" y="183388"/>
                  </a:moveTo>
                  <a:cubicBezTo>
                    <a:pt x="0" y="82042"/>
                    <a:pt x="82042" y="0"/>
                    <a:pt x="183388" y="0"/>
                  </a:cubicBezTo>
                  <a:lnTo>
                    <a:pt x="6967982" y="0"/>
                  </a:lnTo>
                  <a:cubicBezTo>
                    <a:pt x="7069200" y="0"/>
                    <a:pt x="7151370" y="82042"/>
                    <a:pt x="7151370" y="183388"/>
                  </a:cubicBezTo>
                  <a:lnTo>
                    <a:pt x="7151370" y="7882382"/>
                  </a:lnTo>
                  <a:cubicBezTo>
                    <a:pt x="7151370" y="7983600"/>
                    <a:pt x="7069327" y="8065770"/>
                    <a:pt x="6967982" y="8065770"/>
                  </a:cubicBezTo>
                  <a:lnTo>
                    <a:pt x="183388" y="8065770"/>
                  </a:lnTo>
                  <a:cubicBezTo>
                    <a:pt x="82042" y="8065770"/>
                    <a:pt x="0" y="7983728"/>
                    <a:pt x="0" y="7882382"/>
                  </a:cubicBezTo>
                  <a:close/>
                </a:path>
              </a:pathLst>
            </a:custGeom>
            <a:solidFill>
              <a:srgbClr val="1D3A57"/>
            </a:solidFill>
            <a:ln w="14288" cap="sq">
              <a:solidFill>
                <a:srgbClr val="2E4B66"/>
              </a:solidFill>
              <a:prstDash val="solid"/>
              <a:miter/>
            </a:ln>
          </p:spPr>
        </p:sp>
      </p:grpSp>
      <p:sp>
        <p:nvSpPr>
          <p:cNvPr name="TextBox 12" id="12"/>
          <p:cNvSpPr txBox="true"/>
          <p:nvPr/>
        </p:nvSpPr>
        <p:spPr>
          <a:xfrm rot="0">
            <a:off x="12207240" y="2976372"/>
            <a:ext cx="4389120" cy="384048"/>
          </a:xfrm>
          <a:prstGeom prst="rect">
            <a:avLst/>
          </a:prstGeom>
        </p:spPr>
        <p:txBody>
          <a:bodyPr anchor="t" rtlCol="false" tIns="0" lIns="0" bIns="0" rIns="0">
            <a:spAutoFit/>
          </a:bodyPr>
          <a:lstStyle/>
          <a:p>
            <a:pPr algn="l">
              <a:lnSpc>
                <a:spcPts val="1800"/>
              </a:lnSpc>
            </a:pPr>
            <a:r>
              <a:rPr lang="en-US" b="true" sz="1500" spc="300">
                <a:solidFill>
                  <a:srgbClr val="7FD1C0"/>
                </a:solidFill>
                <a:latin typeface="IBM Plex Sans Bold"/>
                <a:ea typeface="IBM Plex Sans Bold"/>
                <a:cs typeface="IBM Plex Sans Bold"/>
                <a:sym typeface="IBM Plex Sans Bold"/>
              </a:rPr>
              <a:t>THREE PILLARS OF FIELDWORK</a:t>
            </a:r>
          </a:p>
        </p:txBody>
      </p:sp>
      <p:grpSp>
        <p:nvGrpSpPr>
          <p:cNvPr name="Group 13" id="13"/>
          <p:cNvGrpSpPr/>
          <p:nvPr/>
        </p:nvGrpSpPr>
        <p:grpSpPr>
          <a:xfrm rot="0">
            <a:off x="12200096" y="3764756"/>
            <a:ext cx="837248" cy="837248"/>
            <a:chOff x="0" y="0"/>
            <a:chExt cx="1116330" cy="1116330"/>
          </a:xfrm>
        </p:grpSpPr>
        <p:sp>
          <p:nvSpPr>
            <p:cNvPr name="Freeform 14" id="14"/>
            <p:cNvSpPr/>
            <p:nvPr/>
          </p:nvSpPr>
          <p:spPr>
            <a:xfrm flipH="false" flipV="false" rot="0">
              <a:off x="0" y="0"/>
              <a:ext cx="1116330" cy="1116330"/>
            </a:xfrm>
            <a:custGeom>
              <a:avLst/>
              <a:gdLst/>
              <a:ahLst/>
              <a:cxnLst/>
              <a:rect r="r" b="b" t="t" l="l"/>
              <a:pathLst>
                <a:path h="1116330" w="1116330">
                  <a:moveTo>
                    <a:pt x="0" y="558165"/>
                  </a:moveTo>
                  <a:cubicBezTo>
                    <a:pt x="0" y="249936"/>
                    <a:pt x="249936" y="0"/>
                    <a:pt x="558165" y="0"/>
                  </a:cubicBezTo>
                  <a:cubicBezTo>
                    <a:pt x="866394" y="0"/>
                    <a:pt x="1116330" y="249936"/>
                    <a:pt x="1116330" y="558165"/>
                  </a:cubicBezTo>
                  <a:cubicBezTo>
                    <a:pt x="1116330" y="866394"/>
                    <a:pt x="866394" y="1116330"/>
                    <a:pt x="558165" y="1116330"/>
                  </a:cubicBezTo>
                  <a:cubicBezTo>
                    <a:pt x="249936" y="1116330"/>
                    <a:pt x="0" y="866394"/>
                    <a:pt x="0" y="558165"/>
                  </a:cubicBezTo>
                  <a:close/>
                </a:path>
              </a:pathLst>
            </a:custGeom>
            <a:solidFill>
              <a:srgbClr val="14304A"/>
            </a:solidFill>
            <a:ln w="14288" cap="sq">
              <a:solidFill>
                <a:srgbClr val="2E4B66"/>
              </a:solidFill>
              <a:prstDash val="solid"/>
              <a:miter/>
            </a:ln>
          </p:spPr>
        </p:sp>
      </p:grpSp>
      <p:grpSp>
        <p:nvGrpSpPr>
          <p:cNvPr name="Group 15" id="15"/>
          <p:cNvGrpSpPr/>
          <p:nvPr/>
        </p:nvGrpSpPr>
        <p:grpSpPr>
          <a:xfrm rot="0">
            <a:off x="12412980" y="3977640"/>
            <a:ext cx="411480" cy="411480"/>
            <a:chOff x="0" y="0"/>
            <a:chExt cx="548640" cy="548640"/>
          </a:xfrm>
        </p:grpSpPr>
        <p:sp>
          <p:nvSpPr>
            <p:cNvPr name="Freeform 16" id="16" descr="preencoded.png"/>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3"/>
              <a:stretch>
                <a:fillRect l="0" t="0" r="0" b="0"/>
              </a:stretch>
            </a:blipFill>
          </p:spPr>
        </p:sp>
      </p:grpSp>
      <p:sp>
        <p:nvSpPr>
          <p:cNvPr name="TextBox 17" id="17"/>
          <p:cNvSpPr txBox="true"/>
          <p:nvPr/>
        </p:nvSpPr>
        <p:spPr>
          <a:xfrm rot="0">
            <a:off x="13235940" y="3703320"/>
            <a:ext cx="3429000" cy="438912"/>
          </a:xfrm>
          <a:prstGeom prst="rect">
            <a:avLst/>
          </a:prstGeom>
        </p:spPr>
        <p:txBody>
          <a:bodyPr anchor="t" rtlCol="false" tIns="0" lIns="0" bIns="0" rIns="0">
            <a:spAutoFit/>
          </a:bodyPr>
          <a:lstStyle/>
          <a:p>
            <a:pPr algn="l">
              <a:lnSpc>
                <a:spcPts val="2340"/>
              </a:lnSpc>
            </a:pPr>
            <a:r>
              <a:rPr lang="en-US" sz="1950" b="true">
                <a:solidFill>
                  <a:srgbClr val="FFFFFF"/>
                </a:solidFill>
                <a:latin typeface="IBM Plex Sans Bold"/>
                <a:ea typeface="IBM Plex Sans Bold"/>
                <a:cs typeface="IBM Plex Sans Bold"/>
                <a:sym typeface="IBM Plex Sans Bold"/>
              </a:rPr>
              <a:t>Dispensing counselling</a:t>
            </a:r>
          </a:p>
        </p:txBody>
      </p:sp>
      <p:sp>
        <p:nvSpPr>
          <p:cNvPr name="TextBox 18" id="18"/>
          <p:cNvSpPr txBox="true"/>
          <p:nvPr/>
        </p:nvSpPr>
        <p:spPr>
          <a:xfrm rot="0">
            <a:off x="13235940" y="4179189"/>
            <a:ext cx="3429000" cy="676275"/>
          </a:xfrm>
          <a:prstGeom prst="rect">
            <a:avLst/>
          </a:prstGeom>
        </p:spPr>
        <p:txBody>
          <a:bodyPr anchor="t" rtlCol="false" tIns="0" lIns="0" bIns="0" rIns="0">
            <a:spAutoFit/>
          </a:bodyPr>
          <a:lstStyle/>
          <a:p>
            <a:pPr algn="l">
              <a:lnSpc>
                <a:spcPts val="1889"/>
              </a:lnSpc>
            </a:pPr>
            <a:r>
              <a:rPr lang="en-US" sz="1575">
                <a:solidFill>
                  <a:srgbClr val="C5CACD"/>
                </a:solidFill>
                <a:latin typeface="IBM Plex Sans"/>
                <a:ea typeface="IBM Plex Sans"/>
                <a:cs typeface="IBM Plex Sans"/>
                <a:sym typeface="IBM Plex Sans"/>
              </a:rPr>
              <a:t>Patient education at the pharmacy counter</a:t>
            </a:r>
          </a:p>
        </p:txBody>
      </p:sp>
      <p:grpSp>
        <p:nvGrpSpPr>
          <p:cNvPr name="Group 19" id="19"/>
          <p:cNvGrpSpPr/>
          <p:nvPr/>
        </p:nvGrpSpPr>
        <p:grpSpPr>
          <a:xfrm rot="0">
            <a:off x="12200096" y="5342096"/>
            <a:ext cx="837248" cy="837248"/>
            <a:chOff x="0" y="0"/>
            <a:chExt cx="1116330" cy="1116330"/>
          </a:xfrm>
        </p:grpSpPr>
        <p:sp>
          <p:nvSpPr>
            <p:cNvPr name="Freeform 20" id="20"/>
            <p:cNvSpPr/>
            <p:nvPr/>
          </p:nvSpPr>
          <p:spPr>
            <a:xfrm flipH="false" flipV="false" rot="0">
              <a:off x="0" y="0"/>
              <a:ext cx="1116330" cy="1116330"/>
            </a:xfrm>
            <a:custGeom>
              <a:avLst/>
              <a:gdLst/>
              <a:ahLst/>
              <a:cxnLst/>
              <a:rect r="r" b="b" t="t" l="l"/>
              <a:pathLst>
                <a:path h="1116330" w="1116330">
                  <a:moveTo>
                    <a:pt x="0" y="558165"/>
                  </a:moveTo>
                  <a:cubicBezTo>
                    <a:pt x="0" y="249936"/>
                    <a:pt x="249936" y="0"/>
                    <a:pt x="558165" y="0"/>
                  </a:cubicBezTo>
                  <a:cubicBezTo>
                    <a:pt x="866394" y="0"/>
                    <a:pt x="1116330" y="249936"/>
                    <a:pt x="1116330" y="558165"/>
                  </a:cubicBezTo>
                  <a:cubicBezTo>
                    <a:pt x="1116330" y="866394"/>
                    <a:pt x="866394" y="1116330"/>
                    <a:pt x="558165" y="1116330"/>
                  </a:cubicBezTo>
                  <a:cubicBezTo>
                    <a:pt x="249936" y="1116330"/>
                    <a:pt x="0" y="866394"/>
                    <a:pt x="0" y="558165"/>
                  </a:cubicBezTo>
                  <a:close/>
                </a:path>
              </a:pathLst>
            </a:custGeom>
            <a:solidFill>
              <a:srgbClr val="14304A"/>
            </a:solidFill>
            <a:ln w="14288" cap="sq">
              <a:solidFill>
                <a:srgbClr val="2E4B66"/>
              </a:solidFill>
              <a:prstDash val="solid"/>
              <a:miter/>
            </a:ln>
          </p:spPr>
        </p:sp>
      </p:grpSp>
      <p:grpSp>
        <p:nvGrpSpPr>
          <p:cNvPr name="Group 21" id="21"/>
          <p:cNvGrpSpPr/>
          <p:nvPr/>
        </p:nvGrpSpPr>
        <p:grpSpPr>
          <a:xfrm rot="0">
            <a:off x="12412980" y="5554980"/>
            <a:ext cx="411480" cy="411480"/>
            <a:chOff x="0" y="0"/>
            <a:chExt cx="548640" cy="548640"/>
          </a:xfrm>
        </p:grpSpPr>
        <p:sp>
          <p:nvSpPr>
            <p:cNvPr name="Freeform 22" id="22" descr="preencoded.png"/>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4"/>
              <a:stretch>
                <a:fillRect l="0" t="0" r="0" b="0"/>
              </a:stretch>
            </a:blipFill>
          </p:spPr>
        </p:sp>
      </p:grpSp>
      <p:sp>
        <p:nvSpPr>
          <p:cNvPr name="TextBox 23" id="23"/>
          <p:cNvSpPr txBox="true"/>
          <p:nvPr/>
        </p:nvSpPr>
        <p:spPr>
          <a:xfrm rot="0">
            <a:off x="13235940" y="5280660"/>
            <a:ext cx="3429000" cy="438912"/>
          </a:xfrm>
          <a:prstGeom prst="rect">
            <a:avLst/>
          </a:prstGeom>
        </p:spPr>
        <p:txBody>
          <a:bodyPr anchor="t" rtlCol="false" tIns="0" lIns="0" bIns="0" rIns="0">
            <a:spAutoFit/>
          </a:bodyPr>
          <a:lstStyle/>
          <a:p>
            <a:pPr algn="l">
              <a:lnSpc>
                <a:spcPts val="2340"/>
              </a:lnSpc>
            </a:pPr>
            <a:r>
              <a:rPr lang="en-US" sz="1950" b="true">
                <a:solidFill>
                  <a:srgbClr val="FFFFFF"/>
                </a:solidFill>
                <a:latin typeface="IBM Plex Sans Bold"/>
                <a:ea typeface="IBM Plex Sans Bold"/>
                <a:cs typeface="IBM Plex Sans Bold"/>
                <a:sym typeface="IBM Plex Sans Bold"/>
              </a:rPr>
              <a:t>Flyers &amp; posters</a:t>
            </a:r>
          </a:p>
        </p:txBody>
      </p:sp>
      <p:sp>
        <p:nvSpPr>
          <p:cNvPr name="TextBox 24" id="24"/>
          <p:cNvSpPr txBox="true"/>
          <p:nvPr/>
        </p:nvSpPr>
        <p:spPr>
          <a:xfrm rot="0">
            <a:off x="13235940" y="5756529"/>
            <a:ext cx="3429000" cy="676275"/>
          </a:xfrm>
          <a:prstGeom prst="rect">
            <a:avLst/>
          </a:prstGeom>
        </p:spPr>
        <p:txBody>
          <a:bodyPr anchor="t" rtlCol="false" tIns="0" lIns="0" bIns="0" rIns="0">
            <a:spAutoFit/>
          </a:bodyPr>
          <a:lstStyle/>
          <a:p>
            <a:pPr algn="l">
              <a:lnSpc>
                <a:spcPts val="1889"/>
              </a:lnSpc>
            </a:pPr>
            <a:r>
              <a:rPr lang="en-US" sz="1575">
                <a:solidFill>
                  <a:srgbClr val="C5CACD"/>
                </a:solidFill>
                <a:latin typeface="IBM Plex Sans"/>
                <a:ea typeface="IBM Plex Sans"/>
                <a:cs typeface="IBM Plex Sans"/>
                <a:sym typeface="IBM Plex Sans"/>
              </a:rPr>
              <a:t>Door-to-door visits and posters in dispensaries</a:t>
            </a:r>
          </a:p>
        </p:txBody>
      </p:sp>
      <p:grpSp>
        <p:nvGrpSpPr>
          <p:cNvPr name="Group 25" id="25"/>
          <p:cNvGrpSpPr/>
          <p:nvPr/>
        </p:nvGrpSpPr>
        <p:grpSpPr>
          <a:xfrm rot="0">
            <a:off x="12200096" y="6919436"/>
            <a:ext cx="837248" cy="837248"/>
            <a:chOff x="0" y="0"/>
            <a:chExt cx="1116330" cy="1116330"/>
          </a:xfrm>
        </p:grpSpPr>
        <p:sp>
          <p:nvSpPr>
            <p:cNvPr name="Freeform 26" id="26"/>
            <p:cNvSpPr/>
            <p:nvPr/>
          </p:nvSpPr>
          <p:spPr>
            <a:xfrm flipH="false" flipV="false" rot="0">
              <a:off x="0" y="0"/>
              <a:ext cx="1116330" cy="1116330"/>
            </a:xfrm>
            <a:custGeom>
              <a:avLst/>
              <a:gdLst/>
              <a:ahLst/>
              <a:cxnLst/>
              <a:rect r="r" b="b" t="t" l="l"/>
              <a:pathLst>
                <a:path h="1116330" w="1116330">
                  <a:moveTo>
                    <a:pt x="0" y="558165"/>
                  </a:moveTo>
                  <a:cubicBezTo>
                    <a:pt x="0" y="249936"/>
                    <a:pt x="249936" y="0"/>
                    <a:pt x="558165" y="0"/>
                  </a:cubicBezTo>
                  <a:cubicBezTo>
                    <a:pt x="866394" y="0"/>
                    <a:pt x="1116330" y="249936"/>
                    <a:pt x="1116330" y="558165"/>
                  </a:cubicBezTo>
                  <a:cubicBezTo>
                    <a:pt x="1116330" y="866394"/>
                    <a:pt x="866394" y="1116330"/>
                    <a:pt x="558165" y="1116330"/>
                  </a:cubicBezTo>
                  <a:cubicBezTo>
                    <a:pt x="249936" y="1116330"/>
                    <a:pt x="0" y="866394"/>
                    <a:pt x="0" y="558165"/>
                  </a:cubicBezTo>
                  <a:close/>
                </a:path>
              </a:pathLst>
            </a:custGeom>
            <a:solidFill>
              <a:srgbClr val="14304A"/>
            </a:solidFill>
            <a:ln w="14288" cap="sq">
              <a:solidFill>
                <a:srgbClr val="2E4B66"/>
              </a:solidFill>
              <a:prstDash val="solid"/>
              <a:miter/>
            </a:ln>
          </p:spPr>
        </p:sp>
      </p:grpSp>
      <p:grpSp>
        <p:nvGrpSpPr>
          <p:cNvPr name="Group 27" id="27"/>
          <p:cNvGrpSpPr/>
          <p:nvPr/>
        </p:nvGrpSpPr>
        <p:grpSpPr>
          <a:xfrm rot="0">
            <a:off x="12412980" y="7132320"/>
            <a:ext cx="411480" cy="411480"/>
            <a:chOff x="0" y="0"/>
            <a:chExt cx="548640" cy="548640"/>
          </a:xfrm>
        </p:grpSpPr>
        <p:sp>
          <p:nvSpPr>
            <p:cNvPr name="Freeform 28" id="28" descr="preencoded.png"/>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5"/>
              <a:stretch>
                <a:fillRect l="0" t="0" r="0" b="0"/>
              </a:stretch>
            </a:blipFill>
          </p:spPr>
        </p:sp>
      </p:grpSp>
      <p:sp>
        <p:nvSpPr>
          <p:cNvPr name="TextBox 29" id="29"/>
          <p:cNvSpPr txBox="true"/>
          <p:nvPr/>
        </p:nvSpPr>
        <p:spPr>
          <a:xfrm rot="0">
            <a:off x="13235940" y="6858000"/>
            <a:ext cx="3429000" cy="438912"/>
          </a:xfrm>
          <a:prstGeom prst="rect">
            <a:avLst/>
          </a:prstGeom>
        </p:spPr>
        <p:txBody>
          <a:bodyPr anchor="t" rtlCol="false" tIns="0" lIns="0" bIns="0" rIns="0">
            <a:spAutoFit/>
          </a:bodyPr>
          <a:lstStyle/>
          <a:p>
            <a:pPr algn="l">
              <a:lnSpc>
                <a:spcPts val="2340"/>
              </a:lnSpc>
            </a:pPr>
            <a:r>
              <a:rPr lang="en-US" sz="1950" b="true">
                <a:solidFill>
                  <a:srgbClr val="FFFFFF"/>
                </a:solidFill>
                <a:latin typeface="IBM Plex Sans Bold"/>
                <a:ea typeface="IBM Plex Sans Bold"/>
                <a:cs typeface="IBM Plex Sans Bold"/>
                <a:sym typeface="IBM Plex Sans Bold"/>
              </a:rPr>
              <a:t>Free medical camps</a:t>
            </a:r>
          </a:p>
        </p:txBody>
      </p:sp>
      <p:sp>
        <p:nvSpPr>
          <p:cNvPr name="TextBox 30" id="30"/>
          <p:cNvSpPr txBox="true"/>
          <p:nvPr/>
        </p:nvSpPr>
        <p:spPr>
          <a:xfrm rot="0">
            <a:off x="13235940" y="7333869"/>
            <a:ext cx="3429000" cy="676275"/>
          </a:xfrm>
          <a:prstGeom prst="rect">
            <a:avLst/>
          </a:prstGeom>
        </p:spPr>
        <p:txBody>
          <a:bodyPr anchor="t" rtlCol="false" tIns="0" lIns="0" bIns="0" rIns="0">
            <a:spAutoFit/>
          </a:bodyPr>
          <a:lstStyle/>
          <a:p>
            <a:pPr algn="l">
              <a:lnSpc>
                <a:spcPts val="1889"/>
              </a:lnSpc>
            </a:pPr>
            <a:r>
              <a:rPr lang="en-US" sz="1575">
                <a:solidFill>
                  <a:srgbClr val="C5CACD"/>
                </a:solidFill>
                <a:latin typeface="IBM Plex Sans"/>
                <a:ea typeface="IBM Plex Sans"/>
                <a:cs typeface="IBM Plex Sans"/>
                <a:sym typeface="IBM Plex Sans"/>
              </a:rPr>
              <a:t>Screening, diagnosis and safe-use advice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7F6F2"/>
        </a:solidFill>
      </p:bgPr>
    </p:bg>
    <p:spTree>
      <p:nvGrpSpPr>
        <p:cNvPr id="1" name=""/>
        <p:cNvGrpSpPr/>
        <p:nvPr/>
      </p:nvGrpSpPr>
      <p:grpSpPr>
        <a:xfrm>
          <a:off x="0" y="0"/>
          <a:ext cx="0" cy="0"/>
          <a:chOff x="0" y="0"/>
          <a:chExt cx="0" cy="0"/>
        </a:xfrm>
      </p:grpSpPr>
      <p:grpSp>
        <p:nvGrpSpPr>
          <p:cNvPr name="Group 2" id="2"/>
          <p:cNvGrpSpPr/>
          <p:nvPr/>
        </p:nvGrpSpPr>
        <p:grpSpPr>
          <a:xfrm rot="0">
            <a:off x="1220724" y="1124712"/>
            <a:ext cx="15846095" cy="384048"/>
            <a:chOff x="0" y="0"/>
            <a:chExt cx="21128126" cy="512064"/>
          </a:xfrm>
        </p:grpSpPr>
        <p:sp>
          <p:nvSpPr>
            <p:cNvPr name="Freeform 3" id="3"/>
            <p:cNvSpPr/>
            <p:nvPr/>
          </p:nvSpPr>
          <p:spPr>
            <a:xfrm flipH="false" flipV="false" rot="0">
              <a:off x="0" y="0"/>
              <a:ext cx="21128126" cy="512064"/>
            </a:xfrm>
            <a:custGeom>
              <a:avLst/>
              <a:gdLst/>
              <a:ahLst/>
              <a:cxnLst/>
              <a:rect r="r" b="b" t="t" l="l"/>
              <a:pathLst>
                <a:path h="512064" w="21128126">
                  <a:moveTo>
                    <a:pt x="0" y="0"/>
                  </a:moveTo>
                  <a:lnTo>
                    <a:pt x="21128126" y="0"/>
                  </a:lnTo>
                  <a:lnTo>
                    <a:pt x="21128126" y="512064"/>
                  </a:lnTo>
                  <a:lnTo>
                    <a:pt x="0" y="512064"/>
                  </a:lnTo>
                  <a:close/>
                </a:path>
              </a:pathLst>
            </a:custGeom>
            <a:blipFill>
              <a:blip r:embed="rId3">
                <a:alphaModFix amt="0"/>
              </a:blip>
              <a:stretch>
                <a:fillRect l="0" t="-753966" r="0" b="-753966"/>
              </a:stretch>
            </a:blipFill>
          </p:spPr>
        </p:sp>
        <p:sp>
          <p:nvSpPr>
            <p:cNvPr name="TextBox 4" id="4"/>
            <p:cNvSpPr txBox="true"/>
            <p:nvPr/>
          </p:nvSpPr>
          <p:spPr>
            <a:xfrm>
              <a:off x="0" y="0"/>
              <a:ext cx="21128126" cy="512064"/>
            </a:xfrm>
            <a:prstGeom prst="rect">
              <a:avLst/>
            </a:prstGeom>
          </p:spPr>
          <p:txBody>
            <a:bodyPr anchor="ctr" rtlCol="false" tIns="0" lIns="0" bIns="0" rIns="0"/>
            <a:lstStyle/>
            <a:p>
              <a:pPr algn="l">
                <a:lnSpc>
                  <a:spcPts val="1980"/>
                </a:lnSpc>
              </a:pPr>
              <a:r>
                <a:rPr lang="en-US" b="true" sz="1650" spc="299">
                  <a:solidFill>
                    <a:srgbClr val="0B6E60"/>
                  </a:solidFill>
                  <a:latin typeface="IBM Plex Sans Bold"/>
                  <a:ea typeface="IBM Plex Sans Bold"/>
                  <a:cs typeface="IBM Plex Sans Bold"/>
                  <a:sym typeface="IBM Plex Sans Bold"/>
                </a:rPr>
                <a:t>OUTLINE</a:t>
              </a:r>
            </a:p>
          </p:txBody>
        </p:sp>
      </p:grpSp>
      <p:grpSp>
        <p:nvGrpSpPr>
          <p:cNvPr name="Group 5" id="5"/>
          <p:cNvGrpSpPr/>
          <p:nvPr/>
        </p:nvGrpSpPr>
        <p:grpSpPr>
          <a:xfrm rot="0">
            <a:off x="1220724" y="1536192"/>
            <a:ext cx="15846095" cy="850392"/>
            <a:chOff x="0" y="0"/>
            <a:chExt cx="21128126" cy="1133856"/>
          </a:xfrm>
        </p:grpSpPr>
        <p:sp>
          <p:nvSpPr>
            <p:cNvPr name="Freeform 6" id="6"/>
            <p:cNvSpPr/>
            <p:nvPr/>
          </p:nvSpPr>
          <p:spPr>
            <a:xfrm flipH="false" flipV="false" rot="0">
              <a:off x="0" y="0"/>
              <a:ext cx="21128126" cy="1133856"/>
            </a:xfrm>
            <a:custGeom>
              <a:avLst/>
              <a:gdLst/>
              <a:ahLst/>
              <a:cxnLst/>
              <a:rect r="r" b="b" t="t" l="l"/>
              <a:pathLst>
                <a:path h="1133856" w="21128126">
                  <a:moveTo>
                    <a:pt x="0" y="0"/>
                  </a:moveTo>
                  <a:lnTo>
                    <a:pt x="21128126" y="0"/>
                  </a:lnTo>
                  <a:lnTo>
                    <a:pt x="21128126" y="1133856"/>
                  </a:lnTo>
                  <a:lnTo>
                    <a:pt x="0" y="1133856"/>
                  </a:lnTo>
                  <a:close/>
                </a:path>
              </a:pathLst>
            </a:custGeom>
            <a:blipFill>
              <a:blip r:embed="rId3">
                <a:alphaModFix amt="0"/>
              </a:blip>
              <a:stretch>
                <a:fillRect l="0" t="-313081" r="0" b="-313081"/>
              </a:stretch>
            </a:blipFill>
          </p:spPr>
        </p:sp>
        <p:sp>
          <p:nvSpPr>
            <p:cNvPr name="TextBox 7" id="7"/>
            <p:cNvSpPr txBox="true"/>
            <p:nvPr/>
          </p:nvSpPr>
          <p:spPr>
            <a:xfrm>
              <a:off x="0" y="0"/>
              <a:ext cx="21128126" cy="1133856"/>
            </a:xfrm>
            <a:prstGeom prst="rect">
              <a:avLst/>
            </a:prstGeom>
          </p:spPr>
          <p:txBody>
            <a:bodyPr anchor="ctr" rtlCol="false" tIns="0" lIns="0" bIns="0" rIns="0"/>
            <a:lstStyle/>
            <a:p>
              <a:pPr algn="l">
                <a:lnSpc>
                  <a:spcPts val="5400"/>
                </a:lnSpc>
              </a:pPr>
              <a:r>
                <a:rPr lang="en-US" sz="4500" b="true">
                  <a:solidFill>
                    <a:srgbClr val="14304A"/>
                  </a:solidFill>
                  <a:latin typeface="Source Serif Pro Bold"/>
                  <a:ea typeface="Source Serif Pro Bold"/>
                  <a:cs typeface="Source Serif Pro Bold"/>
                  <a:sym typeface="Source Serif Pro Bold"/>
                </a:rPr>
                <a:t>Structure of the presentation</a:t>
              </a:r>
            </a:p>
          </p:txBody>
        </p:sp>
      </p:grpSp>
      <p:sp>
        <p:nvSpPr>
          <p:cNvPr name="TextBox 8" id="8"/>
          <p:cNvSpPr txBox="true"/>
          <p:nvPr/>
        </p:nvSpPr>
        <p:spPr>
          <a:xfrm rot="0">
            <a:off x="1220724" y="2811780"/>
            <a:ext cx="685800" cy="480060"/>
          </a:xfrm>
          <a:prstGeom prst="rect">
            <a:avLst/>
          </a:prstGeom>
        </p:spPr>
        <p:txBody>
          <a:bodyPr anchor="t" rtlCol="false" tIns="0" lIns="0" bIns="0" rIns="0">
            <a:spAutoFit/>
          </a:bodyPr>
          <a:lstStyle/>
          <a:p>
            <a:pPr algn="l">
              <a:lnSpc>
                <a:spcPts val="2340"/>
              </a:lnSpc>
            </a:pPr>
            <a:r>
              <a:rPr lang="en-US" sz="1950" b="true">
                <a:solidFill>
                  <a:srgbClr val="0B6E60"/>
                </a:solidFill>
                <a:latin typeface="IBM Plex Sans Bold"/>
                <a:ea typeface="IBM Plex Sans Bold"/>
                <a:cs typeface="IBM Plex Sans Bold"/>
                <a:sym typeface="IBM Plex Sans Bold"/>
              </a:rPr>
              <a:t>01</a:t>
            </a:r>
          </a:p>
        </p:txBody>
      </p:sp>
      <p:sp>
        <p:nvSpPr>
          <p:cNvPr name="TextBox 9" id="9"/>
          <p:cNvSpPr txBox="true"/>
          <p:nvPr/>
        </p:nvSpPr>
        <p:spPr>
          <a:xfrm rot="0">
            <a:off x="1975104" y="2811780"/>
            <a:ext cx="6995160" cy="480060"/>
          </a:xfrm>
          <a:prstGeom prst="rect">
            <a:avLst/>
          </a:prstGeom>
        </p:spPr>
        <p:txBody>
          <a:bodyPr anchor="t" rtlCol="false" tIns="0" lIns="0" bIns="0" rIns="0">
            <a:spAutoFit/>
          </a:bodyPr>
          <a:lstStyle/>
          <a:p>
            <a:pPr algn="l">
              <a:lnSpc>
                <a:spcPts val="2340"/>
              </a:lnSpc>
            </a:pPr>
            <a:r>
              <a:rPr lang="en-US" sz="1950">
                <a:solidFill>
                  <a:srgbClr val="3F4B57"/>
                </a:solidFill>
                <a:latin typeface="IBM Plex Sans"/>
                <a:ea typeface="IBM Plex Sans"/>
                <a:cs typeface="IBM Plex Sans"/>
                <a:sym typeface="IBM Plex Sans"/>
              </a:rPr>
              <a:t>Introduction: the threat of antimicrobial resistance</a:t>
            </a:r>
          </a:p>
        </p:txBody>
      </p:sp>
      <p:sp>
        <p:nvSpPr>
          <p:cNvPr name="TextBox 10" id="10"/>
          <p:cNvSpPr txBox="true"/>
          <p:nvPr/>
        </p:nvSpPr>
        <p:spPr>
          <a:xfrm rot="0">
            <a:off x="1220724" y="3566160"/>
            <a:ext cx="685800" cy="480060"/>
          </a:xfrm>
          <a:prstGeom prst="rect">
            <a:avLst/>
          </a:prstGeom>
        </p:spPr>
        <p:txBody>
          <a:bodyPr anchor="t" rtlCol="false" tIns="0" lIns="0" bIns="0" rIns="0">
            <a:spAutoFit/>
          </a:bodyPr>
          <a:lstStyle/>
          <a:p>
            <a:pPr algn="l">
              <a:lnSpc>
                <a:spcPts val="2340"/>
              </a:lnSpc>
            </a:pPr>
            <a:r>
              <a:rPr lang="en-US" sz="1950" b="true">
                <a:solidFill>
                  <a:srgbClr val="0B6E60"/>
                </a:solidFill>
                <a:latin typeface="IBM Plex Sans Bold"/>
                <a:ea typeface="IBM Plex Sans Bold"/>
                <a:cs typeface="IBM Plex Sans Bold"/>
                <a:sym typeface="IBM Plex Sans Bold"/>
              </a:rPr>
              <a:t>02</a:t>
            </a:r>
          </a:p>
        </p:txBody>
      </p:sp>
      <p:sp>
        <p:nvSpPr>
          <p:cNvPr name="TextBox 11" id="11"/>
          <p:cNvSpPr txBox="true"/>
          <p:nvPr/>
        </p:nvSpPr>
        <p:spPr>
          <a:xfrm rot="0">
            <a:off x="1975104" y="3566160"/>
            <a:ext cx="6995160" cy="480060"/>
          </a:xfrm>
          <a:prstGeom prst="rect">
            <a:avLst/>
          </a:prstGeom>
        </p:spPr>
        <p:txBody>
          <a:bodyPr anchor="t" rtlCol="false" tIns="0" lIns="0" bIns="0" rIns="0">
            <a:spAutoFit/>
          </a:bodyPr>
          <a:lstStyle/>
          <a:p>
            <a:pPr algn="l">
              <a:lnSpc>
                <a:spcPts val="2340"/>
              </a:lnSpc>
            </a:pPr>
            <a:r>
              <a:rPr lang="en-US" sz="1950">
                <a:solidFill>
                  <a:srgbClr val="3F4B57"/>
                </a:solidFill>
                <a:latin typeface="IBM Plex Sans"/>
                <a:ea typeface="IBM Plex Sans"/>
                <a:cs typeface="IBM Plex Sans"/>
                <a:sym typeface="IBM Plex Sans"/>
              </a:rPr>
              <a:t>Setting &amp; target communities</a:t>
            </a:r>
          </a:p>
        </p:txBody>
      </p:sp>
      <p:sp>
        <p:nvSpPr>
          <p:cNvPr name="TextBox 12" id="12"/>
          <p:cNvSpPr txBox="true"/>
          <p:nvPr/>
        </p:nvSpPr>
        <p:spPr>
          <a:xfrm rot="0">
            <a:off x="1220724" y="4320540"/>
            <a:ext cx="685800" cy="480060"/>
          </a:xfrm>
          <a:prstGeom prst="rect">
            <a:avLst/>
          </a:prstGeom>
        </p:spPr>
        <p:txBody>
          <a:bodyPr anchor="t" rtlCol="false" tIns="0" lIns="0" bIns="0" rIns="0">
            <a:spAutoFit/>
          </a:bodyPr>
          <a:lstStyle/>
          <a:p>
            <a:pPr algn="l">
              <a:lnSpc>
                <a:spcPts val="2340"/>
              </a:lnSpc>
            </a:pPr>
            <a:r>
              <a:rPr lang="en-US" sz="1950" b="true">
                <a:solidFill>
                  <a:srgbClr val="0B6E60"/>
                </a:solidFill>
                <a:latin typeface="IBM Plex Sans Bold"/>
                <a:ea typeface="IBM Plex Sans Bold"/>
                <a:cs typeface="IBM Plex Sans Bold"/>
                <a:sym typeface="IBM Plex Sans Bold"/>
              </a:rPr>
              <a:t>03</a:t>
            </a:r>
          </a:p>
        </p:txBody>
      </p:sp>
      <p:sp>
        <p:nvSpPr>
          <p:cNvPr name="TextBox 13" id="13"/>
          <p:cNvSpPr txBox="true"/>
          <p:nvPr/>
        </p:nvSpPr>
        <p:spPr>
          <a:xfrm rot="0">
            <a:off x="1975104" y="4320540"/>
            <a:ext cx="6995160" cy="480060"/>
          </a:xfrm>
          <a:prstGeom prst="rect">
            <a:avLst/>
          </a:prstGeom>
        </p:spPr>
        <p:txBody>
          <a:bodyPr anchor="t" rtlCol="false" tIns="0" lIns="0" bIns="0" rIns="0">
            <a:spAutoFit/>
          </a:bodyPr>
          <a:lstStyle/>
          <a:p>
            <a:pPr algn="l">
              <a:lnSpc>
                <a:spcPts val="2340"/>
              </a:lnSpc>
            </a:pPr>
            <a:r>
              <a:rPr lang="en-US" sz="1950">
                <a:solidFill>
                  <a:srgbClr val="3F4B57"/>
                </a:solidFill>
                <a:latin typeface="IBM Plex Sans"/>
                <a:ea typeface="IBM Plex Sans"/>
                <a:cs typeface="IBM Plex Sans"/>
                <a:sym typeface="IBM Plex Sans"/>
              </a:rPr>
              <a:t>Programme objectives</a:t>
            </a:r>
          </a:p>
        </p:txBody>
      </p:sp>
      <p:sp>
        <p:nvSpPr>
          <p:cNvPr name="TextBox 14" id="14"/>
          <p:cNvSpPr txBox="true"/>
          <p:nvPr/>
        </p:nvSpPr>
        <p:spPr>
          <a:xfrm rot="0">
            <a:off x="1220724" y="5074920"/>
            <a:ext cx="685800" cy="480060"/>
          </a:xfrm>
          <a:prstGeom prst="rect">
            <a:avLst/>
          </a:prstGeom>
        </p:spPr>
        <p:txBody>
          <a:bodyPr anchor="t" rtlCol="false" tIns="0" lIns="0" bIns="0" rIns="0">
            <a:spAutoFit/>
          </a:bodyPr>
          <a:lstStyle/>
          <a:p>
            <a:pPr algn="l">
              <a:lnSpc>
                <a:spcPts val="2340"/>
              </a:lnSpc>
            </a:pPr>
            <a:r>
              <a:rPr lang="en-US" sz="1950" b="true">
                <a:solidFill>
                  <a:srgbClr val="0B6E60"/>
                </a:solidFill>
                <a:latin typeface="IBM Plex Sans Bold"/>
                <a:ea typeface="IBM Plex Sans Bold"/>
                <a:cs typeface="IBM Plex Sans Bold"/>
                <a:sym typeface="IBM Plex Sans Bold"/>
              </a:rPr>
              <a:t>04</a:t>
            </a:r>
          </a:p>
        </p:txBody>
      </p:sp>
      <p:sp>
        <p:nvSpPr>
          <p:cNvPr name="TextBox 15" id="15"/>
          <p:cNvSpPr txBox="true"/>
          <p:nvPr/>
        </p:nvSpPr>
        <p:spPr>
          <a:xfrm rot="0">
            <a:off x="1975104" y="5074920"/>
            <a:ext cx="6995160" cy="480060"/>
          </a:xfrm>
          <a:prstGeom prst="rect">
            <a:avLst/>
          </a:prstGeom>
        </p:spPr>
        <p:txBody>
          <a:bodyPr anchor="t" rtlCol="false" tIns="0" lIns="0" bIns="0" rIns="0">
            <a:spAutoFit/>
          </a:bodyPr>
          <a:lstStyle/>
          <a:p>
            <a:pPr algn="l">
              <a:lnSpc>
                <a:spcPts val="2340"/>
              </a:lnSpc>
            </a:pPr>
            <a:r>
              <a:rPr lang="en-US" sz="1950">
                <a:solidFill>
                  <a:srgbClr val="3F4B57"/>
                </a:solidFill>
                <a:latin typeface="IBM Plex Sans"/>
                <a:ea typeface="IBM Plex Sans"/>
                <a:cs typeface="IBM Plex Sans"/>
                <a:sym typeface="IBM Plex Sans"/>
              </a:rPr>
              <a:t>How bacterial resistance spreads</a:t>
            </a:r>
          </a:p>
        </p:txBody>
      </p:sp>
      <p:sp>
        <p:nvSpPr>
          <p:cNvPr name="TextBox 16" id="16"/>
          <p:cNvSpPr txBox="true"/>
          <p:nvPr/>
        </p:nvSpPr>
        <p:spPr>
          <a:xfrm rot="0">
            <a:off x="1220724" y="5829300"/>
            <a:ext cx="685800" cy="480060"/>
          </a:xfrm>
          <a:prstGeom prst="rect">
            <a:avLst/>
          </a:prstGeom>
        </p:spPr>
        <p:txBody>
          <a:bodyPr anchor="t" rtlCol="false" tIns="0" lIns="0" bIns="0" rIns="0">
            <a:spAutoFit/>
          </a:bodyPr>
          <a:lstStyle/>
          <a:p>
            <a:pPr algn="l">
              <a:lnSpc>
                <a:spcPts val="2340"/>
              </a:lnSpc>
            </a:pPr>
            <a:r>
              <a:rPr lang="en-US" sz="1950" b="true">
                <a:solidFill>
                  <a:srgbClr val="0B6E60"/>
                </a:solidFill>
                <a:latin typeface="IBM Plex Sans Bold"/>
                <a:ea typeface="IBM Plex Sans Bold"/>
                <a:cs typeface="IBM Plex Sans Bold"/>
                <a:sym typeface="IBM Plex Sans Bold"/>
              </a:rPr>
              <a:t>05</a:t>
            </a:r>
          </a:p>
        </p:txBody>
      </p:sp>
      <p:sp>
        <p:nvSpPr>
          <p:cNvPr name="TextBox 17" id="17"/>
          <p:cNvSpPr txBox="true"/>
          <p:nvPr/>
        </p:nvSpPr>
        <p:spPr>
          <a:xfrm rot="0">
            <a:off x="1975104" y="5829300"/>
            <a:ext cx="6995160" cy="480060"/>
          </a:xfrm>
          <a:prstGeom prst="rect">
            <a:avLst/>
          </a:prstGeom>
        </p:spPr>
        <p:txBody>
          <a:bodyPr anchor="t" rtlCol="false" tIns="0" lIns="0" bIns="0" rIns="0">
            <a:spAutoFit/>
          </a:bodyPr>
          <a:lstStyle/>
          <a:p>
            <a:pPr algn="l">
              <a:lnSpc>
                <a:spcPts val="2340"/>
              </a:lnSpc>
            </a:pPr>
            <a:r>
              <a:rPr lang="en-US" sz="1950">
                <a:solidFill>
                  <a:srgbClr val="3F4B57"/>
                </a:solidFill>
                <a:latin typeface="IBM Plex Sans"/>
                <a:ea typeface="IBM Plex Sans"/>
                <a:cs typeface="IBM Plex Sans"/>
                <a:sym typeface="IBM Plex Sans"/>
              </a:rPr>
              <a:t>Key drivers of misuse in rural communities</a:t>
            </a:r>
          </a:p>
        </p:txBody>
      </p:sp>
      <p:sp>
        <p:nvSpPr>
          <p:cNvPr name="TextBox 18" id="18"/>
          <p:cNvSpPr txBox="true"/>
          <p:nvPr/>
        </p:nvSpPr>
        <p:spPr>
          <a:xfrm rot="0">
            <a:off x="1220724" y="6583680"/>
            <a:ext cx="685800" cy="480060"/>
          </a:xfrm>
          <a:prstGeom prst="rect">
            <a:avLst/>
          </a:prstGeom>
        </p:spPr>
        <p:txBody>
          <a:bodyPr anchor="t" rtlCol="false" tIns="0" lIns="0" bIns="0" rIns="0">
            <a:spAutoFit/>
          </a:bodyPr>
          <a:lstStyle/>
          <a:p>
            <a:pPr algn="l">
              <a:lnSpc>
                <a:spcPts val="2340"/>
              </a:lnSpc>
            </a:pPr>
            <a:r>
              <a:rPr lang="en-US" sz="1950" b="true">
                <a:solidFill>
                  <a:srgbClr val="0B6E60"/>
                </a:solidFill>
                <a:latin typeface="IBM Plex Sans Bold"/>
                <a:ea typeface="IBM Plex Sans Bold"/>
                <a:cs typeface="IBM Plex Sans Bold"/>
                <a:sym typeface="IBM Plex Sans Bold"/>
              </a:rPr>
              <a:t>06</a:t>
            </a:r>
          </a:p>
        </p:txBody>
      </p:sp>
      <p:sp>
        <p:nvSpPr>
          <p:cNvPr name="TextBox 19" id="19"/>
          <p:cNvSpPr txBox="true"/>
          <p:nvPr/>
        </p:nvSpPr>
        <p:spPr>
          <a:xfrm rot="0">
            <a:off x="1975104" y="6583680"/>
            <a:ext cx="6995160" cy="480060"/>
          </a:xfrm>
          <a:prstGeom prst="rect">
            <a:avLst/>
          </a:prstGeom>
        </p:spPr>
        <p:txBody>
          <a:bodyPr anchor="t" rtlCol="false" tIns="0" lIns="0" bIns="0" rIns="0">
            <a:spAutoFit/>
          </a:bodyPr>
          <a:lstStyle/>
          <a:p>
            <a:pPr algn="l">
              <a:lnSpc>
                <a:spcPts val="2340"/>
              </a:lnSpc>
            </a:pPr>
            <a:r>
              <a:rPr lang="en-US" sz="1950">
                <a:solidFill>
                  <a:srgbClr val="3F4B57"/>
                </a:solidFill>
                <a:latin typeface="IBM Plex Sans"/>
                <a:ea typeface="IBM Plex Sans"/>
                <a:cs typeface="IBM Plex Sans"/>
                <a:sym typeface="IBM Plex Sans"/>
              </a:rPr>
              <a:t>Clearing up dangerous misconceptions</a:t>
            </a:r>
          </a:p>
        </p:txBody>
      </p:sp>
      <p:sp>
        <p:nvSpPr>
          <p:cNvPr name="TextBox 20" id="20"/>
          <p:cNvSpPr txBox="true"/>
          <p:nvPr/>
        </p:nvSpPr>
        <p:spPr>
          <a:xfrm rot="0">
            <a:off x="1220724" y="7338060"/>
            <a:ext cx="685800" cy="480060"/>
          </a:xfrm>
          <a:prstGeom prst="rect">
            <a:avLst/>
          </a:prstGeom>
        </p:spPr>
        <p:txBody>
          <a:bodyPr anchor="t" rtlCol="false" tIns="0" lIns="0" bIns="0" rIns="0">
            <a:spAutoFit/>
          </a:bodyPr>
          <a:lstStyle/>
          <a:p>
            <a:pPr algn="l">
              <a:lnSpc>
                <a:spcPts val="2340"/>
              </a:lnSpc>
            </a:pPr>
            <a:r>
              <a:rPr lang="en-US" sz="1950" b="true">
                <a:solidFill>
                  <a:srgbClr val="0B6E60"/>
                </a:solidFill>
                <a:latin typeface="IBM Plex Sans Bold"/>
                <a:ea typeface="IBM Plex Sans Bold"/>
                <a:cs typeface="IBM Plex Sans Bold"/>
                <a:sym typeface="IBM Plex Sans Bold"/>
              </a:rPr>
              <a:t>07</a:t>
            </a:r>
          </a:p>
        </p:txBody>
      </p:sp>
      <p:sp>
        <p:nvSpPr>
          <p:cNvPr name="TextBox 21" id="21"/>
          <p:cNvSpPr txBox="true"/>
          <p:nvPr/>
        </p:nvSpPr>
        <p:spPr>
          <a:xfrm rot="0">
            <a:off x="1975104" y="7338060"/>
            <a:ext cx="6995160" cy="480060"/>
          </a:xfrm>
          <a:prstGeom prst="rect">
            <a:avLst/>
          </a:prstGeom>
        </p:spPr>
        <p:txBody>
          <a:bodyPr anchor="t" rtlCol="false" tIns="0" lIns="0" bIns="0" rIns="0">
            <a:spAutoFit/>
          </a:bodyPr>
          <a:lstStyle/>
          <a:p>
            <a:pPr algn="l">
              <a:lnSpc>
                <a:spcPts val="2340"/>
              </a:lnSpc>
            </a:pPr>
            <a:r>
              <a:rPr lang="en-US" sz="1950">
                <a:solidFill>
                  <a:srgbClr val="3F4B57"/>
                </a:solidFill>
                <a:latin typeface="IBM Plex Sans"/>
                <a:ea typeface="IBM Plex Sans"/>
                <a:cs typeface="IBM Plex Sans"/>
                <a:sym typeface="IBM Plex Sans"/>
              </a:rPr>
              <a:t>Three-pillar fieldwork strategy</a:t>
            </a:r>
          </a:p>
        </p:txBody>
      </p:sp>
      <p:sp>
        <p:nvSpPr>
          <p:cNvPr name="TextBox 22" id="22"/>
          <p:cNvSpPr txBox="true"/>
          <p:nvPr/>
        </p:nvSpPr>
        <p:spPr>
          <a:xfrm rot="0">
            <a:off x="9313164" y="2811780"/>
            <a:ext cx="685800" cy="480060"/>
          </a:xfrm>
          <a:prstGeom prst="rect">
            <a:avLst/>
          </a:prstGeom>
        </p:spPr>
        <p:txBody>
          <a:bodyPr anchor="t" rtlCol="false" tIns="0" lIns="0" bIns="0" rIns="0">
            <a:spAutoFit/>
          </a:bodyPr>
          <a:lstStyle/>
          <a:p>
            <a:pPr algn="l">
              <a:lnSpc>
                <a:spcPts val="2340"/>
              </a:lnSpc>
            </a:pPr>
            <a:r>
              <a:rPr lang="en-US" sz="1950" b="true">
                <a:solidFill>
                  <a:srgbClr val="0B6E60"/>
                </a:solidFill>
                <a:latin typeface="IBM Plex Sans Bold"/>
                <a:ea typeface="IBM Plex Sans Bold"/>
                <a:cs typeface="IBM Plex Sans Bold"/>
                <a:sym typeface="IBM Plex Sans Bold"/>
              </a:rPr>
              <a:t>08</a:t>
            </a:r>
          </a:p>
        </p:txBody>
      </p:sp>
      <p:sp>
        <p:nvSpPr>
          <p:cNvPr name="TextBox 23" id="23"/>
          <p:cNvSpPr txBox="true"/>
          <p:nvPr/>
        </p:nvSpPr>
        <p:spPr>
          <a:xfrm rot="0">
            <a:off x="10067544" y="2811780"/>
            <a:ext cx="6995160" cy="480060"/>
          </a:xfrm>
          <a:prstGeom prst="rect">
            <a:avLst/>
          </a:prstGeom>
        </p:spPr>
        <p:txBody>
          <a:bodyPr anchor="t" rtlCol="false" tIns="0" lIns="0" bIns="0" rIns="0">
            <a:spAutoFit/>
          </a:bodyPr>
          <a:lstStyle/>
          <a:p>
            <a:pPr algn="l">
              <a:lnSpc>
                <a:spcPts val="2340"/>
              </a:lnSpc>
            </a:pPr>
            <a:r>
              <a:rPr lang="en-US" sz="1950">
                <a:solidFill>
                  <a:srgbClr val="3F4B57"/>
                </a:solidFill>
                <a:latin typeface="IBM Plex Sans"/>
                <a:ea typeface="IBM Plex Sans"/>
                <a:cs typeface="IBM Plex Sans"/>
                <a:sym typeface="IBM Plex Sans"/>
              </a:rPr>
              <a:t>Four golden rules for every patient</a:t>
            </a:r>
          </a:p>
        </p:txBody>
      </p:sp>
      <p:sp>
        <p:nvSpPr>
          <p:cNvPr name="TextBox 24" id="24"/>
          <p:cNvSpPr txBox="true"/>
          <p:nvPr/>
        </p:nvSpPr>
        <p:spPr>
          <a:xfrm rot="0">
            <a:off x="9313164" y="3566160"/>
            <a:ext cx="685800" cy="480060"/>
          </a:xfrm>
          <a:prstGeom prst="rect">
            <a:avLst/>
          </a:prstGeom>
        </p:spPr>
        <p:txBody>
          <a:bodyPr anchor="t" rtlCol="false" tIns="0" lIns="0" bIns="0" rIns="0">
            <a:spAutoFit/>
          </a:bodyPr>
          <a:lstStyle/>
          <a:p>
            <a:pPr algn="l">
              <a:lnSpc>
                <a:spcPts val="2340"/>
              </a:lnSpc>
            </a:pPr>
            <a:r>
              <a:rPr lang="en-US" sz="1950" b="true">
                <a:solidFill>
                  <a:srgbClr val="0B6E60"/>
                </a:solidFill>
                <a:latin typeface="IBM Plex Sans Bold"/>
                <a:ea typeface="IBM Plex Sans Bold"/>
                <a:cs typeface="IBM Plex Sans Bold"/>
                <a:sym typeface="IBM Plex Sans Bold"/>
              </a:rPr>
              <a:t>09</a:t>
            </a:r>
          </a:p>
        </p:txBody>
      </p:sp>
      <p:sp>
        <p:nvSpPr>
          <p:cNvPr name="TextBox 25" id="25"/>
          <p:cNvSpPr txBox="true"/>
          <p:nvPr/>
        </p:nvSpPr>
        <p:spPr>
          <a:xfrm rot="0">
            <a:off x="10067544" y="3566160"/>
            <a:ext cx="6995160" cy="480060"/>
          </a:xfrm>
          <a:prstGeom prst="rect">
            <a:avLst/>
          </a:prstGeom>
        </p:spPr>
        <p:txBody>
          <a:bodyPr anchor="t" rtlCol="false" tIns="0" lIns="0" bIns="0" rIns="0">
            <a:spAutoFit/>
          </a:bodyPr>
          <a:lstStyle/>
          <a:p>
            <a:pPr algn="l">
              <a:lnSpc>
                <a:spcPts val="2340"/>
              </a:lnSpc>
            </a:pPr>
            <a:r>
              <a:rPr lang="en-US" sz="1950">
                <a:solidFill>
                  <a:srgbClr val="3F4B57"/>
                </a:solidFill>
                <a:latin typeface="IBM Plex Sans"/>
                <a:ea typeface="IBM Plex Sans"/>
                <a:cs typeface="IBM Plex Sans"/>
                <a:sym typeface="IBM Plex Sans"/>
              </a:rPr>
              <a:t>How to administer antibiotics safely</a:t>
            </a:r>
          </a:p>
        </p:txBody>
      </p:sp>
      <p:sp>
        <p:nvSpPr>
          <p:cNvPr name="TextBox 26" id="26"/>
          <p:cNvSpPr txBox="true"/>
          <p:nvPr/>
        </p:nvSpPr>
        <p:spPr>
          <a:xfrm rot="0">
            <a:off x="9313164" y="4320540"/>
            <a:ext cx="685800" cy="480060"/>
          </a:xfrm>
          <a:prstGeom prst="rect">
            <a:avLst/>
          </a:prstGeom>
        </p:spPr>
        <p:txBody>
          <a:bodyPr anchor="t" rtlCol="false" tIns="0" lIns="0" bIns="0" rIns="0">
            <a:spAutoFit/>
          </a:bodyPr>
          <a:lstStyle/>
          <a:p>
            <a:pPr algn="l">
              <a:lnSpc>
                <a:spcPts val="2340"/>
              </a:lnSpc>
            </a:pPr>
            <a:r>
              <a:rPr lang="en-US" sz="1950" b="true">
                <a:solidFill>
                  <a:srgbClr val="0B6E60"/>
                </a:solidFill>
                <a:latin typeface="IBM Plex Sans Bold"/>
                <a:ea typeface="IBM Plex Sans Bold"/>
                <a:cs typeface="IBM Plex Sans Bold"/>
                <a:sym typeface="IBM Plex Sans Bold"/>
              </a:rPr>
              <a:t>10</a:t>
            </a:r>
          </a:p>
        </p:txBody>
      </p:sp>
      <p:sp>
        <p:nvSpPr>
          <p:cNvPr name="TextBox 27" id="27"/>
          <p:cNvSpPr txBox="true"/>
          <p:nvPr/>
        </p:nvSpPr>
        <p:spPr>
          <a:xfrm rot="0">
            <a:off x="10067544" y="4320540"/>
            <a:ext cx="6995160" cy="480060"/>
          </a:xfrm>
          <a:prstGeom prst="rect">
            <a:avLst/>
          </a:prstGeom>
        </p:spPr>
        <p:txBody>
          <a:bodyPr anchor="t" rtlCol="false" tIns="0" lIns="0" bIns="0" rIns="0">
            <a:spAutoFit/>
          </a:bodyPr>
          <a:lstStyle/>
          <a:p>
            <a:pPr algn="l">
              <a:lnSpc>
                <a:spcPts val="2340"/>
              </a:lnSpc>
            </a:pPr>
            <a:r>
              <a:rPr lang="en-US" sz="1950">
                <a:solidFill>
                  <a:srgbClr val="3F4B57"/>
                </a:solidFill>
                <a:latin typeface="IBM Plex Sans"/>
                <a:ea typeface="IBM Plex Sans"/>
                <a:cs typeface="IBM Plex Sans"/>
                <a:sym typeface="IBM Plex Sans"/>
              </a:rPr>
              <a:t>The One Health approach in agriculture</a:t>
            </a:r>
          </a:p>
        </p:txBody>
      </p:sp>
      <p:sp>
        <p:nvSpPr>
          <p:cNvPr name="TextBox 28" id="28"/>
          <p:cNvSpPr txBox="true"/>
          <p:nvPr/>
        </p:nvSpPr>
        <p:spPr>
          <a:xfrm rot="0">
            <a:off x="9313164" y="5074920"/>
            <a:ext cx="685800" cy="480060"/>
          </a:xfrm>
          <a:prstGeom prst="rect">
            <a:avLst/>
          </a:prstGeom>
        </p:spPr>
        <p:txBody>
          <a:bodyPr anchor="t" rtlCol="false" tIns="0" lIns="0" bIns="0" rIns="0">
            <a:spAutoFit/>
          </a:bodyPr>
          <a:lstStyle/>
          <a:p>
            <a:pPr algn="l">
              <a:lnSpc>
                <a:spcPts val="2340"/>
              </a:lnSpc>
            </a:pPr>
            <a:r>
              <a:rPr lang="en-US" sz="1950" b="true">
                <a:solidFill>
                  <a:srgbClr val="0B6E60"/>
                </a:solidFill>
                <a:latin typeface="IBM Plex Sans Bold"/>
                <a:ea typeface="IBM Plex Sans Bold"/>
                <a:cs typeface="IBM Plex Sans Bold"/>
                <a:sym typeface="IBM Plex Sans Bold"/>
              </a:rPr>
              <a:t>11</a:t>
            </a:r>
          </a:p>
        </p:txBody>
      </p:sp>
      <p:sp>
        <p:nvSpPr>
          <p:cNvPr name="TextBox 29" id="29"/>
          <p:cNvSpPr txBox="true"/>
          <p:nvPr/>
        </p:nvSpPr>
        <p:spPr>
          <a:xfrm rot="0">
            <a:off x="10067544" y="5074920"/>
            <a:ext cx="6995160" cy="480060"/>
          </a:xfrm>
          <a:prstGeom prst="rect">
            <a:avLst/>
          </a:prstGeom>
        </p:spPr>
        <p:txBody>
          <a:bodyPr anchor="t" rtlCol="false" tIns="0" lIns="0" bIns="0" rIns="0">
            <a:spAutoFit/>
          </a:bodyPr>
          <a:lstStyle/>
          <a:p>
            <a:pPr algn="l">
              <a:lnSpc>
                <a:spcPts val="2340"/>
              </a:lnSpc>
            </a:pPr>
            <a:r>
              <a:rPr lang="en-US" sz="1950">
                <a:solidFill>
                  <a:srgbClr val="3F4B57"/>
                </a:solidFill>
                <a:latin typeface="IBM Plex Sans"/>
                <a:ea typeface="IBM Plex Sans"/>
                <a:cs typeface="IBM Plex Sans"/>
                <a:sym typeface="IBM Plex Sans"/>
              </a:rPr>
              <a:t>Community survey: 200 people</a:t>
            </a:r>
          </a:p>
        </p:txBody>
      </p:sp>
      <p:sp>
        <p:nvSpPr>
          <p:cNvPr name="TextBox 30" id="30"/>
          <p:cNvSpPr txBox="true"/>
          <p:nvPr/>
        </p:nvSpPr>
        <p:spPr>
          <a:xfrm rot="0">
            <a:off x="9313164" y="5829300"/>
            <a:ext cx="685800" cy="480060"/>
          </a:xfrm>
          <a:prstGeom prst="rect">
            <a:avLst/>
          </a:prstGeom>
        </p:spPr>
        <p:txBody>
          <a:bodyPr anchor="t" rtlCol="false" tIns="0" lIns="0" bIns="0" rIns="0">
            <a:spAutoFit/>
          </a:bodyPr>
          <a:lstStyle/>
          <a:p>
            <a:pPr algn="l">
              <a:lnSpc>
                <a:spcPts val="2340"/>
              </a:lnSpc>
            </a:pPr>
            <a:r>
              <a:rPr lang="en-US" sz="1950" b="true">
                <a:solidFill>
                  <a:srgbClr val="0B6E60"/>
                </a:solidFill>
                <a:latin typeface="IBM Plex Sans Bold"/>
                <a:ea typeface="IBM Plex Sans Bold"/>
                <a:cs typeface="IBM Plex Sans Bold"/>
                <a:sym typeface="IBM Plex Sans Bold"/>
              </a:rPr>
              <a:t>12</a:t>
            </a:r>
          </a:p>
        </p:txBody>
      </p:sp>
      <p:sp>
        <p:nvSpPr>
          <p:cNvPr name="TextBox 31" id="31"/>
          <p:cNvSpPr txBox="true"/>
          <p:nvPr/>
        </p:nvSpPr>
        <p:spPr>
          <a:xfrm rot="0">
            <a:off x="10067544" y="5829300"/>
            <a:ext cx="6995160" cy="480060"/>
          </a:xfrm>
          <a:prstGeom prst="rect">
            <a:avLst/>
          </a:prstGeom>
        </p:spPr>
        <p:txBody>
          <a:bodyPr anchor="t" rtlCol="false" tIns="0" lIns="0" bIns="0" rIns="0">
            <a:spAutoFit/>
          </a:bodyPr>
          <a:lstStyle/>
          <a:p>
            <a:pPr algn="l">
              <a:lnSpc>
                <a:spcPts val="2340"/>
              </a:lnSpc>
            </a:pPr>
            <a:r>
              <a:rPr lang="en-US" sz="1950">
                <a:solidFill>
                  <a:srgbClr val="3F4B57"/>
                </a:solidFill>
                <a:latin typeface="IBM Plex Sans"/>
                <a:ea typeface="IBM Plex Sans"/>
                <a:cs typeface="IBM Plex Sans"/>
                <a:sym typeface="IBM Plex Sans"/>
              </a:rPr>
              <a:t>Survey results: knowledge and practice</a:t>
            </a:r>
          </a:p>
        </p:txBody>
      </p:sp>
      <p:sp>
        <p:nvSpPr>
          <p:cNvPr name="TextBox 32" id="32"/>
          <p:cNvSpPr txBox="true"/>
          <p:nvPr/>
        </p:nvSpPr>
        <p:spPr>
          <a:xfrm rot="0">
            <a:off x="9313164" y="6583680"/>
            <a:ext cx="685800" cy="480060"/>
          </a:xfrm>
          <a:prstGeom prst="rect">
            <a:avLst/>
          </a:prstGeom>
        </p:spPr>
        <p:txBody>
          <a:bodyPr anchor="t" rtlCol="false" tIns="0" lIns="0" bIns="0" rIns="0">
            <a:spAutoFit/>
          </a:bodyPr>
          <a:lstStyle/>
          <a:p>
            <a:pPr algn="l">
              <a:lnSpc>
                <a:spcPts val="2340"/>
              </a:lnSpc>
            </a:pPr>
            <a:r>
              <a:rPr lang="en-US" sz="1950" b="true">
                <a:solidFill>
                  <a:srgbClr val="0B6E60"/>
                </a:solidFill>
                <a:latin typeface="IBM Plex Sans Bold"/>
                <a:ea typeface="IBM Plex Sans Bold"/>
                <a:cs typeface="IBM Plex Sans Bold"/>
                <a:sym typeface="IBM Plex Sans Bold"/>
              </a:rPr>
              <a:t>13</a:t>
            </a:r>
          </a:p>
        </p:txBody>
      </p:sp>
      <p:sp>
        <p:nvSpPr>
          <p:cNvPr name="TextBox 33" id="33"/>
          <p:cNvSpPr txBox="true"/>
          <p:nvPr/>
        </p:nvSpPr>
        <p:spPr>
          <a:xfrm rot="0">
            <a:off x="10067544" y="6583680"/>
            <a:ext cx="6995160" cy="480060"/>
          </a:xfrm>
          <a:prstGeom prst="rect">
            <a:avLst/>
          </a:prstGeom>
        </p:spPr>
        <p:txBody>
          <a:bodyPr anchor="t" rtlCol="false" tIns="0" lIns="0" bIns="0" rIns="0">
            <a:spAutoFit/>
          </a:bodyPr>
          <a:lstStyle/>
          <a:p>
            <a:pPr algn="l">
              <a:lnSpc>
                <a:spcPts val="2340"/>
              </a:lnSpc>
            </a:pPr>
            <a:r>
              <a:rPr lang="en-US" sz="1950">
                <a:solidFill>
                  <a:srgbClr val="3F4B57"/>
                </a:solidFill>
                <a:latin typeface="IBM Plex Sans"/>
                <a:ea typeface="IBM Plex Sans"/>
                <a:cs typeface="IBM Plex Sans"/>
                <a:sym typeface="IBM Plex Sans"/>
              </a:rPr>
              <a:t>Outcomes achieved &amp; sustainability</a:t>
            </a:r>
          </a:p>
        </p:txBody>
      </p:sp>
      <p:sp>
        <p:nvSpPr>
          <p:cNvPr name="TextBox 34" id="34"/>
          <p:cNvSpPr txBox="true"/>
          <p:nvPr/>
        </p:nvSpPr>
        <p:spPr>
          <a:xfrm rot="0">
            <a:off x="9313164" y="7338060"/>
            <a:ext cx="685800" cy="480060"/>
          </a:xfrm>
          <a:prstGeom prst="rect">
            <a:avLst/>
          </a:prstGeom>
        </p:spPr>
        <p:txBody>
          <a:bodyPr anchor="t" rtlCol="false" tIns="0" lIns="0" bIns="0" rIns="0">
            <a:spAutoFit/>
          </a:bodyPr>
          <a:lstStyle/>
          <a:p>
            <a:pPr algn="l">
              <a:lnSpc>
                <a:spcPts val="2340"/>
              </a:lnSpc>
            </a:pPr>
            <a:r>
              <a:rPr lang="en-US" sz="1950" b="true">
                <a:solidFill>
                  <a:srgbClr val="0B6E60"/>
                </a:solidFill>
                <a:latin typeface="IBM Plex Sans Bold"/>
                <a:ea typeface="IBM Plex Sans Bold"/>
                <a:cs typeface="IBM Plex Sans Bold"/>
                <a:sym typeface="IBM Plex Sans Bold"/>
              </a:rPr>
              <a:t>14</a:t>
            </a:r>
          </a:p>
        </p:txBody>
      </p:sp>
      <p:sp>
        <p:nvSpPr>
          <p:cNvPr name="TextBox 35" id="35"/>
          <p:cNvSpPr txBox="true"/>
          <p:nvPr/>
        </p:nvSpPr>
        <p:spPr>
          <a:xfrm rot="0">
            <a:off x="10067544" y="7338060"/>
            <a:ext cx="6995160" cy="480060"/>
          </a:xfrm>
          <a:prstGeom prst="rect">
            <a:avLst/>
          </a:prstGeom>
        </p:spPr>
        <p:txBody>
          <a:bodyPr anchor="t" rtlCol="false" tIns="0" lIns="0" bIns="0" rIns="0">
            <a:spAutoFit/>
          </a:bodyPr>
          <a:lstStyle/>
          <a:p>
            <a:pPr algn="l">
              <a:lnSpc>
                <a:spcPts val="2340"/>
              </a:lnSpc>
            </a:pPr>
            <a:r>
              <a:rPr lang="en-US" sz="1950">
                <a:solidFill>
                  <a:srgbClr val="3F4B57"/>
                </a:solidFill>
                <a:latin typeface="IBM Plex Sans"/>
                <a:ea typeface="IBM Plex Sans"/>
                <a:cs typeface="IBM Plex Sans"/>
                <a:sym typeface="IBM Plex Sans"/>
              </a:rPr>
              <a:t>Conclusion &amp; references</a:t>
            </a:r>
          </a:p>
        </p:txBody>
      </p:sp>
      <p:grpSp>
        <p:nvGrpSpPr>
          <p:cNvPr name="Group 36" id="36"/>
          <p:cNvGrpSpPr/>
          <p:nvPr/>
        </p:nvGrpSpPr>
        <p:grpSpPr>
          <a:xfrm rot="0">
            <a:off x="1220724" y="9354312"/>
            <a:ext cx="11658600" cy="356616"/>
            <a:chOff x="0" y="0"/>
            <a:chExt cx="15544800" cy="475488"/>
          </a:xfrm>
        </p:grpSpPr>
        <p:sp>
          <p:nvSpPr>
            <p:cNvPr name="Freeform 37" id="37"/>
            <p:cNvSpPr/>
            <p:nvPr/>
          </p:nvSpPr>
          <p:spPr>
            <a:xfrm flipH="false" flipV="false" rot="0">
              <a:off x="0" y="0"/>
              <a:ext cx="15544800" cy="475488"/>
            </a:xfrm>
            <a:custGeom>
              <a:avLst/>
              <a:gdLst/>
              <a:ahLst/>
              <a:cxnLst/>
              <a:rect r="r" b="b" t="t" l="l"/>
              <a:pathLst>
                <a:path h="475488" w="15544800">
                  <a:moveTo>
                    <a:pt x="0" y="0"/>
                  </a:moveTo>
                  <a:lnTo>
                    <a:pt x="15544800" y="0"/>
                  </a:lnTo>
                  <a:lnTo>
                    <a:pt x="15544800" y="475488"/>
                  </a:lnTo>
                  <a:lnTo>
                    <a:pt x="0" y="475488"/>
                  </a:lnTo>
                  <a:close/>
                </a:path>
              </a:pathLst>
            </a:custGeom>
            <a:blipFill>
              <a:blip r:embed="rId3">
                <a:alphaModFix amt="0"/>
              </a:blip>
              <a:stretch>
                <a:fillRect l="0" t="-587010" r="0" b="-587010"/>
              </a:stretch>
            </a:blipFill>
          </p:spPr>
        </p:sp>
        <p:sp>
          <p:nvSpPr>
            <p:cNvPr name="TextBox 38" id="38"/>
            <p:cNvSpPr txBox="true"/>
            <p:nvPr/>
          </p:nvSpPr>
          <p:spPr>
            <a:xfrm>
              <a:off x="0" y="0"/>
              <a:ext cx="15544800" cy="475488"/>
            </a:xfrm>
            <a:prstGeom prst="rect">
              <a:avLst/>
            </a:prstGeom>
          </p:spPr>
          <p:txBody>
            <a:bodyPr anchor="ctr" rtlCol="false" tIns="0" lIns="0" bIns="0" rIns="0"/>
            <a:lstStyle/>
            <a:p>
              <a:pPr algn="l">
                <a:lnSpc>
                  <a:spcPts val="1800"/>
                </a:lnSpc>
              </a:pPr>
              <a:r>
                <a:rPr lang="en-US" sz="1500">
                  <a:solidFill>
                    <a:srgbClr val="5B6770"/>
                  </a:solidFill>
                  <a:latin typeface="IBM Plex Sans"/>
                  <a:ea typeface="IBM Plex Sans"/>
                  <a:cs typeface="IBM Plex Sans"/>
                  <a:sym typeface="IBM Plex Sans"/>
                </a:rPr>
                <a:t>Preserving Our Medicines · Community Antibiotic Stewardship, Chakwal, Pakistan</a:t>
              </a:r>
            </a:p>
          </p:txBody>
        </p:sp>
      </p:grpSp>
      <p:grpSp>
        <p:nvGrpSpPr>
          <p:cNvPr name="Group 39" id="39"/>
          <p:cNvGrpSpPr/>
          <p:nvPr/>
        </p:nvGrpSpPr>
        <p:grpSpPr>
          <a:xfrm rot="0">
            <a:off x="15695219" y="9354312"/>
            <a:ext cx="1371600" cy="356616"/>
            <a:chOff x="0" y="0"/>
            <a:chExt cx="1828800" cy="475488"/>
          </a:xfrm>
        </p:grpSpPr>
        <p:sp>
          <p:nvSpPr>
            <p:cNvPr name="Freeform 40" id="40"/>
            <p:cNvSpPr/>
            <p:nvPr/>
          </p:nvSpPr>
          <p:spPr>
            <a:xfrm flipH="false" flipV="false" rot="0">
              <a:off x="0" y="0"/>
              <a:ext cx="1828800" cy="475488"/>
            </a:xfrm>
            <a:custGeom>
              <a:avLst/>
              <a:gdLst/>
              <a:ahLst/>
              <a:cxnLst/>
              <a:rect r="r" b="b" t="t" l="l"/>
              <a:pathLst>
                <a:path h="475488" w="1828800">
                  <a:moveTo>
                    <a:pt x="0" y="0"/>
                  </a:moveTo>
                  <a:lnTo>
                    <a:pt x="1828800" y="0"/>
                  </a:lnTo>
                  <a:lnTo>
                    <a:pt x="1828800" y="475488"/>
                  </a:lnTo>
                  <a:lnTo>
                    <a:pt x="0" y="475488"/>
                  </a:lnTo>
                  <a:close/>
                </a:path>
              </a:pathLst>
            </a:custGeom>
            <a:blipFill>
              <a:blip r:embed="rId3">
                <a:alphaModFix amt="0"/>
              </a:blip>
              <a:stretch>
                <a:fillRect l="0" t="-24942" r="0" b="-24942"/>
              </a:stretch>
            </a:blipFill>
          </p:spPr>
        </p:sp>
        <p:sp>
          <p:nvSpPr>
            <p:cNvPr name="TextBox 41" id="41"/>
            <p:cNvSpPr txBox="true"/>
            <p:nvPr/>
          </p:nvSpPr>
          <p:spPr>
            <a:xfrm>
              <a:off x="0" y="0"/>
              <a:ext cx="1828800" cy="475488"/>
            </a:xfrm>
            <a:prstGeom prst="rect">
              <a:avLst/>
            </a:prstGeom>
          </p:spPr>
          <p:txBody>
            <a:bodyPr anchor="ctr" rtlCol="false" tIns="0" lIns="0" bIns="0" rIns="0"/>
            <a:lstStyle/>
            <a:p>
              <a:pPr algn="r">
                <a:lnSpc>
                  <a:spcPts val="1800"/>
                </a:lnSpc>
              </a:pPr>
              <a:r>
                <a:rPr lang="en-US" sz="1500">
                  <a:solidFill>
                    <a:srgbClr val="5B6770"/>
                  </a:solidFill>
                  <a:latin typeface="IBM Plex Sans"/>
                  <a:ea typeface="IBM Plex Sans"/>
                  <a:cs typeface="IBM Plex Sans"/>
                  <a:sym typeface="IBM Plex Sans"/>
                </a:rPr>
                <a:t>2</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7F6F2"/>
        </a:solidFill>
      </p:bgPr>
    </p:bg>
    <p:spTree>
      <p:nvGrpSpPr>
        <p:cNvPr id="1" name=""/>
        <p:cNvGrpSpPr/>
        <p:nvPr/>
      </p:nvGrpSpPr>
      <p:grpSpPr>
        <a:xfrm>
          <a:off x="0" y="0"/>
          <a:ext cx="0" cy="0"/>
          <a:chOff x="0" y="0"/>
          <a:chExt cx="0" cy="0"/>
        </a:xfrm>
      </p:grpSpPr>
      <p:grpSp>
        <p:nvGrpSpPr>
          <p:cNvPr name="Group 2" id="2"/>
          <p:cNvGrpSpPr/>
          <p:nvPr/>
        </p:nvGrpSpPr>
        <p:grpSpPr>
          <a:xfrm rot="0">
            <a:off x="1220724" y="1124712"/>
            <a:ext cx="15846095" cy="384048"/>
            <a:chOff x="0" y="0"/>
            <a:chExt cx="21128126" cy="512064"/>
          </a:xfrm>
        </p:grpSpPr>
        <p:sp>
          <p:nvSpPr>
            <p:cNvPr name="Freeform 3" id="3"/>
            <p:cNvSpPr/>
            <p:nvPr/>
          </p:nvSpPr>
          <p:spPr>
            <a:xfrm flipH="false" flipV="false" rot="0">
              <a:off x="0" y="0"/>
              <a:ext cx="21128126" cy="512064"/>
            </a:xfrm>
            <a:custGeom>
              <a:avLst/>
              <a:gdLst/>
              <a:ahLst/>
              <a:cxnLst/>
              <a:rect r="r" b="b" t="t" l="l"/>
              <a:pathLst>
                <a:path h="512064" w="21128126">
                  <a:moveTo>
                    <a:pt x="0" y="0"/>
                  </a:moveTo>
                  <a:lnTo>
                    <a:pt x="21128126" y="0"/>
                  </a:lnTo>
                  <a:lnTo>
                    <a:pt x="21128126" y="512064"/>
                  </a:lnTo>
                  <a:lnTo>
                    <a:pt x="0" y="512064"/>
                  </a:lnTo>
                  <a:close/>
                </a:path>
              </a:pathLst>
            </a:custGeom>
            <a:blipFill>
              <a:blip r:embed="rId3">
                <a:alphaModFix amt="0"/>
              </a:blip>
              <a:stretch>
                <a:fillRect l="0" t="-753966" r="0" b="-753966"/>
              </a:stretch>
            </a:blipFill>
          </p:spPr>
        </p:sp>
        <p:sp>
          <p:nvSpPr>
            <p:cNvPr name="TextBox 4" id="4"/>
            <p:cNvSpPr txBox="true"/>
            <p:nvPr/>
          </p:nvSpPr>
          <p:spPr>
            <a:xfrm>
              <a:off x="0" y="0"/>
              <a:ext cx="21128126" cy="512064"/>
            </a:xfrm>
            <a:prstGeom prst="rect">
              <a:avLst/>
            </a:prstGeom>
          </p:spPr>
          <p:txBody>
            <a:bodyPr anchor="ctr" rtlCol="false" tIns="0" lIns="0" bIns="0" rIns="0"/>
            <a:lstStyle/>
            <a:p>
              <a:pPr algn="l">
                <a:lnSpc>
                  <a:spcPts val="1980"/>
                </a:lnSpc>
              </a:pPr>
              <a:r>
                <a:rPr lang="en-US" b="true" sz="1650" spc="299">
                  <a:solidFill>
                    <a:srgbClr val="0B6E60"/>
                  </a:solidFill>
                  <a:latin typeface="IBM Plex Sans Bold"/>
                  <a:ea typeface="IBM Plex Sans Bold"/>
                  <a:cs typeface="IBM Plex Sans Bold"/>
                  <a:sym typeface="IBM Plex Sans Bold"/>
                </a:rPr>
                <a:t>01 · INTRODUCTION</a:t>
              </a:r>
            </a:p>
          </p:txBody>
        </p:sp>
      </p:grpSp>
      <p:grpSp>
        <p:nvGrpSpPr>
          <p:cNvPr name="Group 5" id="5"/>
          <p:cNvGrpSpPr/>
          <p:nvPr/>
        </p:nvGrpSpPr>
        <p:grpSpPr>
          <a:xfrm rot="0">
            <a:off x="1220724" y="1536192"/>
            <a:ext cx="15846095" cy="850392"/>
            <a:chOff x="0" y="0"/>
            <a:chExt cx="21128126" cy="1133856"/>
          </a:xfrm>
        </p:grpSpPr>
        <p:sp>
          <p:nvSpPr>
            <p:cNvPr name="Freeform 6" id="6"/>
            <p:cNvSpPr/>
            <p:nvPr/>
          </p:nvSpPr>
          <p:spPr>
            <a:xfrm flipH="false" flipV="false" rot="0">
              <a:off x="0" y="0"/>
              <a:ext cx="21128126" cy="1133856"/>
            </a:xfrm>
            <a:custGeom>
              <a:avLst/>
              <a:gdLst/>
              <a:ahLst/>
              <a:cxnLst/>
              <a:rect r="r" b="b" t="t" l="l"/>
              <a:pathLst>
                <a:path h="1133856" w="21128126">
                  <a:moveTo>
                    <a:pt x="0" y="0"/>
                  </a:moveTo>
                  <a:lnTo>
                    <a:pt x="21128126" y="0"/>
                  </a:lnTo>
                  <a:lnTo>
                    <a:pt x="21128126" y="1133856"/>
                  </a:lnTo>
                  <a:lnTo>
                    <a:pt x="0" y="1133856"/>
                  </a:lnTo>
                  <a:close/>
                </a:path>
              </a:pathLst>
            </a:custGeom>
            <a:blipFill>
              <a:blip r:embed="rId3">
                <a:alphaModFix amt="0"/>
              </a:blip>
              <a:stretch>
                <a:fillRect l="0" t="-313081" r="0" b="-313081"/>
              </a:stretch>
            </a:blipFill>
          </p:spPr>
        </p:sp>
        <p:sp>
          <p:nvSpPr>
            <p:cNvPr name="TextBox 7" id="7"/>
            <p:cNvSpPr txBox="true"/>
            <p:nvPr/>
          </p:nvSpPr>
          <p:spPr>
            <a:xfrm>
              <a:off x="0" y="0"/>
              <a:ext cx="21128126" cy="1133856"/>
            </a:xfrm>
            <a:prstGeom prst="rect">
              <a:avLst/>
            </a:prstGeom>
          </p:spPr>
          <p:txBody>
            <a:bodyPr anchor="ctr" rtlCol="false" tIns="0" lIns="0" bIns="0" rIns="0"/>
            <a:lstStyle/>
            <a:p>
              <a:pPr algn="l">
                <a:lnSpc>
                  <a:spcPts val="5400"/>
                </a:lnSpc>
              </a:pPr>
              <a:r>
                <a:rPr lang="en-US" sz="4500" b="true">
                  <a:solidFill>
                    <a:srgbClr val="14304A"/>
                  </a:solidFill>
                  <a:latin typeface="Source Serif Pro Bold"/>
                  <a:ea typeface="Source Serif Pro Bold"/>
                  <a:cs typeface="Source Serif Pro Bold"/>
                  <a:sym typeface="Source Serif Pro Bold"/>
                </a:rPr>
                <a:t>The escalating threat of antimicrobial resistance</a:t>
              </a:r>
            </a:p>
          </p:txBody>
        </p:sp>
      </p:grpSp>
      <p:grpSp>
        <p:nvGrpSpPr>
          <p:cNvPr name="Group 8" id="8"/>
          <p:cNvGrpSpPr/>
          <p:nvPr/>
        </p:nvGrpSpPr>
        <p:grpSpPr>
          <a:xfrm rot="0">
            <a:off x="1213580" y="2804636"/>
            <a:ext cx="7283768" cy="3443288"/>
            <a:chOff x="0" y="0"/>
            <a:chExt cx="9711690" cy="4591050"/>
          </a:xfrm>
        </p:grpSpPr>
        <p:sp>
          <p:nvSpPr>
            <p:cNvPr name="Freeform 9" id="9"/>
            <p:cNvSpPr/>
            <p:nvPr/>
          </p:nvSpPr>
          <p:spPr>
            <a:xfrm flipH="false" flipV="false" rot="0">
              <a:off x="0" y="0"/>
              <a:ext cx="9711690" cy="4591050"/>
            </a:xfrm>
            <a:custGeom>
              <a:avLst/>
              <a:gdLst/>
              <a:ahLst/>
              <a:cxnLst/>
              <a:rect r="r" b="b" t="t" l="l"/>
              <a:pathLst>
                <a:path h="4591050" w="9711690">
                  <a:moveTo>
                    <a:pt x="0" y="146939"/>
                  </a:moveTo>
                  <a:cubicBezTo>
                    <a:pt x="0" y="65786"/>
                    <a:pt x="65786" y="0"/>
                    <a:pt x="146939" y="0"/>
                  </a:cubicBezTo>
                  <a:lnTo>
                    <a:pt x="9564751" y="0"/>
                  </a:lnTo>
                  <a:cubicBezTo>
                    <a:pt x="9645904" y="0"/>
                    <a:pt x="9711690" y="65786"/>
                    <a:pt x="9711690" y="146939"/>
                  </a:cubicBezTo>
                  <a:lnTo>
                    <a:pt x="9711690" y="4444111"/>
                  </a:lnTo>
                  <a:cubicBezTo>
                    <a:pt x="9711690" y="4525264"/>
                    <a:pt x="9645904" y="4591050"/>
                    <a:pt x="9564751" y="4591050"/>
                  </a:cubicBezTo>
                  <a:lnTo>
                    <a:pt x="146939" y="4591050"/>
                  </a:lnTo>
                  <a:cubicBezTo>
                    <a:pt x="65786" y="4591050"/>
                    <a:pt x="0" y="4525264"/>
                    <a:pt x="0" y="4444111"/>
                  </a:cubicBezTo>
                  <a:close/>
                </a:path>
              </a:pathLst>
            </a:custGeom>
            <a:solidFill>
              <a:srgbClr val="FDFDFB"/>
            </a:solidFill>
            <a:ln w="14288" cap="sq">
              <a:solidFill>
                <a:srgbClr val="D3DCD9"/>
              </a:solidFill>
              <a:prstDash val="solid"/>
              <a:miter/>
            </a:ln>
          </p:spPr>
        </p:sp>
      </p:grpSp>
      <p:sp>
        <p:nvSpPr>
          <p:cNvPr name="TextBox 10" id="10"/>
          <p:cNvSpPr txBox="true"/>
          <p:nvPr/>
        </p:nvSpPr>
        <p:spPr>
          <a:xfrm rot="0">
            <a:off x="1700784" y="3223260"/>
            <a:ext cx="6309360" cy="384048"/>
          </a:xfrm>
          <a:prstGeom prst="rect">
            <a:avLst/>
          </a:prstGeom>
        </p:spPr>
        <p:txBody>
          <a:bodyPr anchor="t" rtlCol="false" tIns="0" lIns="0" bIns="0" rIns="0">
            <a:spAutoFit/>
          </a:bodyPr>
          <a:lstStyle/>
          <a:p>
            <a:pPr algn="l">
              <a:lnSpc>
                <a:spcPts val="1800"/>
              </a:lnSpc>
            </a:pPr>
            <a:r>
              <a:rPr lang="en-US" b="true" sz="1500" spc="300">
                <a:solidFill>
                  <a:srgbClr val="C0392B"/>
                </a:solidFill>
                <a:latin typeface="IBM Plex Sans Bold"/>
                <a:ea typeface="IBM Plex Sans Bold"/>
                <a:cs typeface="IBM Plex Sans Bold"/>
                <a:sym typeface="IBM Plex Sans Bold"/>
              </a:rPr>
              <a:t>GLOBAL MORTALITY CRISIS</a:t>
            </a:r>
          </a:p>
        </p:txBody>
      </p:sp>
      <p:sp>
        <p:nvSpPr>
          <p:cNvPr name="TextBox 11" id="11"/>
          <p:cNvSpPr txBox="true"/>
          <p:nvPr/>
        </p:nvSpPr>
        <p:spPr>
          <a:xfrm rot="0">
            <a:off x="1700784" y="3703320"/>
            <a:ext cx="6309360" cy="1234440"/>
          </a:xfrm>
          <a:prstGeom prst="rect">
            <a:avLst/>
          </a:prstGeom>
        </p:spPr>
        <p:txBody>
          <a:bodyPr anchor="t" rtlCol="false" tIns="0" lIns="0" bIns="0" rIns="0">
            <a:spAutoFit/>
          </a:bodyPr>
          <a:lstStyle/>
          <a:p>
            <a:pPr algn="l">
              <a:lnSpc>
                <a:spcPts val="7920"/>
              </a:lnSpc>
            </a:pPr>
            <a:r>
              <a:rPr lang="en-US" sz="6600" b="true">
                <a:solidFill>
                  <a:srgbClr val="14304A"/>
                </a:solidFill>
                <a:latin typeface="Source Serif Pro Bold"/>
                <a:ea typeface="Source Serif Pro Bold"/>
                <a:cs typeface="Source Serif Pro Bold"/>
                <a:sym typeface="Source Serif Pro Bold"/>
              </a:rPr>
              <a:t>1.27 million</a:t>
            </a:r>
          </a:p>
        </p:txBody>
      </p:sp>
      <p:sp>
        <p:nvSpPr>
          <p:cNvPr name="TextBox 12" id="12"/>
          <p:cNvSpPr txBox="true"/>
          <p:nvPr/>
        </p:nvSpPr>
        <p:spPr>
          <a:xfrm rot="0">
            <a:off x="1700784" y="5006340"/>
            <a:ext cx="6309360" cy="960120"/>
          </a:xfrm>
          <a:prstGeom prst="rect">
            <a:avLst/>
          </a:prstGeom>
        </p:spPr>
        <p:txBody>
          <a:bodyPr anchor="t" rtlCol="false" tIns="0" lIns="0" bIns="0" rIns="0">
            <a:spAutoFit/>
          </a:bodyPr>
          <a:lstStyle/>
          <a:p>
            <a:pPr algn="l">
              <a:lnSpc>
                <a:spcPts val="2160"/>
              </a:lnSpc>
            </a:pPr>
            <a:r>
              <a:rPr lang="en-US" sz="1800">
                <a:solidFill>
                  <a:srgbClr val="3F4B57"/>
                </a:solidFill>
                <a:latin typeface="IBM Plex Sans"/>
                <a:ea typeface="IBM Plex Sans"/>
                <a:cs typeface="IBM Plex Sans"/>
                <a:sym typeface="IBM Plex Sans"/>
              </a:rPr>
              <a:t>deaths every year are directly caused by drug-resistant bacterial infections (Lancet, 2022)</a:t>
            </a:r>
          </a:p>
        </p:txBody>
      </p:sp>
      <p:sp>
        <p:nvSpPr>
          <p:cNvPr name="TextBox 13" id="13"/>
          <p:cNvSpPr txBox="true"/>
          <p:nvPr/>
        </p:nvSpPr>
        <p:spPr>
          <a:xfrm rot="0">
            <a:off x="1220724" y="6642735"/>
            <a:ext cx="7269480" cy="1929765"/>
          </a:xfrm>
          <a:prstGeom prst="rect">
            <a:avLst/>
          </a:prstGeom>
        </p:spPr>
        <p:txBody>
          <a:bodyPr anchor="t" rtlCol="false" tIns="0" lIns="0" bIns="0" rIns="0">
            <a:spAutoFit/>
          </a:bodyPr>
          <a:lstStyle/>
          <a:p>
            <a:pPr algn="l">
              <a:lnSpc>
                <a:spcPts val="2520"/>
              </a:lnSpc>
            </a:pPr>
            <a:r>
              <a:rPr lang="en-US" sz="2100">
                <a:solidFill>
                  <a:srgbClr val="14304A"/>
                </a:solidFill>
                <a:latin typeface="IBM Plex Sans"/>
                <a:ea typeface="IBM Plex Sans"/>
                <a:cs typeface="IBM Plex Sans"/>
                <a:sym typeface="IBM Plex Sans"/>
              </a:rPr>
              <a:t>In rural Pakistan, antibiotics are bought over the counter, shared between family members and stopped early. Every misuse gives bacteria a chance to adapt, and first-line medicines slowly stop working.</a:t>
            </a:r>
          </a:p>
        </p:txBody>
      </p:sp>
      <p:grpSp>
        <p:nvGrpSpPr>
          <p:cNvPr name="Group 14" id="14"/>
          <p:cNvGrpSpPr/>
          <p:nvPr/>
        </p:nvGrpSpPr>
        <p:grpSpPr>
          <a:xfrm rot="0">
            <a:off x="9385935" y="2802255"/>
            <a:ext cx="73914" cy="1596390"/>
            <a:chOff x="0" y="0"/>
            <a:chExt cx="98552" cy="2128520"/>
          </a:xfrm>
        </p:grpSpPr>
        <p:sp>
          <p:nvSpPr>
            <p:cNvPr name="Freeform 15" id="15"/>
            <p:cNvSpPr/>
            <p:nvPr/>
          </p:nvSpPr>
          <p:spPr>
            <a:xfrm flipH="false" flipV="false" rot="0">
              <a:off x="0" y="0"/>
              <a:ext cx="98552" cy="2128520"/>
            </a:xfrm>
            <a:custGeom>
              <a:avLst/>
              <a:gdLst/>
              <a:ahLst/>
              <a:cxnLst/>
              <a:rect r="r" b="b" t="t" l="l"/>
              <a:pathLst>
                <a:path h="2128520" w="98552">
                  <a:moveTo>
                    <a:pt x="0" y="0"/>
                  </a:moveTo>
                  <a:lnTo>
                    <a:pt x="98552" y="0"/>
                  </a:lnTo>
                  <a:lnTo>
                    <a:pt x="98552" y="2128520"/>
                  </a:lnTo>
                  <a:lnTo>
                    <a:pt x="0" y="2128520"/>
                  </a:lnTo>
                  <a:close/>
                </a:path>
              </a:pathLst>
            </a:custGeom>
            <a:solidFill>
              <a:srgbClr val="0B6E60"/>
            </a:solidFill>
            <a:ln w="19050" cap="sq">
              <a:solidFill>
                <a:srgbClr val="0B6E60"/>
              </a:solidFill>
              <a:prstDash val="solid"/>
              <a:miter/>
            </a:ln>
          </p:spPr>
        </p:sp>
      </p:grpSp>
      <p:sp>
        <p:nvSpPr>
          <p:cNvPr name="TextBox 16" id="16"/>
          <p:cNvSpPr txBox="true"/>
          <p:nvPr/>
        </p:nvSpPr>
        <p:spPr>
          <a:xfrm rot="0">
            <a:off x="9738360" y="2821305"/>
            <a:ext cx="7269480" cy="374523"/>
          </a:xfrm>
          <a:prstGeom prst="rect">
            <a:avLst/>
          </a:prstGeom>
        </p:spPr>
        <p:txBody>
          <a:bodyPr anchor="t" rtlCol="false" tIns="0" lIns="0" bIns="0" rIns="0">
            <a:spAutoFit/>
          </a:bodyPr>
          <a:lstStyle/>
          <a:p>
            <a:pPr algn="l">
              <a:lnSpc>
                <a:spcPts val="1889"/>
              </a:lnSpc>
            </a:pPr>
            <a:r>
              <a:rPr lang="en-US" b="true" sz="1575" spc="299">
                <a:solidFill>
                  <a:srgbClr val="0B6E60"/>
                </a:solidFill>
                <a:latin typeface="IBM Plex Sans Bold"/>
                <a:ea typeface="IBM Plex Sans Bold"/>
                <a:cs typeface="IBM Plex Sans Bold"/>
                <a:sym typeface="IBM Plex Sans Bold"/>
              </a:rPr>
              <a:t>THE PROBLEM</a:t>
            </a:r>
          </a:p>
        </p:txBody>
      </p:sp>
      <p:sp>
        <p:nvSpPr>
          <p:cNvPr name="TextBox 17" id="17"/>
          <p:cNvSpPr txBox="true"/>
          <p:nvPr/>
        </p:nvSpPr>
        <p:spPr>
          <a:xfrm rot="0">
            <a:off x="9738360" y="3223260"/>
            <a:ext cx="7269480" cy="1234440"/>
          </a:xfrm>
          <a:prstGeom prst="rect">
            <a:avLst/>
          </a:prstGeom>
        </p:spPr>
        <p:txBody>
          <a:bodyPr anchor="t" rtlCol="false" tIns="0" lIns="0" bIns="0" rIns="0">
            <a:spAutoFit/>
          </a:bodyPr>
          <a:lstStyle/>
          <a:p>
            <a:pPr algn="l">
              <a:lnSpc>
                <a:spcPts val="2160"/>
              </a:lnSpc>
            </a:pPr>
            <a:r>
              <a:rPr lang="en-US" sz="1800">
                <a:solidFill>
                  <a:srgbClr val="3F4B57"/>
                </a:solidFill>
                <a:latin typeface="IBM Plex Sans"/>
                <a:ea typeface="IBM Plex Sans"/>
                <a:cs typeface="IBM Plex Sans"/>
                <a:sym typeface="IBM Plex Sans"/>
              </a:rPr>
              <a:t>Standard first-line antibiotics fail against mutated strains, turning mild infections deadly. Limited access to diagnostic labs accelerates empirical over-prescribing and self-medication.</a:t>
            </a:r>
          </a:p>
        </p:txBody>
      </p:sp>
      <p:grpSp>
        <p:nvGrpSpPr>
          <p:cNvPr name="Group 18" id="18"/>
          <p:cNvGrpSpPr/>
          <p:nvPr/>
        </p:nvGrpSpPr>
        <p:grpSpPr>
          <a:xfrm rot="0">
            <a:off x="9385935" y="4791075"/>
            <a:ext cx="73914" cy="1596390"/>
            <a:chOff x="0" y="0"/>
            <a:chExt cx="98552" cy="2128520"/>
          </a:xfrm>
        </p:grpSpPr>
        <p:sp>
          <p:nvSpPr>
            <p:cNvPr name="Freeform 19" id="19"/>
            <p:cNvSpPr/>
            <p:nvPr/>
          </p:nvSpPr>
          <p:spPr>
            <a:xfrm flipH="false" flipV="false" rot="0">
              <a:off x="0" y="0"/>
              <a:ext cx="98552" cy="2128520"/>
            </a:xfrm>
            <a:custGeom>
              <a:avLst/>
              <a:gdLst/>
              <a:ahLst/>
              <a:cxnLst/>
              <a:rect r="r" b="b" t="t" l="l"/>
              <a:pathLst>
                <a:path h="2128520" w="98552">
                  <a:moveTo>
                    <a:pt x="0" y="0"/>
                  </a:moveTo>
                  <a:lnTo>
                    <a:pt x="98552" y="0"/>
                  </a:lnTo>
                  <a:lnTo>
                    <a:pt x="98552" y="2128520"/>
                  </a:lnTo>
                  <a:lnTo>
                    <a:pt x="0" y="2128520"/>
                  </a:lnTo>
                  <a:close/>
                </a:path>
              </a:pathLst>
            </a:custGeom>
            <a:solidFill>
              <a:srgbClr val="0B6E60"/>
            </a:solidFill>
            <a:ln w="19050" cap="sq">
              <a:solidFill>
                <a:srgbClr val="0B6E60"/>
              </a:solidFill>
              <a:prstDash val="solid"/>
              <a:miter/>
            </a:ln>
          </p:spPr>
        </p:sp>
      </p:grpSp>
      <p:sp>
        <p:nvSpPr>
          <p:cNvPr name="TextBox 20" id="20"/>
          <p:cNvSpPr txBox="true"/>
          <p:nvPr/>
        </p:nvSpPr>
        <p:spPr>
          <a:xfrm rot="0">
            <a:off x="9738360" y="4810125"/>
            <a:ext cx="7269480" cy="374523"/>
          </a:xfrm>
          <a:prstGeom prst="rect">
            <a:avLst/>
          </a:prstGeom>
        </p:spPr>
        <p:txBody>
          <a:bodyPr anchor="t" rtlCol="false" tIns="0" lIns="0" bIns="0" rIns="0">
            <a:spAutoFit/>
          </a:bodyPr>
          <a:lstStyle/>
          <a:p>
            <a:pPr algn="l">
              <a:lnSpc>
                <a:spcPts val="1889"/>
              </a:lnSpc>
            </a:pPr>
            <a:r>
              <a:rPr lang="en-US" b="true" sz="1575" spc="299">
                <a:solidFill>
                  <a:srgbClr val="0B6E60"/>
                </a:solidFill>
                <a:latin typeface="IBM Plex Sans Bold"/>
                <a:ea typeface="IBM Plex Sans Bold"/>
                <a:cs typeface="IBM Plex Sans Bold"/>
                <a:sym typeface="IBM Plex Sans Bold"/>
              </a:rPr>
              <a:t>THE AIM</a:t>
            </a:r>
          </a:p>
        </p:txBody>
      </p:sp>
      <p:sp>
        <p:nvSpPr>
          <p:cNvPr name="TextBox 21" id="21"/>
          <p:cNvSpPr txBox="true"/>
          <p:nvPr/>
        </p:nvSpPr>
        <p:spPr>
          <a:xfrm rot="0">
            <a:off x="9738360" y="5212080"/>
            <a:ext cx="7269480" cy="1234440"/>
          </a:xfrm>
          <a:prstGeom prst="rect">
            <a:avLst/>
          </a:prstGeom>
        </p:spPr>
        <p:txBody>
          <a:bodyPr anchor="t" rtlCol="false" tIns="0" lIns="0" bIns="0" rIns="0">
            <a:spAutoFit/>
          </a:bodyPr>
          <a:lstStyle/>
          <a:p>
            <a:pPr algn="l">
              <a:lnSpc>
                <a:spcPts val="2160"/>
              </a:lnSpc>
            </a:pPr>
            <a:r>
              <a:rPr lang="en-US" sz="1800">
                <a:solidFill>
                  <a:srgbClr val="3F4B57"/>
                </a:solidFill>
                <a:latin typeface="IBM Plex Sans"/>
                <a:ea typeface="IBM Plex Sans"/>
                <a:cs typeface="IBM Plex Sans"/>
                <a:sym typeface="IBM Plex Sans"/>
              </a:rPr>
              <a:t>Empower families to use antibiotics only when needed, exactly as prescribed, and never shared or saved.</a:t>
            </a:r>
          </a:p>
        </p:txBody>
      </p:sp>
      <p:grpSp>
        <p:nvGrpSpPr>
          <p:cNvPr name="Group 22" id="22"/>
          <p:cNvGrpSpPr/>
          <p:nvPr/>
        </p:nvGrpSpPr>
        <p:grpSpPr>
          <a:xfrm rot="0">
            <a:off x="9385935" y="6779895"/>
            <a:ext cx="73914" cy="1596390"/>
            <a:chOff x="0" y="0"/>
            <a:chExt cx="98552" cy="2128520"/>
          </a:xfrm>
        </p:grpSpPr>
        <p:sp>
          <p:nvSpPr>
            <p:cNvPr name="Freeform 23" id="23"/>
            <p:cNvSpPr/>
            <p:nvPr/>
          </p:nvSpPr>
          <p:spPr>
            <a:xfrm flipH="false" flipV="false" rot="0">
              <a:off x="0" y="0"/>
              <a:ext cx="98552" cy="2128520"/>
            </a:xfrm>
            <a:custGeom>
              <a:avLst/>
              <a:gdLst/>
              <a:ahLst/>
              <a:cxnLst/>
              <a:rect r="r" b="b" t="t" l="l"/>
              <a:pathLst>
                <a:path h="2128520" w="98552">
                  <a:moveTo>
                    <a:pt x="0" y="0"/>
                  </a:moveTo>
                  <a:lnTo>
                    <a:pt x="98552" y="0"/>
                  </a:lnTo>
                  <a:lnTo>
                    <a:pt x="98552" y="2128520"/>
                  </a:lnTo>
                  <a:lnTo>
                    <a:pt x="0" y="2128520"/>
                  </a:lnTo>
                  <a:close/>
                </a:path>
              </a:pathLst>
            </a:custGeom>
            <a:solidFill>
              <a:srgbClr val="0B6E60"/>
            </a:solidFill>
            <a:ln w="19050" cap="sq">
              <a:solidFill>
                <a:srgbClr val="0B6E60"/>
              </a:solidFill>
              <a:prstDash val="solid"/>
              <a:miter/>
            </a:ln>
          </p:spPr>
        </p:sp>
      </p:grpSp>
      <p:sp>
        <p:nvSpPr>
          <p:cNvPr name="TextBox 24" id="24"/>
          <p:cNvSpPr txBox="true"/>
          <p:nvPr/>
        </p:nvSpPr>
        <p:spPr>
          <a:xfrm rot="0">
            <a:off x="9738360" y="6798945"/>
            <a:ext cx="7269480" cy="374523"/>
          </a:xfrm>
          <a:prstGeom prst="rect">
            <a:avLst/>
          </a:prstGeom>
        </p:spPr>
        <p:txBody>
          <a:bodyPr anchor="t" rtlCol="false" tIns="0" lIns="0" bIns="0" rIns="0">
            <a:spAutoFit/>
          </a:bodyPr>
          <a:lstStyle/>
          <a:p>
            <a:pPr algn="l">
              <a:lnSpc>
                <a:spcPts val="1889"/>
              </a:lnSpc>
            </a:pPr>
            <a:r>
              <a:rPr lang="en-US" b="true" sz="1575" spc="299">
                <a:solidFill>
                  <a:srgbClr val="0B6E60"/>
                </a:solidFill>
                <a:latin typeface="IBM Plex Sans Bold"/>
                <a:ea typeface="IBM Plex Sans Bold"/>
                <a:cs typeface="IBM Plex Sans Bold"/>
                <a:sym typeface="IBM Plex Sans Bold"/>
              </a:rPr>
              <a:t>THE APPROACH</a:t>
            </a:r>
          </a:p>
        </p:txBody>
      </p:sp>
      <p:sp>
        <p:nvSpPr>
          <p:cNvPr name="TextBox 25" id="25"/>
          <p:cNvSpPr txBox="true"/>
          <p:nvPr/>
        </p:nvSpPr>
        <p:spPr>
          <a:xfrm rot="0">
            <a:off x="9738360" y="7200900"/>
            <a:ext cx="7269480" cy="1234440"/>
          </a:xfrm>
          <a:prstGeom prst="rect">
            <a:avLst/>
          </a:prstGeom>
        </p:spPr>
        <p:txBody>
          <a:bodyPr anchor="t" rtlCol="false" tIns="0" lIns="0" bIns="0" rIns="0">
            <a:spAutoFit/>
          </a:bodyPr>
          <a:lstStyle/>
          <a:p>
            <a:pPr algn="l">
              <a:lnSpc>
                <a:spcPts val="2160"/>
              </a:lnSpc>
            </a:pPr>
            <a:r>
              <a:rPr lang="en-US" sz="1800">
                <a:solidFill>
                  <a:srgbClr val="3F4B57"/>
                </a:solidFill>
                <a:latin typeface="IBM Plex Sans"/>
                <a:ea typeface="IBM Plex Sans"/>
                <a:cs typeface="IBM Plex Sans"/>
                <a:sym typeface="IBM Plex Sans"/>
              </a:rPr>
              <a:t>A pharmacist-led programme: counselling at the point of dispensing, flyer and poster distribution, door-to-door outreach and free medical camps.</a:t>
            </a:r>
          </a:p>
        </p:txBody>
      </p:sp>
      <p:grpSp>
        <p:nvGrpSpPr>
          <p:cNvPr name="Group 26" id="26"/>
          <p:cNvGrpSpPr/>
          <p:nvPr/>
        </p:nvGrpSpPr>
        <p:grpSpPr>
          <a:xfrm rot="0">
            <a:off x="1220724" y="9354312"/>
            <a:ext cx="11658600" cy="356616"/>
            <a:chOff x="0" y="0"/>
            <a:chExt cx="15544800" cy="475488"/>
          </a:xfrm>
        </p:grpSpPr>
        <p:sp>
          <p:nvSpPr>
            <p:cNvPr name="Freeform 27" id="27"/>
            <p:cNvSpPr/>
            <p:nvPr/>
          </p:nvSpPr>
          <p:spPr>
            <a:xfrm flipH="false" flipV="false" rot="0">
              <a:off x="0" y="0"/>
              <a:ext cx="15544800" cy="475488"/>
            </a:xfrm>
            <a:custGeom>
              <a:avLst/>
              <a:gdLst/>
              <a:ahLst/>
              <a:cxnLst/>
              <a:rect r="r" b="b" t="t" l="l"/>
              <a:pathLst>
                <a:path h="475488" w="15544800">
                  <a:moveTo>
                    <a:pt x="0" y="0"/>
                  </a:moveTo>
                  <a:lnTo>
                    <a:pt x="15544800" y="0"/>
                  </a:lnTo>
                  <a:lnTo>
                    <a:pt x="15544800" y="475488"/>
                  </a:lnTo>
                  <a:lnTo>
                    <a:pt x="0" y="475488"/>
                  </a:lnTo>
                  <a:close/>
                </a:path>
              </a:pathLst>
            </a:custGeom>
            <a:blipFill>
              <a:blip r:embed="rId3">
                <a:alphaModFix amt="0"/>
              </a:blip>
              <a:stretch>
                <a:fillRect l="0" t="-587010" r="0" b="-587010"/>
              </a:stretch>
            </a:blipFill>
          </p:spPr>
        </p:sp>
        <p:sp>
          <p:nvSpPr>
            <p:cNvPr name="TextBox 28" id="28"/>
            <p:cNvSpPr txBox="true"/>
            <p:nvPr/>
          </p:nvSpPr>
          <p:spPr>
            <a:xfrm>
              <a:off x="0" y="0"/>
              <a:ext cx="15544800" cy="475488"/>
            </a:xfrm>
            <a:prstGeom prst="rect">
              <a:avLst/>
            </a:prstGeom>
          </p:spPr>
          <p:txBody>
            <a:bodyPr anchor="ctr" rtlCol="false" tIns="0" lIns="0" bIns="0" rIns="0"/>
            <a:lstStyle/>
            <a:p>
              <a:pPr algn="l">
                <a:lnSpc>
                  <a:spcPts val="1800"/>
                </a:lnSpc>
              </a:pPr>
              <a:r>
                <a:rPr lang="en-US" sz="1500">
                  <a:solidFill>
                    <a:srgbClr val="5B6770"/>
                  </a:solidFill>
                  <a:latin typeface="IBM Plex Sans"/>
                  <a:ea typeface="IBM Plex Sans"/>
                  <a:cs typeface="IBM Plex Sans"/>
                  <a:sym typeface="IBM Plex Sans"/>
                </a:rPr>
                <a:t>Preserving Our Medicines · Community Antibiotic Stewardship, Chakwal, Pakistan</a:t>
              </a:r>
            </a:p>
          </p:txBody>
        </p:sp>
      </p:grpSp>
      <p:grpSp>
        <p:nvGrpSpPr>
          <p:cNvPr name="Group 29" id="29"/>
          <p:cNvGrpSpPr/>
          <p:nvPr/>
        </p:nvGrpSpPr>
        <p:grpSpPr>
          <a:xfrm rot="0">
            <a:off x="15695219" y="9354312"/>
            <a:ext cx="1371600" cy="356616"/>
            <a:chOff x="0" y="0"/>
            <a:chExt cx="1828800" cy="475488"/>
          </a:xfrm>
        </p:grpSpPr>
        <p:sp>
          <p:nvSpPr>
            <p:cNvPr name="Freeform 30" id="30"/>
            <p:cNvSpPr/>
            <p:nvPr/>
          </p:nvSpPr>
          <p:spPr>
            <a:xfrm flipH="false" flipV="false" rot="0">
              <a:off x="0" y="0"/>
              <a:ext cx="1828800" cy="475488"/>
            </a:xfrm>
            <a:custGeom>
              <a:avLst/>
              <a:gdLst/>
              <a:ahLst/>
              <a:cxnLst/>
              <a:rect r="r" b="b" t="t" l="l"/>
              <a:pathLst>
                <a:path h="475488" w="1828800">
                  <a:moveTo>
                    <a:pt x="0" y="0"/>
                  </a:moveTo>
                  <a:lnTo>
                    <a:pt x="1828800" y="0"/>
                  </a:lnTo>
                  <a:lnTo>
                    <a:pt x="1828800" y="475488"/>
                  </a:lnTo>
                  <a:lnTo>
                    <a:pt x="0" y="475488"/>
                  </a:lnTo>
                  <a:close/>
                </a:path>
              </a:pathLst>
            </a:custGeom>
            <a:blipFill>
              <a:blip r:embed="rId3">
                <a:alphaModFix amt="0"/>
              </a:blip>
              <a:stretch>
                <a:fillRect l="0" t="-24942" r="0" b="-24942"/>
              </a:stretch>
            </a:blipFill>
          </p:spPr>
        </p:sp>
        <p:sp>
          <p:nvSpPr>
            <p:cNvPr name="TextBox 31" id="31"/>
            <p:cNvSpPr txBox="true"/>
            <p:nvPr/>
          </p:nvSpPr>
          <p:spPr>
            <a:xfrm>
              <a:off x="0" y="0"/>
              <a:ext cx="1828800" cy="475488"/>
            </a:xfrm>
            <a:prstGeom prst="rect">
              <a:avLst/>
            </a:prstGeom>
          </p:spPr>
          <p:txBody>
            <a:bodyPr anchor="ctr" rtlCol="false" tIns="0" lIns="0" bIns="0" rIns="0"/>
            <a:lstStyle/>
            <a:p>
              <a:pPr algn="r">
                <a:lnSpc>
                  <a:spcPts val="1800"/>
                </a:lnSpc>
              </a:pPr>
              <a:r>
                <a:rPr lang="en-US" sz="1500">
                  <a:solidFill>
                    <a:srgbClr val="5B6770"/>
                  </a:solidFill>
                  <a:latin typeface="IBM Plex Sans"/>
                  <a:ea typeface="IBM Plex Sans"/>
                  <a:cs typeface="IBM Plex Sans"/>
                  <a:sym typeface="IBM Plex Sans"/>
                </a:rPr>
                <a:t>3</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7F6F2"/>
        </a:solidFill>
      </p:bgPr>
    </p:bg>
    <p:spTree>
      <p:nvGrpSpPr>
        <p:cNvPr id="1" name=""/>
        <p:cNvGrpSpPr/>
        <p:nvPr/>
      </p:nvGrpSpPr>
      <p:grpSpPr>
        <a:xfrm>
          <a:off x="0" y="0"/>
          <a:ext cx="0" cy="0"/>
          <a:chOff x="0" y="0"/>
          <a:chExt cx="0" cy="0"/>
        </a:xfrm>
      </p:grpSpPr>
      <p:grpSp>
        <p:nvGrpSpPr>
          <p:cNvPr name="Group 2" id="2"/>
          <p:cNvGrpSpPr/>
          <p:nvPr/>
        </p:nvGrpSpPr>
        <p:grpSpPr>
          <a:xfrm rot="0">
            <a:off x="1220724" y="1124712"/>
            <a:ext cx="15846095" cy="384048"/>
            <a:chOff x="0" y="0"/>
            <a:chExt cx="21128126" cy="512064"/>
          </a:xfrm>
        </p:grpSpPr>
        <p:sp>
          <p:nvSpPr>
            <p:cNvPr name="Freeform 3" id="3"/>
            <p:cNvSpPr/>
            <p:nvPr/>
          </p:nvSpPr>
          <p:spPr>
            <a:xfrm flipH="false" flipV="false" rot="0">
              <a:off x="0" y="0"/>
              <a:ext cx="21128126" cy="512064"/>
            </a:xfrm>
            <a:custGeom>
              <a:avLst/>
              <a:gdLst/>
              <a:ahLst/>
              <a:cxnLst/>
              <a:rect r="r" b="b" t="t" l="l"/>
              <a:pathLst>
                <a:path h="512064" w="21128126">
                  <a:moveTo>
                    <a:pt x="0" y="0"/>
                  </a:moveTo>
                  <a:lnTo>
                    <a:pt x="21128126" y="0"/>
                  </a:lnTo>
                  <a:lnTo>
                    <a:pt x="21128126" y="512064"/>
                  </a:lnTo>
                  <a:lnTo>
                    <a:pt x="0" y="512064"/>
                  </a:lnTo>
                  <a:close/>
                </a:path>
              </a:pathLst>
            </a:custGeom>
            <a:blipFill>
              <a:blip r:embed="rId3">
                <a:alphaModFix amt="0"/>
              </a:blip>
              <a:stretch>
                <a:fillRect l="0" t="-753966" r="0" b="-753966"/>
              </a:stretch>
            </a:blipFill>
          </p:spPr>
        </p:sp>
        <p:sp>
          <p:nvSpPr>
            <p:cNvPr name="TextBox 4" id="4"/>
            <p:cNvSpPr txBox="true"/>
            <p:nvPr/>
          </p:nvSpPr>
          <p:spPr>
            <a:xfrm>
              <a:off x="0" y="0"/>
              <a:ext cx="21128126" cy="512064"/>
            </a:xfrm>
            <a:prstGeom prst="rect">
              <a:avLst/>
            </a:prstGeom>
          </p:spPr>
          <p:txBody>
            <a:bodyPr anchor="ctr" rtlCol="false" tIns="0" lIns="0" bIns="0" rIns="0"/>
            <a:lstStyle/>
            <a:p>
              <a:pPr algn="l">
                <a:lnSpc>
                  <a:spcPts val="1980"/>
                </a:lnSpc>
              </a:pPr>
              <a:r>
                <a:rPr lang="en-US" b="true" sz="1650" spc="299">
                  <a:solidFill>
                    <a:srgbClr val="0B6E60"/>
                  </a:solidFill>
                  <a:latin typeface="IBM Plex Sans Bold"/>
                  <a:ea typeface="IBM Plex Sans Bold"/>
                  <a:cs typeface="IBM Plex Sans Bold"/>
                  <a:sym typeface="IBM Plex Sans Bold"/>
                </a:rPr>
                <a:t>02 · SETTING &amp; TARGET COMMUNITIES</a:t>
              </a:r>
            </a:p>
          </p:txBody>
        </p:sp>
      </p:grpSp>
      <p:grpSp>
        <p:nvGrpSpPr>
          <p:cNvPr name="Group 5" id="5"/>
          <p:cNvGrpSpPr/>
          <p:nvPr/>
        </p:nvGrpSpPr>
        <p:grpSpPr>
          <a:xfrm rot="0">
            <a:off x="1220724" y="1536192"/>
            <a:ext cx="15846095" cy="850392"/>
            <a:chOff x="0" y="0"/>
            <a:chExt cx="21128126" cy="1133856"/>
          </a:xfrm>
        </p:grpSpPr>
        <p:sp>
          <p:nvSpPr>
            <p:cNvPr name="Freeform 6" id="6"/>
            <p:cNvSpPr/>
            <p:nvPr/>
          </p:nvSpPr>
          <p:spPr>
            <a:xfrm flipH="false" flipV="false" rot="0">
              <a:off x="0" y="0"/>
              <a:ext cx="21128126" cy="1133856"/>
            </a:xfrm>
            <a:custGeom>
              <a:avLst/>
              <a:gdLst/>
              <a:ahLst/>
              <a:cxnLst/>
              <a:rect r="r" b="b" t="t" l="l"/>
              <a:pathLst>
                <a:path h="1133856" w="21128126">
                  <a:moveTo>
                    <a:pt x="0" y="0"/>
                  </a:moveTo>
                  <a:lnTo>
                    <a:pt x="21128126" y="0"/>
                  </a:lnTo>
                  <a:lnTo>
                    <a:pt x="21128126" y="1133856"/>
                  </a:lnTo>
                  <a:lnTo>
                    <a:pt x="0" y="1133856"/>
                  </a:lnTo>
                  <a:close/>
                </a:path>
              </a:pathLst>
            </a:custGeom>
            <a:blipFill>
              <a:blip r:embed="rId3">
                <a:alphaModFix amt="0"/>
              </a:blip>
              <a:stretch>
                <a:fillRect l="0" t="-313081" r="0" b="-313081"/>
              </a:stretch>
            </a:blipFill>
          </p:spPr>
        </p:sp>
        <p:sp>
          <p:nvSpPr>
            <p:cNvPr name="TextBox 7" id="7"/>
            <p:cNvSpPr txBox="true"/>
            <p:nvPr/>
          </p:nvSpPr>
          <p:spPr>
            <a:xfrm>
              <a:off x="0" y="0"/>
              <a:ext cx="21128126" cy="1133856"/>
            </a:xfrm>
            <a:prstGeom prst="rect">
              <a:avLst/>
            </a:prstGeom>
          </p:spPr>
          <p:txBody>
            <a:bodyPr anchor="ctr" rtlCol="false" tIns="0" lIns="0" bIns="0" rIns="0"/>
            <a:lstStyle/>
            <a:p>
              <a:pPr algn="l">
                <a:lnSpc>
                  <a:spcPts val="5400"/>
                </a:lnSpc>
              </a:pPr>
              <a:r>
                <a:rPr lang="en-US" sz="4500" b="true">
                  <a:solidFill>
                    <a:srgbClr val="14304A"/>
                  </a:solidFill>
                  <a:latin typeface="Source Serif Pro Bold"/>
                  <a:ea typeface="Source Serif Pro Bold"/>
                  <a:cs typeface="Source Serif Pro Bold"/>
                  <a:sym typeface="Source Serif Pro Bold"/>
                </a:rPr>
                <a:t>Five villages, three contact points, 200 people</a:t>
              </a:r>
            </a:p>
          </p:txBody>
        </p:sp>
      </p:grpSp>
      <p:grpSp>
        <p:nvGrpSpPr>
          <p:cNvPr name="Group 8" id="8"/>
          <p:cNvGrpSpPr/>
          <p:nvPr/>
        </p:nvGrpSpPr>
        <p:grpSpPr>
          <a:xfrm rot="0">
            <a:off x="1213580" y="2804636"/>
            <a:ext cx="3786188" cy="1865948"/>
            <a:chOff x="0" y="0"/>
            <a:chExt cx="5048250" cy="2487930"/>
          </a:xfrm>
        </p:grpSpPr>
        <p:sp>
          <p:nvSpPr>
            <p:cNvPr name="Freeform 9" id="9"/>
            <p:cNvSpPr/>
            <p:nvPr/>
          </p:nvSpPr>
          <p:spPr>
            <a:xfrm flipH="false" flipV="false" rot="0">
              <a:off x="0" y="0"/>
              <a:ext cx="5048250" cy="2487930"/>
            </a:xfrm>
            <a:custGeom>
              <a:avLst/>
              <a:gdLst/>
              <a:ahLst/>
              <a:cxnLst/>
              <a:rect r="r" b="b" t="t" l="l"/>
              <a:pathLst>
                <a:path h="2487930" w="5048250">
                  <a:moveTo>
                    <a:pt x="0" y="147447"/>
                  </a:moveTo>
                  <a:cubicBezTo>
                    <a:pt x="0" y="66040"/>
                    <a:pt x="66040" y="0"/>
                    <a:pt x="147447" y="0"/>
                  </a:cubicBezTo>
                  <a:lnTo>
                    <a:pt x="4900803" y="0"/>
                  </a:lnTo>
                  <a:cubicBezTo>
                    <a:pt x="4982210" y="0"/>
                    <a:pt x="5048250" y="66040"/>
                    <a:pt x="5048250" y="147447"/>
                  </a:cubicBezTo>
                  <a:lnTo>
                    <a:pt x="5048250" y="2340483"/>
                  </a:lnTo>
                  <a:cubicBezTo>
                    <a:pt x="5048250" y="2421890"/>
                    <a:pt x="4982210" y="2487930"/>
                    <a:pt x="4900803" y="2487930"/>
                  </a:cubicBezTo>
                  <a:lnTo>
                    <a:pt x="147447" y="2487930"/>
                  </a:lnTo>
                  <a:cubicBezTo>
                    <a:pt x="66040" y="2487930"/>
                    <a:pt x="0" y="2421890"/>
                    <a:pt x="0" y="2340483"/>
                  </a:cubicBezTo>
                  <a:close/>
                </a:path>
              </a:pathLst>
            </a:custGeom>
            <a:solidFill>
              <a:srgbClr val="FDFDFB"/>
            </a:solidFill>
            <a:ln w="14288" cap="sq">
              <a:solidFill>
                <a:srgbClr val="D3DCD9"/>
              </a:solidFill>
              <a:prstDash val="solid"/>
              <a:miter/>
            </a:ln>
          </p:spPr>
        </p:sp>
      </p:grpSp>
      <p:sp>
        <p:nvSpPr>
          <p:cNvPr name="TextBox 10" id="10"/>
          <p:cNvSpPr txBox="true"/>
          <p:nvPr/>
        </p:nvSpPr>
        <p:spPr>
          <a:xfrm rot="0">
            <a:off x="1632204" y="3027045"/>
            <a:ext cx="3017520" cy="882015"/>
          </a:xfrm>
          <a:prstGeom prst="rect">
            <a:avLst/>
          </a:prstGeom>
        </p:spPr>
        <p:txBody>
          <a:bodyPr anchor="t" rtlCol="false" tIns="0" lIns="0" bIns="0" rIns="0">
            <a:spAutoFit/>
          </a:bodyPr>
          <a:lstStyle/>
          <a:p>
            <a:pPr algn="l">
              <a:lnSpc>
                <a:spcPts val="5759"/>
              </a:lnSpc>
            </a:pPr>
            <a:r>
              <a:rPr lang="en-US" sz="4800" b="true">
                <a:solidFill>
                  <a:srgbClr val="0B6E60"/>
                </a:solidFill>
                <a:latin typeface="Source Serif Pro Bold"/>
                <a:ea typeface="Source Serif Pro Bold"/>
                <a:cs typeface="Source Serif Pro Bold"/>
                <a:sym typeface="Source Serif Pro Bold"/>
              </a:rPr>
              <a:t>5</a:t>
            </a:r>
          </a:p>
        </p:txBody>
      </p:sp>
      <p:sp>
        <p:nvSpPr>
          <p:cNvPr name="TextBox 11" id="11"/>
          <p:cNvSpPr txBox="true"/>
          <p:nvPr/>
        </p:nvSpPr>
        <p:spPr>
          <a:xfrm rot="0">
            <a:off x="1632204" y="3950208"/>
            <a:ext cx="3154680" cy="548640"/>
          </a:xfrm>
          <a:prstGeom prst="rect">
            <a:avLst/>
          </a:prstGeom>
        </p:spPr>
        <p:txBody>
          <a:bodyPr anchor="t" rtlCol="false" tIns="0" lIns="0" bIns="0" rIns="0">
            <a:spAutoFit/>
          </a:bodyPr>
          <a:lstStyle/>
          <a:p>
            <a:pPr algn="l">
              <a:lnSpc>
                <a:spcPts val="1980"/>
              </a:lnSpc>
            </a:pPr>
            <a:r>
              <a:rPr lang="en-US" sz="1650">
                <a:solidFill>
                  <a:srgbClr val="3F4B57"/>
                </a:solidFill>
                <a:latin typeface="IBM Plex Sans"/>
                <a:ea typeface="IBM Plex Sans"/>
                <a:cs typeface="IBM Plex Sans"/>
                <a:sym typeface="IBM Plex Sans"/>
              </a:rPr>
              <a:t>Villages in Chakwal District</a:t>
            </a:r>
          </a:p>
        </p:txBody>
      </p:sp>
      <p:grpSp>
        <p:nvGrpSpPr>
          <p:cNvPr name="Group 12" id="12"/>
          <p:cNvGrpSpPr/>
          <p:nvPr/>
        </p:nvGrpSpPr>
        <p:grpSpPr>
          <a:xfrm rot="0">
            <a:off x="5328380" y="2804636"/>
            <a:ext cx="3786188" cy="1865948"/>
            <a:chOff x="0" y="0"/>
            <a:chExt cx="5048250" cy="2487930"/>
          </a:xfrm>
        </p:grpSpPr>
        <p:sp>
          <p:nvSpPr>
            <p:cNvPr name="Freeform 13" id="13"/>
            <p:cNvSpPr/>
            <p:nvPr/>
          </p:nvSpPr>
          <p:spPr>
            <a:xfrm flipH="false" flipV="false" rot="0">
              <a:off x="0" y="0"/>
              <a:ext cx="5048250" cy="2487930"/>
            </a:xfrm>
            <a:custGeom>
              <a:avLst/>
              <a:gdLst/>
              <a:ahLst/>
              <a:cxnLst/>
              <a:rect r="r" b="b" t="t" l="l"/>
              <a:pathLst>
                <a:path h="2487930" w="5048250">
                  <a:moveTo>
                    <a:pt x="0" y="147447"/>
                  </a:moveTo>
                  <a:cubicBezTo>
                    <a:pt x="0" y="66040"/>
                    <a:pt x="66040" y="0"/>
                    <a:pt x="147447" y="0"/>
                  </a:cubicBezTo>
                  <a:lnTo>
                    <a:pt x="4900803" y="0"/>
                  </a:lnTo>
                  <a:cubicBezTo>
                    <a:pt x="4982210" y="0"/>
                    <a:pt x="5048250" y="66040"/>
                    <a:pt x="5048250" y="147447"/>
                  </a:cubicBezTo>
                  <a:lnTo>
                    <a:pt x="5048250" y="2340483"/>
                  </a:lnTo>
                  <a:cubicBezTo>
                    <a:pt x="5048250" y="2421890"/>
                    <a:pt x="4982210" y="2487930"/>
                    <a:pt x="4900803" y="2487930"/>
                  </a:cubicBezTo>
                  <a:lnTo>
                    <a:pt x="147447" y="2487930"/>
                  </a:lnTo>
                  <a:cubicBezTo>
                    <a:pt x="66040" y="2487930"/>
                    <a:pt x="0" y="2421890"/>
                    <a:pt x="0" y="2340483"/>
                  </a:cubicBezTo>
                  <a:close/>
                </a:path>
              </a:pathLst>
            </a:custGeom>
            <a:solidFill>
              <a:srgbClr val="FDFDFB"/>
            </a:solidFill>
            <a:ln w="14288" cap="sq">
              <a:solidFill>
                <a:srgbClr val="D3DCD9"/>
              </a:solidFill>
              <a:prstDash val="solid"/>
              <a:miter/>
            </a:ln>
          </p:spPr>
        </p:sp>
      </p:grpSp>
      <p:sp>
        <p:nvSpPr>
          <p:cNvPr name="TextBox 14" id="14"/>
          <p:cNvSpPr txBox="true"/>
          <p:nvPr/>
        </p:nvSpPr>
        <p:spPr>
          <a:xfrm rot="0">
            <a:off x="5747004" y="3027045"/>
            <a:ext cx="3017520" cy="882015"/>
          </a:xfrm>
          <a:prstGeom prst="rect">
            <a:avLst/>
          </a:prstGeom>
        </p:spPr>
        <p:txBody>
          <a:bodyPr anchor="t" rtlCol="false" tIns="0" lIns="0" bIns="0" rIns="0">
            <a:spAutoFit/>
          </a:bodyPr>
          <a:lstStyle/>
          <a:p>
            <a:pPr algn="l">
              <a:lnSpc>
                <a:spcPts val="5759"/>
              </a:lnSpc>
            </a:pPr>
            <a:r>
              <a:rPr lang="en-US" sz="4800" b="true">
                <a:solidFill>
                  <a:srgbClr val="0B6E60"/>
                </a:solidFill>
                <a:latin typeface="Source Serif Pro Bold"/>
                <a:ea typeface="Source Serif Pro Bold"/>
                <a:cs typeface="Source Serif Pro Bold"/>
                <a:sym typeface="Source Serif Pro Bold"/>
              </a:rPr>
              <a:t>3</a:t>
            </a:r>
          </a:p>
        </p:txBody>
      </p:sp>
      <p:sp>
        <p:nvSpPr>
          <p:cNvPr name="TextBox 15" id="15"/>
          <p:cNvSpPr txBox="true"/>
          <p:nvPr/>
        </p:nvSpPr>
        <p:spPr>
          <a:xfrm rot="0">
            <a:off x="5747004" y="3950208"/>
            <a:ext cx="3154680" cy="548640"/>
          </a:xfrm>
          <a:prstGeom prst="rect">
            <a:avLst/>
          </a:prstGeom>
        </p:spPr>
        <p:txBody>
          <a:bodyPr anchor="t" rtlCol="false" tIns="0" lIns="0" bIns="0" rIns="0">
            <a:spAutoFit/>
          </a:bodyPr>
          <a:lstStyle/>
          <a:p>
            <a:pPr algn="l">
              <a:lnSpc>
                <a:spcPts val="1980"/>
              </a:lnSpc>
            </a:pPr>
            <a:r>
              <a:rPr lang="en-US" sz="1650">
                <a:solidFill>
                  <a:srgbClr val="3F4B57"/>
                </a:solidFill>
                <a:latin typeface="IBM Plex Sans"/>
                <a:ea typeface="IBM Plex Sans"/>
                <a:cs typeface="IBM Plex Sans"/>
                <a:sym typeface="IBM Plex Sans"/>
              </a:rPr>
              <a:t>Contact points for education</a:t>
            </a:r>
          </a:p>
        </p:txBody>
      </p:sp>
      <p:grpSp>
        <p:nvGrpSpPr>
          <p:cNvPr name="Group 16" id="16"/>
          <p:cNvGrpSpPr/>
          <p:nvPr/>
        </p:nvGrpSpPr>
        <p:grpSpPr>
          <a:xfrm rot="0">
            <a:off x="9443180" y="2804636"/>
            <a:ext cx="3786188" cy="1865948"/>
            <a:chOff x="0" y="0"/>
            <a:chExt cx="5048250" cy="2487930"/>
          </a:xfrm>
        </p:grpSpPr>
        <p:sp>
          <p:nvSpPr>
            <p:cNvPr name="Freeform 17" id="17"/>
            <p:cNvSpPr/>
            <p:nvPr/>
          </p:nvSpPr>
          <p:spPr>
            <a:xfrm flipH="false" flipV="false" rot="0">
              <a:off x="0" y="0"/>
              <a:ext cx="5048250" cy="2487930"/>
            </a:xfrm>
            <a:custGeom>
              <a:avLst/>
              <a:gdLst/>
              <a:ahLst/>
              <a:cxnLst/>
              <a:rect r="r" b="b" t="t" l="l"/>
              <a:pathLst>
                <a:path h="2487930" w="5048250">
                  <a:moveTo>
                    <a:pt x="0" y="147447"/>
                  </a:moveTo>
                  <a:cubicBezTo>
                    <a:pt x="0" y="66040"/>
                    <a:pt x="66040" y="0"/>
                    <a:pt x="147447" y="0"/>
                  </a:cubicBezTo>
                  <a:lnTo>
                    <a:pt x="4900803" y="0"/>
                  </a:lnTo>
                  <a:cubicBezTo>
                    <a:pt x="4982210" y="0"/>
                    <a:pt x="5048250" y="66040"/>
                    <a:pt x="5048250" y="147447"/>
                  </a:cubicBezTo>
                  <a:lnTo>
                    <a:pt x="5048250" y="2340483"/>
                  </a:lnTo>
                  <a:cubicBezTo>
                    <a:pt x="5048250" y="2421890"/>
                    <a:pt x="4982210" y="2487930"/>
                    <a:pt x="4900803" y="2487930"/>
                  </a:cubicBezTo>
                  <a:lnTo>
                    <a:pt x="147447" y="2487930"/>
                  </a:lnTo>
                  <a:cubicBezTo>
                    <a:pt x="66040" y="2487930"/>
                    <a:pt x="0" y="2421890"/>
                    <a:pt x="0" y="2340483"/>
                  </a:cubicBezTo>
                  <a:close/>
                </a:path>
              </a:pathLst>
            </a:custGeom>
            <a:solidFill>
              <a:srgbClr val="FDFDFB"/>
            </a:solidFill>
            <a:ln w="14288" cap="sq">
              <a:solidFill>
                <a:srgbClr val="D3DCD9"/>
              </a:solidFill>
              <a:prstDash val="solid"/>
              <a:miter/>
            </a:ln>
          </p:spPr>
        </p:sp>
      </p:grpSp>
      <p:sp>
        <p:nvSpPr>
          <p:cNvPr name="TextBox 18" id="18"/>
          <p:cNvSpPr txBox="true"/>
          <p:nvPr/>
        </p:nvSpPr>
        <p:spPr>
          <a:xfrm rot="0">
            <a:off x="9861804" y="3027045"/>
            <a:ext cx="3017520" cy="882015"/>
          </a:xfrm>
          <a:prstGeom prst="rect">
            <a:avLst/>
          </a:prstGeom>
        </p:spPr>
        <p:txBody>
          <a:bodyPr anchor="t" rtlCol="false" tIns="0" lIns="0" bIns="0" rIns="0">
            <a:spAutoFit/>
          </a:bodyPr>
          <a:lstStyle/>
          <a:p>
            <a:pPr algn="l">
              <a:lnSpc>
                <a:spcPts val="5759"/>
              </a:lnSpc>
            </a:pPr>
            <a:r>
              <a:rPr lang="en-US" sz="4800" b="true">
                <a:solidFill>
                  <a:srgbClr val="0B6E60"/>
                </a:solidFill>
                <a:latin typeface="Source Serif Pro Bold"/>
                <a:ea typeface="Source Serif Pro Bold"/>
                <a:cs typeface="Source Serif Pro Bold"/>
                <a:sym typeface="Source Serif Pro Bold"/>
              </a:rPr>
              <a:t>200</a:t>
            </a:r>
          </a:p>
        </p:txBody>
      </p:sp>
      <p:sp>
        <p:nvSpPr>
          <p:cNvPr name="TextBox 19" id="19"/>
          <p:cNvSpPr txBox="true"/>
          <p:nvPr/>
        </p:nvSpPr>
        <p:spPr>
          <a:xfrm rot="0">
            <a:off x="9861804" y="3950208"/>
            <a:ext cx="3154680" cy="548640"/>
          </a:xfrm>
          <a:prstGeom prst="rect">
            <a:avLst/>
          </a:prstGeom>
        </p:spPr>
        <p:txBody>
          <a:bodyPr anchor="t" rtlCol="false" tIns="0" lIns="0" bIns="0" rIns="0">
            <a:spAutoFit/>
          </a:bodyPr>
          <a:lstStyle/>
          <a:p>
            <a:pPr algn="l">
              <a:lnSpc>
                <a:spcPts val="1980"/>
              </a:lnSpc>
            </a:pPr>
            <a:r>
              <a:rPr lang="en-US" sz="1650">
                <a:solidFill>
                  <a:srgbClr val="3F4B57"/>
                </a:solidFill>
                <a:latin typeface="IBM Plex Sans"/>
                <a:ea typeface="IBM Plex Sans"/>
                <a:cs typeface="IBM Plex Sans"/>
                <a:sym typeface="IBM Plex Sans"/>
              </a:rPr>
              <a:t>Community members surveyed</a:t>
            </a:r>
          </a:p>
        </p:txBody>
      </p:sp>
      <p:grpSp>
        <p:nvGrpSpPr>
          <p:cNvPr name="Group 20" id="20"/>
          <p:cNvGrpSpPr/>
          <p:nvPr/>
        </p:nvGrpSpPr>
        <p:grpSpPr>
          <a:xfrm rot="0">
            <a:off x="13637895" y="2802255"/>
            <a:ext cx="3448050" cy="1870710"/>
            <a:chOff x="0" y="0"/>
            <a:chExt cx="4597400" cy="2494280"/>
          </a:xfrm>
        </p:grpSpPr>
        <p:sp>
          <p:nvSpPr>
            <p:cNvPr name="Freeform 21" id="21"/>
            <p:cNvSpPr/>
            <p:nvPr/>
          </p:nvSpPr>
          <p:spPr>
            <a:xfrm flipH="false" flipV="false" rot="0">
              <a:off x="0" y="0"/>
              <a:ext cx="4597400" cy="2494280"/>
            </a:xfrm>
            <a:custGeom>
              <a:avLst/>
              <a:gdLst/>
              <a:ahLst/>
              <a:cxnLst/>
              <a:rect r="r" b="b" t="t" l="l"/>
              <a:pathLst>
                <a:path h="2494280" w="4597400">
                  <a:moveTo>
                    <a:pt x="0" y="147828"/>
                  </a:moveTo>
                  <a:cubicBezTo>
                    <a:pt x="0" y="66167"/>
                    <a:pt x="66167" y="0"/>
                    <a:pt x="147828" y="0"/>
                  </a:cubicBezTo>
                  <a:lnTo>
                    <a:pt x="4449572" y="0"/>
                  </a:lnTo>
                  <a:cubicBezTo>
                    <a:pt x="4531233" y="0"/>
                    <a:pt x="4597400" y="66167"/>
                    <a:pt x="4597400" y="147828"/>
                  </a:cubicBezTo>
                  <a:lnTo>
                    <a:pt x="4597400" y="2346452"/>
                  </a:lnTo>
                  <a:cubicBezTo>
                    <a:pt x="4597400" y="2428113"/>
                    <a:pt x="4531233" y="2494280"/>
                    <a:pt x="4449572" y="2494280"/>
                  </a:cubicBezTo>
                  <a:lnTo>
                    <a:pt x="147828" y="2494280"/>
                  </a:lnTo>
                  <a:cubicBezTo>
                    <a:pt x="66167" y="2494280"/>
                    <a:pt x="0" y="2428113"/>
                    <a:pt x="0" y="2346452"/>
                  </a:cubicBezTo>
                  <a:close/>
                </a:path>
              </a:pathLst>
            </a:custGeom>
            <a:solidFill>
              <a:srgbClr val="14304A"/>
            </a:solidFill>
            <a:ln w="19050" cap="sq">
              <a:solidFill>
                <a:srgbClr val="14304A"/>
              </a:solidFill>
              <a:prstDash val="solid"/>
              <a:miter/>
            </a:ln>
          </p:spPr>
        </p:sp>
      </p:grpSp>
      <p:sp>
        <p:nvSpPr>
          <p:cNvPr name="TextBox 22" id="22"/>
          <p:cNvSpPr txBox="true"/>
          <p:nvPr/>
        </p:nvSpPr>
        <p:spPr>
          <a:xfrm rot="0">
            <a:off x="13990320" y="3035427"/>
            <a:ext cx="2880360" cy="352425"/>
          </a:xfrm>
          <a:prstGeom prst="rect">
            <a:avLst/>
          </a:prstGeom>
        </p:spPr>
        <p:txBody>
          <a:bodyPr anchor="t" rtlCol="false" tIns="0" lIns="0" bIns="0" rIns="0">
            <a:spAutoFit/>
          </a:bodyPr>
          <a:lstStyle/>
          <a:p>
            <a:pPr algn="l">
              <a:lnSpc>
                <a:spcPts val="1709"/>
              </a:lnSpc>
            </a:pPr>
            <a:r>
              <a:rPr lang="en-US" b="true" sz="1425" spc="299">
                <a:solidFill>
                  <a:srgbClr val="7FD1C0"/>
                </a:solidFill>
                <a:latin typeface="IBM Plex Sans Bold"/>
                <a:ea typeface="IBM Plex Sans Bold"/>
                <a:cs typeface="IBM Plex Sans Bold"/>
                <a:sym typeface="IBM Plex Sans Bold"/>
              </a:rPr>
              <a:t>PERIOD</a:t>
            </a:r>
          </a:p>
        </p:txBody>
      </p:sp>
      <p:sp>
        <p:nvSpPr>
          <p:cNvPr name="TextBox 23" id="23"/>
          <p:cNvSpPr txBox="true"/>
          <p:nvPr/>
        </p:nvSpPr>
        <p:spPr>
          <a:xfrm rot="0">
            <a:off x="13990320" y="3429000"/>
            <a:ext cx="2948940" cy="495300"/>
          </a:xfrm>
          <a:prstGeom prst="rect">
            <a:avLst/>
          </a:prstGeom>
        </p:spPr>
        <p:txBody>
          <a:bodyPr anchor="t" rtlCol="false" tIns="0" lIns="0" bIns="0" rIns="0">
            <a:spAutoFit/>
          </a:bodyPr>
          <a:lstStyle/>
          <a:p>
            <a:pPr algn="l">
              <a:lnSpc>
                <a:spcPts val="1980"/>
              </a:lnSpc>
            </a:pPr>
            <a:r>
              <a:rPr lang="en-US" sz="1650">
                <a:solidFill>
                  <a:srgbClr val="FFFFFF"/>
                </a:solidFill>
                <a:latin typeface="IBM Plex Sans"/>
                <a:ea typeface="IBM Plex Sans"/>
                <a:cs typeface="IBM Plex Sans"/>
                <a:sym typeface="IBM Plex Sans"/>
              </a:rPr>
              <a:t>Feb </a:t>
            </a:r>
            <a:r>
              <a:rPr lang="en-US" sz="1650">
                <a:solidFill>
                  <a:srgbClr val="FFFFFF"/>
                </a:solidFill>
                <a:latin typeface="IBM Plex Sans"/>
                <a:ea typeface="IBM Plex Sans"/>
                <a:cs typeface="IBM Plex Sans"/>
                <a:sym typeface="IBM Plex Sans"/>
              </a:rPr>
              <a:t>– May 2026</a:t>
            </a:r>
          </a:p>
          <a:p>
            <a:pPr algn="l">
              <a:lnSpc>
                <a:spcPts val="1980"/>
              </a:lnSpc>
            </a:pPr>
            <a:r>
              <a:rPr lang="en-US" sz="1650">
                <a:solidFill>
                  <a:srgbClr val="FFFFFF"/>
                </a:solidFill>
                <a:latin typeface="IBM Plex Sans"/>
                <a:ea typeface="IBM Plex Sans"/>
                <a:cs typeface="IBM Plex Sans"/>
                <a:sym typeface="IBM Plex Sans"/>
              </a:rPr>
              <a:t>8-week follow-up per village</a:t>
            </a:r>
          </a:p>
        </p:txBody>
      </p:sp>
      <p:sp>
        <p:nvSpPr>
          <p:cNvPr name="TextBox 24" id="24"/>
          <p:cNvSpPr txBox="true"/>
          <p:nvPr/>
        </p:nvSpPr>
        <p:spPr>
          <a:xfrm rot="0">
            <a:off x="1220724" y="5133975"/>
            <a:ext cx="4800600" cy="352425"/>
          </a:xfrm>
          <a:prstGeom prst="rect">
            <a:avLst/>
          </a:prstGeom>
        </p:spPr>
        <p:txBody>
          <a:bodyPr anchor="t" rtlCol="false" tIns="0" lIns="0" bIns="0" rIns="0">
            <a:spAutoFit/>
          </a:bodyPr>
          <a:lstStyle/>
          <a:p>
            <a:pPr algn="l">
              <a:lnSpc>
                <a:spcPts val="1709"/>
              </a:lnSpc>
            </a:pPr>
            <a:r>
              <a:rPr lang="en-US" b="true" sz="1425" spc="299">
                <a:solidFill>
                  <a:srgbClr val="0B6E60"/>
                </a:solidFill>
                <a:latin typeface="IBM Plex Sans Bold"/>
                <a:ea typeface="IBM Plex Sans Bold"/>
                <a:cs typeface="IBM Plex Sans Bold"/>
                <a:sym typeface="IBM Plex Sans Bold"/>
              </a:rPr>
              <a:t>PARTICIPANTS</a:t>
            </a:r>
          </a:p>
        </p:txBody>
      </p:sp>
      <p:sp>
        <p:nvSpPr>
          <p:cNvPr name="TextBox 25" id="25"/>
          <p:cNvSpPr txBox="true"/>
          <p:nvPr/>
        </p:nvSpPr>
        <p:spPr>
          <a:xfrm rot="0">
            <a:off x="1220724" y="5513832"/>
            <a:ext cx="4800600" cy="1028700"/>
          </a:xfrm>
          <a:prstGeom prst="rect">
            <a:avLst/>
          </a:prstGeom>
        </p:spPr>
        <p:txBody>
          <a:bodyPr anchor="t" rtlCol="false" tIns="0" lIns="0" bIns="0" rIns="0">
            <a:spAutoFit/>
          </a:bodyPr>
          <a:lstStyle/>
          <a:p>
            <a:pPr algn="l">
              <a:lnSpc>
                <a:spcPts val="1980"/>
              </a:lnSpc>
            </a:pPr>
            <a:r>
              <a:rPr lang="en-US" sz="1650">
                <a:solidFill>
                  <a:srgbClr val="3F4B57"/>
                </a:solidFill>
                <a:latin typeface="IBM Plex Sans"/>
                <a:ea typeface="IBM Plex Sans"/>
                <a:cs typeface="IBM Plex Sans"/>
                <a:sym typeface="IBM Plex Sans"/>
              </a:rPr>
              <a:t>Adults collecting antibiotics at the pharmacy, households visited door-to-door and patients at medical camps.</a:t>
            </a:r>
          </a:p>
        </p:txBody>
      </p:sp>
      <p:sp>
        <p:nvSpPr>
          <p:cNvPr name="TextBox 26" id="26"/>
          <p:cNvSpPr txBox="true"/>
          <p:nvPr/>
        </p:nvSpPr>
        <p:spPr>
          <a:xfrm rot="0">
            <a:off x="6569964" y="5133975"/>
            <a:ext cx="4800600" cy="352425"/>
          </a:xfrm>
          <a:prstGeom prst="rect">
            <a:avLst/>
          </a:prstGeom>
        </p:spPr>
        <p:txBody>
          <a:bodyPr anchor="t" rtlCol="false" tIns="0" lIns="0" bIns="0" rIns="0">
            <a:spAutoFit/>
          </a:bodyPr>
          <a:lstStyle/>
          <a:p>
            <a:pPr algn="l">
              <a:lnSpc>
                <a:spcPts val="1709"/>
              </a:lnSpc>
            </a:pPr>
            <a:r>
              <a:rPr lang="en-US" b="true" sz="1425" spc="299">
                <a:solidFill>
                  <a:srgbClr val="0B6E60"/>
                </a:solidFill>
                <a:latin typeface="IBM Plex Sans Bold"/>
                <a:ea typeface="IBM Plex Sans Bold"/>
                <a:cs typeface="IBM Plex Sans Bold"/>
                <a:sym typeface="IBM Plex Sans Bold"/>
              </a:rPr>
              <a:t>MULTIPLIERS</a:t>
            </a:r>
          </a:p>
        </p:txBody>
      </p:sp>
      <p:sp>
        <p:nvSpPr>
          <p:cNvPr name="TextBox 27" id="27"/>
          <p:cNvSpPr txBox="true"/>
          <p:nvPr/>
        </p:nvSpPr>
        <p:spPr>
          <a:xfrm rot="0">
            <a:off x="6569964" y="5513832"/>
            <a:ext cx="4800600" cy="1028700"/>
          </a:xfrm>
          <a:prstGeom prst="rect">
            <a:avLst/>
          </a:prstGeom>
        </p:spPr>
        <p:txBody>
          <a:bodyPr anchor="t" rtlCol="false" tIns="0" lIns="0" bIns="0" rIns="0">
            <a:spAutoFit/>
          </a:bodyPr>
          <a:lstStyle/>
          <a:p>
            <a:pPr algn="l">
              <a:lnSpc>
                <a:spcPts val="1980"/>
              </a:lnSpc>
            </a:pPr>
            <a:r>
              <a:rPr lang="en-US" sz="1650">
                <a:solidFill>
                  <a:srgbClr val="3F4B57"/>
                </a:solidFill>
                <a:latin typeface="IBM Plex Sans"/>
                <a:ea typeface="IBM Plex Sans"/>
                <a:cs typeface="IBM Plex Sans"/>
                <a:sym typeface="IBM Plex Sans"/>
              </a:rPr>
              <a:t>Local dispensers, community nurses and lady health workers reinforce the messages after each visit.</a:t>
            </a:r>
          </a:p>
        </p:txBody>
      </p:sp>
      <p:sp>
        <p:nvSpPr>
          <p:cNvPr name="TextBox 28" id="28"/>
          <p:cNvSpPr txBox="true"/>
          <p:nvPr/>
        </p:nvSpPr>
        <p:spPr>
          <a:xfrm rot="0">
            <a:off x="11919204" y="5133975"/>
            <a:ext cx="4800600" cy="352425"/>
          </a:xfrm>
          <a:prstGeom prst="rect">
            <a:avLst/>
          </a:prstGeom>
        </p:spPr>
        <p:txBody>
          <a:bodyPr anchor="t" rtlCol="false" tIns="0" lIns="0" bIns="0" rIns="0">
            <a:spAutoFit/>
          </a:bodyPr>
          <a:lstStyle/>
          <a:p>
            <a:pPr algn="l">
              <a:lnSpc>
                <a:spcPts val="1709"/>
              </a:lnSpc>
            </a:pPr>
            <a:r>
              <a:rPr lang="en-US" b="true" sz="1425" spc="299">
                <a:solidFill>
                  <a:srgbClr val="0B6E60"/>
                </a:solidFill>
                <a:latin typeface="IBM Plex Sans Bold"/>
                <a:ea typeface="IBM Plex Sans Bold"/>
                <a:cs typeface="IBM Plex Sans Bold"/>
                <a:sym typeface="IBM Plex Sans Bold"/>
              </a:rPr>
              <a:t>DOCUMENTATION</a:t>
            </a:r>
          </a:p>
        </p:txBody>
      </p:sp>
      <p:sp>
        <p:nvSpPr>
          <p:cNvPr name="TextBox 29" id="29"/>
          <p:cNvSpPr txBox="true"/>
          <p:nvPr/>
        </p:nvSpPr>
        <p:spPr>
          <a:xfrm rot="0">
            <a:off x="11919204" y="5513832"/>
            <a:ext cx="4800600" cy="1028700"/>
          </a:xfrm>
          <a:prstGeom prst="rect">
            <a:avLst/>
          </a:prstGeom>
        </p:spPr>
        <p:txBody>
          <a:bodyPr anchor="t" rtlCol="false" tIns="0" lIns="0" bIns="0" rIns="0">
            <a:spAutoFit/>
          </a:bodyPr>
          <a:lstStyle/>
          <a:p>
            <a:pPr algn="l">
              <a:lnSpc>
                <a:spcPts val="1980"/>
              </a:lnSpc>
            </a:pPr>
            <a:r>
              <a:rPr lang="en-US" sz="1650">
                <a:solidFill>
                  <a:srgbClr val="3F4B57"/>
                </a:solidFill>
                <a:latin typeface="IBM Plex Sans"/>
                <a:ea typeface="IBM Plex Sans"/>
                <a:cs typeface="IBM Plex Sans"/>
                <a:sym typeface="IBM Plex Sans"/>
              </a:rPr>
              <a:t>Every contact is recorded; the 200 survey respondents are logged in the accompanying Excel data sheet.</a:t>
            </a:r>
          </a:p>
        </p:txBody>
      </p:sp>
      <p:grpSp>
        <p:nvGrpSpPr>
          <p:cNvPr name="Group 30" id="30"/>
          <p:cNvGrpSpPr/>
          <p:nvPr/>
        </p:nvGrpSpPr>
        <p:grpSpPr>
          <a:xfrm rot="0">
            <a:off x="1213580" y="6850856"/>
            <a:ext cx="2963228" cy="1865948"/>
            <a:chOff x="0" y="0"/>
            <a:chExt cx="3950970" cy="2487930"/>
          </a:xfrm>
        </p:grpSpPr>
        <p:sp>
          <p:nvSpPr>
            <p:cNvPr name="Freeform 31" id="31"/>
            <p:cNvSpPr/>
            <p:nvPr/>
          </p:nvSpPr>
          <p:spPr>
            <a:xfrm flipH="false" flipV="false" rot="0">
              <a:off x="0" y="0"/>
              <a:ext cx="3950970" cy="2487930"/>
            </a:xfrm>
            <a:custGeom>
              <a:avLst/>
              <a:gdLst/>
              <a:ahLst/>
              <a:cxnLst/>
              <a:rect r="r" b="b" t="t" l="l"/>
              <a:pathLst>
                <a:path h="2487930" w="3950970">
                  <a:moveTo>
                    <a:pt x="0" y="147447"/>
                  </a:moveTo>
                  <a:cubicBezTo>
                    <a:pt x="0" y="66040"/>
                    <a:pt x="66040" y="0"/>
                    <a:pt x="147447" y="0"/>
                  </a:cubicBezTo>
                  <a:lnTo>
                    <a:pt x="3803523" y="0"/>
                  </a:lnTo>
                  <a:cubicBezTo>
                    <a:pt x="3884930" y="0"/>
                    <a:pt x="3950970" y="66040"/>
                    <a:pt x="3950970" y="147447"/>
                  </a:cubicBezTo>
                  <a:lnTo>
                    <a:pt x="3950970" y="2340483"/>
                  </a:lnTo>
                  <a:cubicBezTo>
                    <a:pt x="3950970" y="2421890"/>
                    <a:pt x="3884930" y="2487930"/>
                    <a:pt x="3803523" y="2487930"/>
                  </a:cubicBezTo>
                  <a:lnTo>
                    <a:pt x="147447" y="2487930"/>
                  </a:lnTo>
                  <a:cubicBezTo>
                    <a:pt x="66040" y="2487930"/>
                    <a:pt x="0" y="2421890"/>
                    <a:pt x="0" y="2340483"/>
                  </a:cubicBezTo>
                  <a:close/>
                </a:path>
              </a:pathLst>
            </a:custGeom>
            <a:solidFill>
              <a:srgbClr val="FDFDFB"/>
            </a:solidFill>
            <a:ln w="14288" cap="sq">
              <a:solidFill>
                <a:srgbClr val="D3DCD9"/>
              </a:solidFill>
              <a:prstDash val="solid"/>
              <a:miter/>
            </a:ln>
          </p:spPr>
        </p:sp>
      </p:grpSp>
      <p:sp>
        <p:nvSpPr>
          <p:cNvPr name="TextBox 32" id="32"/>
          <p:cNvSpPr txBox="true"/>
          <p:nvPr/>
        </p:nvSpPr>
        <p:spPr>
          <a:xfrm rot="0">
            <a:off x="1495044" y="7063740"/>
            <a:ext cx="2537460" cy="301752"/>
          </a:xfrm>
          <a:prstGeom prst="rect">
            <a:avLst/>
          </a:prstGeom>
        </p:spPr>
        <p:txBody>
          <a:bodyPr anchor="t" rtlCol="false" tIns="0" lIns="0" bIns="0" rIns="0">
            <a:spAutoFit/>
          </a:bodyPr>
          <a:lstStyle/>
          <a:p>
            <a:pPr algn="l">
              <a:lnSpc>
                <a:spcPts val="1530"/>
              </a:lnSpc>
            </a:pPr>
            <a:r>
              <a:rPr lang="en-US" b="true" sz="1275" spc="149">
                <a:solidFill>
                  <a:srgbClr val="0B6E60"/>
                </a:solidFill>
                <a:latin typeface="IBM Plex Sans Bold"/>
                <a:ea typeface="IBM Plex Sans Bold"/>
                <a:cs typeface="IBM Plex Sans Bold"/>
                <a:sym typeface="IBM Plex Sans Bold"/>
              </a:rPr>
              <a:t>PHARMACY HUB</a:t>
            </a:r>
          </a:p>
        </p:txBody>
      </p:sp>
      <p:sp>
        <p:nvSpPr>
          <p:cNvPr name="TextBox 33" id="33"/>
          <p:cNvSpPr txBox="true"/>
          <p:nvPr/>
        </p:nvSpPr>
        <p:spPr>
          <a:xfrm rot="0">
            <a:off x="1495044" y="7406640"/>
            <a:ext cx="2537460" cy="685800"/>
          </a:xfrm>
          <a:prstGeom prst="rect">
            <a:avLst/>
          </a:prstGeom>
        </p:spPr>
        <p:txBody>
          <a:bodyPr anchor="t" rtlCol="false" tIns="0" lIns="0" bIns="0" rIns="0">
            <a:spAutoFit/>
          </a:bodyPr>
          <a:lstStyle/>
          <a:p>
            <a:pPr algn="l">
              <a:lnSpc>
                <a:spcPts val="2160"/>
              </a:lnSpc>
            </a:pPr>
            <a:r>
              <a:rPr lang="en-US" sz="1800" b="true">
                <a:solidFill>
                  <a:srgbClr val="14304A"/>
                </a:solidFill>
                <a:latin typeface="IBM Plex Sans Bold"/>
                <a:ea typeface="IBM Plex Sans Bold"/>
                <a:cs typeface="IBM Plex Sans Bold"/>
                <a:sym typeface="IBM Plex Sans Bold"/>
              </a:rPr>
              <a:t>Choa Saidan Shah</a:t>
            </a:r>
          </a:p>
        </p:txBody>
      </p:sp>
      <p:sp>
        <p:nvSpPr>
          <p:cNvPr name="TextBox 34" id="34"/>
          <p:cNvSpPr txBox="true"/>
          <p:nvPr/>
        </p:nvSpPr>
        <p:spPr>
          <a:xfrm rot="0">
            <a:off x="1495044" y="8119872"/>
            <a:ext cx="2537460" cy="411480"/>
          </a:xfrm>
          <a:prstGeom prst="rect">
            <a:avLst/>
          </a:prstGeom>
        </p:spPr>
        <p:txBody>
          <a:bodyPr anchor="t" rtlCol="false" tIns="0" lIns="0" bIns="0" rIns="0">
            <a:spAutoFit/>
          </a:bodyPr>
          <a:lstStyle/>
          <a:p>
            <a:pPr algn="l">
              <a:lnSpc>
                <a:spcPts val="1800"/>
              </a:lnSpc>
            </a:pPr>
            <a:r>
              <a:rPr lang="en-US" sz="1500">
                <a:solidFill>
                  <a:srgbClr val="5B6770"/>
                </a:solidFill>
                <a:latin typeface="IBM Plex Sans"/>
                <a:ea typeface="IBM Plex Sans"/>
                <a:cs typeface="IBM Plex Sans"/>
                <a:sym typeface="IBM Plex Sans"/>
              </a:rPr>
              <a:t>50 respondents</a:t>
            </a:r>
          </a:p>
        </p:txBody>
      </p:sp>
      <p:grpSp>
        <p:nvGrpSpPr>
          <p:cNvPr name="Group 35" id="35"/>
          <p:cNvGrpSpPr/>
          <p:nvPr/>
        </p:nvGrpSpPr>
        <p:grpSpPr>
          <a:xfrm rot="0">
            <a:off x="4436840" y="6850856"/>
            <a:ext cx="2963228" cy="1865948"/>
            <a:chOff x="0" y="0"/>
            <a:chExt cx="3950970" cy="2487930"/>
          </a:xfrm>
        </p:grpSpPr>
        <p:sp>
          <p:nvSpPr>
            <p:cNvPr name="Freeform 36" id="36"/>
            <p:cNvSpPr/>
            <p:nvPr/>
          </p:nvSpPr>
          <p:spPr>
            <a:xfrm flipH="false" flipV="false" rot="0">
              <a:off x="0" y="0"/>
              <a:ext cx="3950970" cy="2487930"/>
            </a:xfrm>
            <a:custGeom>
              <a:avLst/>
              <a:gdLst/>
              <a:ahLst/>
              <a:cxnLst/>
              <a:rect r="r" b="b" t="t" l="l"/>
              <a:pathLst>
                <a:path h="2487930" w="3950970">
                  <a:moveTo>
                    <a:pt x="0" y="147447"/>
                  </a:moveTo>
                  <a:cubicBezTo>
                    <a:pt x="0" y="66040"/>
                    <a:pt x="66040" y="0"/>
                    <a:pt x="147447" y="0"/>
                  </a:cubicBezTo>
                  <a:lnTo>
                    <a:pt x="3803523" y="0"/>
                  </a:lnTo>
                  <a:cubicBezTo>
                    <a:pt x="3884930" y="0"/>
                    <a:pt x="3950970" y="66040"/>
                    <a:pt x="3950970" y="147447"/>
                  </a:cubicBezTo>
                  <a:lnTo>
                    <a:pt x="3950970" y="2340483"/>
                  </a:lnTo>
                  <a:cubicBezTo>
                    <a:pt x="3950970" y="2421890"/>
                    <a:pt x="3884930" y="2487930"/>
                    <a:pt x="3803523" y="2487930"/>
                  </a:cubicBezTo>
                  <a:lnTo>
                    <a:pt x="147447" y="2487930"/>
                  </a:lnTo>
                  <a:cubicBezTo>
                    <a:pt x="66040" y="2487930"/>
                    <a:pt x="0" y="2421890"/>
                    <a:pt x="0" y="2340483"/>
                  </a:cubicBezTo>
                  <a:close/>
                </a:path>
              </a:pathLst>
            </a:custGeom>
            <a:solidFill>
              <a:srgbClr val="FDFDFB"/>
            </a:solidFill>
            <a:ln w="14288" cap="sq">
              <a:solidFill>
                <a:srgbClr val="D3DCD9"/>
              </a:solidFill>
              <a:prstDash val="solid"/>
              <a:miter/>
            </a:ln>
          </p:spPr>
        </p:sp>
      </p:grpSp>
      <p:sp>
        <p:nvSpPr>
          <p:cNvPr name="TextBox 37" id="37"/>
          <p:cNvSpPr txBox="true"/>
          <p:nvPr/>
        </p:nvSpPr>
        <p:spPr>
          <a:xfrm rot="0">
            <a:off x="4718304" y="7063740"/>
            <a:ext cx="2537460" cy="301752"/>
          </a:xfrm>
          <a:prstGeom prst="rect">
            <a:avLst/>
          </a:prstGeom>
        </p:spPr>
        <p:txBody>
          <a:bodyPr anchor="t" rtlCol="false" tIns="0" lIns="0" bIns="0" rIns="0">
            <a:spAutoFit/>
          </a:bodyPr>
          <a:lstStyle/>
          <a:p>
            <a:pPr algn="l">
              <a:lnSpc>
                <a:spcPts val="1530"/>
              </a:lnSpc>
            </a:pPr>
            <a:r>
              <a:rPr lang="en-US" b="true" sz="1275" spc="149">
                <a:solidFill>
                  <a:srgbClr val="0B6E60"/>
                </a:solidFill>
                <a:latin typeface="IBM Plex Sans Bold"/>
                <a:ea typeface="IBM Plex Sans Bold"/>
                <a:cs typeface="IBM Plex Sans Bold"/>
                <a:sym typeface="IBM Plex Sans Bold"/>
              </a:rPr>
              <a:t>DOOR-TO-DOOR</a:t>
            </a:r>
          </a:p>
        </p:txBody>
      </p:sp>
      <p:sp>
        <p:nvSpPr>
          <p:cNvPr name="TextBox 38" id="38"/>
          <p:cNvSpPr txBox="true"/>
          <p:nvPr/>
        </p:nvSpPr>
        <p:spPr>
          <a:xfrm rot="0">
            <a:off x="4718304" y="7406640"/>
            <a:ext cx="2537460" cy="685800"/>
          </a:xfrm>
          <a:prstGeom prst="rect">
            <a:avLst/>
          </a:prstGeom>
        </p:spPr>
        <p:txBody>
          <a:bodyPr anchor="t" rtlCol="false" tIns="0" lIns="0" bIns="0" rIns="0">
            <a:spAutoFit/>
          </a:bodyPr>
          <a:lstStyle/>
          <a:p>
            <a:pPr algn="l">
              <a:lnSpc>
                <a:spcPts val="2160"/>
              </a:lnSpc>
            </a:pPr>
            <a:r>
              <a:rPr lang="en-US" sz="1800" b="true">
                <a:solidFill>
                  <a:srgbClr val="14304A"/>
                </a:solidFill>
                <a:latin typeface="IBM Plex Sans Bold"/>
                <a:ea typeface="IBM Plex Sans Bold"/>
                <a:cs typeface="IBM Plex Sans Bold"/>
                <a:sym typeface="IBM Plex Sans Bold"/>
              </a:rPr>
              <a:t>Saloi</a:t>
            </a:r>
          </a:p>
        </p:txBody>
      </p:sp>
      <p:sp>
        <p:nvSpPr>
          <p:cNvPr name="TextBox 39" id="39"/>
          <p:cNvSpPr txBox="true"/>
          <p:nvPr/>
        </p:nvSpPr>
        <p:spPr>
          <a:xfrm rot="0">
            <a:off x="4718304" y="8119872"/>
            <a:ext cx="2537460" cy="411480"/>
          </a:xfrm>
          <a:prstGeom prst="rect">
            <a:avLst/>
          </a:prstGeom>
        </p:spPr>
        <p:txBody>
          <a:bodyPr anchor="t" rtlCol="false" tIns="0" lIns="0" bIns="0" rIns="0">
            <a:spAutoFit/>
          </a:bodyPr>
          <a:lstStyle/>
          <a:p>
            <a:pPr algn="l">
              <a:lnSpc>
                <a:spcPts val="1800"/>
              </a:lnSpc>
            </a:pPr>
            <a:r>
              <a:rPr lang="en-US" sz="1500">
                <a:solidFill>
                  <a:srgbClr val="5B6770"/>
                </a:solidFill>
                <a:latin typeface="IBM Plex Sans"/>
                <a:ea typeface="IBM Plex Sans"/>
                <a:cs typeface="IBM Plex Sans"/>
                <a:sym typeface="IBM Plex Sans"/>
              </a:rPr>
              <a:t>38 respondents</a:t>
            </a:r>
          </a:p>
        </p:txBody>
      </p:sp>
      <p:grpSp>
        <p:nvGrpSpPr>
          <p:cNvPr name="Group 40" id="40"/>
          <p:cNvGrpSpPr/>
          <p:nvPr/>
        </p:nvGrpSpPr>
        <p:grpSpPr>
          <a:xfrm rot="0">
            <a:off x="7660100" y="6850856"/>
            <a:ext cx="2963228" cy="1865948"/>
            <a:chOff x="0" y="0"/>
            <a:chExt cx="3950970" cy="2487930"/>
          </a:xfrm>
        </p:grpSpPr>
        <p:sp>
          <p:nvSpPr>
            <p:cNvPr name="Freeform 41" id="41"/>
            <p:cNvSpPr/>
            <p:nvPr/>
          </p:nvSpPr>
          <p:spPr>
            <a:xfrm flipH="false" flipV="false" rot="0">
              <a:off x="0" y="0"/>
              <a:ext cx="3950970" cy="2487930"/>
            </a:xfrm>
            <a:custGeom>
              <a:avLst/>
              <a:gdLst/>
              <a:ahLst/>
              <a:cxnLst/>
              <a:rect r="r" b="b" t="t" l="l"/>
              <a:pathLst>
                <a:path h="2487930" w="3950970">
                  <a:moveTo>
                    <a:pt x="0" y="147447"/>
                  </a:moveTo>
                  <a:cubicBezTo>
                    <a:pt x="0" y="66040"/>
                    <a:pt x="66040" y="0"/>
                    <a:pt x="147447" y="0"/>
                  </a:cubicBezTo>
                  <a:lnTo>
                    <a:pt x="3803523" y="0"/>
                  </a:lnTo>
                  <a:cubicBezTo>
                    <a:pt x="3884930" y="0"/>
                    <a:pt x="3950970" y="66040"/>
                    <a:pt x="3950970" y="147447"/>
                  </a:cubicBezTo>
                  <a:lnTo>
                    <a:pt x="3950970" y="2340483"/>
                  </a:lnTo>
                  <a:cubicBezTo>
                    <a:pt x="3950970" y="2421890"/>
                    <a:pt x="3884930" y="2487930"/>
                    <a:pt x="3803523" y="2487930"/>
                  </a:cubicBezTo>
                  <a:lnTo>
                    <a:pt x="147447" y="2487930"/>
                  </a:lnTo>
                  <a:cubicBezTo>
                    <a:pt x="66040" y="2487930"/>
                    <a:pt x="0" y="2421890"/>
                    <a:pt x="0" y="2340483"/>
                  </a:cubicBezTo>
                  <a:close/>
                </a:path>
              </a:pathLst>
            </a:custGeom>
            <a:solidFill>
              <a:srgbClr val="FDFDFB"/>
            </a:solidFill>
            <a:ln w="14288" cap="sq">
              <a:solidFill>
                <a:srgbClr val="D3DCD9"/>
              </a:solidFill>
              <a:prstDash val="solid"/>
              <a:miter/>
            </a:ln>
          </p:spPr>
        </p:sp>
      </p:grpSp>
      <p:sp>
        <p:nvSpPr>
          <p:cNvPr name="TextBox 42" id="42"/>
          <p:cNvSpPr txBox="true"/>
          <p:nvPr/>
        </p:nvSpPr>
        <p:spPr>
          <a:xfrm rot="0">
            <a:off x="7941564" y="7063740"/>
            <a:ext cx="2537460" cy="301752"/>
          </a:xfrm>
          <a:prstGeom prst="rect">
            <a:avLst/>
          </a:prstGeom>
        </p:spPr>
        <p:txBody>
          <a:bodyPr anchor="t" rtlCol="false" tIns="0" lIns="0" bIns="0" rIns="0">
            <a:spAutoFit/>
          </a:bodyPr>
          <a:lstStyle/>
          <a:p>
            <a:pPr algn="l">
              <a:lnSpc>
                <a:spcPts val="1530"/>
              </a:lnSpc>
            </a:pPr>
            <a:r>
              <a:rPr lang="en-US" b="true" sz="1275" spc="149">
                <a:solidFill>
                  <a:srgbClr val="0B6E60"/>
                </a:solidFill>
                <a:latin typeface="IBM Plex Sans Bold"/>
                <a:ea typeface="IBM Plex Sans Bold"/>
                <a:cs typeface="IBM Plex Sans Bold"/>
                <a:sym typeface="IBM Plex Sans Bold"/>
              </a:rPr>
              <a:t>MEDICAL CAMP</a:t>
            </a:r>
          </a:p>
        </p:txBody>
      </p:sp>
      <p:sp>
        <p:nvSpPr>
          <p:cNvPr name="TextBox 43" id="43"/>
          <p:cNvSpPr txBox="true"/>
          <p:nvPr/>
        </p:nvSpPr>
        <p:spPr>
          <a:xfrm rot="0">
            <a:off x="7941564" y="7406640"/>
            <a:ext cx="2537460" cy="685800"/>
          </a:xfrm>
          <a:prstGeom prst="rect">
            <a:avLst/>
          </a:prstGeom>
        </p:spPr>
        <p:txBody>
          <a:bodyPr anchor="t" rtlCol="false" tIns="0" lIns="0" bIns="0" rIns="0">
            <a:spAutoFit/>
          </a:bodyPr>
          <a:lstStyle/>
          <a:p>
            <a:pPr algn="l">
              <a:lnSpc>
                <a:spcPts val="2160"/>
              </a:lnSpc>
            </a:pPr>
            <a:r>
              <a:rPr lang="en-US" sz="1800" b="true">
                <a:solidFill>
                  <a:srgbClr val="14304A"/>
                </a:solidFill>
                <a:latin typeface="IBM Plex Sans Bold"/>
                <a:ea typeface="IBM Plex Sans Bold"/>
                <a:cs typeface="IBM Plex Sans Bold"/>
                <a:sym typeface="IBM Plex Sans Bold"/>
              </a:rPr>
              <a:t>Dalwal</a:t>
            </a:r>
          </a:p>
        </p:txBody>
      </p:sp>
      <p:sp>
        <p:nvSpPr>
          <p:cNvPr name="TextBox 44" id="44"/>
          <p:cNvSpPr txBox="true"/>
          <p:nvPr/>
        </p:nvSpPr>
        <p:spPr>
          <a:xfrm rot="0">
            <a:off x="7941564" y="8119872"/>
            <a:ext cx="2537460" cy="411480"/>
          </a:xfrm>
          <a:prstGeom prst="rect">
            <a:avLst/>
          </a:prstGeom>
        </p:spPr>
        <p:txBody>
          <a:bodyPr anchor="t" rtlCol="false" tIns="0" lIns="0" bIns="0" rIns="0">
            <a:spAutoFit/>
          </a:bodyPr>
          <a:lstStyle/>
          <a:p>
            <a:pPr algn="l">
              <a:lnSpc>
                <a:spcPts val="1800"/>
              </a:lnSpc>
            </a:pPr>
            <a:r>
              <a:rPr lang="en-US" sz="1500">
                <a:solidFill>
                  <a:srgbClr val="5B6770"/>
                </a:solidFill>
                <a:latin typeface="IBM Plex Sans"/>
                <a:ea typeface="IBM Plex Sans"/>
                <a:cs typeface="IBM Plex Sans"/>
                <a:sym typeface="IBM Plex Sans"/>
              </a:rPr>
              <a:t>44 respondents</a:t>
            </a:r>
          </a:p>
        </p:txBody>
      </p:sp>
      <p:grpSp>
        <p:nvGrpSpPr>
          <p:cNvPr name="Group 45" id="45"/>
          <p:cNvGrpSpPr/>
          <p:nvPr/>
        </p:nvGrpSpPr>
        <p:grpSpPr>
          <a:xfrm rot="0">
            <a:off x="10883360" y="6850856"/>
            <a:ext cx="2963228" cy="1865948"/>
            <a:chOff x="0" y="0"/>
            <a:chExt cx="3950970" cy="2487930"/>
          </a:xfrm>
        </p:grpSpPr>
        <p:sp>
          <p:nvSpPr>
            <p:cNvPr name="Freeform 46" id="46"/>
            <p:cNvSpPr/>
            <p:nvPr/>
          </p:nvSpPr>
          <p:spPr>
            <a:xfrm flipH="false" flipV="false" rot="0">
              <a:off x="0" y="0"/>
              <a:ext cx="3950970" cy="2487930"/>
            </a:xfrm>
            <a:custGeom>
              <a:avLst/>
              <a:gdLst/>
              <a:ahLst/>
              <a:cxnLst/>
              <a:rect r="r" b="b" t="t" l="l"/>
              <a:pathLst>
                <a:path h="2487930" w="3950970">
                  <a:moveTo>
                    <a:pt x="0" y="147447"/>
                  </a:moveTo>
                  <a:cubicBezTo>
                    <a:pt x="0" y="66040"/>
                    <a:pt x="66040" y="0"/>
                    <a:pt x="147447" y="0"/>
                  </a:cubicBezTo>
                  <a:lnTo>
                    <a:pt x="3803523" y="0"/>
                  </a:lnTo>
                  <a:cubicBezTo>
                    <a:pt x="3884930" y="0"/>
                    <a:pt x="3950970" y="66040"/>
                    <a:pt x="3950970" y="147447"/>
                  </a:cubicBezTo>
                  <a:lnTo>
                    <a:pt x="3950970" y="2340483"/>
                  </a:lnTo>
                  <a:cubicBezTo>
                    <a:pt x="3950970" y="2421890"/>
                    <a:pt x="3884930" y="2487930"/>
                    <a:pt x="3803523" y="2487930"/>
                  </a:cubicBezTo>
                  <a:lnTo>
                    <a:pt x="147447" y="2487930"/>
                  </a:lnTo>
                  <a:cubicBezTo>
                    <a:pt x="66040" y="2487930"/>
                    <a:pt x="0" y="2421890"/>
                    <a:pt x="0" y="2340483"/>
                  </a:cubicBezTo>
                  <a:close/>
                </a:path>
              </a:pathLst>
            </a:custGeom>
            <a:solidFill>
              <a:srgbClr val="FDFDFB"/>
            </a:solidFill>
            <a:ln w="14288" cap="sq">
              <a:solidFill>
                <a:srgbClr val="D3DCD9"/>
              </a:solidFill>
              <a:prstDash val="solid"/>
              <a:miter/>
            </a:ln>
          </p:spPr>
        </p:sp>
      </p:grpSp>
      <p:sp>
        <p:nvSpPr>
          <p:cNvPr name="TextBox 47" id="47"/>
          <p:cNvSpPr txBox="true"/>
          <p:nvPr/>
        </p:nvSpPr>
        <p:spPr>
          <a:xfrm rot="0">
            <a:off x="11164824" y="7063740"/>
            <a:ext cx="2537460" cy="301752"/>
          </a:xfrm>
          <a:prstGeom prst="rect">
            <a:avLst/>
          </a:prstGeom>
        </p:spPr>
        <p:txBody>
          <a:bodyPr anchor="t" rtlCol="false" tIns="0" lIns="0" bIns="0" rIns="0">
            <a:spAutoFit/>
          </a:bodyPr>
          <a:lstStyle/>
          <a:p>
            <a:pPr algn="l">
              <a:lnSpc>
                <a:spcPts val="1530"/>
              </a:lnSpc>
            </a:pPr>
            <a:r>
              <a:rPr lang="en-US" b="true" sz="1275" spc="149">
                <a:solidFill>
                  <a:srgbClr val="0B6E60"/>
                </a:solidFill>
                <a:latin typeface="IBM Plex Sans Bold"/>
                <a:ea typeface="IBM Plex Sans Bold"/>
                <a:cs typeface="IBM Plex Sans Bold"/>
                <a:sym typeface="IBM Plex Sans Bold"/>
              </a:rPr>
              <a:t>DOOR-TO-DOOR</a:t>
            </a:r>
          </a:p>
        </p:txBody>
      </p:sp>
      <p:sp>
        <p:nvSpPr>
          <p:cNvPr name="TextBox 48" id="48"/>
          <p:cNvSpPr txBox="true"/>
          <p:nvPr/>
        </p:nvSpPr>
        <p:spPr>
          <a:xfrm rot="0">
            <a:off x="11164824" y="7406640"/>
            <a:ext cx="2537460" cy="685800"/>
          </a:xfrm>
          <a:prstGeom prst="rect">
            <a:avLst/>
          </a:prstGeom>
        </p:spPr>
        <p:txBody>
          <a:bodyPr anchor="t" rtlCol="false" tIns="0" lIns="0" bIns="0" rIns="0">
            <a:spAutoFit/>
          </a:bodyPr>
          <a:lstStyle/>
          <a:p>
            <a:pPr algn="l">
              <a:lnSpc>
                <a:spcPts val="2160"/>
              </a:lnSpc>
            </a:pPr>
            <a:r>
              <a:rPr lang="en-US" sz="1800" b="true">
                <a:solidFill>
                  <a:srgbClr val="14304A"/>
                </a:solidFill>
                <a:latin typeface="IBM Plex Sans Bold"/>
                <a:ea typeface="IBM Plex Sans Bold"/>
                <a:cs typeface="IBM Plex Sans Bold"/>
                <a:sym typeface="IBM Plex Sans Bold"/>
              </a:rPr>
              <a:t>Basharat</a:t>
            </a:r>
          </a:p>
        </p:txBody>
      </p:sp>
      <p:sp>
        <p:nvSpPr>
          <p:cNvPr name="TextBox 49" id="49"/>
          <p:cNvSpPr txBox="true"/>
          <p:nvPr/>
        </p:nvSpPr>
        <p:spPr>
          <a:xfrm rot="0">
            <a:off x="11164824" y="8119872"/>
            <a:ext cx="2537460" cy="411480"/>
          </a:xfrm>
          <a:prstGeom prst="rect">
            <a:avLst/>
          </a:prstGeom>
        </p:spPr>
        <p:txBody>
          <a:bodyPr anchor="t" rtlCol="false" tIns="0" lIns="0" bIns="0" rIns="0">
            <a:spAutoFit/>
          </a:bodyPr>
          <a:lstStyle/>
          <a:p>
            <a:pPr algn="l">
              <a:lnSpc>
                <a:spcPts val="1800"/>
              </a:lnSpc>
            </a:pPr>
            <a:r>
              <a:rPr lang="en-US" sz="1500">
                <a:solidFill>
                  <a:srgbClr val="5B6770"/>
                </a:solidFill>
                <a:latin typeface="IBM Plex Sans"/>
                <a:ea typeface="IBM Plex Sans"/>
                <a:cs typeface="IBM Plex Sans"/>
                <a:sym typeface="IBM Plex Sans"/>
              </a:rPr>
              <a:t>31 respondents</a:t>
            </a:r>
          </a:p>
        </p:txBody>
      </p:sp>
      <p:grpSp>
        <p:nvGrpSpPr>
          <p:cNvPr name="Group 50" id="50"/>
          <p:cNvGrpSpPr/>
          <p:nvPr/>
        </p:nvGrpSpPr>
        <p:grpSpPr>
          <a:xfrm rot="0">
            <a:off x="14106620" y="6850856"/>
            <a:ext cx="2963228" cy="1865948"/>
            <a:chOff x="0" y="0"/>
            <a:chExt cx="3950970" cy="2487930"/>
          </a:xfrm>
        </p:grpSpPr>
        <p:sp>
          <p:nvSpPr>
            <p:cNvPr name="Freeform 51" id="51"/>
            <p:cNvSpPr/>
            <p:nvPr/>
          </p:nvSpPr>
          <p:spPr>
            <a:xfrm flipH="false" flipV="false" rot="0">
              <a:off x="0" y="0"/>
              <a:ext cx="3950970" cy="2487930"/>
            </a:xfrm>
            <a:custGeom>
              <a:avLst/>
              <a:gdLst/>
              <a:ahLst/>
              <a:cxnLst/>
              <a:rect r="r" b="b" t="t" l="l"/>
              <a:pathLst>
                <a:path h="2487930" w="3950970">
                  <a:moveTo>
                    <a:pt x="0" y="147447"/>
                  </a:moveTo>
                  <a:cubicBezTo>
                    <a:pt x="0" y="66040"/>
                    <a:pt x="66040" y="0"/>
                    <a:pt x="147447" y="0"/>
                  </a:cubicBezTo>
                  <a:lnTo>
                    <a:pt x="3803523" y="0"/>
                  </a:lnTo>
                  <a:cubicBezTo>
                    <a:pt x="3884930" y="0"/>
                    <a:pt x="3950970" y="66040"/>
                    <a:pt x="3950970" y="147447"/>
                  </a:cubicBezTo>
                  <a:lnTo>
                    <a:pt x="3950970" y="2340483"/>
                  </a:lnTo>
                  <a:cubicBezTo>
                    <a:pt x="3950970" y="2421890"/>
                    <a:pt x="3884930" y="2487930"/>
                    <a:pt x="3803523" y="2487930"/>
                  </a:cubicBezTo>
                  <a:lnTo>
                    <a:pt x="147447" y="2487930"/>
                  </a:lnTo>
                  <a:cubicBezTo>
                    <a:pt x="66040" y="2487930"/>
                    <a:pt x="0" y="2421890"/>
                    <a:pt x="0" y="2340483"/>
                  </a:cubicBezTo>
                  <a:close/>
                </a:path>
              </a:pathLst>
            </a:custGeom>
            <a:solidFill>
              <a:srgbClr val="FDFDFB"/>
            </a:solidFill>
            <a:ln w="14288" cap="sq">
              <a:solidFill>
                <a:srgbClr val="D3DCD9"/>
              </a:solidFill>
              <a:prstDash val="solid"/>
              <a:miter/>
            </a:ln>
          </p:spPr>
        </p:sp>
      </p:grpSp>
      <p:sp>
        <p:nvSpPr>
          <p:cNvPr name="TextBox 52" id="52"/>
          <p:cNvSpPr txBox="true"/>
          <p:nvPr/>
        </p:nvSpPr>
        <p:spPr>
          <a:xfrm rot="0">
            <a:off x="14388084" y="7063740"/>
            <a:ext cx="2537460" cy="301752"/>
          </a:xfrm>
          <a:prstGeom prst="rect">
            <a:avLst/>
          </a:prstGeom>
        </p:spPr>
        <p:txBody>
          <a:bodyPr anchor="t" rtlCol="false" tIns="0" lIns="0" bIns="0" rIns="0">
            <a:spAutoFit/>
          </a:bodyPr>
          <a:lstStyle/>
          <a:p>
            <a:pPr algn="l">
              <a:lnSpc>
                <a:spcPts val="1530"/>
              </a:lnSpc>
            </a:pPr>
            <a:r>
              <a:rPr lang="en-US" b="true" sz="1275" spc="149">
                <a:solidFill>
                  <a:srgbClr val="0B6E60"/>
                </a:solidFill>
                <a:latin typeface="IBM Plex Sans Bold"/>
                <a:ea typeface="IBM Plex Sans Bold"/>
                <a:cs typeface="IBM Plex Sans Bold"/>
                <a:sym typeface="IBM Plex Sans Bold"/>
              </a:rPr>
              <a:t>MEDICAL CAMP</a:t>
            </a:r>
          </a:p>
        </p:txBody>
      </p:sp>
      <p:sp>
        <p:nvSpPr>
          <p:cNvPr name="TextBox 53" id="53"/>
          <p:cNvSpPr txBox="true"/>
          <p:nvPr/>
        </p:nvSpPr>
        <p:spPr>
          <a:xfrm rot="0">
            <a:off x="14388084" y="7406640"/>
            <a:ext cx="2537460" cy="685800"/>
          </a:xfrm>
          <a:prstGeom prst="rect">
            <a:avLst/>
          </a:prstGeom>
        </p:spPr>
        <p:txBody>
          <a:bodyPr anchor="t" rtlCol="false" tIns="0" lIns="0" bIns="0" rIns="0">
            <a:spAutoFit/>
          </a:bodyPr>
          <a:lstStyle/>
          <a:p>
            <a:pPr algn="l">
              <a:lnSpc>
                <a:spcPts val="2160"/>
              </a:lnSpc>
            </a:pPr>
            <a:r>
              <a:rPr lang="en-US" sz="1800" b="true">
                <a:solidFill>
                  <a:srgbClr val="14304A"/>
                </a:solidFill>
                <a:latin typeface="IBM Plex Sans Bold"/>
                <a:ea typeface="IBM Plex Sans Bold"/>
                <a:cs typeface="IBM Plex Sans Bold"/>
                <a:sym typeface="IBM Plex Sans Bold"/>
              </a:rPr>
              <a:t>Karsal</a:t>
            </a:r>
          </a:p>
        </p:txBody>
      </p:sp>
      <p:sp>
        <p:nvSpPr>
          <p:cNvPr name="TextBox 54" id="54"/>
          <p:cNvSpPr txBox="true"/>
          <p:nvPr/>
        </p:nvSpPr>
        <p:spPr>
          <a:xfrm rot="0">
            <a:off x="14388084" y="8119872"/>
            <a:ext cx="2537460" cy="411480"/>
          </a:xfrm>
          <a:prstGeom prst="rect">
            <a:avLst/>
          </a:prstGeom>
        </p:spPr>
        <p:txBody>
          <a:bodyPr anchor="t" rtlCol="false" tIns="0" lIns="0" bIns="0" rIns="0">
            <a:spAutoFit/>
          </a:bodyPr>
          <a:lstStyle/>
          <a:p>
            <a:pPr algn="l">
              <a:lnSpc>
                <a:spcPts val="1800"/>
              </a:lnSpc>
            </a:pPr>
            <a:r>
              <a:rPr lang="en-US" sz="1500">
                <a:solidFill>
                  <a:srgbClr val="5B6770"/>
                </a:solidFill>
                <a:latin typeface="IBM Plex Sans"/>
                <a:ea typeface="IBM Plex Sans"/>
                <a:cs typeface="IBM Plex Sans"/>
                <a:sym typeface="IBM Plex Sans"/>
              </a:rPr>
              <a:t>37 respondents</a:t>
            </a:r>
          </a:p>
        </p:txBody>
      </p:sp>
      <p:grpSp>
        <p:nvGrpSpPr>
          <p:cNvPr name="Group 55" id="55"/>
          <p:cNvGrpSpPr/>
          <p:nvPr/>
        </p:nvGrpSpPr>
        <p:grpSpPr>
          <a:xfrm rot="0">
            <a:off x="1220724" y="9354312"/>
            <a:ext cx="11658600" cy="356616"/>
            <a:chOff x="0" y="0"/>
            <a:chExt cx="15544800" cy="475488"/>
          </a:xfrm>
        </p:grpSpPr>
        <p:sp>
          <p:nvSpPr>
            <p:cNvPr name="Freeform 56" id="56"/>
            <p:cNvSpPr/>
            <p:nvPr/>
          </p:nvSpPr>
          <p:spPr>
            <a:xfrm flipH="false" flipV="false" rot="0">
              <a:off x="0" y="0"/>
              <a:ext cx="15544800" cy="475488"/>
            </a:xfrm>
            <a:custGeom>
              <a:avLst/>
              <a:gdLst/>
              <a:ahLst/>
              <a:cxnLst/>
              <a:rect r="r" b="b" t="t" l="l"/>
              <a:pathLst>
                <a:path h="475488" w="15544800">
                  <a:moveTo>
                    <a:pt x="0" y="0"/>
                  </a:moveTo>
                  <a:lnTo>
                    <a:pt x="15544800" y="0"/>
                  </a:lnTo>
                  <a:lnTo>
                    <a:pt x="15544800" y="475488"/>
                  </a:lnTo>
                  <a:lnTo>
                    <a:pt x="0" y="475488"/>
                  </a:lnTo>
                  <a:close/>
                </a:path>
              </a:pathLst>
            </a:custGeom>
            <a:blipFill>
              <a:blip r:embed="rId3">
                <a:alphaModFix amt="0"/>
              </a:blip>
              <a:stretch>
                <a:fillRect l="0" t="-587010" r="0" b="-587010"/>
              </a:stretch>
            </a:blipFill>
          </p:spPr>
        </p:sp>
        <p:sp>
          <p:nvSpPr>
            <p:cNvPr name="TextBox 57" id="57"/>
            <p:cNvSpPr txBox="true"/>
            <p:nvPr/>
          </p:nvSpPr>
          <p:spPr>
            <a:xfrm>
              <a:off x="0" y="0"/>
              <a:ext cx="15544800" cy="475488"/>
            </a:xfrm>
            <a:prstGeom prst="rect">
              <a:avLst/>
            </a:prstGeom>
          </p:spPr>
          <p:txBody>
            <a:bodyPr anchor="ctr" rtlCol="false" tIns="0" lIns="0" bIns="0" rIns="0"/>
            <a:lstStyle/>
            <a:p>
              <a:pPr algn="l">
                <a:lnSpc>
                  <a:spcPts val="1800"/>
                </a:lnSpc>
              </a:pPr>
              <a:r>
                <a:rPr lang="en-US" sz="1500">
                  <a:solidFill>
                    <a:srgbClr val="5B6770"/>
                  </a:solidFill>
                  <a:latin typeface="IBM Plex Sans"/>
                  <a:ea typeface="IBM Plex Sans"/>
                  <a:cs typeface="IBM Plex Sans"/>
                  <a:sym typeface="IBM Plex Sans"/>
                </a:rPr>
                <a:t>Preserving Our Medicines · Community Antibiotic Stewardship, Chakwal, Pakistan</a:t>
              </a:r>
            </a:p>
          </p:txBody>
        </p:sp>
      </p:grpSp>
      <p:grpSp>
        <p:nvGrpSpPr>
          <p:cNvPr name="Group 58" id="58"/>
          <p:cNvGrpSpPr/>
          <p:nvPr/>
        </p:nvGrpSpPr>
        <p:grpSpPr>
          <a:xfrm rot="0">
            <a:off x="15695219" y="9354312"/>
            <a:ext cx="1371600" cy="356616"/>
            <a:chOff x="0" y="0"/>
            <a:chExt cx="1828800" cy="475488"/>
          </a:xfrm>
        </p:grpSpPr>
        <p:sp>
          <p:nvSpPr>
            <p:cNvPr name="Freeform 59" id="59"/>
            <p:cNvSpPr/>
            <p:nvPr/>
          </p:nvSpPr>
          <p:spPr>
            <a:xfrm flipH="false" flipV="false" rot="0">
              <a:off x="0" y="0"/>
              <a:ext cx="1828800" cy="475488"/>
            </a:xfrm>
            <a:custGeom>
              <a:avLst/>
              <a:gdLst/>
              <a:ahLst/>
              <a:cxnLst/>
              <a:rect r="r" b="b" t="t" l="l"/>
              <a:pathLst>
                <a:path h="475488" w="1828800">
                  <a:moveTo>
                    <a:pt x="0" y="0"/>
                  </a:moveTo>
                  <a:lnTo>
                    <a:pt x="1828800" y="0"/>
                  </a:lnTo>
                  <a:lnTo>
                    <a:pt x="1828800" y="475488"/>
                  </a:lnTo>
                  <a:lnTo>
                    <a:pt x="0" y="475488"/>
                  </a:lnTo>
                  <a:close/>
                </a:path>
              </a:pathLst>
            </a:custGeom>
            <a:blipFill>
              <a:blip r:embed="rId3">
                <a:alphaModFix amt="0"/>
              </a:blip>
              <a:stretch>
                <a:fillRect l="0" t="-24942" r="0" b="-24942"/>
              </a:stretch>
            </a:blipFill>
          </p:spPr>
        </p:sp>
        <p:sp>
          <p:nvSpPr>
            <p:cNvPr name="TextBox 60" id="60"/>
            <p:cNvSpPr txBox="true"/>
            <p:nvPr/>
          </p:nvSpPr>
          <p:spPr>
            <a:xfrm>
              <a:off x="0" y="0"/>
              <a:ext cx="1828800" cy="475488"/>
            </a:xfrm>
            <a:prstGeom prst="rect">
              <a:avLst/>
            </a:prstGeom>
          </p:spPr>
          <p:txBody>
            <a:bodyPr anchor="ctr" rtlCol="false" tIns="0" lIns="0" bIns="0" rIns="0"/>
            <a:lstStyle/>
            <a:p>
              <a:pPr algn="r">
                <a:lnSpc>
                  <a:spcPts val="1800"/>
                </a:lnSpc>
              </a:pPr>
              <a:r>
                <a:rPr lang="en-US" sz="1500">
                  <a:solidFill>
                    <a:srgbClr val="5B6770"/>
                  </a:solidFill>
                  <a:latin typeface="IBM Plex Sans"/>
                  <a:ea typeface="IBM Plex Sans"/>
                  <a:cs typeface="IBM Plex Sans"/>
                  <a:sym typeface="IBM Plex Sans"/>
                </a:rPr>
                <a:t>4</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7F6F2"/>
        </a:solidFill>
      </p:bgPr>
    </p:bg>
    <p:spTree>
      <p:nvGrpSpPr>
        <p:cNvPr id="1" name=""/>
        <p:cNvGrpSpPr/>
        <p:nvPr/>
      </p:nvGrpSpPr>
      <p:grpSpPr>
        <a:xfrm>
          <a:off x="0" y="0"/>
          <a:ext cx="0" cy="0"/>
          <a:chOff x="0" y="0"/>
          <a:chExt cx="0" cy="0"/>
        </a:xfrm>
      </p:grpSpPr>
      <p:grpSp>
        <p:nvGrpSpPr>
          <p:cNvPr name="Group 2" id="2"/>
          <p:cNvGrpSpPr/>
          <p:nvPr/>
        </p:nvGrpSpPr>
        <p:grpSpPr>
          <a:xfrm rot="0">
            <a:off x="1220724" y="1124712"/>
            <a:ext cx="15846095" cy="384048"/>
            <a:chOff x="0" y="0"/>
            <a:chExt cx="21128126" cy="512064"/>
          </a:xfrm>
        </p:grpSpPr>
        <p:sp>
          <p:nvSpPr>
            <p:cNvPr name="Freeform 3" id="3"/>
            <p:cNvSpPr/>
            <p:nvPr/>
          </p:nvSpPr>
          <p:spPr>
            <a:xfrm flipH="false" flipV="false" rot="0">
              <a:off x="0" y="0"/>
              <a:ext cx="21128126" cy="512064"/>
            </a:xfrm>
            <a:custGeom>
              <a:avLst/>
              <a:gdLst/>
              <a:ahLst/>
              <a:cxnLst/>
              <a:rect r="r" b="b" t="t" l="l"/>
              <a:pathLst>
                <a:path h="512064" w="21128126">
                  <a:moveTo>
                    <a:pt x="0" y="0"/>
                  </a:moveTo>
                  <a:lnTo>
                    <a:pt x="21128126" y="0"/>
                  </a:lnTo>
                  <a:lnTo>
                    <a:pt x="21128126" y="512064"/>
                  </a:lnTo>
                  <a:lnTo>
                    <a:pt x="0" y="512064"/>
                  </a:lnTo>
                  <a:close/>
                </a:path>
              </a:pathLst>
            </a:custGeom>
            <a:blipFill>
              <a:blip r:embed="rId3">
                <a:alphaModFix amt="0"/>
              </a:blip>
              <a:stretch>
                <a:fillRect l="0" t="-753966" r="0" b="-753966"/>
              </a:stretch>
            </a:blipFill>
          </p:spPr>
        </p:sp>
        <p:sp>
          <p:nvSpPr>
            <p:cNvPr name="TextBox 4" id="4"/>
            <p:cNvSpPr txBox="true"/>
            <p:nvPr/>
          </p:nvSpPr>
          <p:spPr>
            <a:xfrm>
              <a:off x="0" y="0"/>
              <a:ext cx="21128126" cy="512064"/>
            </a:xfrm>
            <a:prstGeom prst="rect">
              <a:avLst/>
            </a:prstGeom>
          </p:spPr>
          <p:txBody>
            <a:bodyPr anchor="ctr" rtlCol="false" tIns="0" lIns="0" bIns="0" rIns="0"/>
            <a:lstStyle/>
            <a:p>
              <a:pPr algn="l">
                <a:lnSpc>
                  <a:spcPts val="1980"/>
                </a:lnSpc>
              </a:pPr>
              <a:r>
                <a:rPr lang="en-US" b="true" sz="1650" spc="299">
                  <a:solidFill>
                    <a:srgbClr val="0B6E60"/>
                  </a:solidFill>
                  <a:latin typeface="IBM Plex Sans Bold"/>
                  <a:ea typeface="IBM Plex Sans Bold"/>
                  <a:cs typeface="IBM Plex Sans Bold"/>
                  <a:sym typeface="IBM Plex Sans Bold"/>
                </a:rPr>
                <a:t>03 · PROGRAMME OBJECTIVES</a:t>
              </a:r>
            </a:p>
          </p:txBody>
        </p:sp>
      </p:grpSp>
      <p:grpSp>
        <p:nvGrpSpPr>
          <p:cNvPr name="Group 5" id="5"/>
          <p:cNvGrpSpPr/>
          <p:nvPr/>
        </p:nvGrpSpPr>
        <p:grpSpPr>
          <a:xfrm rot="0">
            <a:off x="1220724" y="1536192"/>
            <a:ext cx="15846095" cy="850392"/>
            <a:chOff x="0" y="0"/>
            <a:chExt cx="21128126" cy="1133856"/>
          </a:xfrm>
        </p:grpSpPr>
        <p:sp>
          <p:nvSpPr>
            <p:cNvPr name="Freeform 6" id="6"/>
            <p:cNvSpPr/>
            <p:nvPr/>
          </p:nvSpPr>
          <p:spPr>
            <a:xfrm flipH="false" flipV="false" rot="0">
              <a:off x="0" y="0"/>
              <a:ext cx="21128126" cy="1133856"/>
            </a:xfrm>
            <a:custGeom>
              <a:avLst/>
              <a:gdLst/>
              <a:ahLst/>
              <a:cxnLst/>
              <a:rect r="r" b="b" t="t" l="l"/>
              <a:pathLst>
                <a:path h="1133856" w="21128126">
                  <a:moveTo>
                    <a:pt x="0" y="0"/>
                  </a:moveTo>
                  <a:lnTo>
                    <a:pt x="21128126" y="0"/>
                  </a:lnTo>
                  <a:lnTo>
                    <a:pt x="21128126" y="1133856"/>
                  </a:lnTo>
                  <a:lnTo>
                    <a:pt x="0" y="1133856"/>
                  </a:lnTo>
                  <a:close/>
                </a:path>
              </a:pathLst>
            </a:custGeom>
            <a:blipFill>
              <a:blip r:embed="rId3">
                <a:alphaModFix amt="0"/>
              </a:blip>
              <a:stretch>
                <a:fillRect l="0" t="-313081" r="0" b="-313081"/>
              </a:stretch>
            </a:blipFill>
          </p:spPr>
        </p:sp>
        <p:sp>
          <p:nvSpPr>
            <p:cNvPr name="TextBox 7" id="7"/>
            <p:cNvSpPr txBox="true"/>
            <p:nvPr/>
          </p:nvSpPr>
          <p:spPr>
            <a:xfrm>
              <a:off x="0" y="0"/>
              <a:ext cx="21128126" cy="1133856"/>
            </a:xfrm>
            <a:prstGeom prst="rect">
              <a:avLst/>
            </a:prstGeom>
          </p:spPr>
          <p:txBody>
            <a:bodyPr anchor="ctr" rtlCol="false" tIns="0" lIns="0" bIns="0" rIns="0"/>
            <a:lstStyle/>
            <a:p>
              <a:pPr algn="l">
                <a:lnSpc>
                  <a:spcPts val="5400"/>
                </a:lnSpc>
              </a:pPr>
              <a:r>
                <a:rPr lang="en-US" sz="4500" b="true">
                  <a:solidFill>
                    <a:srgbClr val="14304A"/>
                  </a:solidFill>
                  <a:latin typeface="Source Serif Pro Bold"/>
                  <a:ea typeface="Source Serif Pro Bold"/>
                  <a:cs typeface="Source Serif Pro Bold"/>
                  <a:sym typeface="Source Serif Pro Bold"/>
                </a:rPr>
                <a:t>Six objectives guide the programme</a:t>
              </a:r>
            </a:p>
          </p:txBody>
        </p:sp>
      </p:grpSp>
      <p:grpSp>
        <p:nvGrpSpPr>
          <p:cNvPr name="Group 8" id="8"/>
          <p:cNvGrpSpPr/>
          <p:nvPr/>
        </p:nvGrpSpPr>
        <p:grpSpPr>
          <a:xfrm rot="0">
            <a:off x="1213580" y="2873216"/>
            <a:ext cx="4952047" cy="2551748"/>
            <a:chOff x="0" y="0"/>
            <a:chExt cx="6602730" cy="3402330"/>
          </a:xfrm>
        </p:grpSpPr>
        <p:sp>
          <p:nvSpPr>
            <p:cNvPr name="Freeform 9" id="9"/>
            <p:cNvSpPr/>
            <p:nvPr/>
          </p:nvSpPr>
          <p:spPr>
            <a:xfrm flipH="false" flipV="false" rot="0">
              <a:off x="0" y="0"/>
              <a:ext cx="6602730" cy="3402330"/>
            </a:xfrm>
            <a:custGeom>
              <a:avLst/>
              <a:gdLst/>
              <a:ahLst/>
              <a:cxnLst/>
              <a:rect r="r" b="b" t="t" l="l"/>
              <a:pathLst>
                <a:path h="3402330" w="6602730">
                  <a:moveTo>
                    <a:pt x="0" y="147066"/>
                  </a:moveTo>
                  <a:cubicBezTo>
                    <a:pt x="0" y="65913"/>
                    <a:pt x="65913" y="0"/>
                    <a:pt x="147066" y="0"/>
                  </a:cubicBezTo>
                  <a:lnTo>
                    <a:pt x="6455664" y="0"/>
                  </a:lnTo>
                  <a:cubicBezTo>
                    <a:pt x="6536944" y="0"/>
                    <a:pt x="6602730" y="65913"/>
                    <a:pt x="6602730" y="147066"/>
                  </a:cubicBezTo>
                  <a:lnTo>
                    <a:pt x="6602730" y="3255264"/>
                  </a:lnTo>
                  <a:cubicBezTo>
                    <a:pt x="6602730" y="3336544"/>
                    <a:pt x="6536817" y="3402330"/>
                    <a:pt x="6455664" y="3402330"/>
                  </a:cubicBezTo>
                  <a:lnTo>
                    <a:pt x="147066" y="3402330"/>
                  </a:lnTo>
                  <a:cubicBezTo>
                    <a:pt x="65913" y="3402330"/>
                    <a:pt x="0" y="3336417"/>
                    <a:pt x="0" y="3255264"/>
                  </a:cubicBezTo>
                  <a:close/>
                </a:path>
              </a:pathLst>
            </a:custGeom>
            <a:solidFill>
              <a:srgbClr val="FDFDFB"/>
            </a:solidFill>
            <a:ln w="14288" cap="sq">
              <a:solidFill>
                <a:srgbClr val="D3DCD9"/>
              </a:solidFill>
              <a:prstDash val="solid"/>
              <a:miter/>
            </a:ln>
          </p:spPr>
        </p:sp>
      </p:grpSp>
      <p:sp>
        <p:nvSpPr>
          <p:cNvPr name="TextBox 10" id="10"/>
          <p:cNvSpPr txBox="true"/>
          <p:nvPr/>
        </p:nvSpPr>
        <p:spPr>
          <a:xfrm rot="0">
            <a:off x="1632204" y="3232785"/>
            <a:ext cx="1371600" cy="676275"/>
          </a:xfrm>
          <a:prstGeom prst="rect">
            <a:avLst/>
          </a:prstGeom>
        </p:spPr>
        <p:txBody>
          <a:bodyPr anchor="t" rtlCol="false" tIns="0" lIns="0" bIns="0" rIns="0">
            <a:spAutoFit/>
          </a:bodyPr>
          <a:lstStyle/>
          <a:p>
            <a:pPr algn="l">
              <a:lnSpc>
                <a:spcPts val="4320"/>
              </a:lnSpc>
            </a:pPr>
            <a:r>
              <a:rPr lang="en-US" sz="3600" b="true">
                <a:solidFill>
                  <a:srgbClr val="0B6E60"/>
                </a:solidFill>
                <a:latin typeface="Source Serif Pro Bold"/>
                <a:ea typeface="Source Serif Pro Bold"/>
                <a:cs typeface="Source Serif Pro Bold"/>
                <a:sym typeface="Source Serif Pro Bold"/>
              </a:rPr>
              <a:t>01</a:t>
            </a:r>
          </a:p>
        </p:txBody>
      </p:sp>
      <p:sp>
        <p:nvSpPr>
          <p:cNvPr name="TextBox 11" id="11"/>
          <p:cNvSpPr txBox="true"/>
          <p:nvPr/>
        </p:nvSpPr>
        <p:spPr>
          <a:xfrm rot="0">
            <a:off x="1632204" y="4046220"/>
            <a:ext cx="4183380" cy="1165860"/>
          </a:xfrm>
          <a:prstGeom prst="rect">
            <a:avLst/>
          </a:prstGeom>
        </p:spPr>
        <p:txBody>
          <a:bodyPr anchor="t" rtlCol="false" tIns="0" lIns="0" bIns="0" rIns="0">
            <a:spAutoFit/>
          </a:bodyPr>
          <a:lstStyle/>
          <a:p>
            <a:pPr algn="l">
              <a:lnSpc>
                <a:spcPts val="2160"/>
              </a:lnSpc>
            </a:pPr>
            <a:r>
              <a:rPr lang="en-US" sz="1800">
                <a:solidFill>
                  <a:srgbClr val="3F4B57"/>
                </a:solidFill>
                <a:latin typeface="IBM Plex Sans"/>
                <a:ea typeface="IBM Plex Sans"/>
                <a:cs typeface="IBM Plex Sans"/>
                <a:sym typeface="IBM Plex Sans"/>
              </a:rPr>
              <a:t>Explain what antibiotic resistance is and why it threatens everyone</a:t>
            </a:r>
          </a:p>
        </p:txBody>
      </p:sp>
      <p:grpSp>
        <p:nvGrpSpPr>
          <p:cNvPr name="Group 12" id="12"/>
          <p:cNvGrpSpPr/>
          <p:nvPr/>
        </p:nvGrpSpPr>
        <p:grpSpPr>
          <a:xfrm rot="0">
            <a:off x="6562820" y="2873216"/>
            <a:ext cx="4952047" cy="2551748"/>
            <a:chOff x="0" y="0"/>
            <a:chExt cx="6602730" cy="3402330"/>
          </a:xfrm>
        </p:grpSpPr>
        <p:sp>
          <p:nvSpPr>
            <p:cNvPr name="Freeform 13" id="13"/>
            <p:cNvSpPr/>
            <p:nvPr/>
          </p:nvSpPr>
          <p:spPr>
            <a:xfrm flipH="false" flipV="false" rot="0">
              <a:off x="0" y="0"/>
              <a:ext cx="6602730" cy="3402330"/>
            </a:xfrm>
            <a:custGeom>
              <a:avLst/>
              <a:gdLst/>
              <a:ahLst/>
              <a:cxnLst/>
              <a:rect r="r" b="b" t="t" l="l"/>
              <a:pathLst>
                <a:path h="3402330" w="6602730">
                  <a:moveTo>
                    <a:pt x="0" y="147066"/>
                  </a:moveTo>
                  <a:cubicBezTo>
                    <a:pt x="0" y="65913"/>
                    <a:pt x="65913" y="0"/>
                    <a:pt x="147066" y="0"/>
                  </a:cubicBezTo>
                  <a:lnTo>
                    <a:pt x="6455664" y="0"/>
                  </a:lnTo>
                  <a:cubicBezTo>
                    <a:pt x="6536944" y="0"/>
                    <a:pt x="6602730" y="65913"/>
                    <a:pt x="6602730" y="147066"/>
                  </a:cubicBezTo>
                  <a:lnTo>
                    <a:pt x="6602730" y="3255264"/>
                  </a:lnTo>
                  <a:cubicBezTo>
                    <a:pt x="6602730" y="3336544"/>
                    <a:pt x="6536817" y="3402330"/>
                    <a:pt x="6455664" y="3402330"/>
                  </a:cubicBezTo>
                  <a:lnTo>
                    <a:pt x="147066" y="3402330"/>
                  </a:lnTo>
                  <a:cubicBezTo>
                    <a:pt x="65913" y="3402330"/>
                    <a:pt x="0" y="3336417"/>
                    <a:pt x="0" y="3255264"/>
                  </a:cubicBezTo>
                  <a:close/>
                </a:path>
              </a:pathLst>
            </a:custGeom>
            <a:solidFill>
              <a:srgbClr val="FDFDFB"/>
            </a:solidFill>
            <a:ln w="14288" cap="sq">
              <a:solidFill>
                <a:srgbClr val="D3DCD9"/>
              </a:solidFill>
              <a:prstDash val="solid"/>
              <a:miter/>
            </a:ln>
          </p:spPr>
        </p:sp>
      </p:grpSp>
      <p:sp>
        <p:nvSpPr>
          <p:cNvPr name="TextBox 14" id="14"/>
          <p:cNvSpPr txBox="true"/>
          <p:nvPr/>
        </p:nvSpPr>
        <p:spPr>
          <a:xfrm rot="0">
            <a:off x="6981444" y="3232785"/>
            <a:ext cx="1371600" cy="676275"/>
          </a:xfrm>
          <a:prstGeom prst="rect">
            <a:avLst/>
          </a:prstGeom>
        </p:spPr>
        <p:txBody>
          <a:bodyPr anchor="t" rtlCol="false" tIns="0" lIns="0" bIns="0" rIns="0">
            <a:spAutoFit/>
          </a:bodyPr>
          <a:lstStyle/>
          <a:p>
            <a:pPr algn="l">
              <a:lnSpc>
                <a:spcPts val="4320"/>
              </a:lnSpc>
            </a:pPr>
            <a:r>
              <a:rPr lang="en-US" sz="3600" b="true">
                <a:solidFill>
                  <a:srgbClr val="0B6E60"/>
                </a:solidFill>
                <a:latin typeface="Source Serif Pro Bold"/>
                <a:ea typeface="Source Serif Pro Bold"/>
                <a:cs typeface="Source Serif Pro Bold"/>
                <a:sym typeface="Source Serif Pro Bold"/>
              </a:rPr>
              <a:t>02</a:t>
            </a:r>
          </a:p>
        </p:txBody>
      </p:sp>
      <p:sp>
        <p:nvSpPr>
          <p:cNvPr name="TextBox 15" id="15"/>
          <p:cNvSpPr txBox="true"/>
          <p:nvPr/>
        </p:nvSpPr>
        <p:spPr>
          <a:xfrm rot="0">
            <a:off x="6981444" y="4046220"/>
            <a:ext cx="4183380" cy="1165860"/>
          </a:xfrm>
          <a:prstGeom prst="rect">
            <a:avLst/>
          </a:prstGeom>
        </p:spPr>
        <p:txBody>
          <a:bodyPr anchor="t" rtlCol="false" tIns="0" lIns="0" bIns="0" rIns="0">
            <a:spAutoFit/>
          </a:bodyPr>
          <a:lstStyle/>
          <a:p>
            <a:pPr algn="l">
              <a:lnSpc>
                <a:spcPts val="2160"/>
              </a:lnSpc>
            </a:pPr>
            <a:r>
              <a:rPr lang="en-US" sz="1800">
                <a:solidFill>
                  <a:srgbClr val="3F4B57"/>
                </a:solidFill>
                <a:latin typeface="IBM Plex Sans"/>
                <a:ea typeface="IBM Plex Sans"/>
                <a:cs typeface="IBM Plex Sans"/>
                <a:sym typeface="IBM Plex Sans"/>
              </a:rPr>
              <a:t>Stop the use of antibiotics for flu, colds and viral fevers</a:t>
            </a:r>
          </a:p>
        </p:txBody>
      </p:sp>
      <p:grpSp>
        <p:nvGrpSpPr>
          <p:cNvPr name="Group 16" id="16"/>
          <p:cNvGrpSpPr/>
          <p:nvPr/>
        </p:nvGrpSpPr>
        <p:grpSpPr>
          <a:xfrm rot="0">
            <a:off x="11912060" y="2873216"/>
            <a:ext cx="4952047" cy="2551748"/>
            <a:chOff x="0" y="0"/>
            <a:chExt cx="6602730" cy="3402330"/>
          </a:xfrm>
        </p:grpSpPr>
        <p:sp>
          <p:nvSpPr>
            <p:cNvPr name="Freeform 17" id="17"/>
            <p:cNvSpPr/>
            <p:nvPr/>
          </p:nvSpPr>
          <p:spPr>
            <a:xfrm flipH="false" flipV="false" rot="0">
              <a:off x="0" y="0"/>
              <a:ext cx="6602730" cy="3402330"/>
            </a:xfrm>
            <a:custGeom>
              <a:avLst/>
              <a:gdLst/>
              <a:ahLst/>
              <a:cxnLst/>
              <a:rect r="r" b="b" t="t" l="l"/>
              <a:pathLst>
                <a:path h="3402330" w="6602730">
                  <a:moveTo>
                    <a:pt x="0" y="147066"/>
                  </a:moveTo>
                  <a:cubicBezTo>
                    <a:pt x="0" y="65913"/>
                    <a:pt x="65913" y="0"/>
                    <a:pt x="147066" y="0"/>
                  </a:cubicBezTo>
                  <a:lnTo>
                    <a:pt x="6455664" y="0"/>
                  </a:lnTo>
                  <a:cubicBezTo>
                    <a:pt x="6536944" y="0"/>
                    <a:pt x="6602730" y="65913"/>
                    <a:pt x="6602730" y="147066"/>
                  </a:cubicBezTo>
                  <a:lnTo>
                    <a:pt x="6602730" y="3255264"/>
                  </a:lnTo>
                  <a:cubicBezTo>
                    <a:pt x="6602730" y="3336544"/>
                    <a:pt x="6536817" y="3402330"/>
                    <a:pt x="6455664" y="3402330"/>
                  </a:cubicBezTo>
                  <a:lnTo>
                    <a:pt x="147066" y="3402330"/>
                  </a:lnTo>
                  <a:cubicBezTo>
                    <a:pt x="65913" y="3402330"/>
                    <a:pt x="0" y="3336417"/>
                    <a:pt x="0" y="3255264"/>
                  </a:cubicBezTo>
                  <a:close/>
                </a:path>
              </a:pathLst>
            </a:custGeom>
            <a:solidFill>
              <a:srgbClr val="FDFDFB"/>
            </a:solidFill>
            <a:ln w="14288" cap="sq">
              <a:solidFill>
                <a:srgbClr val="D3DCD9"/>
              </a:solidFill>
              <a:prstDash val="solid"/>
              <a:miter/>
            </a:ln>
          </p:spPr>
        </p:sp>
      </p:grpSp>
      <p:sp>
        <p:nvSpPr>
          <p:cNvPr name="TextBox 18" id="18"/>
          <p:cNvSpPr txBox="true"/>
          <p:nvPr/>
        </p:nvSpPr>
        <p:spPr>
          <a:xfrm rot="0">
            <a:off x="12330684" y="3232785"/>
            <a:ext cx="1371600" cy="676275"/>
          </a:xfrm>
          <a:prstGeom prst="rect">
            <a:avLst/>
          </a:prstGeom>
        </p:spPr>
        <p:txBody>
          <a:bodyPr anchor="t" rtlCol="false" tIns="0" lIns="0" bIns="0" rIns="0">
            <a:spAutoFit/>
          </a:bodyPr>
          <a:lstStyle/>
          <a:p>
            <a:pPr algn="l">
              <a:lnSpc>
                <a:spcPts val="4320"/>
              </a:lnSpc>
            </a:pPr>
            <a:r>
              <a:rPr lang="en-US" sz="3600" b="true">
                <a:solidFill>
                  <a:srgbClr val="0B6E60"/>
                </a:solidFill>
                <a:latin typeface="Source Serif Pro Bold"/>
                <a:ea typeface="Source Serif Pro Bold"/>
                <a:cs typeface="Source Serif Pro Bold"/>
                <a:sym typeface="Source Serif Pro Bold"/>
              </a:rPr>
              <a:t>03</a:t>
            </a:r>
          </a:p>
        </p:txBody>
      </p:sp>
      <p:sp>
        <p:nvSpPr>
          <p:cNvPr name="TextBox 19" id="19"/>
          <p:cNvSpPr txBox="true"/>
          <p:nvPr/>
        </p:nvSpPr>
        <p:spPr>
          <a:xfrm rot="0">
            <a:off x="12330684" y="4046220"/>
            <a:ext cx="4183380" cy="1165860"/>
          </a:xfrm>
          <a:prstGeom prst="rect">
            <a:avLst/>
          </a:prstGeom>
        </p:spPr>
        <p:txBody>
          <a:bodyPr anchor="t" rtlCol="false" tIns="0" lIns="0" bIns="0" rIns="0">
            <a:spAutoFit/>
          </a:bodyPr>
          <a:lstStyle/>
          <a:p>
            <a:pPr algn="l">
              <a:lnSpc>
                <a:spcPts val="2160"/>
              </a:lnSpc>
            </a:pPr>
            <a:r>
              <a:rPr lang="en-US" sz="1800">
                <a:solidFill>
                  <a:srgbClr val="3F4B57"/>
                </a:solidFill>
                <a:latin typeface="IBM Plex Sans"/>
                <a:ea typeface="IBM Plex Sans"/>
                <a:cs typeface="IBM Plex Sans"/>
                <a:sym typeface="IBM Plex Sans"/>
              </a:rPr>
              <a:t>Ensure every prescribed course is completed as directed</a:t>
            </a:r>
          </a:p>
        </p:txBody>
      </p:sp>
      <p:grpSp>
        <p:nvGrpSpPr>
          <p:cNvPr name="Group 20" id="20"/>
          <p:cNvGrpSpPr/>
          <p:nvPr/>
        </p:nvGrpSpPr>
        <p:grpSpPr>
          <a:xfrm rot="0">
            <a:off x="1213580" y="5753576"/>
            <a:ext cx="4952047" cy="2551748"/>
            <a:chOff x="0" y="0"/>
            <a:chExt cx="6602730" cy="3402330"/>
          </a:xfrm>
        </p:grpSpPr>
        <p:sp>
          <p:nvSpPr>
            <p:cNvPr name="Freeform 21" id="21"/>
            <p:cNvSpPr/>
            <p:nvPr/>
          </p:nvSpPr>
          <p:spPr>
            <a:xfrm flipH="false" flipV="false" rot="0">
              <a:off x="0" y="0"/>
              <a:ext cx="6602730" cy="3402330"/>
            </a:xfrm>
            <a:custGeom>
              <a:avLst/>
              <a:gdLst/>
              <a:ahLst/>
              <a:cxnLst/>
              <a:rect r="r" b="b" t="t" l="l"/>
              <a:pathLst>
                <a:path h="3402330" w="6602730">
                  <a:moveTo>
                    <a:pt x="0" y="147066"/>
                  </a:moveTo>
                  <a:cubicBezTo>
                    <a:pt x="0" y="65913"/>
                    <a:pt x="65913" y="0"/>
                    <a:pt x="147066" y="0"/>
                  </a:cubicBezTo>
                  <a:lnTo>
                    <a:pt x="6455664" y="0"/>
                  </a:lnTo>
                  <a:cubicBezTo>
                    <a:pt x="6536944" y="0"/>
                    <a:pt x="6602730" y="65913"/>
                    <a:pt x="6602730" y="147066"/>
                  </a:cubicBezTo>
                  <a:lnTo>
                    <a:pt x="6602730" y="3255264"/>
                  </a:lnTo>
                  <a:cubicBezTo>
                    <a:pt x="6602730" y="3336544"/>
                    <a:pt x="6536817" y="3402330"/>
                    <a:pt x="6455664" y="3402330"/>
                  </a:cubicBezTo>
                  <a:lnTo>
                    <a:pt x="147066" y="3402330"/>
                  </a:lnTo>
                  <a:cubicBezTo>
                    <a:pt x="65913" y="3402330"/>
                    <a:pt x="0" y="3336417"/>
                    <a:pt x="0" y="3255264"/>
                  </a:cubicBezTo>
                  <a:close/>
                </a:path>
              </a:pathLst>
            </a:custGeom>
            <a:solidFill>
              <a:srgbClr val="FDFDFB"/>
            </a:solidFill>
            <a:ln w="14288" cap="sq">
              <a:solidFill>
                <a:srgbClr val="D3DCD9"/>
              </a:solidFill>
              <a:prstDash val="solid"/>
              <a:miter/>
            </a:ln>
          </p:spPr>
        </p:sp>
      </p:grpSp>
      <p:sp>
        <p:nvSpPr>
          <p:cNvPr name="TextBox 22" id="22"/>
          <p:cNvSpPr txBox="true"/>
          <p:nvPr/>
        </p:nvSpPr>
        <p:spPr>
          <a:xfrm rot="0">
            <a:off x="1632204" y="6113145"/>
            <a:ext cx="1371600" cy="676275"/>
          </a:xfrm>
          <a:prstGeom prst="rect">
            <a:avLst/>
          </a:prstGeom>
        </p:spPr>
        <p:txBody>
          <a:bodyPr anchor="t" rtlCol="false" tIns="0" lIns="0" bIns="0" rIns="0">
            <a:spAutoFit/>
          </a:bodyPr>
          <a:lstStyle/>
          <a:p>
            <a:pPr algn="l">
              <a:lnSpc>
                <a:spcPts val="4320"/>
              </a:lnSpc>
            </a:pPr>
            <a:r>
              <a:rPr lang="en-US" sz="3600" b="true">
                <a:solidFill>
                  <a:srgbClr val="0B6E60"/>
                </a:solidFill>
                <a:latin typeface="Source Serif Pro Bold"/>
                <a:ea typeface="Source Serif Pro Bold"/>
                <a:cs typeface="Source Serif Pro Bold"/>
                <a:sym typeface="Source Serif Pro Bold"/>
              </a:rPr>
              <a:t>04</a:t>
            </a:r>
          </a:p>
        </p:txBody>
      </p:sp>
      <p:sp>
        <p:nvSpPr>
          <p:cNvPr name="TextBox 23" id="23"/>
          <p:cNvSpPr txBox="true"/>
          <p:nvPr/>
        </p:nvSpPr>
        <p:spPr>
          <a:xfrm rot="0">
            <a:off x="1632204" y="6926580"/>
            <a:ext cx="4183380" cy="1165860"/>
          </a:xfrm>
          <a:prstGeom prst="rect">
            <a:avLst/>
          </a:prstGeom>
        </p:spPr>
        <p:txBody>
          <a:bodyPr anchor="t" rtlCol="false" tIns="0" lIns="0" bIns="0" rIns="0">
            <a:spAutoFit/>
          </a:bodyPr>
          <a:lstStyle/>
          <a:p>
            <a:pPr algn="l">
              <a:lnSpc>
                <a:spcPts val="2160"/>
              </a:lnSpc>
            </a:pPr>
            <a:r>
              <a:rPr lang="en-US" sz="1800">
                <a:solidFill>
                  <a:srgbClr val="3F4B57"/>
                </a:solidFill>
                <a:latin typeface="IBM Plex Sans"/>
                <a:ea typeface="IBM Plex Sans"/>
                <a:cs typeface="IBM Plex Sans"/>
                <a:sym typeface="IBM Plex Sans"/>
              </a:rPr>
              <a:t>End saving, sharing and over-the-counter purchase of antibiotics</a:t>
            </a:r>
          </a:p>
        </p:txBody>
      </p:sp>
      <p:grpSp>
        <p:nvGrpSpPr>
          <p:cNvPr name="Group 24" id="24"/>
          <p:cNvGrpSpPr/>
          <p:nvPr/>
        </p:nvGrpSpPr>
        <p:grpSpPr>
          <a:xfrm rot="0">
            <a:off x="6562820" y="5753576"/>
            <a:ext cx="4952047" cy="2551748"/>
            <a:chOff x="0" y="0"/>
            <a:chExt cx="6602730" cy="3402330"/>
          </a:xfrm>
        </p:grpSpPr>
        <p:sp>
          <p:nvSpPr>
            <p:cNvPr name="Freeform 25" id="25"/>
            <p:cNvSpPr/>
            <p:nvPr/>
          </p:nvSpPr>
          <p:spPr>
            <a:xfrm flipH="false" flipV="false" rot="0">
              <a:off x="0" y="0"/>
              <a:ext cx="6602730" cy="3402330"/>
            </a:xfrm>
            <a:custGeom>
              <a:avLst/>
              <a:gdLst/>
              <a:ahLst/>
              <a:cxnLst/>
              <a:rect r="r" b="b" t="t" l="l"/>
              <a:pathLst>
                <a:path h="3402330" w="6602730">
                  <a:moveTo>
                    <a:pt x="0" y="147066"/>
                  </a:moveTo>
                  <a:cubicBezTo>
                    <a:pt x="0" y="65913"/>
                    <a:pt x="65913" y="0"/>
                    <a:pt x="147066" y="0"/>
                  </a:cubicBezTo>
                  <a:lnTo>
                    <a:pt x="6455664" y="0"/>
                  </a:lnTo>
                  <a:cubicBezTo>
                    <a:pt x="6536944" y="0"/>
                    <a:pt x="6602730" y="65913"/>
                    <a:pt x="6602730" y="147066"/>
                  </a:cubicBezTo>
                  <a:lnTo>
                    <a:pt x="6602730" y="3255264"/>
                  </a:lnTo>
                  <a:cubicBezTo>
                    <a:pt x="6602730" y="3336544"/>
                    <a:pt x="6536817" y="3402330"/>
                    <a:pt x="6455664" y="3402330"/>
                  </a:cubicBezTo>
                  <a:lnTo>
                    <a:pt x="147066" y="3402330"/>
                  </a:lnTo>
                  <a:cubicBezTo>
                    <a:pt x="65913" y="3402330"/>
                    <a:pt x="0" y="3336417"/>
                    <a:pt x="0" y="3255264"/>
                  </a:cubicBezTo>
                  <a:close/>
                </a:path>
              </a:pathLst>
            </a:custGeom>
            <a:solidFill>
              <a:srgbClr val="FDFDFB"/>
            </a:solidFill>
            <a:ln w="14288" cap="sq">
              <a:solidFill>
                <a:srgbClr val="D3DCD9"/>
              </a:solidFill>
              <a:prstDash val="solid"/>
              <a:miter/>
            </a:ln>
          </p:spPr>
        </p:sp>
      </p:grpSp>
      <p:sp>
        <p:nvSpPr>
          <p:cNvPr name="TextBox 26" id="26"/>
          <p:cNvSpPr txBox="true"/>
          <p:nvPr/>
        </p:nvSpPr>
        <p:spPr>
          <a:xfrm rot="0">
            <a:off x="6981444" y="6113145"/>
            <a:ext cx="1371600" cy="676275"/>
          </a:xfrm>
          <a:prstGeom prst="rect">
            <a:avLst/>
          </a:prstGeom>
        </p:spPr>
        <p:txBody>
          <a:bodyPr anchor="t" rtlCol="false" tIns="0" lIns="0" bIns="0" rIns="0">
            <a:spAutoFit/>
          </a:bodyPr>
          <a:lstStyle/>
          <a:p>
            <a:pPr algn="l">
              <a:lnSpc>
                <a:spcPts val="4320"/>
              </a:lnSpc>
            </a:pPr>
            <a:r>
              <a:rPr lang="en-US" sz="3600" b="true">
                <a:solidFill>
                  <a:srgbClr val="0B6E60"/>
                </a:solidFill>
                <a:latin typeface="Source Serif Pro Bold"/>
                <a:ea typeface="Source Serif Pro Bold"/>
                <a:cs typeface="Source Serif Pro Bold"/>
                <a:sym typeface="Source Serif Pro Bold"/>
              </a:rPr>
              <a:t>05</a:t>
            </a:r>
          </a:p>
        </p:txBody>
      </p:sp>
      <p:sp>
        <p:nvSpPr>
          <p:cNvPr name="TextBox 27" id="27"/>
          <p:cNvSpPr txBox="true"/>
          <p:nvPr/>
        </p:nvSpPr>
        <p:spPr>
          <a:xfrm rot="0">
            <a:off x="6981444" y="6926580"/>
            <a:ext cx="4183380" cy="1165860"/>
          </a:xfrm>
          <a:prstGeom prst="rect">
            <a:avLst/>
          </a:prstGeom>
        </p:spPr>
        <p:txBody>
          <a:bodyPr anchor="t" rtlCol="false" tIns="0" lIns="0" bIns="0" rIns="0">
            <a:spAutoFit/>
          </a:bodyPr>
          <a:lstStyle/>
          <a:p>
            <a:pPr algn="l">
              <a:lnSpc>
                <a:spcPts val="2160"/>
              </a:lnSpc>
            </a:pPr>
            <a:r>
              <a:rPr lang="en-US" sz="1800">
                <a:solidFill>
                  <a:srgbClr val="3F4B57"/>
                </a:solidFill>
                <a:latin typeface="IBM Plex Sans"/>
                <a:ea typeface="IBM Plex Sans"/>
                <a:cs typeface="IBM Plex Sans"/>
                <a:sym typeface="IBM Plex Sans"/>
              </a:rPr>
              <a:t>Promote clean water and hygiene to prevent infections in the first place</a:t>
            </a:r>
          </a:p>
        </p:txBody>
      </p:sp>
      <p:grpSp>
        <p:nvGrpSpPr>
          <p:cNvPr name="Group 28" id="28"/>
          <p:cNvGrpSpPr/>
          <p:nvPr/>
        </p:nvGrpSpPr>
        <p:grpSpPr>
          <a:xfrm rot="0">
            <a:off x="11912060" y="5753576"/>
            <a:ext cx="4952047" cy="2551748"/>
            <a:chOff x="0" y="0"/>
            <a:chExt cx="6602730" cy="3402330"/>
          </a:xfrm>
        </p:grpSpPr>
        <p:sp>
          <p:nvSpPr>
            <p:cNvPr name="Freeform 29" id="29"/>
            <p:cNvSpPr/>
            <p:nvPr/>
          </p:nvSpPr>
          <p:spPr>
            <a:xfrm flipH="false" flipV="false" rot="0">
              <a:off x="0" y="0"/>
              <a:ext cx="6602730" cy="3402330"/>
            </a:xfrm>
            <a:custGeom>
              <a:avLst/>
              <a:gdLst/>
              <a:ahLst/>
              <a:cxnLst/>
              <a:rect r="r" b="b" t="t" l="l"/>
              <a:pathLst>
                <a:path h="3402330" w="6602730">
                  <a:moveTo>
                    <a:pt x="0" y="147066"/>
                  </a:moveTo>
                  <a:cubicBezTo>
                    <a:pt x="0" y="65913"/>
                    <a:pt x="65913" y="0"/>
                    <a:pt x="147066" y="0"/>
                  </a:cubicBezTo>
                  <a:lnTo>
                    <a:pt x="6455664" y="0"/>
                  </a:lnTo>
                  <a:cubicBezTo>
                    <a:pt x="6536944" y="0"/>
                    <a:pt x="6602730" y="65913"/>
                    <a:pt x="6602730" y="147066"/>
                  </a:cubicBezTo>
                  <a:lnTo>
                    <a:pt x="6602730" y="3255264"/>
                  </a:lnTo>
                  <a:cubicBezTo>
                    <a:pt x="6602730" y="3336544"/>
                    <a:pt x="6536817" y="3402330"/>
                    <a:pt x="6455664" y="3402330"/>
                  </a:cubicBezTo>
                  <a:lnTo>
                    <a:pt x="147066" y="3402330"/>
                  </a:lnTo>
                  <a:cubicBezTo>
                    <a:pt x="65913" y="3402330"/>
                    <a:pt x="0" y="3336417"/>
                    <a:pt x="0" y="3255264"/>
                  </a:cubicBezTo>
                  <a:close/>
                </a:path>
              </a:pathLst>
            </a:custGeom>
            <a:solidFill>
              <a:srgbClr val="FDFDFB"/>
            </a:solidFill>
            <a:ln w="14288" cap="sq">
              <a:solidFill>
                <a:srgbClr val="D3DCD9"/>
              </a:solidFill>
              <a:prstDash val="solid"/>
              <a:miter/>
            </a:ln>
          </p:spPr>
        </p:sp>
      </p:grpSp>
      <p:sp>
        <p:nvSpPr>
          <p:cNvPr name="TextBox 30" id="30"/>
          <p:cNvSpPr txBox="true"/>
          <p:nvPr/>
        </p:nvSpPr>
        <p:spPr>
          <a:xfrm rot="0">
            <a:off x="12330684" y="6113145"/>
            <a:ext cx="1371600" cy="676275"/>
          </a:xfrm>
          <a:prstGeom prst="rect">
            <a:avLst/>
          </a:prstGeom>
        </p:spPr>
        <p:txBody>
          <a:bodyPr anchor="t" rtlCol="false" tIns="0" lIns="0" bIns="0" rIns="0">
            <a:spAutoFit/>
          </a:bodyPr>
          <a:lstStyle/>
          <a:p>
            <a:pPr algn="l">
              <a:lnSpc>
                <a:spcPts val="4320"/>
              </a:lnSpc>
            </a:pPr>
            <a:r>
              <a:rPr lang="en-US" sz="3600" b="true">
                <a:solidFill>
                  <a:srgbClr val="0B6E60"/>
                </a:solidFill>
                <a:latin typeface="Source Serif Pro Bold"/>
                <a:ea typeface="Source Serif Pro Bold"/>
                <a:cs typeface="Source Serif Pro Bold"/>
                <a:sym typeface="Source Serif Pro Bold"/>
              </a:rPr>
              <a:t>06</a:t>
            </a:r>
          </a:p>
        </p:txBody>
      </p:sp>
      <p:sp>
        <p:nvSpPr>
          <p:cNvPr name="TextBox 31" id="31"/>
          <p:cNvSpPr txBox="true"/>
          <p:nvPr/>
        </p:nvSpPr>
        <p:spPr>
          <a:xfrm rot="0">
            <a:off x="12330684" y="6926580"/>
            <a:ext cx="4183380" cy="1165860"/>
          </a:xfrm>
          <a:prstGeom prst="rect">
            <a:avLst/>
          </a:prstGeom>
        </p:spPr>
        <p:txBody>
          <a:bodyPr anchor="t" rtlCol="false" tIns="0" lIns="0" bIns="0" rIns="0">
            <a:spAutoFit/>
          </a:bodyPr>
          <a:lstStyle/>
          <a:p>
            <a:pPr algn="l">
              <a:lnSpc>
                <a:spcPts val="2160"/>
              </a:lnSpc>
            </a:pPr>
            <a:r>
              <a:rPr lang="en-US" sz="1800">
                <a:solidFill>
                  <a:srgbClr val="3F4B57"/>
                </a:solidFill>
                <a:latin typeface="IBM Plex Sans"/>
                <a:ea typeface="IBM Plex Sans"/>
                <a:cs typeface="IBM Plex Sans"/>
                <a:sym typeface="IBM Plex Sans"/>
              </a:rPr>
              <a:t>Reduce the routine use of human antibiotics in livestock</a:t>
            </a:r>
          </a:p>
        </p:txBody>
      </p:sp>
      <p:grpSp>
        <p:nvGrpSpPr>
          <p:cNvPr name="Group 32" id="32"/>
          <p:cNvGrpSpPr/>
          <p:nvPr/>
        </p:nvGrpSpPr>
        <p:grpSpPr>
          <a:xfrm rot="0">
            <a:off x="1220724" y="9354312"/>
            <a:ext cx="11658600" cy="356616"/>
            <a:chOff x="0" y="0"/>
            <a:chExt cx="15544800" cy="475488"/>
          </a:xfrm>
        </p:grpSpPr>
        <p:sp>
          <p:nvSpPr>
            <p:cNvPr name="Freeform 33" id="33"/>
            <p:cNvSpPr/>
            <p:nvPr/>
          </p:nvSpPr>
          <p:spPr>
            <a:xfrm flipH="false" flipV="false" rot="0">
              <a:off x="0" y="0"/>
              <a:ext cx="15544800" cy="475488"/>
            </a:xfrm>
            <a:custGeom>
              <a:avLst/>
              <a:gdLst/>
              <a:ahLst/>
              <a:cxnLst/>
              <a:rect r="r" b="b" t="t" l="l"/>
              <a:pathLst>
                <a:path h="475488" w="15544800">
                  <a:moveTo>
                    <a:pt x="0" y="0"/>
                  </a:moveTo>
                  <a:lnTo>
                    <a:pt x="15544800" y="0"/>
                  </a:lnTo>
                  <a:lnTo>
                    <a:pt x="15544800" y="475488"/>
                  </a:lnTo>
                  <a:lnTo>
                    <a:pt x="0" y="475488"/>
                  </a:lnTo>
                  <a:close/>
                </a:path>
              </a:pathLst>
            </a:custGeom>
            <a:blipFill>
              <a:blip r:embed="rId3">
                <a:alphaModFix amt="0"/>
              </a:blip>
              <a:stretch>
                <a:fillRect l="0" t="-587010" r="0" b="-587010"/>
              </a:stretch>
            </a:blipFill>
          </p:spPr>
        </p:sp>
        <p:sp>
          <p:nvSpPr>
            <p:cNvPr name="TextBox 34" id="34"/>
            <p:cNvSpPr txBox="true"/>
            <p:nvPr/>
          </p:nvSpPr>
          <p:spPr>
            <a:xfrm>
              <a:off x="0" y="0"/>
              <a:ext cx="15544800" cy="475488"/>
            </a:xfrm>
            <a:prstGeom prst="rect">
              <a:avLst/>
            </a:prstGeom>
          </p:spPr>
          <p:txBody>
            <a:bodyPr anchor="ctr" rtlCol="false" tIns="0" lIns="0" bIns="0" rIns="0"/>
            <a:lstStyle/>
            <a:p>
              <a:pPr algn="l">
                <a:lnSpc>
                  <a:spcPts val="1800"/>
                </a:lnSpc>
              </a:pPr>
              <a:r>
                <a:rPr lang="en-US" sz="1500">
                  <a:solidFill>
                    <a:srgbClr val="5B6770"/>
                  </a:solidFill>
                  <a:latin typeface="IBM Plex Sans"/>
                  <a:ea typeface="IBM Plex Sans"/>
                  <a:cs typeface="IBM Plex Sans"/>
                  <a:sym typeface="IBM Plex Sans"/>
                </a:rPr>
                <a:t>Preserving Our Medicines · Community Antibiotic Stewardship, Chakwal, Pakistan</a:t>
              </a:r>
            </a:p>
          </p:txBody>
        </p:sp>
      </p:grpSp>
      <p:grpSp>
        <p:nvGrpSpPr>
          <p:cNvPr name="Group 35" id="35"/>
          <p:cNvGrpSpPr/>
          <p:nvPr/>
        </p:nvGrpSpPr>
        <p:grpSpPr>
          <a:xfrm rot="0">
            <a:off x="15695219" y="9354312"/>
            <a:ext cx="1371600" cy="356616"/>
            <a:chOff x="0" y="0"/>
            <a:chExt cx="1828800" cy="475488"/>
          </a:xfrm>
        </p:grpSpPr>
        <p:sp>
          <p:nvSpPr>
            <p:cNvPr name="Freeform 36" id="36"/>
            <p:cNvSpPr/>
            <p:nvPr/>
          </p:nvSpPr>
          <p:spPr>
            <a:xfrm flipH="false" flipV="false" rot="0">
              <a:off x="0" y="0"/>
              <a:ext cx="1828800" cy="475488"/>
            </a:xfrm>
            <a:custGeom>
              <a:avLst/>
              <a:gdLst/>
              <a:ahLst/>
              <a:cxnLst/>
              <a:rect r="r" b="b" t="t" l="l"/>
              <a:pathLst>
                <a:path h="475488" w="1828800">
                  <a:moveTo>
                    <a:pt x="0" y="0"/>
                  </a:moveTo>
                  <a:lnTo>
                    <a:pt x="1828800" y="0"/>
                  </a:lnTo>
                  <a:lnTo>
                    <a:pt x="1828800" y="475488"/>
                  </a:lnTo>
                  <a:lnTo>
                    <a:pt x="0" y="475488"/>
                  </a:lnTo>
                  <a:close/>
                </a:path>
              </a:pathLst>
            </a:custGeom>
            <a:blipFill>
              <a:blip r:embed="rId3">
                <a:alphaModFix amt="0"/>
              </a:blip>
              <a:stretch>
                <a:fillRect l="0" t="-24942" r="0" b="-24942"/>
              </a:stretch>
            </a:blipFill>
          </p:spPr>
        </p:sp>
        <p:sp>
          <p:nvSpPr>
            <p:cNvPr name="TextBox 37" id="37"/>
            <p:cNvSpPr txBox="true"/>
            <p:nvPr/>
          </p:nvSpPr>
          <p:spPr>
            <a:xfrm>
              <a:off x="0" y="0"/>
              <a:ext cx="1828800" cy="475488"/>
            </a:xfrm>
            <a:prstGeom prst="rect">
              <a:avLst/>
            </a:prstGeom>
          </p:spPr>
          <p:txBody>
            <a:bodyPr anchor="ctr" rtlCol="false" tIns="0" lIns="0" bIns="0" rIns="0"/>
            <a:lstStyle/>
            <a:p>
              <a:pPr algn="r">
                <a:lnSpc>
                  <a:spcPts val="1800"/>
                </a:lnSpc>
              </a:pPr>
              <a:r>
                <a:rPr lang="en-US" sz="1500">
                  <a:solidFill>
                    <a:srgbClr val="5B6770"/>
                  </a:solidFill>
                  <a:latin typeface="IBM Plex Sans"/>
                  <a:ea typeface="IBM Plex Sans"/>
                  <a:cs typeface="IBM Plex Sans"/>
                  <a:sym typeface="IBM Plex Sans"/>
                </a:rPr>
                <a:t>5</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7F6F2"/>
        </a:solidFill>
      </p:bgPr>
    </p:bg>
    <p:spTree>
      <p:nvGrpSpPr>
        <p:cNvPr id="1" name=""/>
        <p:cNvGrpSpPr/>
        <p:nvPr/>
      </p:nvGrpSpPr>
      <p:grpSpPr>
        <a:xfrm>
          <a:off x="0" y="0"/>
          <a:ext cx="0" cy="0"/>
          <a:chOff x="0" y="0"/>
          <a:chExt cx="0" cy="0"/>
        </a:xfrm>
      </p:grpSpPr>
      <p:grpSp>
        <p:nvGrpSpPr>
          <p:cNvPr name="Group 2" id="2"/>
          <p:cNvGrpSpPr/>
          <p:nvPr/>
        </p:nvGrpSpPr>
        <p:grpSpPr>
          <a:xfrm rot="0">
            <a:off x="1220724" y="1124712"/>
            <a:ext cx="15846095" cy="384048"/>
            <a:chOff x="0" y="0"/>
            <a:chExt cx="21128126" cy="512064"/>
          </a:xfrm>
        </p:grpSpPr>
        <p:sp>
          <p:nvSpPr>
            <p:cNvPr name="Freeform 3" id="3"/>
            <p:cNvSpPr/>
            <p:nvPr/>
          </p:nvSpPr>
          <p:spPr>
            <a:xfrm flipH="false" flipV="false" rot="0">
              <a:off x="0" y="0"/>
              <a:ext cx="21128126" cy="512064"/>
            </a:xfrm>
            <a:custGeom>
              <a:avLst/>
              <a:gdLst/>
              <a:ahLst/>
              <a:cxnLst/>
              <a:rect r="r" b="b" t="t" l="l"/>
              <a:pathLst>
                <a:path h="512064" w="21128126">
                  <a:moveTo>
                    <a:pt x="0" y="0"/>
                  </a:moveTo>
                  <a:lnTo>
                    <a:pt x="21128126" y="0"/>
                  </a:lnTo>
                  <a:lnTo>
                    <a:pt x="21128126" y="512064"/>
                  </a:lnTo>
                  <a:lnTo>
                    <a:pt x="0" y="512064"/>
                  </a:lnTo>
                  <a:close/>
                </a:path>
              </a:pathLst>
            </a:custGeom>
            <a:blipFill>
              <a:blip r:embed="rId3">
                <a:alphaModFix amt="0"/>
              </a:blip>
              <a:stretch>
                <a:fillRect l="0" t="-753966" r="0" b="-753966"/>
              </a:stretch>
            </a:blipFill>
          </p:spPr>
        </p:sp>
        <p:sp>
          <p:nvSpPr>
            <p:cNvPr name="TextBox 4" id="4"/>
            <p:cNvSpPr txBox="true"/>
            <p:nvPr/>
          </p:nvSpPr>
          <p:spPr>
            <a:xfrm>
              <a:off x="0" y="0"/>
              <a:ext cx="21128126" cy="512064"/>
            </a:xfrm>
            <a:prstGeom prst="rect">
              <a:avLst/>
            </a:prstGeom>
          </p:spPr>
          <p:txBody>
            <a:bodyPr anchor="ctr" rtlCol="false" tIns="0" lIns="0" bIns="0" rIns="0"/>
            <a:lstStyle/>
            <a:p>
              <a:pPr algn="l">
                <a:lnSpc>
                  <a:spcPts val="1980"/>
                </a:lnSpc>
              </a:pPr>
              <a:r>
                <a:rPr lang="en-US" b="true" sz="1650" spc="299">
                  <a:solidFill>
                    <a:srgbClr val="0B6E60"/>
                  </a:solidFill>
                  <a:latin typeface="IBM Plex Sans Bold"/>
                  <a:ea typeface="IBM Plex Sans Bold"/>
                  <a:cs typeface="IBM Plex Sans Bold"/>
                  <a:sym typeface="IBM Plex Sans Bold"/>
                </a:rPr>
                <a:t>04 · BIOLOGICAL MECHANISM</a:t>
              </a:r>
            </a:p>
          </p:txBody>
        </p:sp>
      </p:grpSp>
      <p:grpSp>
        <p:nvGrpSpPr>
          <p:cNvPr name="Group 5" id="5"/>
          <p:cNvGrpSpPr/>
          <p:nvPr/>
        </p:nvGrpSpPr>
        <p:grpSpPr>
          <a:xfrm rot="0">
            <a:off x="1220724" y="1536192"/>
            <a:ext cx="15846095" cy="850392"/>
            <a:chOff x="0" y="0"/>
            <a:chExt cx="21128126" cy="1133856"/>
          </a:xfrm>
        </p:grpSpPr>
        <p:sp>
          <p:nvSpPr>
            <p:cNvPr name="Freeform 6" id="6"/>
            <p:cNvSpPr/>
            <p:nvPr/>
          </p:nvSpPr>
          <p:spPr>
            <a:xfrm flipH="false" flipV="false" rot="0">
              <a:off x="0" y="0"/>
              <a:ext cx="21128126" cy="1133856"/>
            </a:xfrm>
            <a:custGeom>
              <a:avLst/>
              <a:gdLst/>
              <a:ahLst/>
              <a:cxnLst/>
              <a:rect r="r" b="b" t="t" l="l"/>
              <a:pathLst>
                <a:path h="1133856" w="21128126">
                  <a:moveTo>
                    <a:pt x="0" y="0"/>
                  </a:moveTo>
                  <a:lnTo>
                    <a:pt x="21128126" y="0"/>
                  </a:lnTo>
                  <a:lnTo>
                    <a:pt x="21128126" y="1133856"/>
                  </a:lnTo>
                  <a:lnTo>
                    <a:pt x="0" y="1133856"/>
                  </a:lnTo>
                  <a:close/>
                </a:path>
              </a:pathLst>
            </a:custGeom>
            <a:blipFill>
              <a:blip r:embed="rId3">
                <a:alphaModFix amt="0"/>
              </a:blip>
              <a:stretch>
                <a:fillRect l="0" t="-313081" r="0" b="-313081"/>
              </a:stretch>
            </a:blipFill>
          </p:spPr>
        </p:sp>
        <p:sp>
          <p:nvSpPr>
            <p:cNvPr name="TextBox 7" id="7"/>
            <p:cNvSpPr txBox="true"/>
            <p:nvPr/>
          </p:nvSpPr>
          <p:spPr>
            <a:xfrm>
              <a:off x="0" y="0"/>
              <a:ext cx="21128126" cy="1133856"/>
            </a:xfrm>
            <a:prstGeom prst="rect">
              <a:avLst/>
            </a:prstGeom>
          </p:spPr>
          <p:txBody>
            <a:bodyPr anchor="ctr" rtlCol="false" tIns="0" lIns="0" bIns="0" rIns="0"/>
            <a:lstStyle/>
            <a:p>
              <a:pPr algn="l">
                <a:lnSpc>
                  <a:spcPts val="5400"/>
                </a:lnSpc>
              </a:pPr>
              <a:r>
                <a:rPr lang="en-US" sz="4500" b="true">
                  <a:solidFill>
                    <a:srgbClr val="14304A"/>
                  </a:solidFill>
                  <a:latin typeface="Source Serif Pro Bold"/>
                  <a:ea typeface="Source Serif Pro Bold"/>
                  <a:cs typeface="Source Serif Pro Bold"/>
                  <a:sym typeface="Source Serif Pro Bold"/>
                </a:rPr>
                <a:t>How bacterial resistance spreads</a:t>
              </a:r>
            </a:p>
          </p:txBody>
        </p:sp>
      </p:grpSp>
      <p:grpSp>
        <p:nvGrpSpPr>
          <p:cNvPr name="Group 8" id="8"/>
          <p:cNvGrpSpPr/>
          <p:nvPr/>
        </p:nvGrpSpPr>
        <p:grpSpPr>
          <a:xfrm rot="0">
            <a:off x="1213580" y="3147536"/>
            <a:ext cx="4746308" cy="3580447"/>
            <a:chOff x="0" y="0"/>
            <a:chExt cx="6328410" cy="4773930"/>
          </a:xfrm>
        </p:grpSpPr>
        <p:sp>
          <p:nvSpPr>
            <p:cNvPr name="Freeform 9" id="9"/>
            <p:cNvSpPr/>
            <p:nvPr/>
          </p:nvSpPr>
          <p:spPr>
            <a:xfrm flipH="false" flipV="false" rot="0">
              <a:off x="0" y="0"/>
              <a:ext cx="6328410" cy="4773930"/>
            </a:xfrm>
            <a:custGeom>
              <a:avLst/>
              <a:gdLst/>
              <a:ahLst/>
              <a:cxnLst/>
              <a:rect r="r" b="b" t="t" l="l"/>
              <a:pathLst>
                <a:path h="4773930" w="6328410">
                  <a:moveTo>
                    <a:pt x="0" y="146939"/>
                  </a:moveTo>
                  <a:cubicBezTo>
                    <a:pt x="0" y="65786"/>
                    <a:pt x="65786" y="0"/>
                    <a:pt x="146939" y="0"/>
                  </a:cubicBezTo>
                  <a:lnTo>
                    <a:pt x="6181471" y="0"/>
                  </a:lnTo>
                  <a:cubicBezTo>
                    <a:pt x="6262624" y="0"/>
                    <a:pt x="6328410" y="65786"/>
                    <a:pt x="6328410" y="146939"/>
                  </a:cubicBezTo>
                  <a:lnTo>
                    <a:pt x="6328410" y="4626991"/>
                  </a:lnTo>
                  <a:cubicBezTo>
                    <a:pt x="6328410" y="4708144"/>
                    <a:pt x="6262624" y="4773930"/>
                    <a:pt x="6181471" y="4773930"/>
                  </a:cubicBezTo>
                  <a:lnTo>
                    <a:pt x="146939" y="4773930"/>
                  </a:lnTo>
                  <a:cubicBezTo>
                    <a:pt x="65786" y="4773930"/>
                    <a:pt x="0" y="4708144"/>
                    <a:pt x="0" y="4626991"/>
                  </a:cubicBezTo>
                  <a:close/>
                </a:path>
              </a:pathLst>
            </a:custGeom>
            <a:solidFill>
              <a:srgbClr val="FDFDFB"/>
            </a:solidFill>
            <a:ln w="14288" cap="sq">
              <a:solidFill>
                <a:srgbClr val="D3DCD9"/>
              </a:solidFill>
              <a:prstDash val="solid"/>
              <a:miter/>
            </a:ln>
          </p:spPr>
        </p:sp>
      </p:grpSp>
      <p:sp>
        <p:nvSpPr>
          <p:cNvPr name="TextBox 10" id="10"/>
          <p:cNvSpPr txBox="true"/>
          <p:nvPr/>
        </p:nvSpPr>
        <p:spPr>
          <a:xfrm rot="0">
            <a:off x="1700784" y="3507105"/>
            <a:ext cx="1371600" cy="676275"/>
          </a:xfrm>
          <a:prstGeom prst="rect">
            <a:avLst/>
          </a:prstGeom>
        </p:spPr>
        <p:txBody>
          <a:bodyPr anchor="t" rtlCol="false" tIns="0" lIns="0" bIns="0" rIns="0">
            <a:spAutoFit/>
          </a:bodyPr>
          <a:lstStyle/>
          <a:p>
            <a:pPr algn="l">
              <a:lnSpc>
                <a:spcPts val="4320"/>
              </a:lnSpc>
            </a:pPr>
            <a:r>
              <a:rPr lang="en-US" sz="3600" b="true">
                <a:solidFill>
                  <a:srgbClr val="0B6E60"/>
                </a:solidFill>
                <a:latin typeface="Source Serif Pro Bold"/>
                <a:ea typeface="Source Serif Pro Bold"/>
                <a:cs typeface="Source Serif Pro Bold"/>
                <a:sym typeface="Source Serif Pro Bold"/>
              </a:rPr>
              <a:t>01</a:t>
            </a:r>
          </a:p>
        </p:txBody>
      </p:sp>
      <p:sp>
        <p:nvSpPr>
          <p:cNvPr name="TextBox 11" id="11"/>
          <p:cNvSpPr txBox="true"/>
          <p:nvPr/>
        </p:nvSpPr>
        <p:spPr>
          <a:xfrm rot="0">
            <a:off x="1700784" y="4251960"/>
            <a:ext cx="3840480" cy="548640"/>
          </a:xfrm>
          <a:prstGeom prst="rect">
            <a:avLst/>
          </a:prstGeom>
        </p:spPr>
        <p:txBody>
          <a:bodyPr anchor="t" rtlCol="false" tIns="0" lIns="0" bIns="0" rIns="0">
            <a:spAutoFit/>
          </a:bodyPr>
          <a:lstStyle/>
          <a:p>
            <a:pPr algn="l">
              <a:lnSpc>
                <a:spcPts val="2700"/>
              </a:lnSpc>
            </a:pPr>
            <a:r>
              <a:rPr lang="en-US" sz="2250" b="true">
                <a:solidFill>
                  <a:srgbClr val="14304A"/>
                </a:solidFill>
                <a:latin typeface="IBM Plex Sans Bold"/>
                <a:ea typeface="IBM Plex Sans Bold"/>
                <a:cs typeface="IBM Plex Sans Bold"/>
                <a:sym typeface="IBM Plex Sans Bold"/>
              </a:rPr>
              <a:t>Viral misuse</a:t>
            </a:r>
          </a:p>
        </p:txBody>
      </p:sp>
      <p:sp>
        <p:nvSpPr>
          <p:cNvPr name="TextBox 12" id="12"/>
          <p:cNvSpPr txBox="true"/>
          <p:nvPr/>
        </p:nvSpPr>
        <p:spPr>
          <a:xfrm rot="0">
            <a:off x="1700784" y="4869180"/>
            <a:ext cx="3840480" cy="1645920"/>
          </a:xfrm>
          <a:prstGeom prst="rect">
            <a:avLst/>
          </a:prstGeom>
        </p:spPr>
        <p:txBody>
          <a:bodyPr anchor="t" rtlCol="false" tIns="0" lIns="0" bIns="0" rIns="0">
            <a:spAutoFit/>
          </a:bodyPr>
          <a:lstStyle/>
          <a:p>
            <a:pPr algn="l">
              <a:lnSpc>
                <a:spcPts val="2070"/>
              </a:lnSpc>
            </a:pPr>
            <a:r>
              <a:rPr lang="en-US" sz="1725">
                <a:solidFill>
                  <a:srgbClr val="3F4B57"/>
                </a:solidFill>
                <a:latin typeface="IBM Plex Sans"/>
                <a:ea typeface="IBM Plex Sans"/>
                <a:cs typeface="IBM Plex Sans"/>
                <a:sym typeface="IBM Plex Sans"/>
              </a:rPr>
              <a:t>Antibiotics are taken for flu or seasonal viral fevers, where they cannot work. Bacteria in the body are exposed for no reason.</a:t>
            </a:r>
          </a:p>
        </p:txBody>
      </p:sp>
      <p:grpSp>
        <p:nvGrpSpPr>
          <p:cNvPr name="Group 13" id="13"/>
          <p:cNvGrpSpPr/>
          <p:nvPr/>
        </p:nvGrpSpPr>
        <p:grpSpPr>
          <a:xfrm rot="0">
            <a:off x="6080379" y="4653915"/>
            <a:ext cx="567690" cy="567690"/>
            <a:chOff x="0" y="0"/>
            <a:chExt cx="756920" cy="756920"/>
          </a:xfrm>
        </p:grpSpPr>
        <p:sp>
          <p:nvSpPr>
            <p:cNvPr name="Freeform 14" id="14"/>
            <p:cNvSpPr/>
            <p:nvPr/>
          </p:nvSpPr>
          <p:spPr>
            <a:xfrm flipH="false" flipV="false" rot="0">
              <a:off x="0" y="0"/>
              <a:ext cx="756920" cy="756920"/>
            </a:xfrm>
            <a:custGeom>
              <a:avLst/>
              <a:gdLst/>
              <a:ahLst/>
              <a:cxnLst/>
              <a:rect r="r" b="b" t="t" l="l"/>
              <a:pathLst>
                <a:path h="756920" w="756920">
                  <a:moveTo>
                    <a:pt x="0" y="189230"/>
                  </a:moveTo>
                  <a:lnTo>
                    <a:pt x="378460" y="189230"/>
                  </a:lnTo>
                  <a:lnTo>
                    <a:pt x="378460" y="0"/>
                  </a:lnTo>
                  <a:lnTo>
                    <a:pt x="756920" y="378460"/>
                  </a:lnTo>
                  <a:lnTo>
                    <a:pt x="378460" y="756920"/>
                  </a:lnTo>
                  <a:lnTo>
                    <a:pt x="378460" y="567690"/>
                  </a:lnTo>
                  <a:lnTo>
                    <a:pt x="0" y="567690"/>
                  </a:lnTo>
                  <a:close/>
                </a:path>
              </a:pathLst>
            </a:custGeom>
            <a:solidFill>
              <a:srgbClr val="A9C3C8"/>
            </a:solidFill>
            <a:ln w="19050" cap="sq">
              <a:solidFill>
                <a:srgbClr val="A9C3C8"/>
              </a:solidFill>
              <a:prstDash val="solid"/>
              <a:miter/>
            </a:ln>
          </p:spPr>
        </p:sp>
      </p:grpSp>
      <p:grpSp>
        <p:nvGrpSpPr>
          <p:cNvPr name="Group 15" id="15"/>
          <p:cNvGrpSpPr/>
          <p:nvPr/>
        </p:nvGrpSpPr>
        <p:grpSpPr>
          <a:xfrm rot="0">
            <a:off x="6768560" y="3147536"/>
            <a:ext cx="4746308" cy="3580447"/>
            <a:chOff x="0" y="0"/>
            <a:chExt cx="6328410" cy="4773930"/>
          </a:xfrm>
        </p:grpSpPr>
        <p:sp>
          <p:nvSpPr>
            <p:cNvPr name="Freeform 16" id="16"/>
            <p:cNvSpPr/>
            <p:nvPr/>
          </p:nvSpPr>
          <p:spPr>
            <a:xfrm flipH="false" flipV="false" rot="0">
              <a:off x="0" y="0"/>
              <a:ext cx="6328410" cy="4773930"/>
            </a:xfrm>
            <a:custGeom>
              <a:avLst/>
              <a:gdLst/>
              <a:ahLst/>
              <a:cxnLst/>
              <a:rect r="r" b="b" t="t" l="l"/>
              <a:pathLst>
                <a:path h="4773930" w="6328410">
                  <a:moveTo>
                    <a:pt x="0" y="146939"/>
                  </a:moveTo>
                  <a:cubicBezTo>
                    <a:pt x="0" y="65786"/>
                    <a:pt x="65786" y="0"/>
                    <a:pt x="146939" y="0"/>
                  </a:cubicBezTo>
                  <a:lnTo>
                    <a:pt x="6181471" y="0"/>
                  </a:lnTo>
                  <a:cubicBezTo>
                    <a:pt x="6262624" y="0"/>
                    <a:pt x="6328410" y="65786"/>
                    <a:pt x="6328410" y="146939"/>
                  </a:cubicBezTo>
                  <a:lnTo>
                    <a:pt x="6328410" y="4626991"/>
                  </a:lnTo>
                  <a:cubicBezTo>
                    <a:pt x="6328410" y="4708144"/>
                    <a:pt x="6262624" y="4773930"/>
                    <a:pt x="6181471" y="4773930"/>
                  </a:cubicBezTo>
                  <a:lnTo>
                    <a:pt x="146939" y="4773930"/>
                  </a:lnTo>
                  <a:cubicBezTo>
                    <a:pt x="65786" y="4773930"/>
                    <a:pt x="0" y="4708144"/>
                    <a:pt x="0" y="4626991"/>
                  </a:cubicBezTo>
                  <a:close/>
                </a:path>
              </a:pathLst>
            </a:custGeom>
            <a:solidFill>
              <a:srgbClr val="FDFDFB"/>
            </a:solidFill>
            <a:ln w="14288" cap="sq">
              <a:solidFill>
                <a:srgbClr val="D3DCD9"/>
              </a:solidFill>
              <a:prstDash val="solid"/>
              <a:miter/>
            </a:ln>
          </p:spPr>
        </p:sp>
      </p:grpSp>
      <p:sp>
        <p:nvSpPr>
          <p:cNvPr name="TextBox 17" id="17"/>
          <p:cNvSpPr txBox="true"/>
          <p:nvPr/>
        </p:nvSpPr>
        <p:spPr>
          <a:xfrm rot="0">
            <a:off x="7255764" y="3507105"/>
            <a:ext cx="1371600" cy="676275"/>
          </a:xfrm>
          <a:prstGeom prst="rect">
            <a:avLst/>
          </a:prstGeom>
        </p:spPr>
        <p:txBody>
          <a:bodyPr anchor="t" rtlCol="false" tIns="0" lIns="0" bIns="0" rIns="0">
            <a:spAutoFit/>
          </a:bodyPr>
          <a:lstStyle/>
          <a:p>
            <a:pPr algn="l">
              <a:lnSpc>
                <a:spcPts val="4320"/>
              </a:lnSpc>
            </a:pPr>
            <a:r>
              <a:rPr lang="en-US" sz="3600" b="true">
                <a:solidFill>
                  <a:srgbClr val="0B6E60"/>
                </a:solidFill>
                <a:latin typeface="Source Serif Pro Bold"/>
                <a:ea typeface="Source Serif Pro Bold"/>
                <a:cs typeface="Source Serif Pro Bold"/>
                <a:sym typeface="Source Serif Pro Bold"/>
              </a:rPr>
              <a:t>02</a:t>
            </a:r>
          </a:p>
        </p:txBody>
      </p:sp>
      <p:sp>
        <p:nvSpPr>
          <p:cNvPr name="TextBox 18" id="18"/>
          <p:cNvSpPr txBox="true"/>
          <p:nvPr/>
        </p:nvSpPr>
        <p:spPr>
          <a:xfrm rot="0">
            <a:off x="7255764" y="4251960"/>
            <a:ext cx="3840480" cy="548640"/>
          </a:xfrm>
          <a:prstGeom prst="rect">
            <a:avLst/>
          </a:prstGeom>
        </p:spPr>
        <p:txBody>
          <a:bodyPr anchor="t" rtlCol="false" tIns="0" lIns="0" bIns="0" rIns="0">
            <a:spAutoFit/>
          </a:bodyPr>
          <a:lstStyle/>
          <a:p>
            <a:pPr algn="l">
              <a:lnSpc>
                <a:spcPts val="2700"/>
              </a:lnSpc>
            </a:pPr>
            <a:r>
              <a:rPr lang="en-US" sz="2250" b="true">
                <a:solidFill>
                  <a:srgbClr val="14304A"/>
                </a:solidFill>
                <a:latin typeface="IBM Plex Sans Bold"/>
                <a:ea typeface="IBM Plex Sans Bold"/>
                <a:cs typeface="IBM Plex Sans Bold"/>
                <a:sym typeface="IBM Plex Sans Bold"/>
              </a:rPr>
              <a:t>Early cessation</a:t>
            </a:r>
          </a:p>
        </p:txBody>
      </p:sp>
      <p:sp>
        <p:nvSpPr>
          <p:cNvPr name="TextBox 19" id="19"/>
          <p:cNvSpPr txBox="true"/>
          <p:nvPr/>
        </p:nvSpPr>
        <p:spPr>
          <a:xfrm rot="0">
            <a:off x="7255764" y="4869180"/>
            <a:ext cx="3840480" cy="1645920"/>
          </a:xfrm>
          <a:prstGeom prst="rect">
            <a:avLst/>
          </a:prstGeom>
        </p:spPr>
        <p:txBody>
          <a:bodyPr anchor="t" rtlCol="false" tIns="0" lIns="0" bIns="0" rIns="0">
            <a:spAutoFit/>
          </a:bodyPr>
          <a:lstStyle/>
          <a:p>
            <a:pPr algn="l">
              <a:lnSpc>
                <a:spcPts val="2070"/>
              </a:lnSpc>
            </a:pPr>
            <a:r>
              <a:rPr lang="en-US" sz="1725">
                <a:solidFill>
                  <a:srgbClr val="3F4B57"/>
                </a:solidFill>
                <a:latin typeface="IBM Plex Sans"/>
                <a:ea typeface="IBM Plex Sans"/>
                <a:cs typeface="IBM Plex Sans"/>
                <a:sym typeface="IBM Plex Sans"/>
              </a:rPr>
              <a:t>The course is stopped as soon as symptoms ease. The weakest bacteria die; the toughest survive.</a:t>
            </a:r>
          </a:p>
        </p:txBody>
      </p:sp>
      <p:grpSp>
        <p:nvGrpSpPr>
          <p:cNvPr name="Group 20" id="20"/>
          <p:cNvGrpSpPr/>
          <p:nvPr/>
        </p:nvGrpSpPr>
        <p:grpSpPr>
          <a:xfrm rot="0">
            <a:off x="11635359" y="4653915"/>
            <a:ext cx="567690" cy="567690"/>
            <a:chOff x="0" y="0"/>
            <a:chExt cx="756920" cy="756920"/>
          </a:xfrm>
        </p:grpSpPr>
        <p:sp>
          <p:nvSpPr>
            <p:cNvPr name="Freeform 21" id="21"/>
            <p:cNvSpPr/>
            <p:nvPr/>
          </p:nvSpPr>
          <p:spPr>
            <a:xfrm flipH="false" flipV="false" rot="0">
              <a:off x="0" y="0"/>
              <a:ext cx="756920" cy="756920"/>
            </a:xfrm>
            <a:custGeom>
              <a:avLst/>
              <a:gdLst/>
              <a:ahLst/>
              <a:cxnLst/>
              <a:rect r="r" b="b" t="t" l="l"/>
              <a:pathLst>
                <a:path h="756920" w="756920">
                  <a:moveTo>
                    <a:pt x="0" y="189230"/>
                  </a:moveTo>
                  <a:lnTo>
                    <a:pt x="378460" y="189230"/>
                  </a:lnTo>
                  <a:lnTo>
                    <a:pt x="378460" y="0"/>
                  </a:lnTo>
                  <a:lnTo>
                    <a:pt x="756920" y="378460"/>
                  </a:lnTo>
                  <a:lnTo>
                    <a:pt x="378460" y="756920"/>
                  </a:lnTo>
                  <a:lnTo>
                    <a:pt x="378460" y="567690"/>
                  </a:lnTo>
                  <a:lnTo>
                    <a:pt x="0" y="567690"/>
                  </a:lnTo>
                  <a:close/>
                </a:path>
              </a:pathLst>
            </a:custGeom>
            <a:solidFill>
              <a:srgbClr val="A9C3C8"/>
            </a:solidFill>
            <a:ln w="19050" cap="sq">
              <a:solidFill>
                <a:srgbClr val="A9C3C8"/>
              </a:solidFill>
              <a:prstDash val="solid"/>
              <a:miter/>
            </a:ln>
          </p:spPr>
        </p:sp>
      </p:grpSp>
      <p:grpSp>
        <p:nvGrpSpPr>
          <p:cNvPr name="Group 22" id="22"/>
          <p:cNvGrpSpPr/>
          <p:nvPr/>
        </p:nvGrpSpPr>
        <p:grpSpPr>
          <a:xfrm rot="0">
            <a:off x="12323540" y="3147536"/>
            <a:ext cx="4746308" cy="3580447"/>
            <a:chOff x="0" y="0"/>
            <a:chExt cx="6328410" cy="4773930"/>
          </a:xfrm>
        </p:grpSpPr>
        <p:sp>
          <p:nvSpPr>
            <p:cNvPr name="Freeform 23" id="23"/>
            <p:cNvSpPr/>
            <p:nvPr/>
          </p:nvSpPr>
          <p:spPr>
            <a:xfrm flipH="false" flipV="false" rot="0">
              <a:off x="0" y="0"/>
              <a:ext cx="6328410" cy="4773930"/>
            </a:xfrm>
            <a:custGeom>
              <a:avLst/>
              <a:gdLst/>
              <a:ahLst/>
              <a:cxnLst/>
              <a:rect r="r" b="b" t="t" l="l"/>
              <a:pathLst>
                <a:path h="4773930" w="6328410">
                  <a:moveTo>
                    <a:pt x="0" y="146939"/>
                  </a:moveTo>
                  <a:cubicBezTo>
                    <a:pt x="0" y="65786"/>
                    <a:pt x="65786" y="0"/>
                    <a:pt x="146939" y="0"/>
                  </a:cubicBezTo>
                  <a:lnTo>
                    <a:pt x="6181471" y="0"/>
                  </a:lnTo>
                  <a:cubicBezTo>
                    <a:pt x="6262624" y="0"/>
                    <a:pt x="6328410" y="65786"/>
                    <a:pt x="6328410" y="146939"/>
                  </a:cubicBezTo>
                  <a:lnTo>
                    <a:pt x="6328410" y="4626991"/>
                  </a:lnTo>
                  <a:cubicBezTo>
                    <a:pt x="6328410" y="4708144"/>
                    <a:pt x="6262624" y="4773930"/>
                    <a:pt x="6181471" y="4773930"/>
                  </a:cubicBezTo>
                  <a:lnTo>
                    <a:pt x="146939" y="4773930"/>
                  </a:lnTo>
                  <a:cubicBezTo>
                    <a:pt x="65786" y="4773930"/>
                    <a:pt x="0" y="4708144"/>
                    <a:pt x="0" y="4626991"/>
                  </a:cubicBezTo>
                  <a:close/>
                </a:path>
              </a:pathLst>
            </a:custGeom>
            <a:solidFill>
              <a:srgbClr val="FDFDFB"/>
            </a:solidFill>
            <a:ln w="14288" cap="sq">
              <a:solidFill>
                <a:srgbClr val="D3DCD9"/>
              </a:solidFill>
              <a:prstDash val="solid"/>
              <a:miter/>
            </a:ln>
          </p:spPr>
        </p:sp>
      </p:grpSp>
      <p:sp>
        <p:nvSpPr>
          <p:cNvPr name="TextBox 24" id="24"/>
          <p:cNvSpPr txBox="true"/>
          <p:nvPr/>
        </p:nvSpPr>
        <p:spPr>
          <a:xfrm rot="0">
            <a:off x="12810744" y="3507105"/>
            <a:ext cx="1371600" cy="676275"/>
          </a:xfrm>
          <a:prstGeom prst="rect">
            <a:avLst/>
          </a:prstGeom>
        </p:spPr>
        <p:txBody>
          <a:bodyPr anchor="t" rtlCol="false" tIns="0" lIns="0" bIns="0" rIns="0">
            <a:spAutoFit/>
          </a:bodyPr>
          <a:lstStyle/>
          <a:p>
            <a:pPr algn="l">
              <a:lnSpc>
                <a:spcPts val="4320"/>
              </a:lnSpc>
            </a:pPr>
            <a:r>
              <a:rPr lang="en-US" sz="3600" b="true">
                <a:solidFill>
                  <a:srgbClr val="C0392B"/>
                </a:solidFill>
                <a:latin typeface="Source Serif Pro Bold"/>
                <a:ea typeface="Source Serif Pro Bold"/>
                <a:cs typeface="Source Serif Pro Bold"/>
                <a:sym typeface="Source Serif Pro Bold"/>
              </a:rPr>
              <a:t>03</a:t>
            </a:r>
          </a:p>
        </p:txBody>
      </p:sp>
      <p:sp>
        <p:nvSpPr>
          <p:cNvPr name="TextBox 25" id="25"/>
          <p:cNvSpPr txBox="true"/>
          <p:nvPr/>
        </p:nvSpPr>
        <p:spPr>
          <a:xfrm rot="0">
            <a:off x="12810744" y="4251960"/>
            <a:ext cx="3840480" cy="548640"/>
          </a:xfrm>
          <a:prstGeom prst="rect">
            <a:avLst/>
          </a:prstGeom>
        </p:spPr>
        <p:txBody>
          <a:bodyPr anchor="t" rtlCol="false" tIns="0" lIns="0" bIns="0" rIns="0">
            <a:spAutoFit/>
          </a:bodyPr>
          <a:lstStyle/>
          <a:p>
            <a:pPr algn="l">
              <a:lnSpc>
                <a:spcPts val="2700"/>
              </a:lnSpc>
            </a:pPr>
            <a:r>
              <a:rPr lang="en-US" sz="2250" b="true">
                <a:solidFill>
                  <a:srgbClr val="14304A"/>
                </a:solidFill>
                <a:latin typeface="IBM Plex Sans Bold"/>
                <a:ea typeface="IBM Plex Sans Bold"/>
                <a:cs typeface="IBM Plex Sans Bold"/>
                <a:sym typeface="IBM Plex Sans Bold"/>
              </a:rPr>
              <a:t>Mutation &amp; spread</a:t>
            </a:r>
          </a:p>
        </p:txBody>
      </p:sp>
      <p:sp>
        <p:nvSpPr>
          <p:cNvPr name="TextBox 26" id="26"/>
          <p:cNvSpPr txBox="true"/>
          <p:nvPr/>
        </p:nvSpPr>
        <p:spPr>
          <a:xfrm rot="0">
            <a:off x="12810744" y="4869180"/>
            <a:ext cx="3840480" cy="1645920"/>
          </a:xfrm>
          <a:prstGeom prst="rect">
            <a:avLst/>
          </a:prstGeom>
        </p:spPr>
        <p:txBody>
          <a:bodyPr anchor="t" rtlCol="false" tIns="0" lIns="0" bIns="0" rIns="0">
            <a:spAutoFit/>
          </a:bodyPr>
          <a:lstStyle/>
          <a:p>
            <a:pPr algn="l">
              <a:lnSpc>
                <a:spcPts val="2070"/>
              </a:lnSpc>
            </a:pPr>
            <a:r>
              <a:rPr lang="en-US" sz="1725">
                <a:solidFill>
                  <a:srgbClr val="3F4B57"/>
                </a:solidFill>
                <a:latin typeface="IBM Plex Sans"/>
                <a:ea typeface="IBM Plex Sans"/>
                <a:cs typeface="IBM Plex Sans"/>
                <a:sym typeface="IBM Plex Sans"/>
              </a:rPr>
              <a:t>Surviving germs mutate, multiply and transmit across households, and the medicine stops working for everyone.</a:t>
            </a:r>
          </a:p>
        </p:txBody>
      </p:sp>
      <p:grpSp>
        <p:nvGrpSpPr>
          <p:cNvPr name="Group 27" id="27"/>
          <p:cNvGrpSpPr/>
          <p:nvPr/>
        </p:nvGrpSpPr>
        <p:grpSpPr>
          <a:xfrm rot="0">
            <a:off x="1211199" y="7259955"/>
            <a:ext cx="15865145" cy="1322070"/>
            <a:chOff x="0" y="0"/>
            <a:chExt cx="21153526" cy="1762760"/>
          </a:xfrm>
        </p:grpSpPr>
        <p:sp>
          <p:nvSpPr>
            <p:cNvPr name="Freeform 28" id="28"/>
            <p:cNvSpPr/>
            <p:nvPr/>
          </p:nvSpPr>
          <p:spPr>
            <a:xfrm flipH="false" flipV="false" rot="0">
              <a:off x="0" y="0"/>
              <a:ext cx="21153501" cy="1762760"/>
            </a:xfrm>
            <a:custGeom>
              <a:avLst/>
              <a:gdLst/>
              <a:ahLst/>
              <a:cxnLst/>
              <a:rect r="r" b="b" t="t" l="l"/>
              <a:pathLst>
                <a:path h="1762760" w="21153501">
                  <a:moveTo>
                    <a:pt x="0" y="148463"/>
                  </a:moveTo>
                  <a:cubicBezTo>
                    <a:pt x="0" y="66421"/>
                    <a:pt x="66421" y="0"/>
                    <a:pt x="148463" y="0"/>
                  </a:cubicBezTo>
                  <a:lnTo>
                    <a:pt x="21005037" y="0"/>
                  </a:lnTo>
                  <a:cubicBezTo>
                    <a:pt x="21087079" y="0"/>
                    <a:pt x="21153501" y="66421"/>
                    <a:pt x="21153501" y="148463"/>
                  </a:cubicBezTo>
                  <a:lnTo>
                    <a:pt x="21153501" y="1614297"/>
                  </a:lnTo>
                  <a:cubicBezTo>
                    <a:pt x="21153501" y="1696339"/>
                    <a:pt x="21087079" y="1762760"/>
                    <a:pt x="21005037" y="1762760"/>
                  </a:cubicBezTo>
                  <a:lnTo>
                    <a:pt x="148463" y="1762760"/>
                  </a:lnTo>
                  <a:cubicBezTo>
                    <a:pt x="66421" y="1762760"/>
                    <a:pt x="0" y="1696339"/>
                    <a:pt x="0" y="1614297"/>
                  </a:cubicBezTo>
                  <a:close/>
                </a:path>
              </a:pathLst>
            </a:custGeom>
            <a:solidFill>
              <a:srgbClr val="14304A"/>
            </a:solidFill>
            <a:ln w="19050" cap="sq">
              <a:solidFill>
                <a:srgbClr val="14304A"/>
              </a:solidFill>
              <a:prstDash val="solid"/>
              <a:miter/>
            </a:ln>
          </p:spPr>
        </p:sp>
      </p:grpSp>
      <p:sp>
        <p:nvSpPr>
          <p:cNvPr name="TextBox 29" id="29"/>
          <p:cNvSpPr txBox="true"/>
          <p:nvPr/>
        </p:nvSpPr>
        <p:spPr>
          <a:xfrm rot="0">
            <a:off x="1700784" y="7465695"/>
            <a:ext cx="2743200" cy="352425"/>
          </a:xfrm>
          <a:prstGeom prst="rect">
            <a:avLst/>
          </a:prstGeom>
        </p:spPr>
        <p:txBody>
          <a:bodyPr anchor="t" rtlCol="false" tIns="0" lIns="0" bIns="0" rIns="0">
            <a:spAutoFit/>
          </a:bodyPr>
          <a:lstStyle/>
          <a:p>
            <a:pPr algn="l">
              <a:lnSpc>
                <a:spcPts val="1709"/>
              </a:lnSpc>
            </a:pPr>
            <a:r>
              <a:rPr lang="en-US" b="true" sz="1425" spc="299">
                <a:solidFill>
                  <a:srgbClr val="7FD1C0"/>
                </a:solidFill>
                <a:latin typeface="IBM Plex Sans Bold"/>
                <a:ea typeface="IBM Plex Sans Bold"/>
                <a:cs typeface="IBM Plex Sans Bold"/>
                <a:sym typeface="IBM Plex Sans Bold"/>
              </a:rPr>
              <a:t>KEY MESSAGE</a:t>
            </a:r>
          </a:p>
        </p:txBody>
      </p:sp>
      <p:sp>
        <p:nvSpPr>
          <p:cNvPr name="TextBox 30" id="30"/>
          <p:cNvSpPr txBox="true"/>
          <p:nvPr/>
        </p:nvSpPr>
        <p:spPr>
          <a:xfrm rot="0">
            <a:off x="1700784" y="7845552"/>
            <a:ext cx="14885975" cy="617220"/>
          </a:xfrm>
          <a:prstGeom prst="rect">
            <a:avLst/>
          </a:prstGeom>
        </p:spPr>
        <p:txBody>
          <a:bodyPr anchor="t" rtlCol="false" tIns="0" lIns="0" bIns="0" rIns="0">
            <a:spAutoFit/>
          </a:bodyPr>
          <a:lstStyle/>
          <a:p>
            <a:pPr algn="l">
              <a:lnSpc>
                <a:spcPts val="2160"/>
              </a:lnSpc>
            </a:pPr>
            <a:r>
              <a:rPr lang="en-US" sz="1800">
                <a:solidFill>
                  <a:srgbClr val="FFFFFF"/>
                </a:solidFill>
                <a:latin typeface="IBM Plex Sans"/>
                <a:ea typeface="IBM Plex Sans"/>
                <a:cs typeface="IBM Plex Sans"/>
                <a:sym typeface="IBM Plex Sans"/>
              </a:rPr>
              <a:t>Resistance is not something your body develops. It is the bacteria that become immune, and resistant bacteria spread from person to person.</a:t>
            </a:r>
          </a:p>
        </p:txBody>
      </p:sp>
      <p:grpSp>
        <p:nvGrpSpPr>
          <p:cNvPr name="Group 31" id="31"/>
          <p:cNvGrpSpPr/>
          <p:nvPr/>
        </p:nvGrpSpPr>
        <p:grpSpPr>
          <a:xfrm rot="0">
            <a:off x="1220724" y="9354312"/>
            <a:ext cx="11658600" cy="356616"/>
            <a:chOff x="0" y="0"/>
            <a:chExt cx="15544800" cy="475488"/>
          </a:xfrm>
        </p:grpSpPr>
        <p:sp>
          <p:nvSpPr>
            <p:cNvPr name="Freeform 32" id="32"/>
            <p:cNvSpPr/>
            <p:nvPr/>
          </p:nvSpPr>
          <p:spPr>
            <a:xfrm flipH="false" flipV="false" rot="0">
              <a:off x="0" y="0"/>
              <a:ext cx="15544800" cy="475488"/>
            </a:xfrm>
            <a:custGeom>
              <a:avLst/>
              <a:gdLst/>
              <a:ahLst/>
              <a:cxnLst/>
              <a:rect r="r" b="b" t="t" l="l"/>
              <a:pathLst>
                <a:path h="475488" w="15544800">
                  <a:moveTo>
                    <a:pt x="0" y="0"/>
                  </a:moveTo>
                  <a:lnTo>
                    <a:pt x="15544800" y="0"/>
                  </a:lnTo>
                  <a:lnTo>
                    <a:pt x="15544800" y="475488"/>
                  </a:lnTo>
                  <a:lnTo>
                    <a:pt x="0" y="475488"/>
                  </a:lnTo>
                  <a:close/>
                </a:path>
              </a:pathLst>
            </a:custGeom>
            <a:blipFill>
              <a:blip r:embed="rId3">
                <a:alphaModFix amt="0"/>
              </a:blip>
              <a:stretch>
                <a:fillRect l="0" t="-587010" r="0" b="-587010"/>
              </a:stretch>
            </a:blipFill>
          </p:spPr>
        </p:sp>
        <p:sp>
          <p:nvSpPr>
            <p:cNvPr name="TextBox 33" id="33"/>
            <p:cNvSpPr txBox="true"/>
            <p:nvPr/>
          </p:nvSpPr>
          <p:spPr>
            <a:xfrm>
              <a:off x="0" y="0"/>
              <a:ext cx="15544800" cy="475488"/>
            </a:xfrm>
            <a:prstGeom prst="rect">
              <a:avLst/>
            </a:prstGeom>
          </p:spPr>
          <p:txBody>
            <a:bodyPr anchor="ctr" rtlCol="false" tIns="0" lIns="0" bIns="0" rIns="0"/>
            <a:lstStyle/>
            <a:p>
              <a:pPr algn="l">
                <a:lnSpc>
                  <a:spcPts val="1800"/>
                </a:lnSpc>
              </a:pPr>
              <a:r>
                <a:rPr lang="en-US" sz="1500">
                  <a:solidFill>
                    <a:srgbClr val="5B6770"/>
                  </a:solidFill>
                  <a:latin typeface="IBM Plex Sans"/>
                  <a:ea typeface="IBM Plex Sans"/>
                  <a:cs typeface="IBM Plex Sans"/>
                  <a:sym typeface="IBM Plex Sans"/>
                </a:rPr>
                <a:t>Preserving Our Medicines · Community Antibiotic Stewardship, Chakwal, Pakistan</a:t>
              </a:r>
            </a:p>
          </p:txBody>
        </p:sp>
      </p:grpSp>
      <p:grpSp>
        <p:nvGrpSpPr>
          <p:cNvPr name="Group 34" id="34"/>
          <p:cNvGrpSpPr/>
          <p:nvPr/>
        </p:nvGrpSpPr>
        <p:grpSpPr>
          <a:xfrm rot="0">
            <a:off x="15695219" y="9354312"/>
            <a:ext cx="1371600" cy="356616"/>
            <a:chOff x="0" y="0"/>
            <a:chExt cx="1828800" cy="475488"/>
          </a:xfrm>
        </p:grpSpPr>
        <p:sp>
          <p:nvSpPr>
            <p:cNvPr name="Freeform 35" id="35"/>
            <p:cNvSpPr/>
            <p:nvPr/>
          </p:nvSpPr>
          <p:spPr>
            <a:xfrm flipH="false" flipV="false" rot="0">
              <a:off x="0" y="0"/>
              <a:ext cx="1828800" cy="475488"/>
            </a:xfrm>
            <a:custGeom>
              <a:avLst/>
              <a:gdLst/>
              <a:ahLst/>
              <a:cxnLst/>
              <a:rect r="r" b="b" t="t" l="l"/>
              <a:pathLst>
                <a:path h="475488" w="1828800">
                  <a:moveTo>
                    <a:pt x="0" y="0"/>
                  </a:moveTo>
                  <a:lnTo>
                    <a:pt x="1828800" y="0"/>
                  </a:lnTo>
                  <a:lnTo>
                    <a:pt x="1828800" y="475488"/>
                  </a:lnTo>
                  <a:lnTo>
                    <a:pt x="0" y="475488"/>
                  </a:lnTo>
                  <a:close/>
                </a:path>
              </a:pathLst>
            </a:custGeom>
            <a:blipFill>
              <a:blip r:embed="rId3">
                <a:alphaModFix amt="0"/>
              </a:blip>
              <a:stretch>
                <a:fillRect l="0" t="-24942" r="0" b="-24942"/>
              </a:stretch>
            </a:blipFill>
          </p:spPr>
        </p:sp>
        <p:sp>
          <p:nvSpPr>
            <p:cNvPr name="TextBox 36" id="36"/>
            <p:cNvSpPr txBox="true"/>
            <p:nvPr/>
          </p:nvSpPr>
          <p:spPr>
            <a:xfrm>
              <a:off x="0" y="0"/>
              <a:ext cx="1828800" cy="475488"/>
            </a:xfrm>
            <a:prstGeom prst="rect">
              <a:avLst/>
            </a:prstGeom>
          </p:spPr>
          <p:txBody>
            <a:bodyPr anchor="ctr" rtlCol="false" tIns="0" lIns="0" bIns="0" rIns="0"/>
            <a:lstStyle/>
            <a:p>
              <a:pPr algn="r">
                <a:lnSpc>
                  <a:spcPts val="1800"/>
                </a:lnSpc>
              </a:pPr>
              <a:r>
                <a:rPr lang="en-US" sz="1500">
                  <a:solidFill>
                    <a:srgbClr val="5B6770"/>
                  </a:solidFill>
                  <a:latin typeface="IBM Plex Sans"/>
                  <a:ea typeface="IBM Plex Sans"/>
                  <a:cs typeface="IBM Plex Sans"/>
                  <a:sym typeface="IBM Plex Sans"/>
                </a:rPr>
                <a:t>6</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7F6F2"/>
        </a:solidFill>
      </p:bgPr>
    </p:bg>
    <p:spTree>
      <p:nvGrpSpPr>
        <p:cNvPr id="1" name=""/>
        <p:cNvGrpSpPr/>
        <p:nvPr/>
      </p:nvGrpSpPr>
      <p:grpSpPr>
        <a:xfrm>
          <a:off x="0" y="0"/>
          <a:ext cx="0" cy="0"/>
          <a:chOff x="0" y="0"/>
          <a:chExt cx="0" cy="0"/>
        </a:xfrm>
      </p:grpSpPr>
      <p:grpSp>
        <p:nvGrpSpPr>
          <p:cNvPr name="Group 2" id="2"/>
          <p:cNvGrpSpPr/>
          <p:nvPr/>
        </p:nvGrpSpPr>
        <p:grpSpPr>
          <a:xfrm rot="0">
            <a:off x="1220724" y="1124712"/>
            <a:ext cx="15846095" cy="384048"/>
            <a:chOff x="0" y="0"/>
            <a:chExt cx="21128126" cy="512064"/>
          </a:xfrm>
        </p:grpSpPr>
        <p:sp>
          <p:nvSpPr>
            <p:cNvPr name="Freeform 3" id="3"/>
            <p:cNvSpPr/>
            <p:nvPr/>
          </p:nvSpPr>
          <p:spPr>
            <a:xfrm flipH="false" flipV="false" rot="0">
              <a:off x="0" y="0"/>
              <a:ext cx="21128126" cy="512064"/>
            </a:xfrm>
            <a:custGeom>
              <a:avLst/>
              <a:gdLst/>
              <a:ahLst/>
              <a:cxnLst/>
              <a:rect r="r" b="b" t="t" l="l"/>
              <a:pathLst>
                <a:path h="512064" w="21128126">
                  <a:moveTo>
                    <a:pt x="0" y="0"/>
                  </a:moveTo>
                  <a:lnTo>
                    <a:pt x="21128126" y="0"/>
                  </a:lnTo>
                  <a:lnTo>
                    <a:pt x="21128126" y="512064"/>
                  </a:lnTo>
                  <a:lnTo>
                    <a:pt x="0" y="512064"/>
                  </a:lnTo>
                  <a:close/>
                </a:path>
              </a:pathLst>
            </a:custGeom>
            <a:blipFill>
              <a:blip r:embed="rId3">
                <a:alphaModFix amt="0"/>
              </a:blip>
              <a:stretch>
                <a:fillRect l="0" t="-753966" r="0" b="-753966"/>
              </a:stretch>
            </a:blipFill>
          </p:spPr>
        </p:sp>
        <p:sp>
          <p:nvSpPr>
            <p:cNvPr name="TextBox 4" id="4"/>
            <p:cNvSpPr txBox="true"/>
            <p:nvPr/>
          </p:nvSpPr>
          <p:spPr>
            <a:xfrm>
              <a:off x="0" y="0"/>
              <a:ext cx="21128126" cy="512064"/>
            </a:xfrm>
            <a:prstGeom prst="rect">
              <a:avLst/>
            </a:prstGeom>
          </p:spPr>
          <p:txBody>
            <a:bodyPr anchor="ctr" rtlCol="false" tIns="0" lIns="0" bIns="0" rIns="0"/>
            <a:lstStyle/>
            <a:p>
              <a:pPr algn="l">
                <a:lnSpc>
                  <a:spcPts val="1980"/>
                </a:lnSpc>
              </a:pPr>
              <a:r>
                <a:rPr lang="en-US" b="true" sz="1650" spc="299">
                  <a:solidFill>
                    <a:srgbClr val="0B6E60"/>
                  </a:solidFill>
                  <a:latin typeface="IBM Plex Sans Bold"/>
                  <a:ea typeface="IBM Plex Sans Bold"/>
                  <a:cs typeface="IBM Plex Sans Bold"/>
                  <a:sym typeface="IBM Plex Sans Bold"/>
                </a:rPr>
                <a:t>05 · LOCAL DIAGNOSTICS</a:t>
              </a:r>
            </a:p>
          </p:txBody>
        </p:sp>
      </p:grpSp>
      <p:grpSp>
        <p:nvGrpSpPr>
          <p:cNvPr name="Group 5" id="5"/>
          <p:cNvGrpSpPr/>
          <p:nvPr/>
        </p:nvGrpSpPr>
        <p:grpSpPr>
          <a:xfrm rot="0">
            <a:off x="1220724" y="1536192"/>
            <a:ext cx="15846095" cy="850392"/>
            <a:chOff x="0" y="0"/>
            <a:chExt cx="21128126" cy="1133856"/>
          </a:xfrm>
        </p:grpSpPr>
        <p:sp>
          <p:nvSpPr>
            <p:cNvPr name="Freeform 6" id="6"/>
            <p:cNvSpPr/>
            <p:nvPr/>
          </p:nvSpPr>
          <p:spPr>
            <a:xfrm flipH="false" flipV="false" rot="0">
              <a:off x="0" y="0"/>
              <a:ext cx="21128126" cy="1133856"/>
            </a:xfrm>
            <a:custGeom>
              <a:avLst/>
              <a:gdLst/>
              <a:ahLst/>
              <a:cxnLst/>
              <a:rect r="r" b="b" t="t" l="l"/>
              <a:pathLst>
                <a:path h="1133856" w="21128126">
                  <a:moveTo>
                    <a:pt x="0" y="0"/>
                  </a:moveTo>
                  <a:lnTo>
                    <a:pt x="21128126" y="0"/>
                  </a:lnTo>
                  <a:lnTo>
                    <a:pt x="21128126" y="1133856"/>
                  </a:lnTo>
                  <a:lnTo>
                    <a:pt x="0" y="1133856"/>
                  </a:lnTo>
                  <a:close/>
                </a:path>
              </a:pathLst>
            </a:custGeom>
            <a:blipFill>
              <a:blip r:embed="rId3">
                <a:alphaModFix amt="0"/>
              </a:blip>
              <a:stretch>
                <a:fillRect l="0" t="-313081" r="0" b="-313081"/>
              </a:stretch>
            </a:blipFill>
          </p:spPr>
        </p:sp>
        <p:sp>
          <p:nvSpPr>
            <p:cNvPr name="TextBox 7" id="7"/>
            <p:cNvSpPr txBox="true"/>
            <p:nvPr/>
          </p:nvSpPr>
          <p:spPr>
            <a:xfrm>
              <a:off x="0" y="0"/>
              <a:ext cx="21128126" cy="1133856"/>
            </a:xfrm>
            <a:prstGeom prst="rect">
              <a:avLst/>
            </a:prstGeom>
          </p:spPr>
          <p:txBody>
            <a:bodyPr anchor="ctr" rtlCol="false" tIns="0" lIns="0" bIns="0" rIns="0"/>
            <a:lstStyle/>
            <a:p>
              <a:pPr algn="l">
                <a:lnSpc>
                  <a:spcPts val="5400"/>
                </a:lnSpc>
              </a:pPr>
              <a:r>
                <a:rPr lang="en-US" sz="4500" b="true">
                  <a:solidFill>
                    <a:srgbClr val="14304A"/>
                  </a:solidFill>
                  <a:latin typeface="Source Serif Pro Bold"/>
                  <a:ea typeface="Source Serif Pro Bold"/>
                  <a:cs typeface="Source Serif Pro Bold"/>
                  <a:sym typeface="Source Serif Pro Bold"/>
                </a:rPr>
                <a:t>Key drivers of misuse in rural communities</a:t>
              </a:r>
            </a:p>
          </p:txBody>
        </p:sp>
      </p:grpSp>
      <p:grpSp>
        <p:nvGrpSpPr>
          <p:cNvPr name="Group 8" id="8"/>
          <p:cNvGrpSpPr/>
          <p:nvPr/>
        </p:nvGrpSpPr>
        <p:grpSpPr>
          <a:xfrm rot="0">
            <a:off x="1213580" y="2873216"/>
            <a:ext cx="7763828" cy="2620328"/>
            <a:chOff x="0" y="0"/>
            <a:chExt cx="10351770" cy="3493770"/>
          </a:xfrm>
        </p:grpSpPr>
        <p:sp>
          <p:nvSpPr>
            <p:cNvPr name="Freeform 9" id="9"/>
            <p:cNvSpPr/>
            <p:nvPr/>
          </p:nvSpPr>
          <p:spPr>
            <a:xfrm flipH="false" flipV="false" rot="0">
              <a:off x="0" y="0"/>
              <a:ext cx="10351770" cy="3493770"/>
            </a:xfrm>
            <a:custGeom>
              <a:avLst/>
              <a:gdLst/>
              <a:ahLst/>
              <a:cxnLst/>
              <a:rect r="r" b="b" t="t" l="l"/>
              <a:pathLst>
                <a:path h="3493770" w="10351770">
                  <a:moveTo>
                    <a:pt x="0" y="147066"/>
                  </a:moveTo>
                  <a:cubicBezTo>
                    <a:pt x="0" y="65913"/>
                    <a:pt x="65913" y="0"/>
                    <a:pt x="147066" y="0"/>
                  </a:cubicBezTo>
                  <a:lnTo>
                    <a:pt x="10204704" y="0"/>
                  </a:lnTo>
                  <a:cubicBezTo>
                    <a:pt x="10285985" y="0"/>
                    <a:pt x="10351770" y="65913"/>
                    <a:pt x="10351770" y="147066"/>
                  </a:cubicBezTo>
                  <a:lnTo>
                    <a:pt x="10351770" y="3346704"/>
                  </a:lnTo>
                  <a:cubicBezTo>
                    <a:pt x="10351770" y="3427984"/>
                    <a:pt x="10285857" y="3493770"/>
                    <a:pt x="10204704" y="3493770"/>
                  </a:cubicBezTo>
                  <a:lnTo>
                    <a:pt x="147066" y="3493770"/>
                  </a:lnTo>
                  <a:cubicBezTo>
                    <a:pt x="65913" y="3493770"/>
                    <a:pt x="0" y="3427857"/>
                    <a:pt x="0" y="3346704"/>
                  </a:cubicBezTo>
                  <a:close/>
                </a:path>
              </a:pathLst>
            </a:custGeom>
            <a:solidFill>
              <a:srgbClr val="FDFDFB"/>
            </a:solidFill>
            <a:ln w="14288" cap="sq">
              <a:solidFill>
                <a:srgbClr val="D3DCD9"/>
              </a:solidFill>
              <a:prstDash val="solid"/>
              <a:miter/>
            </a:ln>
          </p:spPr>
        </p:sp>
      </p:grpSp>
      <p:grpSp>
        <p:nvGrpSpPr>
          <p:cNvPr name="Group 10" id="10"/>
          <p:cNvGrpSpPr/>
          <p:nvPr/>
        </p:nvGrpSpPr>
        <p:grpSpPr>
          <a:xfrm rot="0">
            <a:off x="1691259" y="3350895"/>
            <a:ext cx="979170" cy="979170"/>
            <a:chOff x="0" y="0"/>
            <a:chExt cx="1305560" cy="1305560"/>
          </a:xfrm>
        </p:grpSpPr>
        <p:sp>
          <p:nvSpPr>
            <p:cNvPr name="Freeform 11" id="11"/>
            <p:cNvSpPr/>
            <p:nvPr/>
          </p:nvSpPr>
          <p:spPr>
            <a:xfrm flipH="false" flipV="false" rot="0">
              <a:off x="0" y="0"/>
              <a:ext cx="1305560" cy="1305560"/>
            </a:xfrm>
            <a:custGeom>
              <a:avLst/>
              <a:gdLst/>
              <a:ahLst/>
              <a:cxnLst/>
              <a:rect r="r" b="b" t="t" l="l"/>
              <a:pathLst>
                <a:path h="1305560" w="1305560">
                  <a:moveTo>
                    <a:pt x="0" y="223774"/>
                  </a:moveTo>
                  <a:cubicBezTo>
                    <a:pt x="0" y="100203"/>
                    <a:pt x="100203" y="0"/>
                    <a:pt x="223774" y="0"/>
                  </a:cubicBezTo>
                  <a:lnTo>
                    <a:pt x="1081786" y="0"/>
                  </a:lnTo>
                  <a:cubicBezTo>
                    <a:pt x="1205357" y="0"/>
                    <a:pt x="1305560" y="100203"/>
                    <a:pt x="1305560" y="223774"/>
                  </a:cubicBezTo>
                  <a:lnTo>
                    <a:pt x="1305560" y="1081786"/>
                  </a:lnTo>
                  <a:cubicBezTo>
                    <a:pt x="1305560" y="1205357"/>
                    <a:pt x="1205357" y="1305560"/>
                    <a:pt x="1081786" y="1305560"/>
                  </a:cubicBezTo>
                  <a:lnTo>
                    <a:pt x="223774" y="1305560"/>
                  </a:lnTo>
                  <a:cubicBezTo>
                    <a:pt x="100203" y="1305560"/>
                    <a:pt x="0" y="1205357"/>
                    <a:pt x="0" y="1081786"/>
                  </a:cubicBezTo>
                  <a:close/>
                </a:path>
              </a:pathLst>
            </a:custGeom>
            <a:solidFill>
              <a:srgbClr val="EAF0EE"/>
            </a:solidFill>
            <a:ln w="19050" cap="sq">
              <a:solidFill>
                <a:srgbClr val="EAF0EE"/>
              </a:solidFill>
              <a:prstDash val="solid"/>
              <a:miter/>
            </a:ln>
          </p:spPr>
        </p:sp>
      </p:grpSp>
      <p:grpSp>
        <p:nvGrpSpPr>
          <p:cNvPr name="Group 12" id="12"/>
          <p:cNvGrpSpPr/>
          <p:nvPr/>
        </p:nvGrpSpPr>
        <p:grpSpPr>
          <a:xfrm rot="0">
            <a:off x="1947672" y="3607308"/>
            <a:ext cx="466344" cy="466344"/>
            <a:chOff x="0" y="0"/>
            <a:chExt cx="621792" cy="621792"/>
          </a:xfrm>
        </p:grpSpPr>
        <p:sp>
          <p:nvSpPr>
            <p:cNvPr name="Freeform 13" id="13" descr="preencoded.png"/>
            <p:cNvSpPr/>
            <p:nvPr/>
          </p:nvSpPr>
          <p:spPr>
            <a:xfrm flipH="false" flipV="false" rot="0">
              <a:off x="0" y="0"/>
              <a:ext cx="621792" cy="621792"/>
            </a:xfrm>
            <a:custGeom>
              <a:avLst/>
              <a:gdLst/>
              <a:ahLst/>
              <a:cxnLst/>
              <a:rect r="r" b="b" t="t" l="l"/>
              <a:pathLst>
                <a:path h="621792" w="621792">
                  <a:moveTo>
                    <a:pt x="0" y="0"/>
                  </a:moveTo>
                  <a:lnTo>
                    <a:pt x="621792" y="0"/>
                  </a:lnTo>
                  <a:lnTo>
                    <a:pt x="621792" y="621792"/>
                  </a:lnTo>
                  <a:lnTo>
                    <a:pt x="0" y="621792"/>
                  </a:lnTo>
                  <a:lnTo>
                    <a:pt x="0" y="0"/>
                  </a:lnTo>
                  <a:close/>
                </a:path>
              </a:pathLst>
            </a:custGeom>
            <a:blipFill>
              <a:blip r:embed="rId4"/>
              <a:stretch>
                <a:fillRect l="0" t="0" r="0" b="0"/>
              </a:stretch>
            </a:blipFill>
          </p:spPr>
        </p:sp>
      </p:grpSp>
      <p:sp>
        <p:nvSpPr>
          <p:cNvPr name="TextBox 14" id="14"/>
          <p:cNvSpPr txBox="true"/>
          <p:nvPr/>
        </p:nvSpPr>
        <p:spPr>
          <a:xfrm rot="0">
            <a:off x="3003804" y="3360420"/>
            <a:ext cx="5623560" cy="548640"/>
          </a:xfrm>
          <a:prstGeom prst="rect">
            <a:avLst/>
          </a:prstGeom>
        </p:spPr>
        <p:txBody>
          <a:bodyPr anchor="t" rtlCol="false" tIns="0" lIns="0" bIns="0" rIns="0">
            <a:spAutoFit/>
          </a:bodyPr>
          <a:lstStyle/>
          <a:p>
            <a:pPr algn="l">
              <a:lnSpc>
                <a:spcPts val="2700"/>
              </a:lnSpc>
            </a:pPr>
            <a:r>
              <a:rPr lang="en-US" sz="2250" b="true">
                <a:solidFill>
                  <a:srgbClr val="14304A"/>
                </a:solidFill>
                <a:latin typeface="IBM Plex Sans Bold"/>
                <a:ea typeface="IBM Plex Sans Bold"/>
                <a:cs typeface="IBM Plex Sans Bold"/>
                <a:sym typeface="IBM Plex Sans Bold"/>
              </a:rPr>
              <a:t>OTC purchasing</a:t>
            </a:r>
          </a:p>
        </p:txBody>
      </p:sp>
      <p:sp>
        <p:nvSpPr>
          <p:cNvPr name="TextBox 15" id="15"/>
          <p:cNvSpPr txBox="true"/>
          <p:nvPr/>
        </p:nvSpPr>
        <p:spPr>
          <a:xfrm rot="0">
            <a:off x="3003804" y="3977640"/>
            <a:ext cx="5623560" cy="1303020"/>
          </a:xfrm>
          <a:prstGeom prst="rect">
            <a:avLst/>
          </a:prstGeom>
        </p:spPr>
        <p:txBody>
          <a:bodyPr anchor="t" rtlCol="false" tIns="0" lIns="0" bIns="0" rIns="0">
            <a:spAutoFit/>
          </a:bodyPr>
          <a:lstStyle/>
          <a:p>
            <a:pPr algn="l">
              <a:lnSpc>
                <a:spcPts val="2070"/>
              </a:lnSpc>
            </a:pPr>
            <a:r>
              <a:rPr lang="en-US" sz="1725">
                <a:solidFill>
                  <a:srgbClr val="3F4B57"/>
                </a:solidFill>
                <a:latin typeface="IBM Plex Sans"/>
                <a:ea typeface="IBM Plex Sans"/>
                <a:cs typeface="IBM Plex Sans"/>
                <a:sym typeface="IBM Plex Sans"/>
              </a:rPr>
              <a:t>Buying prescription antibiotics at shops and dispensaries without any medical diagnosis.</a:t>
            </a:r>
          </a:p>
        </p:txBody>
      </p:sp>
      <p:grpSp>
        <p:nvGrpSpPr>
          <p:cNvPr name="Group 16" id="16"/>
          <p:cNvGrpSpPr/>
          <p:nvPr/>
        </p:nvGrpSpPr>
        <p:grpSpPr>
          <a:xfrm rot="0">
            <a:off x="9306020" y="2873216"/>
            <a:ext cx="7763828" cy="2620328"/>
            <a:chOff x="0" y="0"/>
            <a:chExt cx="10351770" cy="3493770"/>
          </a:xfrm>
        </p:grpSpPr>
        <p:sp>
          <p:nvSpPr>
            <p:cNvPr name="Freeform 17" id="17"/>
            <p:cNvSpPr/>
            <p:nvPr/>
          </p:nvSpPr>
          <p:spPr>
            <a:xfrm flipH="false" flipV="false" rot="0">
              <a:off x="0" y="0"/>
              <a:ext cx="10351770" cy="3493770"/>
            </a:xfrm>
            <a:custGeom>
              <a:avLst/>
              <a:gdLst/>
              <a:ahLst/>
              <a:cxnLst/>
              <a:rect r="r" b="b" t="t" l="l"/>
              <a:pathLst>
                <a:path h="3493770" w="10351770">
                  <a:moveTo>
                    <a:pt x="0" y="147066"/>
                  </a:moveTo>
                  <a:cubicBezTo>
                    <a:pt x="0" y="65913"/>
                    <a:pt x="65913" y="0"/>
                    <a:pt x="147066" y="0"/>
                  </a:cubicBezTo>
                  <a:lnTo>
                    <a:pt x="10204704" y="0"/>
                  </a:lnTo>
                  <a:cubicBezTo>
                    <a:pt x="10285985" y="0"/>
                    <a:pt x="10351770" y="65913"/>
                    <a:pt x="10351770" y="147066"/>
                  </a:cubicBezTo>
                  <a:lnTo>
                    <a:pt x="10351770" y="3346704"/>
                  </a:lnTo>
                  <a:cubicBezTo>
                    <a:pt x="10351770" y="3427984"/>
                    <a:pt x="10285857" y="3493770"/>
                    <a:pt x="10204704" y="3493770"/>
                  </a:cubicBezTo>
                  <a:lnTo>
                    <a:pt x="147066" y="3493770"/>
                  </a:lnTo>
                  <a:cubicBezTo>
                    <a:pt x="65913" y="3493770"/>
                    <a:pt x="0" y="3427857"/>
                    <a:pt x="0" y="3346704"/>
                  </a:cubicBezTo>
                  <a:close/>
                </a:path>
              </a:pathLst>
            </a:custGeom>
            <a:solidFill>
              <a:srgbClr val="FDFDFB"/>
            </a:solidFill>
            <a:ln w="14288" cap="sq">
              <a:solidFill>
                <a:srgbClr val="D3DCD9"/>
              </a:solidFill>
              <a:prstDash val="solid"/>
              <a:miter/>
            </a:ln>
          </p:spPr>
        </p:sp>
      </p:grpSp>
      <p:grpSp>
        <p:nvGrpSpPr>
          <p:cNvPr name="Group 18" id="18"/>
          <p:cNvGrpSpPr/>
          <p:nvPr/>
        </p:nvGrpSpPr>
        <p:grpSpPr>
          <a:xfrm rot="0">
            <a:off x="9783699" y="3350895"/>
            <a:ext cx="979170" cy="979170"/>
            <a:chOff x="0" y="0"/>
            <a:chExt cx="1305560" cy="1305560"/>
          </a:xfrm>
        </p:grpSpPr>
        <p:sp>
          <p:nvSpPr>
            <p:cNvPr name="Freeform 19" id="19"/>
            <p:cNvSpPr/>
            <p:nvPr/>
          </p:nvSpPr>
          <p:spPr>
            <a:xfrm flipH="false" flipV="false" rot="0">
              <a:off x="0" y="0"/>
              <a:ext cx="1305560" cy="1305560"/>
            </a:xfrm>
            <a:custGeom>
              <a:avLst/>
              <a:gdLst/>
              <a:ahLst/>
              <a:cxnLst/>
              <a:rect r="r" b="b" t="t" l="l"/>
              <a:pathLst>
                <a:path h="1305560" w="1305560">
                  <a:moveTo>
                    <a:pt x="0" y="223774"/>
                  </a:moveTo>
                  <a:cubicBezTo>
                    <a:pt x="0" y="100203"/>
                    <a:pt x="100203" y="0"/>
                    <a:pt x="223774" y="0"/>
                  </a:cubicBezTo>
                  <a:lnTo>
                    <a:pt x="1081786" y="0"/>
                  </a:lnTo>
                  <a:cubicBezTo>
                    <a:pt x="1205357" y="0"/>
                    <a:pt x="1305560" y="100203"/>
                    <a:pt x="1305560" y="223774"/>
                  </a:cubicBezTo>
                  <a:lnTo>
                    <a:pt x="1305560" y="1081786"/>
                  </a:lnTo>
                  <a:cubicBezTo>
                    <a:pt x="1305560" y="1205357"/>
                    <a:pt x="1205357" y="1305560"/>
                    <a:pt x="1081786" y="1305560"/>
                  </a:cubicBezTo>
                  <a:lnTo>
                    <a:pt x="223774" y="1305560"/>
                  </a:lnTo>
                  <a:cubicBezTo>
                    <a:pt x="100203" y="1305560"/>
                    <a:pt x="0" y="1205357"/>
                    <a:pt x="0" y="1081786"/>
                  </a:cubicBezTo>
                  <a:close/>
                </a:path>
              </a:pathLst>
            </a:custGeom>
            <a:solidFill>
              <a:srgbClr val="EAF0EE"/>
            </a:solidFill>
            <a:ln w="19050" cap="sq">
              <a:solidFill>
                <a:srgbClr val="EAF0EE"/>
              </a:solidFill>
              <a:prstDash val="solid"/>
              <a:miter/>
            </a:ln>
          </p:spPr>
        </p:sp>
      </p:grpSp>
      <p:grpSp>
        <p:nvGrpSpPr>
          <p:cNvPr name="Group 20" id="20"/>
          <p:cNvGrpSpPr/>
          <p:nvPr/>
        </p:nvGrpSpPr>
        <p:grpSpPr>
          <a:xfrm rot="0">
            <a:off x="10040112" y="3607308"/>
            <a:ext cx="466344" cy="466344"/>
            <a:chOff x="0" y="0"/>
            <a:chExt cx="621792" cy="621792"/>
          </a:xfrm>
        </p:grpSpPr>
        <p:sp>
          <p:nvSpPr>
            <p:cNvPr name="Freeform 21" id="21" descr="preencoded.png"/>
            <p:cNvSpPr/>
            <p:nvPr/>
          </p:nvSpPr>
          <p:spPr>
            <a:xfrm flipH="false" flipV="false" rot="0">
              <a:off x="0" y="0"/>
              <a:ext cx="621792" cy="621792"/>
            </a:xfrm>
            <a:custGeom>
              <a:avLst/>
              <a:gdLst/>
              <a:ahLst/>
              <a:cxnLst/>
              <a:rect r="r" b="b" t="t" l="l"/>
              <a:pathLst>
                <a:path h="621792" w="621792">
                  <a:moveTo>
                    <a:pt x="0" y="0"/>
                  </a:moveTo>
                  <a:lnTo>
                    <a:pt x="621792" y="0"/>
                  </a:lnTo>
                  <a:lnTo>
                    <a:pt x="621792" y="621792"/>
                  </a:lnTo>
                  <a:lnTo>
                    <a:pt x="0" y="621792"/>
                  </a:lnTo>
                  <a:lnTo>
                    <a:pt x="0" y="0"/>
                  </a:lnTo>
                  <a:close/>
                </a:path>
              </a:pathLst>
            </a:custGeom>
            <a:blipFill>
              <a:blip r:embed="rId5"/>
              <a:stretch>
                <a:fillRect l="0" t="0" r="0" b="0"/>
              </a:stretch>
            </a:blipFill>
          </p:spPr>
        </p:sp>
      </p:grpSp>
      <p:sp>
        <p:nvSpPr>
          <p:cNvPr name="TextBox 22" id="22"/>
          <p:cNvSpPr txBox="true"/>
          <p:nvPr/>
        </p:nvSpPr>
        <p:spPr>
          <a:xfrm rot="0">
            <a:off x="11096244" y="3360420"/>
            <a:ext cx="5623560" cy="548640"/>
          </a:xfrm>
          <a:prstGeom prst="rect">
            <a:avLst/>
          </a:prstGeom>
        </p:spPr>
        <p:txBody>
          <a:bodyPr anchor="t" rtlCol="false" tIns="0" lIns="0" bIns="0" rIns="0">
            <a:spAutoFit/>
          </a:bodyPr>
          <a:lstStyle/>
          <a:p>
            <a:pPr algn="l">
              <a:lnSpc>
                <a:spcPts val="2700"/>
              </a:lnSpc>
            </a:pPr>
            <a:r>
              <a:rPr lang="en-US" sz="2250" b="true">
                <a:solidFill>
                  <a:srgbClr val="14304A"/>
                </a:solidFill>
                <a:latin typeface="IBM Plex Sans Bold"/>
                <a:ea typeface="IBM Plex Sans Bold"/>
                <a:cs typeface="IBM Plex Sans Bold"/>
                <a:sym typeface="IBM Plex Sans Bold"/>
              </a:rPr>
              <a:t>Shared doses</a:t>
            </a:r>
          </a:p>
        </p:txBody>
      </p:sp>
      <p:sp>
        <p:nvSpPr>
          <p:cNvPr name="TextBox 23" id="23"/>
          <p:cNvSpPr txBox="true"/>
          <p:nvPr/>
        </p:nvSpPr>
        <p:spPr>
          <a:xfrm rot="0">
            <a:off x="11096244" y="3977640"/>
            <a:ext cx="5623560" cy="1303020"/>
          </a:xfrm>
          <a:prstGeom prst="rect">
            <a:avLst/>
          </a:prstGeom>
        </p:spPr>
        <p:txBody>
          <a:bodyPr anchor="t" rtlCol="false" tIns="0" lIns="0" bIns="0" rIns="0">
            <a:spAutoFit/>
          </a:bodyPr>
          <a:lstStyle/>
          <a:p>
            <a:pPr algn="l">
              <a:lnSpc>
                <a:spcPts val="2070"/>
              </a:lnSpc>
            </a:pPr>
            <a:r>
              <a:rPr lang="en-US" sz="1725">
                <a:solidFill>
                  <a:srgbClr val="3F4B57"/>
                </a:solidFill>
                <a:latin typeface="IBM Plex Sans"/>
                <a:ea typeface="IBM Plex Sans"/>
                <a:cs typeface="IBM Plex Sans"/>
                <a:sym typeface="IBM Plex Sans"/>
              </a:rPr>
              <a:t>Passing leftover pills to sick family members and neighbours.</a:t>
            </a:r>
          </a:p>
        </p:txBody>
      </p:sp>
      <p:grpSp>
        <p:nvGrpSpPr>
          <p:cNvPr name="Group 24" id="24"/>
          <p:cNvGrpSpPr/>
          <p:nvPr/>
        </p:nvGrpSpPr>
        <p:grpSpPr>
          <a:xfrm rot="0">
            <a:off x="1213580" y="5822156"/>
            <a:ext cx="7763828" cy="2620328"/>
            <a:chOff x="0" y="0"/>
            <a:chExt cx="10351770" cy="3493770"/>
          </a:xfrm>
        </p:grpSpPr>
        <p:sp>
          <p:nvSpPr>
            <p:cNvPr name="Freeform 25" id="25"/>
            <p:cNvSpPr/>
            <p:nvPr/>
          </p:nvSpPr>
          <p:spPr>
            <a:xfrm flipH="false" flipV="false" rot="0">
              <a:off x="0" y="0"/>
              <a:ext cx="10351770" cy="3493770"/>
            </a:xfrm>
            <a:custGeom>
              <a:avLst/>
              <a:gdLst/>
              <a:ahLst/>
              <a:cxnLst/>
              <a:rect r="r" b="b" t="t" l="l"/>
              <a:pathLst>
                <a:path h="3493770" w="10351770">
                  <a:moveTo>
                    <a:pt x="0" y="147066"/>
                  </a:moveTo>
                  <a:cubicBezTo>
                    <a:pt x="0" y="65913"/>
                    <a:pt x="65913" y="0"/>
                    <a:pt x="147066" y="0"/>
                  </a:cubicBezTo>
                  <a:lnTo>
                    <a:pt x="10204704" y="0"/>
                  </a:lnTo>
                  <a:cubicBezTo>
                    <a:pt x="10285985" y="0"/>
                    <a:pt x="10351770" y="65913"/>
                    <a:pt x="10351770" y="147066"/>
                  </a:cubicBezTo>
                  <a:lnTo>
                    <a:pt x="10351770" y="3346704"/>
                  </a:lnTo>
                  <a:cubicBezTo>
                    <a:pt x="10351770" y="3427984"/>
                    <a:pt x="10285857" y="3493770"/>
                    <a:pt x="10204704" y="3493770"/>
                  </a:cubicBezTo>
                  <a:lnTo>
                    <a:pt x="147066" y="3493770"/>
                  </a:lnTo>
                  <a:cubicBezTo>
                    <a:pt x="65913" y="3493770"/>
                    <a:pt x="0" y="3427857"/>
                    <a:pt x="0" y="3346704"/>
                  </a:cubicBezTo>
                  <a:close/>
                </a:path>
              </a:pathLst>
            </a:custGeom>
            <a:solidFill>
              <a:srgbClr val="FDFDFB"/>
            </a:solidFill>
            <a:ln w="14288" cap="sq">
              <a:solidFill>
                <a:srgbClr val="D3DCD9"/>
              </a:solidFill>
              <a:prstDash val="solid"/>
              <a:miter/>
            </a:ln>
          </p:spPr>
        </p:sp>
      </p:grpSp>
      <p:grpSp>
        <p:nvGrpSpPr>
          <p:cNvPr name="Group 26" id="26"/>
          <p:cNvGrpSpPr/>
          <p:nvPr/>
        </p:nvGrpSpPr>
        <p:grpSpPr>
          <a:xfrm rot="0">
            <a:off x="1691259" y="6299835"/>
            <a:ext cx="979170" cy="979170"/>
            <a:chOff x="0" y="0"/>
            <a:chExt cx="1305560" cy="1305560"/>
          </a:xfrm>
        </p:grpSpPr>
        <p:sp>
          <p:nvSpPr>
            <p:cNvPr name="Freeform 27" id="27"/>
            <p:cNvSpPr/>
            <p:nvPr/>
          </p:nvSpPr>
          <p:spPr>
            <a:xfrm flipH="false" flipV="false" rot="0">
              <a:off x="0" y="0"/>
              <a:ext cx="1305560" cy="1305560"/>
            </a:xfrm>
            <a:custGeom>
              <a:avLst/>
              <a:gdLst/>
              <a:ahLst/>
              <a:cxnLst/>
              <a:rect r="r" b="b" t="t" l="l"/>
              <a:pathLst>
                <a:path h="1305560" w="1305560">
                  <a:moveTo>
                    <a:pt x="0" y="223774"/>
                  </a:moveTo>
                  <a:cubicBezTo>
                    <a:pt x="0" y="100203"/>
                    <a:pt x="100203" y="0"/>
                    <a:pt x="223774" y="0"/>
                  </a:cubicBezTo>
                  <a:lnTo>
                    <a:pt x="1081786" y="0"/>
                  </a:lnTo>
                  <a:cubicBezTo>
                    <a:pt x="1205357" y="0"/>
                    <a:pt x="1305560" y="100203"/>
                    <a:pt x="1305560" y="223774"/>
                  </a:cubicBezTo>
                  <a:lnTo>
                    <a:pt x="1305560" y="1081786"/>
                  </a:lnTo>
                  <a:cubicBezTo>
                    <a:pt x="1305560" y="1205357"/>
                    <a:pt x="1205357" y="1305560"/>
                    <a:pt x="1081786" y="1305560"/>
                  </a:cubicBezTo>
                  <a:lnTo>
                    <a:pt x="223774" y="1305560"/>
                  </a:lnTo>
                  <a:cubicBezTo>
                    <a:pt x="100203" y="1305560"/>
                    <a:pt x="0" y="1205357"/>
                    <a:pt x="0" y="1081786"/>
                  </a:cubicBezTo>
                  <a:close/>
                </a:path>
              </a:pathLst>
            </a:custGeom>
            <a:solidFill>
              <a:srgbClr val="EAF0EE"/>
            </a:solidFill>
            <a:ln w="19050" cap="sq">
              <a:solidFill>
                <a:srgbClr val="EAF0EE"/>
              </a:solidFill>
              <a:prstDash val="solid"/>
              <a:miter/>
            </a:ln>
          </p:spPr>
        </p:sp>
      </p:grpSp>
      <p:grpSp>
        <p:nvGrpSpPr>
          <p:cNvPr name="Group 28" id="28"/>
          <p:cNvGrpSpPr/>
          <p:nvPr/>
        </p:nvGrpSpPr>
        <p:grpSpPr>
          <a:xfrm rot="0">
            <a:off x="1947672" y="6556248"/>
            <a:ext cx="466344" cy="466344"/>
            <a:chOff x="0" y="0"/>
            <a:chExt cx="621792" cy="621792"/>
          </a:xfrm>
        </p:grpSpPr>
        <p:sp>
          <p:nvSpPr>
            <p:cNvPr name="Freeform 29" id="29" descr="preencoded.png"/>
            <p:cNvSpPr/>
            <p:nvPr/>
          </p:nvSpPr>
          <p:spPr>
            <a:xfrm flipH="false" flipV="false" rot="0">
              <a:off x="0" y="0"/>
              <a:ext cx="621792" cy="621792"/>
            </a:xfrm>
            <a:custGeom>
              <a:avLst/>
              <a:gdLst/>
              <a:ahLst/>
              <a:cxnLst/>
              <a:rect r="r" b="b" t="t" l="l"/>
              <a:pathLst>
                <a:path h="621792" w="621792">
                  <a:moveTo>
                    <a:pt x="0" y="0"/>
                  </a:moveTo>
                  <a:lnTo>
                    <a:pt x="621792" y="0"/>
                  </a:lnTo>
                  <a:lnTo>
                    <a:pt x="621792" y="621792"/>
                  </a:lnTo>
                  <a:lnTo>
                    <a:pt x="0" y="621792"/>
                  </a:lnTo>
                  <a:lnTo>
                    <a:pt x="0" y="0"/>
                  </a:lnTo>
                  <a:close/>
                </a:path>
              </a:pathLst>
            </a:custGeom>
            <a:blipFill>
              <a:blip r:embed="rId6"/>
              <a:stretch>
                <a:fillRect l="0" t="0" r="0" b="0"/>
              </a:stretch>
            </a:blipFill>
          </p:spPr>
        </p:sp>
      </p:grpSp>
      <p:sp>
        <p:nvSpPr>
          <p:cNvPr name="TextBox 30" id="30"/>
          <p:cNvSpPr txBox="true"/>
          <p:nvPr/>
        </p:nvSpPr>
        <p:spPr>
          <a:xfrm rot="0">
            <a:off x="3003804" y="6309360"/>
            <a:ext cx="5623560" cy="548640"/>
          </a:xfrm>
          <a:prstGeom prst="rect">
            <a:avLst/>
          </a:prstGeom>
        </p:spPr>
        <p:txBody>
          <a:bodyPr anchor="t" rtlCol="false" tIns="0" lIns="0" bIns="0" rIns="0">
            <a:spAutoFit/>
          </a:bodyPr>
          <a:lstStyle/>
          <a:p>
            <a:pPr algn="l">
              <a:lnSpc>
                <a:spcPts val="2700"/>
              </a:lnSpc>
            </a:pPr>
            <a:r>
              <a:rPr lang="en-US" sz="2250" b="true">
                <a:solidFill>
                  <a:srgbClr val="14304A"/>
                </a:solidFill>
                <a:latin typeface="IBM Plex Sans Bold"/>
                <a:ea typeface="IBM Plex Sans Bold"/>
                <a:cs typeface="IBM Plex Sans Bold"/>
                <a:sym typeface="IBM Plex Sans Bold"/>
              </a:rPr>
              <a:t>Livestock misuse</a:t>
            </a:r>
          </a:p>
        </p:txBody>
      </p:sp>
      <p:sp>
        <p:nvSpPr>
          <p:cNvPr name="TextBox 31" id="31"/>
          <p:cNvSpPr txBox="true"/>
          <p:nvPr/>
        </p:nvSpPr>
        <p:spPr>
          <a:xfrm rot="0">
            <a:off x="3003804" y="6926580"/>
            <a:ext cx="5623560" cy="1303020"/>
          </a:xfrm>
          <a:prstGeom prst="rect">
            <a:avLst/>
          </a:prstGeom>
        </p:spPr>
        <p:txBody>
          <a:bodyPr anchor="t" rtlCol="false" tIns="0" lIns="0" bIns="0" rIns="0">
            <a:spAutoFit/>
          </a:bodyPr>
          <a:lstStyle/>
          <a:p>
            <a:pPr algn="l">
              <a:lnSpc>
                <a:spcPts val="2070"/>
              </a:lnSpc>
            </a:pPr>
            <a:r>
              <a:rPr lang="en-US" sz="1725">
                <a:solidFill>
                  <a:srgbClr val="3F4B57"/>
                </a:solidFill>
                <a:latin typeface="IBM Plex Sans"/>
                <a:ea typeface="IBM Plex Sans"/>
                <a:cs typeface="IBM Plex Sans"/>
                <a:sym typeface="IBM Plex Sans"/>
              </a:rPr>
              <a:t>Giving human antibiotics routinely to farm animals to boost weight or treat illness.</a:t>
            </a:r>
          </a:p>
        </p:txBody>
      </p:sp>
      <p:grpSp>
        <p:nvGrpSpPr>
          <p:cNvPr name="Group 32" id="32"/>
          <p:cNvGrpSpPr/>
          <p:nvPr/>
        </p:nvGrpSpPr>
        <p:grpSpPr>
          <a:xfrm rot="0">
            <a:off x="9306020" y="5822156"/>
            <a:ext cx="7763828" cy="2620328"/>
            <a:chOff x="0" y="0"/>
            <a:chExt cx="10351770" cy="3493770"/>
          </a:xfrm>
        </p:grpSpPr>
        <p:sp>
          <p:nvSpPr>
            <p:cNvPr name="Freeform 33" id="33"/>
            <p:cNvSpPr/>
            <p:nvPr/>
          </p:nvSpPr>
          <p:spPr>
            <a:xfrm flipH="false" flipV="false" rot="0">
              <a:off x="0" y="0"/>
              <a:ext cx="10351770" cy="3493770"/>
            </a:xfrm>
            <a:custGeom>
              <a:avLst/>
              <a:gdLst/>
              <a:ahLst/>
              <a:cxnLst/>
              <a:rect r="r" b="b" t="t" l="l"/>
              <a:pathLst>
                <a:path h="3493770" w="10351770">
                  <a:moveTo>
                    <a:pt x="0" y="147066"/>
                  </a:moveTo>
                  <a:cubicBezTo>
                    <a:pt x="0" y="65913"/>
                    <a:pt x="65913" y="0"/>
                    <a:pt x="147066" y="0"/>
                  </a:cubicBezTo>
                  <a:lnTo>
                    <a:pt x="10204704" y="0"/>
                  </a:lnTo>
                  <a:cubicBezTo>
                    <a:pt x="10285985" y="0"/>
                    <a:pt x="10351770" y="65913"/>
                    <a:pt x="10351770" y="147066"/>
                  </a:cubicBezTo>
                  <a:lnTo>
                    <a:pt x="10351770" y="3346704"/>
                  </a:lnTo>
                  <a:cubicBezTo>
                    <a:pt x="10351770" y="3427984"/>
                    <a:pt x="10285857" y="3493770"/>
                    <a:pt x="10204704" y="3493770"/>
                  </a:cubicBezTo>
                  <a:lnTo>
                    <a:pt x="147066" y="3493770"/>
                  </a:lnTo>
                  <a:cubicBezTo>
                    <a:pt x="65913" y="3493770"/>
                    <a:pt x="0" y="3427857"/>
                    <a:pt x="0" y="3346704"/>
                  </a:cubicBezTo>
                  <a:close/>
                </a:path>
              </a:pathLst>
            </a:custGeom>
            <a:solidFill>
              <a:srgbClr val="FDFDFB"/>
            </a:solidFill>
            <a:ln w="14288" cap="sq">
              <a:solidFill>
                <a:srgbClr val="D3DCD9"/>
              </a:solidFill>
              <a:prstDash val="solid"/>
              <a:miter/>
            </a:ln>
          </p:spPr>
        </p:sp>
      </p:grpSp>
      <p:grpSp>
        <p:nvGrpSpPr>
          <p:cNvPr name="Group 34" id="34"/>
          <p:cNvGrpSpPr/>
          <p:nvPr/>
        </p:nvGrpSpPr>
        <p:grpSpPr>
          <a:xfrm rot="0">
            <a:off x="9783699" y="6299835"/>
            <a:ext cx="979170" cy="979170"/>
            <a:chOff x="0" y="0"/>
            <a:chExt cx="1305560" cy="1305560"/>
          </a:xfrm>
        </p:grpSpPr>
        <p:sp>
          <p:nvSpPr>
            <p:cNvPr name="Freeform 35" id="35"/>
            <p:cNvSpPr/>
            <p:nvPr/>
          </p:nvSpPr>
          <p:spPr>
            <a:xfrm flipH="false" flipV="false" rot="0">
              <a:off x="0" y="0"/>
              <a:ext cx="1305560" cy="1305560"/>
            </a:xfrm>
            <a:custGeom>
              <a:avLst/>
              <a:gdLst/>
              <a:ahLst/>
              <a:cxnLst/>
              <a:rect r="r" b="b" t="t" l="l"/>
              <a:pathLst>
                <a:path h="1305560" w="1305560">
                  <a:moveTo>
                    <a:pt x="0" y="223774"/>
                  </a:moveTo>
                  <a:cubicBezTo>
                    <a:pt x="0" y="100203"/>
                    <a:pt x="100203" y="0"/>
                    <a:pt x="223774" y="0"/>
                  </a:cubicBezTo>
                  <a:lnTo>
                    <a:pt x="1081786" y="0"/>
                  </a:lnTo>
                  <a:cubicBezTo>
                    <a:pt x="1205357" y="0"/>
                    <a:pt x="1305560" y="100203"/>
                    <a:pt x="1305560" y="223774"/>
                  </a:cubicBezTo>
                  <a:lnTo>
                    <a:pt x="1305560" y="1081786"/>
                  </a:lnTo>
                  <a:cubicBezTo>
                    <a:pt x="1305560" y="1205357"/>
                    <a:pt x="1205357" y="1305560"/>
                    <a:pt x="1081786" y="1305560"/>
                  </a:cubicBezTo>
                  <a:lnTo>
                    <a:pt x="223774" y="1305560"/>
                  </a:lnTo>
                  <a:cubicBezTo>
                    <a:pt x="100203" y="1305560"/>
                    <a:pt x="0" y="1205357"/>
                    <a:pt x="0" y="1081786"/>
                  </a:cubicBezTo>
                  <a:close/>
                </a:path>
              </a:pathLst>
            </a:custGeom>
            <a:solidFill>
              <a:srgbClr val="EAF0EE"/>
            </a:solidFill>
            <a:ln w="19050" cap="sq">
              <a:solidFill>
                <a:srgbClr val="EAF0EE"/>
              </a:solidFill>
              <a:prstDash val="solid"/>
              <a:miter/>
            </a:ln>
          </p:spPr>
        </p:sp>
      </p:grpSp>
      <p:grpSp>
        <p:nvGrpSpPr>
          <p:cNvPr name="Group 36" id="36"/>
          <p:cNvGrpSpPr/>
          <p:nvPr/>
        </p:nvGrpSpPr>
        <p:grpSpPr>
          <a:xfrm rot="0">
            <a:off x="10040112" y="6556248"/>
            <a:ext cx="466344" cy="466344"/>
            <a:chOff x="0" y="0"/>
            <a:chExt cx="621792" cy="621792"/>
          </a:xfrm>
        </p:grpSpPr>
        <p:sp>
          <p:nvSpPr>
            <p:cNvPr name="Freeform 37" id="37" descr="preencoded.png"/>
            <p:cNvSpPr/>
            <p:nvPr/>
          </p:nvSpPr>
          <p:spPr>
            <a:xfrm flipH="false" flipV="false" rot="0">
              <a:off x="0" y="0"/>
              <a:ext cx="621792" cy="621792"/>
            </a:xfrm>
            <a:custGeom>
              <a:avLst/>
              <a:gdLst/>
              <a:ahLst/>
              <a:cxnLst/>
              <a:rect r="r" b="b" t="t" l="l"/>
              <a:pathLst>
                <a:path h="621792" w="621792">
                  <a:moveTo>
                    <a:pt x="0" y="0"/>
                  </a:moveTo>
                  <a:lnTo>
                    <a:pt x="621792" y="0"/>
                  </a:lnTo>
                  <a:lnTo>
                    <a:pt x="621792" y="621792"/>
                  </a:lnTo>
                  <a:lnTo>
                    <a:pt x="0" y="621792"/>
                  </a:lnTo>
                  <a:lnTo>
                    <a:pt x="0" y="0"/>
                  </a:lnTo>
                  <a:close/>
                </a:path>
              </a:pathLst>
            </a:custGeom>
            <a:blipFill>
              <a:blip r:embed="rId7"/>
              <a:stretch>
                <a:fillRect l="0" t="0" r="0" b="0"/>
              </a:stretch>
            </a:blipFill>
          </p:spPr>
        </p:sp>
      </p:grpSp>
      <p:sp>
        <p:nvSpPr>
          <p:cNvPr name="TextBox 38" id="38"/>
          <p:cNvSpPr txBox="true"/>
          <p:nvPr/>
        </p:nvSpPr>
        <p:spPr>
          <a:xfrm rot="0">
            <a:off x="11096244" y="6309360"/>
            <a:ext cx="5623560" cy="548640"/>
          </a:xfrm>
          <a:prstGeom prst="rect">
            <a:avLst/>
          </a:prstGeom>
        </p:spPr>
        <p:txBody>
          <a:bodyPr anchor="t" rtlCol="false" tIns="0" lIns="0" bIns="0" rIns="0">
            <a:spAutoFit/>
          </a:bodyPr>
          <a:lstStyle/>
          <a:p>
            <a:pPr algn="l">
              <a:lnSpc>
                <a:spcPts val="2700"/>
              </a:lnSpc>
            </a:pPr>
            <a:r>
              <a:rPr lang="en-US" sz="2250" b="true">
                <a:solidFill>
                  <a:srgbClr val="14304A"/>
                </a:solidFill>
                <a:latin typeface="IBM Plex Sans Bold"/>
                <a:ea typeface="IBM Plex Sans Bold"/>
                <a:cs typeface="IBM Plex Sans Bold"/>
                <a:sym typeface="IBM Plex Sans Bold"/>
              </a:rPr>
              <a:t>Hygiene deficits</a:t>
            </a:r>
          </a:p>
        </p:txBody>
      </p:sp>
      <p:sp>
        <p:nvSpPr>
          <p:cNvPr name="TextBox 39" id="39"/>
          <p:cNvSpPr txBox="true"/>
          <p:nvPr/>
        </p:nvSpPr>
        <p:spPr>
          <a:xfrm rot="0">
            <a:off x="11096244" y="6926580"/>
            <a:ext cx="5623560" cy="1303020"/>
          </a:xfrm>
          <a:prstGeom prst="rect">
            <a:avLst/>
          </a:prstGeom>
        </p:spPr>
        <p:txBody>
          <a:bodyPr anchor="t" rtlCol="false" tIns="0" lIns="0" bIns="0" rIns="0">
            <a:spAutoFit/>
          </a:bodyPr>
          <a:lstStyle/>
          <a:p>
            <a:pPr algn="l">
              <a:lnSpc>
                <a:spcPts val="2070"/>
              </a:lnSpc>
            </a:pPr>
            <a:r>
              <a:rPr lang="en-US" sz="1725">
                <a:solidFill>
                  <a:srgbClr val="3F4B57"/>
                </a:solidFill>
                <a:latin typeface="IBM Plex Sans"/>
                <a:ea typeface="IBM Plex Sans"/>
                <a:cs typeface="IBM Plex Sans"/>
                <a:sym typeface="IBM Plex Sans"/>
              </a:rPr>
              <a:t>Unsafe water and poor hygiene increase preventable infections, and so the demand for antibiotics.</a:t>
            </a:r>
          </a:p>
        </p:txBody>
      </p:sp>
      <p:grpSp>
        <p:nvGrpSpPr>
          <p:cNvPr name="Group 40" id="40"/>
          <p:cNvGrpSpPr/>
          <p:nvPr/>
        </p:nvGrpSpPr>
        <p:grpSpPr>
          <a:xfrm rot="0">
            <a:off x="1220724" y="9354312"/>
            <a:ext cx="11658600" cy="356616"/>
            <a:chOff x="0" y="0"/>
            <a:chExt cx="15544800" cy="475488"/>
          </a:xfrm>
        </p:grpSpPr>
        <p:sp>
          <p:nvSpPr>
            <p:cNvPr name="Freeform 41" id="41"/>
            <p:cNvSpPr/>
            <p:nvPr/>
          </p:nvSpPr>
          <p:spPr>
            <a:xfrm flipH="false" flipV="false" rot="0">
              <a:off x="0" y="0"/>
              <a:ext cx="15544800" cy="475488"/>
            </a:xfrm>
            <a:custGeom>
              <a:avLst/>
              <a:gdLst/>
              <a:ahLst/>
              <a:cxnLst/>
              <a:rect r="r" b="b" t="t" l="l"/>
              <a:pathLst>
                <a:path h="475488" w="15544800">
                  <a:moveTo>
                    <a:pt x="0" y="0"/>
                  </a:moveTo>
                  <a:lnTo>
                    <a:pt x="15544800" y="0"/>
                  </a:lnTo>
                  <a:lnTo>
                    <a:pt x="15544800" y="475488"/>
                  </a:lnTo>
                  <a:lnTo>
                    <a:pt x="0" y="475488"/>
                  </a:lnTo>
                  <a:close/>
                </a:path>
              </a:pathLst>
            </a:custGeom>
            <a:blipFill>
              <a:blip r:embed="rId3">
                <a:alphaModFix amt="0"/>
              </a:blip>
              <a:stretch>
                <a:fillRect l="0" t="-587010" r="0" b="-587010"/>
              </a:stretch>
            </a:blipFill>
          </p:spPr>
        </p:sp>
        <p:sp>
          <p:nvSpPr>
            <p:cNvPr name="TextBox 42" id="42"/>
            <p:cNvSpPr txBox="true"/>
            <p:nvPr/>
          </p:nvSpPr>
          <p:spPr>
            <a:xfrm>
              <a:off x="0" y="0"/>
              <a:ext cx="15544800" cy="475488"/>
            </a:xfrm>
            <a:prstGeom prst="rect">
              <a:avLst/>
            </a:prstGeom>
          </p:spPr>
          <p:txBody>
            <a:bodyPr anchor="ctr" rtlCol="false" tIns="0" lIns="0" bIns="0" rIns="0"/>
            <a:lstStyle/>
            <a:p>
              <a:pPr algn="l">
                <a:lnSpc>
                  <a:spcPts val="1800"/>
                </a:lnSpc>
              </a:pPr>
              <a:r>
                <a:rPr lang="en-US" sz="1500">
                  <a:solidFill>
                    <a:srgbClr val="5B6770"/>
                  </a:solidFill>
                  <a:latin typeface="IBM Plex Sans"/>
                  <a:ea typeface="IBM Plex Sans"/>
                  <a:cs typeface="IBM Plex Sans"/>
                  <a:sym typeface="IBM Plex Sans"/>
                </a:rPr>
                <a:t>Preserving Our Medicines · Community Antibiotic Stewardship, Chakwal, Pakistan</a:t>
              </a:r>
            </a:p>
          </p:txBody>
        </p:sp>
      </p:grpSp>
      <p:grpSp>
        <p:nvGrpSpPr>
          <p:cNvPr name="Group 43" id="43"/>
          <p:cNvGrpSpPr/>
          <p:nvPr/>
        </p:nvGrpSpPr>
        <p:grpSpPr>
          <a:xfrm rot="0">
            <a:off x="15695219" y="9354312"/>
            <a:ext cx="1371600" cy="356616"/>
            <a:chOff x="0" y="0"/>
            <a:chExt cx="1828800" cy="475488"/>
          </a:xfrm>
        </p:grpSpPr>
        <p:sp>
          <p:nvSpPr>
            <p:cNvPr name="Freeform 44" id="44"/>
            <p:cNvSpPr/>
            <p:nvPr/>
          </p:nvSpPr>
          <p:spPr>
            <a:xfrm flipH="false" flipV="false" rot="0">
              <a:off x="0" y="0"/>
              <a:ext cx="1828800" cy="475488"/>
            </a:xfrm>
            <a:custGeom>
              <a:avLst/>
              <a:gdLst/>
              <a:ahLst/>
              <a:cxnLst/>
              <a:rect r="r" b="b" t="t" l="l"/>
              <a:pathLst>
                <a:path h="475488" w="1828800">
                  <a:moveTo>
                    <a:pt x="0" y="0"/>
                  </a:moveTo>
                  <a:lnTo>
                    <a:pt x="1828800" y="0"/>
                  </a:lnTo>
                  <a:lnTo>
                    <a:pt x="1828800" y="475488"/>
                  </a:lnTo>
                  <a:lnTo>
                    <a:pt x="0" y="475488"/>
                  </a:lnTo>
                  <a:close/>
                </a:path>
              </a:pathLst>
            </a:custGeom>
            <a:blipFill>
              <a:blip r:embed="rId3">
                <a:alphaModFix amt="0"/>
              </a:blip>
              <a:stretch>
                <a:fillRect l="0" t="-24942" r="0" b="-24942"/>
              </a:stretch>
            </a:blipFill>
          </p:spPr>
        </p:sp>
        <p:sp>
          <p:nvSpPr>
            <p:cNvPr name="TextBox 45" id="45"/>
            <p:cNvSpPr txBox="true"/>
            <p:nvPr/>
          </p:nvSpPr>
          <p:spPr>
            <a:xfrm>
              <a:off x="0" y="0"/>
              <a:ext cx="1828800" cy="475488"/>
            </a:xfrm>
            <a:prstGeom prst="rect">
              <a:avLst/>
            </a:prstGeom>
          </p:spPr>
          <p:txBody>
            <a:bodyPr anchor="ctr" rtlCol="false" tIns="0" lIns="0" bIns="0" rIns="0"/>
            <a:lstStyle/>
            <a:p>
              <a:pPr algn="r">
                <a:lnSpc>
                  <a:spcPts val="1800"/>
                </a:lnSpc>
              </a:pPr>
              <a:r>
                <a:rPr lang="en-US" sz="1500">
                  <a:solidFill>
                    <a:srgbClr val="5B6770"/>
                  </a:solidFill>
                  <a:latin typeface="IBM Plex Sans"/>
                  <a:ea typeface="IBM Plex Sans"/>
                  <a:cs typeface="IBM Plex Sans"/>
                  <a:sym typeface="IBM Plex Sans"/>
                </a:rPr>
                <a:t>7</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7F6F2"/>
        </a:solidFill>
      </p:bgPr>
    </p:bg>
    <p:spTree>
      <p:nvGrpSpPr>
        <p:cNvPr id="1" name=""/>
        <p:cNvGrpSpPr/>
        <p:nvPr/>
      </p:nvGrpSpPr>
      <p:grpSpPr>
        <a:xfrm>
          <a:off x="0" y="0"/>
          <a:ext cx="0" cy="0"/>
          <a:chOff x="0" y="0"/>
          <a:chExt cx="0" cy="0"/>
        </a:xfrm>
      </p:grpSpPr>
      <p:grpSp>
        <p:nvGrpSpPr>
          <p:cNvPr name="Group 2" id="2"/>
          <p:cNvGrpSpPr/>
          <p:nvPr/>
        </p:nvGrpSpPr>
        <p:grpSpPr>
          <a:xfrm rot="0">
            <a:off x="1220724" y="1124712"/>
            <a:ext cx="15846095" cy="384048"/>
            <a:chOff x="0" y="0"/>
            <a:chExt cx="21128126" cy="512064"/>
          </a:xfrm>
        </p:grpSpPr>
        <p:sp>
          <p:nvSpPr>
            <p:cNvPr name="Freeform 3" id="3"/>
            <p:cNvSpPr/>
            <p:nvPr/>
          </p:nvSpPr>
          <p:spPr>
            <a:xfrm flipH="false" flipV="false" rot="0">
              <a:off x="0" y="0"/>
              <a:ext cx="21128126" cy="512064"/>
            </a:xfrm>
            <a:custGeom>
              <a:avLst/>
              <a:gdLst/>
              <a:ahLst/>
              <a:cxnLst/>
              <a:rect r="r" b="b" t="t" l="l"/>
              <a:pathLst>
                <a:path h="512064" w="21128126">
                  <a:moveTo>
                    <a:pt x="0" y="0"/>
                  </a:moveTo>
                  <a:lnTo>
                    <a:pt x="21128126" y="0"/>
                  </a:lnTo>
                  <a:lnTo>
                    <a:pt x="21128126" y="512064"/>
                  </a:lnTo>
                  <a:lnTo>
                    <a:pt x="0" y="512064"/>
                  </a:lnTo>
                  <a:close/>
                </a:path>
              </a:pathLst>
            </a:custGeom>
            <a:blipFill>
              <a:blip r:embed="rId3">
                <a:alphaModFix amt="0"/>
              </a:blip>
              <a:stretch>
                <a:fillRect l="0" t="-753966" r="0" b="-753966"/>
              </a:stretch>
            </a:blipFill>
          </p:spPr>
        </p:sp>
        <p:sp>
          <p:nvSpPr>
            <p:cNvPr name="TextBox 4" id="4"/>
            <p:cNvSpPr txBox="true"/>
            <p:nvPr/>
          </p:nvSpPr>
          <p:spPr>
            <a:xfrm>
              <a:off x="0" y="0"/>
              <a:ext cx="21128126" cy="512064"/>
            </a:xfrm>
            <a:prstGeom prst="rect">
              <a:avLst/>
            </a:prstGeom>
          </p:spPr>
          <p:txBody>
            <a:bodyPr anchor="ctr" rtlCol="false" tIns="0" lIns="0" bIns="0" rIns="0"/>
            <a:lstStyle/>
            <a:p>
              <a:pPr algn="l">
                <a:lnSpc>
                  <a:spcPts val="1980"/>
                </a:lnSpc>
              </a:pPr>
              <a:r>
                <a:rPr lang="en-US" b="true" sz="1650" spc="299">
                  <a:solidFill>
                    <a:srgbClr val="0B6E60"/>
                  </a:solidFill>
                  <a:latin typeface="IBM Plex Sans Bold"/>
                  <a:ea typeface="IBM Plex Sans Bold"/>
                  <a:cs typeface="IBM Plex Sans Bold"/>
                  <a:sym typeface="IBM Plex Sans Bold"/>
                </a:rPr>
                <a:t>06 · COMMUNITY EDUCATION</a:t>
              </a:r>
            </a:p>
          </p:txBody>
        </p:sp>
      </p:grpSp>
      <p:grpSp>
        <p:nvGrpSpPr>
          <p:cNvPr name="Group 5" id="5"/>
          <p:cNvGrpSpPr/>
          <p:nvPr/>
        </p:nvGrpSpPr>
        <p:grpSpPr>
          <a:xfrm rot="0">
            <a:off x="1220724" y="1536192"/>
            <a:ext cx="15846095" cy="850392"/>
            <a:chOff x="0" y="0"/>
            <a:chExt cx="21128126" cy="1133856"/>
          </a:xfrm>
        </p:grpSpPr>
        <p:sp>
          <p:nvSpPr>
            <p:cNvPr name="Freeform 6" id="6"/>
            <p:cNvSpPr/>
            <p:nvPr/>
          </p:nvSpPr>
          <p:spPr>
            <a:xfrm flipH="false" flipV="false" rot="0">
              <a:off x="0" y="0"/>
              <a:ext cx="21128126" cy="1133856"/>
            </a:xfrm>
            <a:custGeom>
              <a:avLst/>
              <a:gdLst/>
              <a:ahLst/>
              <a:cxnLst/>
              <a:rect r="r" b="b" t="t" l="l"/>
              <a:pathLst>
                <a:path h="1133856" w="21128126">
                  <a:moveTo>
                    <a:pt x="0" y="0"/>
                  </a:moveTo>
                  <a:lnTo>
                    <a:pt x="21128126" y="0"/>
                  </a:lnTo>
                  <a:lnTo>
                    <a:pt x="21128126" y="1133856"/>
                  </a:lnTo>
                  <a:lnTo>
                    <a:pt x="0" y="1133856"/>
                  </a:lnTo>
                  <a:close/>
                </a:path>
              </a:pathLst>
            </a:custGeom>
            <a:blipFill>
              <a:blip r:embed="rId3">
                <a:alphaModFix amt="0"/>
              </a:blip>
              <a:stretch>
                <a:fillRect l="0" t="-313081" r="0" b="-313081"/>
              </a:stretch>
            </a:blipFill>
          </p:spPr>
        </p:sp>
        <p:sp>
          <p:nvSpPr>
            <p:cNvPr name="TextBox 7" id="7"/>
            <p:cNvSpPr txBox="true"/>
            <p:nvPr/>
          </p:nvSpPr>
          <p:spPr>
            <a:xfrm>
              <a:off x="0" y="0"/>
              <a:ext cx="21128126" cy="1133856"/>
            </a:xfrm>
            <a:prstGeom prst="rect">
              <a:avLst/>
            </a:prstGeom>
          </p:spPr>
          <p:txBody>
            <a:bodyPr anchor="ctr" rtlCol="false" tIns="0" lIns="0" bIns="0" rIns="0"/>
            <a:lstStyle/>
            <a:p>
              <a:pPr algn="l">
                <a:lnSpc>
                  <a:spcPts val="5400"/>
                </a:lnSpc>
              </a:pPr>
              <a:r>
                <a:rPr lang="en-US" sz="4500" b="true">
                  <a:solidFill>
                    <a:srgbClr val="14304A"/>
                  </a:solidFill>
                  <a:latin typeface="Source Serif Pro Bold"/>
                  <a:ea typeface="Source Serif Pro Bold"/>
                  <a:cs typeface="Source Serif Pro Bold"/>
                  <a:sym typeface="Source Serif Pro Bold"/>
                </a:rPr>
                <a:t>Clearing up dangerous misconceptions</a:t>
              </a:r>
            </a:p>
          </p:txBody>
        </p:sp>
      </p:grpSp>
      <p:graphicFrame>
        <p:nvGraphicFramePr>
          <p:cNvPr name="Table 8" id="8"/>
          <p:cNvGraphicFramePr>
            <a:graphicFrameLocks noGrp="true"/>
          </p:cNvGraphicFramePr>
          <p:nvPr/>
        </p:nvGraphicFramePr>
        <p:xfrm>
          <a:off x="1220724" y="2811780"/>
          <a:ext cx="15830550" cy="4914900"/>
        </p:xfrm>
        <a:graphic>
          <a:graphicData uri="http://schemas.openxmlformats.org/drawingml/2006/table">
            <a:tbl>
              <a:tblPr/>
              <a:tblGrid>
                <a:gridCol w="5898475"/>
                <a:gridCol w="9932075"/>
              </a:tblGrid>
              <a:tr h="819150">
                <a:tc>
                  <a:txBody>
                    <a:bodyPr anchor="t" rtlCol="false"/>
                    <a:lstStyle/>
                    <a:p>
                      <a:pPr algn="l">
                        <a:lnSpc>
                          <a:spcPts val="1980"/>
                        </a:lnSpc>
                        <a:defRPr/>
                      </a:pPr>
                      <a:r>
                        <a:rPr lang="en-US" sz="1650" b="true">
                          <a:solidFill>
                            <a:srgbClr val="FFFFFF"/>
                          </a:solidFill>
                          <a:latin typeface="IBM Plex Sans Bold"/>
                          <a:ea typeface="IBM Plex Sans Bold"/>
                          <a:cs typeface="IBM Plex Sans Bold"/>
                          <a:sym typeface="IBM Plex Sans Bold"/>
                        </a:rPr>
                        <a:t>Common belief</a:t>
                      </a:r>
                      <a:endParaRPr lang="en-US" sz="1100"/>
                    </a:p>
                  </a:txBody>
                  <a:tcPr marL="109728" marR="109728" marT="109728" marB="109728" anchor="ctr">
                    <a:lnL cmpd="sng" algn="ctr" cap="flat" w="6350">
                      <a:solidFill>
                        <a:srgbClr val="C5CACD"/>
                      </a:solidFill>
                      <a:prstDash val="solid"/>
                      <a:round/>
                      <a:headEnd type="none" w="med" len="med"/>
                      <a:tailEnd type="none" w="med" len="med"/>
                    </a:lnL>
                    <a:lnR cmpd="sng" algn="ctr" cap="flat" w="6350">
                      <a:solidFill>
                        <a:srgbClr val="C5CACD"/>
                      </a:solidFill>
                      <a:prstDash val="solid"/>
                      <a:round/>
                      <a:headEnd type="none" w="med" len="med"/>
                      <a:tailEnd type="none" w="med" len="med"/>
                    </a:lnR>
                    <a:lnT cmpd="sng" algn="ctr" cap="flat" w="6350">
                      <a:solidFill>
                        <a:srgbClr val="C5CACD"/>
                      </a:solidFill>
                      <a:prstDash val="solid"/>
                      <a:round/>
                      <a:headEnd type="none" w="med" len="med"/>
                      <a:tailEnd type="none" w="med" len="med"/>
                    </a:lnT>
                    <a:lnB cmpd="sng" algn="ctr" cap="flat" w="6350">
                      <a:solidFill>
                        <a:srgbClr val="C5CACD"/>
                      </a:solidFill>
                      <a:prstDash val="solid"/>
                      <a:round/>
                      <a:headEnd type="none" w="med" len="med"/>
                      <a:tailEnd type="none" w="med" len="med"/>
                    </a:lnB>
                    <a:solidFill>
                      <a:srgbClr val="14304A"/>
                    </a:solidFill>
                  </a:tcPr>
                </a:tc>
                <a:tc>
                  <a:txBody>
                    <a:bodyPr anchor="t" rtlCol="false"/>
                    <a:lstStyle/>
                    <a:p>
                      <a:pPr algn="l">
                        <a:lnSpc>
                          <a:spcPts val="1980"/>
                        </a:lnSpc>
                        <a:defRPr/>
                      </a:pPr>
                      <a:r>
                        <a:rPr lang="en-US" sz="1650" b="true">
                          <a:solidFill>
                            <a:srgbClr val="FFFFFF"/>
                          </a:solidFill>
                          <a:latin typeface="IBM Plex Sans Bold"/>
                          <a:ea typeface="IBM Plex Sans Bold"/>
                          <a:cs typeface="IBM Plex Sans Bold"/>
                          <a:sym typeface="IBM Plex Sans Bold"/>
                        </a:rPr>
                        <a:t>What we explain</a:t>
                      </a:r>
                      <a:endParaRPr lang="en-US" sz="1100"/>
                    </a:p>
                  </a:txBody>
                  <a:tcPr marL="109728" marR="109728" marT="109728" marB="109728" anchor="ctr">
                    <a:lnL cmpd="sng" algn="ctr" cap="flat" w="6350">
                      <a:solidFill>
                        <a:srgbClr val="C5CACD"/>
                      </a:solidFill>
                      <a:prstDash val="solid"/>
                      <a:round/>
                      <a:headEnd type="none" w="med" len="med"/>
                      <a:tailEnd type="none" w="med" len="med"/>
                    </a:lnL>
                    <a:lnR cmpd="sng" algn="ctr" cap="flat" w="6350">
                      <a:solidFill>
                        <a:srgbClr val="C5CACD"/>
                      </a:solidFill>
                      <a:prstDash val="solid"/>
                      <a:round/>
                      <a:headEnd type="none" w="med" len="med"/>
                      <a:tailEnd type="none" w="med" len="med"/>
                    </a:lnR>
                    <a:lnT cmpd="sng" algn="ctr" cap="flat" w="6350">
                      <a:solidFill>
                        <a:srgbClr val="C5CACD"/>
                      </a:solidFill>
                      <a:prstDash val="solid"/>
                      <a:round/>
                      <a:headEnd type="none" w="med" len="med"/>
                      <a:tailEnd type="none" w="med" len="med"/>
                    </a:lnT>
                    <a:lnB cmpd="sng" algn="ctr" cap="flat" w="6350">
                      <a:solidFill>
                        <a:srgbClr val="C5CACD"/>
                      </a:solidFill>
                      <a:prstDash val="solid"/>
                      <a:round/>
                      <a:headEnd type="none" w="med" len="med"/>
                      <a:tailEnd type="none" w="med" len="med"/>
                    </a:lnB>
                    <a:solidFill>
                      <a:srgbClr val="14304A"/>
                    </a:solidFill>
                  </a:tcPr>
                </a:tc>
              </a:tr>
              <a:tr h="819150">
                <a:tc>
                  <a:txBody>
                    <a:bodyPr anchor="t" rtlCol="false"/>
                    <a:lstStyle/>
                    <a:p>
                      <a:pPr algn="l">
                        <a:lnSpc>
                          <a:spcPts val="2070"/>
                        </a:lnSpc>
                        <a:defRPr/>
                      </a:pPr>
                      <a:r>
                        <a:rPr lang="en-US" sz="1725">
                          <a:solidFill>
                            <a:srgbClr val="3F4B57"/>
                          </a:solidFill>
                          <a:latin typeface="IBM Plex Sans"/>
                          <a:ea typeface="IBM Plex Sans"/>
                          <a:cs typeface="IBM Plex Sans"/>
                          <a:sym typeface="IBM Plex Sans"/>
                        </a:rPr>
                        <a:t>“Strong antibiotics cure flu”</a:t>
                      </a:r>
                      <a:endParaRPr lang="en-US" sz="1100"/>
                    </a:p>
                  </a:txBody>
                  <a:tcPr marL="109728" marR="109728" marT="109728" marB="109728" anchor="ctr">
                    <a:lnL cmpd="sng" algn="ctr" cap="flat" w="6350">
                      <a:solidFill>
                        <a:srgbClr val="C5CACD"/>
                      </a:solidFill>
                      <a:prstDash val="solid"/>
                      <a:round/>
                      <a:headEnd type="none" w="med" len="med"/>
                      <a:tailEnd type="none" w="med" len="med"/>
                    </a:lnL>
                    <a:lnR cmpd="sng" algn="ctr" cap="flat" w="6350">
                      <a:solidFill>
                        <a:srgbClr val="C5CACD"/>
                      </a:solidFill>
                      <a:prstDash val="solid"/>
                      <a:round/>
                      <a:headEnd type="none" w="med" len="med"/>
                      <a:tailEnd type="none" w="med" len="med"/>
                    </a:lnR>
                    <a:lnT cmpd="sng" algn="ctr" cap="flat" w="6350">
                      <a:solidFill>
                        <a:srgbClr val="C5CACD"/>
                      </a:solidFill>
                      <a:prstDash val="solid"/>
                      <a:round/>
                      <a:headEnd type="none" w="med" len="med"/>
                      <a:tailEnd type="none" w="med" len="med"/>
                    </a:lnT>
                    <a:lnB cmpd="sng" algn="ctr" cap="flat" w="6350">
                      <a:solidFill>
                        <a:srgbClr val="C5CACD"/>
                      </a:solidFill>
                      <a:prstDash val="solid"/>
                      <a:round/>
                      <a:headEnd type="none" w="med" len="med"/>
                      <a:tailEnd type="none" w="med" len="med"/>
                    </a:lnB>
                    <a:solidFill>
                      <a:srgbClr val="FDFDFB"/>
                    </a:solidFill>
                  </a:tcPr>
                </a:tc>
                <a:tc>
                  <a:txBody>
                    <a:bodyPr anchor="t" rtlCol="false"/>
                    <a:lstStyle/>
                    <a:p>
                      <a:pPr algn="l">
                        <a:lnSpc>
                          <a:spcPts val="2070"/>
                        </a:lnSpc>
                        <a:defRPr/>
                      </a:pPr>
                      <a:r>
                        <a:rPr lang="en-US" sz="1725">
                          <a:solidFill>
                            <a:srgbClr val="3F4B57"/>
                          </a:solidFill>
                          <a:latin typeface="IBM Plex Sans"/>
                          <a:ea typeface="IBM Plex Sans"/>
                          <a:cs typeface="IBM Plex Sans"/>
                          <a:sym typeface="IBM Plex Sans"/>
                        </a:rPr>
                        <a:t>Flu is viral. Antibiotics provide zero relief, add side effects and waste family income.</a:t>
                      </a:r>
                      <a:endParaRPr lang="en-US" sz="1100"/>
                    </a:p>
                  </a:txBody>
                  <a:tcPr marL="109728" marR="109728" marT="109728" marB="109728" anchor="ctr">
                    <a:lnL cmpd="sng" algn="ctr" cap="flat" w="6350">
                      <a:solidFill>
                        <a:srgbClr val="C5CACD"/>
                      </a:solidFill>
                      <a:prstDash val="solid"/>
                      <a:round/>
                      <a:headEnd type="none" w="med" len="med"/>
                      <a:tailEnd type="none" w="med" len="med"/>
                    </a:lnL>
                    <a:lnR cmpd="sng" algn="ctr" cap="flat" w="6350">
                      <a:solidFill>
                        <a:srgbClr val="C5CACD"/>
                      </a:solidFill>
                      <a:prstDash val="solid"/>
                      <a:round/>
                      <a:headEnd type="none" w="med" len="med"/>
                      <a:tailEnd type="none" w="med" len="med"/>
                    </a:lnR>
                    <a:lnT cmpd="sng" algn="ctr" cap="flat" w="6350">
                      <a:solidFill>
                        <a:srgbClr val="C5CACD"/>
                      </a:solidFill>
                      <a:prstDash val="solid"/>
                      <a:round/>
                      <a:headEnd type="none" w="med" len="med"/>
                      <a:tailEnd type="none" w="med" len="med"/>
                    </a:lnT>
                    <a:lnB cmpd="sng" algn="ctr" cap="flat" w="6350">
                      <a:solidFill>
                        <a:srgbClr val="C5CACD"/>
                      </a:solidFill>
                      <a:prstDash val="solid"/>
                      <a:round/>
                      <a:headEnd type="none" w="med" len="med"/>
                      <a:tailEnd type="none" w="med" len="med"/>
                    </a:lnB>
                    <a:solidFill>
                      <a:srgbClr val="FDFDFB"/>
                    </a:solidFill>
                  </a:tcPr>
                </a:tc>
              </a:tr>
              <a:tr h="819150">
                <a:tc>
                  <a:txBody>
                    <a:bodyPr anchor="t" rtlCol="false"/>
                    <a:lstStyle/>
                    <a:p>
                      <a:pPr algn="l">
                        <a:lnSpc>
                          <a:spcPts val="2070"/>
                        </a:lnSpc>
                        <a:defRPr/>
                      </a:pPr>
                      <a:r>
                        <a:rPr lang="en-US" sz="1725">
                          <a:solidFill>
                            <a:srgbClr val="3F4B57"/>
                          </a:solidFill>
                          <a:latin typeface="IBM Plex Sans"/>
                          <a:ea typeface="IBM Plex Sans"/>
                          <a:cs typeface="IBM Plex Sans"/>
                          <a:sym typeface="IBM Plex Sans"/>
                        </a:rPr>
                        <a:t>“Save extra pills for later”</a:t>
                      </a:r>
                      <a:endParaRPr lang="en-US" sz="1100"/>
                    </a:p>
                  </a:txBody>
                  <a:tcPr marL="109728" marR="109728" marT="109728" marB="109728" anchor="ctr">
                    <a:lnL cmpd="sng" algn="ctr" cap="flat" w="6350">
                      <a:solidFill>
                        <a:srgbClr val="C5CACD"/>
                      </a:solidFill>
                      <a:prstDash val="solid"/>
                      <a:round/>
                      <a:headEnd type="none" w="med" len="med"/>
                      <a:tailEnd type="none" w="med" len="med"/>
                    </a:lnL>
                    <a:lnR cmpd="sng" algn="ctr" cap="flat" w="6350">
                      <a:solidFill>
                        <a:srgbClr val="C5CACD"/>
                      </a:solidFill>
                      <a:prstDash val="solid"/>
                      <a:round/>
                      <a:headEnd type="none" w="med" len="med"/>
                      <a:tailEnd type="none" w="med" len="med"/>
                    </a:lnR>
                    <a:lnT cmpd="sng" algn="ctr" cap="flat" w="6350">
                      <a:solidFill>
                        <a:srgbClr val="C5CACD"/>
                      </a:solidFill>
                      <a:prstDash val="solid"/>
                      <a:round/>
                      <a:headEnd type="none" w="med" len="med"/>
                      <a:tailEnd type="none" w="med" len="med"/>
                    </a:lnT>
                    <a:lnB cmpd="sng" algn="ctr" cap="flat" w="6350">
                      <a:solidFill>
                        <a:srgbClr val="C5CACD"/>
                      </a:solidFill>
                      <a:prstDash val="solid"/>
                      <a:round/>
                      <a:headEnd type="none" w="med" len="med"/>
                      <a:tailEnd type="none" w="med" len="med"/>
                    </a:lnB>
                    <a:solidFill>
                      <a:srgbClr val="FDFDFB"/>
                    </a:solidFill>
                  </a:tcPr>
                </a:tc>
                <a:tc>
                  <a:txBody>
                    <a:bodyPr anchor="t" rtlCol="false"/>
                    <a:lstStyle/>
                    <a:p>
                      <a:pPr algn="l">
                        <a:lnSpc>
                          <a:spcPts val="2070"/>
                        </a:lnSpc>
                        <a:defRPr/>
                      </a:pPr>
                      <a:r>
                        <a:rPr lang="en-US" sz="1725">
                          <a:solidFill>
                            <a:srgbClr val="3F4B57"/>
                          </a:solidFill>
                          <a:latin typeface="IBM Plex Sans"/>
                          <a:ea typeface="IBM Plex Sans"/>
                          <a:cs typeface="IBM Plex Sans"/>
                          <a:sym typeface="IBM Plex Sans"/>
                        </a:rPr>
                        <a:t>Leftover partial doses breed resistant superbug strains. Finish the course; never keep leftovers.</a:t>
                      </a:r>
                      <a:endParaRPr lang="en-US" sz="1100"/>
                    </a:p>
                  </a:txBody>
                  <a:tcPr marL="109728" marR="109728" marT="109728" marB="109728" anchor="ctr">
                    <a:lnL cmpd="sng" algn="ctr" cap="flat" w="6350">
                      <a:solidFill>
                        <a:srgbClr val="C5CACD"/>
                      </a:solidFill>
                      <a:prstDash val="solid"/>
                      <a:round/>
                      <a:headEnd type="none" w="med" len="med"/>
                      <a:tailEnd type="none" w="med" len="med"/>
                    </a:lnL>
                    <a:lnR cmpd="sng" algn="ctr" cap="flat" w="6350">
                      <a:solidFill>
                        <a:srgbClr val="C5CACD"/>
                      </a:solidFill>
                      <a:prstDash val="solid"/>
                      <a:round/>
                      <a:headEnd type="none" w="med" len="med"/>
                      <a:tailEnd type="none" w="med" len="med"/>
                    </a:lnR>
                    <a:lnT cmpd="sng" algn="ctr" cap="flat" w="6350">
                      <a:solidFill>
                        <a:srgbClr val="C5CACD"/>
                      </a:solidFill>
                      <a:prstDash val="solid"/>
                      <a:round/>
                      <a:headEnd type="none" w="med" len="med"/>
                      <a:tailEnd type="none" w="med" len="med"/>
                    </a:lnT>
                    <a:lnB cmpd="sng" algn="ctr" cap="flat" w="6350">
                      <a:solidFill>
                        <a:srgbClr val="C5CACD"/>
                      </a:solidFill>
                      <a:prstDash val="solid"/>
                      <a:round/>
                      <a:headEnd type="none" w="med" len="med"/>
                      <a:tailEnd type="none" w="med" len="med"/>
                    </a:lnB>
                    <a:solidFill>
                      <a:srgbClr val="FDFDFB"/>
                    </a:solidFill>
                  </a:tcPr>
                </a:tc>
              </a:tr>
              <a:tr h="819150">
                <a:tc>
                  <a:txBody>
                    <a:bodyPr anchor="t" rtlCol="false"/>
                    <a:lstStyle/>
                    <a:p>
                      <a:pPr algn="l">
                        <a:lnSpc>
                          <a:spcPts val="2070"/>
                        </a:lnSpc>
                        <a:defRPr/>
                      </a:pPr>
                      <a:r>
                        <a:rPr lang="en-US" sz="1725">
                          <a:solidFill>
                            <a:srgbClr val="3F4B57"/>
                          </a:solidFill>
                          <a:latin typeface="IBM Plex Sans"/>
                          <a:ea typeface="IBM Plex Sans"/>
                          <a:cs typeface="IBM Plex Sans"/>
                          <a:sym typeface="IBM Plex Sans"/>
                        </a:rPr>
                        <a:t>“My body gets immune”</a:t>
                      </a:r>
                      <a:endParaRPr lang="en-US" sz="1100"/>
                    </a:p>
                  </a:txBody>
                  <a:tcPr marL="109728" marR="109728" marT="109728" marB="109728" anchor="ctr">
                    <a:lnL cmpd="sng" algn="ctr" cap="flat" w="6350">
                      <a:solidFill>
                        <a:srgbClr val="C5CACD"/>
                      </a:solidFill>
                      <a:prstDash val="solid"/>
                      <a:round/>
                      <a:headEnd type="none" w="med" len="med"/>
                      <a:tailEnd type="none" w="med" len="med"/>
                    </a:lnL>
                    <a:lnR cmpd="sng" algn="ctr" cap="flat" w="6350">
                      <a:solidFill>
                        <a:srgbClr val="C5CACD"/>
                      </a:solidFill>
                      <a:prstDash val="solid"/>
                      <a:round/>
                      <a:headEnd type="none" w="med" len="med"/>
                      <a:tailEnd type="none" w="med" len="med"/>
                    </a:lnR>
                    <a:lnT cmpd="sng" algn="ctr" cap="flat" w="6350">
                      <a:solidFill>
                        <a:srgbClr val="C5CACD"/>
                      </a:solidFill>
                      <a:prstDash val="solid"/>
                      <a:round/>
                      <a:headEnd type="none" w="med" len="med"/>
                      <a:tailEnd type="none" w="med" len="med"/>
                    </a:lnT>
                    <a:lnB cmpd="sng" algn="ctr" cap="flat" w="6350">
                      <a:solidFill>
                        <a:srgbClr val="C5CACD"/>
                      </a:solidFill>
                      <a:prstDash val="solid"/>
                      <a:round/>
                      <a:headEnd type="none" w="med" len="med"/>
                      <a:tailEnd type="none" w="med" len="med"/>
                    </a:lnB>
                    <a:solidFill>
                      <a:srgbClr val="FDFDFB"/>
                    </a:solidFill>
                  </a:tcPr>
                </a:tc>
                <a:tc>
                  <a:txBody>
                    <a:bodyPr anchor="t" rtlCol="false"/>
                    <a:lstStyle/>
                    <a:p>
                      <a:pPr algn="l">
                        <a:lnSpc>
                          <a:spcPts val="2070"/>
                        </a:lnSpc>
                        <a:defRPr/>
                      </a:pPr>
                      <a:r>
                        <a:rPr lang="en-US" sz="1725">
                          <a:solidFill>
                            <a:srgbClr val="3F4B57"/>
                          </a:solidFill>
                          <a:latin typeface="IBM Plex Sans"/>
                          <a:ea typeface="IBM Plex Sans"/>
                          <a:cs typeface="IBM Plex Sans"/>
                          <a:sym typeface="IBM Plex Sans"/>
                        </a:rPr>
                        <a:t>Bacteria become immune, not the person. Resistant bacteria spread directly to family members.</a:t>
                      </a:r>
                      <a:endParaRPr lang="en-US" sz="1100"/>
                    </a:p>
                  </a:txBody>
                  <a:tcPr marL="109728" marR="109728" marT="109728" marB="109728" anchor="ctr">
                    <a:lnL cmpd="sng" algn="ctr" cap="flat" w="6350">
                      <a:solidFill>
                        <a:srgbClr val="C5CACD"/>
                      </a:solidFill>
                      <a:prstDash val="solid"/>
                      <a:round/>
                      <a:headEnd type="none" w="med" len="med"/>
                      <a:tailEnd type="none" w="med" len="med"/>
                    </a:lnL>
                    <a:lnR cmpd="sng" algn="ctr" cap="flat" w="6350">
                      <a:solidFill>
                        <a:srgbClr val="C5CACD"/>
                      </a:solidFill>
                      <a:prstDash val="solid"/>
                      <a:round/>
                      <a:headEnd type="none" w="med" len="med"/>
                      <a:tailEnd type="none" w="med" len="med"/>
                    </a:lnR>
                    <a:lnT cmpd="sng" algn="ctr" cap="flat" w="6350">
                      <a:solidFill>
                        <a:srgbClr val="C5CACD"/>
                      </a:solidFill>
                      <a:prstDash val="solid"/>
                      <a:round/>
                      <a:headEnd type="none" w="med" len="med"/>
                      <a:tailEnd type="none" w="med" len="med"/>
                    </a:lnT>
                    <a:lnB cmpd="sng" algn="ctr" cap="flat" w="6350">
                      <a:solidFill>
                        <a:srgbClr val="C5CACD"/>
                      </a:solidFill>
                      <a:prstDash val="solid"/>
                      <a:round/>
                      <a:headEnd type="none" w="med" len="med"/>
                      <a:tailEnd type="none" w="med" len="med"/>
                    </a:lnB>
                    <a:solidFill>
                      <a:srgbClr val="FDFDFB"/>
                    </a:solidFill>
                  </a:tcPr>
                </a:tc>
              </a:tr>
              <a:tr h="819150">
                <a:tc>
                  <a:txBody>
                    <a:bodyPr anchor="t" rtlCol="false"/>
                    <a:lstStyle/>
                    <a:p>
                      <a:pPr algn="l">
                        <a:lnSpc>
                          <a:spcPts val="2070"/>
                        </a:lnSpc>
                        <a:defRPr/>
                      </a:pPr>
                      <a:r>
                        <a:rPr lang="en-US" sz="1725">
                          <a:solidFill>
                            <a:srgbClr val="3F4B57"/>
                          </a:solidFill>
                          <a:latin typeface="IBM Plex Sans"/>
                          <a:ea typeface="IBM Plex Sans"/>
                          <a:cs typeface="IBM Plex Sans"/>
                          <a:sym typeface="IBM Plex Sans"/>
                        </a:rPr>
                        <a:t>“If a neighbour recovered on it, it will work for me”</a:t>
                      </a:r>
                      <a:endParaRPr lang="en-US" sz="1100"/>
                    </a:p>
                  </a:txBody>
                  <a:tcPr marL="109728" marR="109728" marT="109728" marB="109728" anchor="ctr">
                    <a:lnL cmpd="sng" algn="ctr" cap="flat" w="6350">
                      <a:solidFill>
                        <a:srgbClr val="C5CACD"/>
                      </a:solidFill>
                      <a:prstDash val="solid"/>
                      <a:round/>
                      <a:headEnd type="none" w="med" len="med"/>
                      <a:tailEnd type="none" w="med" len="med"/>
                    </a:lnL>
                    <a:lnR cmpd="sng" algn="ctr" cap="flat" w="6350">
                      <a:solidFill>
                        <a:srgbClr val="C5CACD"/>
                      </a:solidFill>
                      <a:prstDash val="solid"/>
                      <a:round/>
                      <a:headEnd type="none" w="med" len="med"/>
                      <a:tailEnd type="none" w="med" len="med"/>
                    </a:lnR>
                    <a:lnT cmpd="sng" algn="ctr" cap="flat" w="6350">
                      <a:solidFill>
                        <a:srgbClr val="C5CACD"/>
                      </a:solidFill>
                      <a:prstDash val="solid"/>
                      <a:round/>
                      <a:headEnd type="none" w="med" len="med"/>
                      <a:tailEnd type="none" w="med" len="med"/>
                    </a:lnT>
                    <a:lnB cmpd="sng" algn="ctr" cap="flat" w="6350">
                      <a:solidFill>
                        <a:srgbClr val="C5CACD"/>
                      </a:solidFill>
                      <a:prstDash val="solid"/>
                      <a:round/>
                      <a:headEnd type="none" w="med" len="med"/>
                      <a:tailEnd type="none" w="med" len="med"/>
                    </a:lnB>
                    <a:solidFill>
                      <a:srgbClr val="FDFDFB"/>
                    </a:solidFill>
                  </a:tcPr>
                </a:tc>
                <a:tc>
                  <a:txBody>
                    <a:bodyPr anchor="t" rtlCol="false"/>
                    <a:lstStyle/>
                    <a:p>
                      <a:pPr algn="l">
                        <a:lnSpc>
                          <a:spcPts val="2070"/>
                        </a:lnSpc>
                        <a:defRPr/>
                      </a:pPr>
                      <a:r>
                        <a:rPr lang="en-US" sz="1725">
                          <a:solidFill>
                            <a:srgbClr val="3F4B57"/>
                          </a:solidFill>
                          <a:latin typeface="IBM Plex Sans"/>
                          <a:ea typeface="IBM Plex Sans"/>
                          <a:cs typeface="IBM Plex Sans"/>
                          <a:sym typeface="IBM Plex Sans"/>
                        </a:rPr>
                        <a:t>Different infections need different medicines and doses. Only a health worker can decide.</a:t>
                      </a:r>
                      <a:endParaRPr lang="en-US" sz="1100"/>
                    </a:p>
                  </a:txBody>
                  <a:tcPr marL="109728" marR="109728" marT="109728" marB="109728" anchor="ctr">
                    <a:lnL cmpd="sng" algn="ctr" cap="flat" w="6350">
                      <a:solidFill>
                        <a:srgbClr val="C5CACD"/>
                      </a:solidFill>
                      <a:prstDash val="solid"/>
                      <a:round/>
                      <a:headEnd type="none" w="med" len="med"/>
                      <a:tailEnd type="none" w="med" len="med"/>
                    </a:lnL>
                    <a:lnR cmpd="sng" algn="ctr" cap="flat" w="6350">
                      <a:solidFill>
                        <a:srgbClr val="C5CACD"/>
                      </a:solidFill>
                      <a:prstDash val="solid"/>
                      <a:round/>
                      <a:headEnd type="none" w="med" len="med"/>
                      <a:tailEnd type="none" w="med" len="med"/>
                    </a:lnR>
                    <a:lnT cmpd="sng" algn="ctr" cap="flat" w="6350">
                      <a:solidFill>
                        <a:srgbClr val="C5CACD"/>
                      </a:solidFill>
                      <a:prstDash val="solid"/>
                      <a:round/>
                      <a:headEnd type="none" w="med" len="med"/>
                      <a:tailEnd type="none" w="med" len="med"/>
                    </a:lnT>
                    <a:lnB cmpd="sng" algn="ctr" cap="flat" w="6350">
                      <a:solidFill>
                        <a:srgbClr val="C5CACD"/>
                      </a:solidFill>
                      <a:prstDash val="solid"/>
                      <a:round/>
                      <a:headEnd type="none" w="med" len="med"/>
                      <a:tailEnd type="none" w="med" len="med"/>
                    </a:lnB>
                    <a:solidFill>
                      <a:srgbClr val="FDFDFB"/>
                    </a:solidFill>
                  </a:tcPr>
                </a:tc>
              </a:tr>
              <a:tr h="819150">
                <a:tc>
                  <a:txBody>
                    <a:bodyPr anchor="t" rtlCol="false"/>
                    <a:lstStyle/>
                    <a:p>
                      <a:pPr algn="l">
                        <a:lnSpc>
                          <a:spcPts val="2070"/>
                        </a:lnSpc>
                        <a:defRPr/>
                      </a:pPr>
                      <a:r>
                        <a:rPr lang="en-US" sz="1725">
                          <a:solidFill>
                            <a:srgbClr val="3F4B57"/>
                          </a:solidFill>
                          <a:latin typeface="IBM Plex Sans"/>
                          <a:ea typeface="IBM Plex Sans"/>
                          <a:cs typeface="IBM Plex Sans"/>
                          <a:sym typeface="IBM Plex Sans"/>
                        </a:rPr>
                        <a:t>“Injections and expensive brands work faster”</a:t>
                      </a:r>
                      <a:endParaRPr lang="en-US" sz="1100"/>
                    </a:p>
                  </a:txBody>
                  <a:tcPr marL="109728" marR="109728" marT="109728" marB="109728" anchor="ctr">
                    <a:lnL cmpd="sng" algn="ctr" cap="flat" w="6350">
                      <a:solidFill>
                        <a:srgbClr val="C5CACD"/>
                      </a:solidFill>
                      <a:prstDash val="solid"/>
                      <a:round/>
                      <a:headEnd type="none" w="med" len="med"/>
                      <a:tailEnd type="none" w="med" len="med"/>
                    </a:lnL>
                    <a:lnR cmpd="sng" algn="ctr" cap="flat" w="6350">
                      <a:solidFill>
                        <a:srgbClr val="C5CACD"/>
                      </a:solidFill>
                      <a:prstDash val="solid"/>
                      <a:round/>
                      <a:headEnd type="none" w="med" len="med"/>
                      <a:tailEnd type="none" w="med" len="med"/>
                    </a:lnR>
                    <a:lnT cmpd="sng" algn="ctr" cap="flat" w="6350">
                      <a:solidFill>
                        <a:srgbClr val="C5CACD"/>
                      </a:solidFill>
                      <a:prstDash val="solid"/>
                      <a:round/>
                      <a:headEnd type="none" w="med" len="med"/>
                      <a:tailEnd type="none" w="med" len="med"/>
                    </a:lnT>
                    <a:lnB cmpd="sng" algn="ctr" cap="flat" w="6350">
                      <a:solidFill>
                        <a:srgbClr val="C5CACD"/>
                      </a:solidFill>
                      <a:prstDash val="solid"/>
                      <a:round/>
                      <a:headEnd type="none" w="med" len="med"/>
                      <a:tailEnd type="none" w="med" len="med"/>
                    </a:lnB>
                    <a:solidFill>
                      <a:srgbClr val="FDFDFB"/>
                    </a:solidFill>
                  </a:tcPr>
                </a:tc>
                <a:tc>
                  <a:txBody>
                    <a:bodyPr anchor="t" rtlCol="false"/>
                    <a:lstStyle/>
                    <a:p>
                      <a:pPr algn="l">
                        <a:lnSpc>
                          <a:spcPts val="2070"/>
                        </a:lnSpc>
                        <a:defRPr/>
                      </a:pPr>
                      <a:r>
                        <a:rPr lang="en-US" sz="1725">
                          <a:solidFill>
                            <a:srgbClr val="3F4B57"/>
                          </a:solidFill>
                          <a:latin typeface="IBM Plex Sans"/>
                          <a:ea typeface="IBM Plex Sans"/>
                          <a:cs typeface="IBM Plex Sans"/>
                          <a:sym typeface="IBM Plex Sans"/>
                        </a:rPr>
                        <a:t>The right antibiotic at the right dose works; the price or the route does not make it stronger.</a:t>
                      </a:r>
                      <a:endParaRPr lang="en-US" sz="1100"/>
                    </a:p>
                  </a:txBody>
                  <a:tcPr marL="109728" marR="109728" marT="109728" marB="109728" anchor="ctr">
                    <a:lnL cmpd="sng" algn="ctr" cap="flat" w="6350">
                      <a:solidFill>
                        <a:srgbClr val="C5CACD"/>
                      </a:solidFill>
                      <a:prstDash val="solid"/>
                      <a:round/>
                      <a:headEnd type="none" w="med" len="med"/>
                      <a:tailEnd type="none" w="med" len="med"/>
                    </a:lnL>
                    <a:lnR cmpd="sng" algn="ctr" cap="flat" w="6350">
                      <a:solidFill>
                        <a:srgbClr val="C5CACD"/>
                      </a:solidFill>
                      <a:prstDash val="solid"/>
                      <a:round/>
                      <a:headEnd type="none" w="med" len="med"/>
                      <a:tailEnd type="none" w="med" len="med"/>
                    </a:lnR>
                    <a:lnT cmpd="sng" algn="ctr" cap="flat" w="6350">
                      <a:solidFill>
                        <a:srgbClr val="C5CACD"/>
                      </a:solidFill>
                      <a:prstDash val="solid"/>
                      <a:round/>
                      <a:headEnd type="none" w="med" len="med"/>
                      <a:tailEnd type="none" w="med" len="med"/>
                    </a:lnT>
                    <a:lnB cmpd="sng" algn="ctr" cap="flat" w="6350">
                      <a:solidFill>
                        <a:srgbClr val="C5CACD"/>
                      </a:solidFill>
                      <a:prstDash val="solid"/>
                      <a:round/>
                      <a:headEnd type="none" w="med" len="med"/>
                      <a:tailEnd type="none" w="med" len="med"/>
                    </a:lnB>
                    <a:solidFill>
                      <a:srgbClr val="FDFDFB"/>
                    </a:solidFill>
                  </a:tcPr>
                </a:tc>
              </a:tr>
            </a:tbl>
          </a:graphicData>
        </a:graphic>
      </p:graphicFrame>
      <p:sp>
        <p:nvSpPr>
          <p:cNvPr name="TextBox 9" id="9"/>
          <p:cNvSpPr txBox="true"/>
          <p:nvPr/>
        </p:nvSpPr>
        <p:spPr>
          <a:xfrm rot="0">
            <a:off x="1220724" y="8161020"/>
            <a:ext cx="15846095" cy="411480"/>
          </a:xfrm>
          <a:prstGeom prst="rect">
            <a:avLst/>
          </a:prstGeom>
        </p:spPr>
        <p:txBody>
          <a:bodyPr anchor="t" rtlCol="false" tIns="0" lIns="0" bIns="0" rIns="0">
            <a:spAutoFit/>
          </a:bodyPr>
          <a:lstStyle/>
          <a:p>
            <a:pPr algn="l">
              <a:lnSpc>
                <a:spcPts val="1800"/>
              </a:lnSpc>
            </a:pPr>
            <a:r>
              <a:rPr lang="en-US" sz="1500" i="true">
                <a:solidFill>
                  <a:srgbClr val="5B6770"/>
                </a:solidFill>
                <a:latin typeface="IBM Plex Sans Italics"/>
                <a:ea typeface="IBM Plex Sans Italics"/>
                <a:cs typeface="IBM Plex Sans Italics"/>
                <a:sym typeface="IBM Plex Sans Italics"/>
              </a:rPr>
              <a:t>Myths recorded during pharmacy counselling and door-to-door visits, March – August 2026.</a:t>
            </a:r>
          </a:p>
        </p:txBody>
      </p:sp>
      <p:grpSp>
        <p:nvGrpSpPr>
          <p:cNvPr name="Group 10" id="10"/>
          <p:cNvGrpSpPr/>
          <p:nvPr/>
        </p:nvGrpSpPr>
        <p:grpSpPr>
          <a:xfrm rot="0">
            <a:off x="1220724" y="9354312"/>
            <a:ext cx="11658600" cy="356616"/>
            <a:chOff x="0" y="0"/>
            <a:chExt cx="15544800" cy="475488"/>
          </a:xfrm>
        </p:grpSpPr>
        <p:sp>
          <p:nvSpPr>
            <p:cNvPr name="Freeform 11" id="11"/>
            <p:cNvSpPr/>
            <p:nvPr/>
          </p:nvSpPr>
          <p:spPr>
            <a:xfrm flipH="false" flipV="false" rot="0">
              <a:off x="0" y="0"/>
              <a:ext cx="15544800" cy="475488"/>
            </a:xfrm>
            <a:custGeom>
              <a:avLst/>
              <a:gdLst/>
              <a:ahLst/>
              <a:cxnLst/>
              <a:rect r="r" b="b" t="t" l="l"/>
              <a:pathLst>
                <a:path h="475488" w="15544800">
                  <a:moveTo>
                    <a:pt x="0" y="0"/>
                  </a:moveTo>
                  <a:lnTo>
                    <a:pt x="15544800" y="0"/>
                  </a:lnTo>
                  <a:lnTo>
                    <a:pt x="15544800" y="475488"/>
                  </a:lnTo>
                  <a:lnTo>
                    <a:pt x="0" y="475488"/>
                  </a:lnTo>
                  <a:close/>
                </a:path>
              </a:pathLst>
            </a:custGeom>
            <a:blipFill>
              <a:blip r:embed="rId3">
                <a:alphaModFix amt="0"/>
              </a:blip>
              <a:stretch>
                <a:fillRect l="0" t="-587010" r="0" b="-587010"/>
              </a:stretch>
            </a:blipFill>
          </p:spPr>
        </p:sp>
        <p:sp>
          <p:nvSpPr>
            <p:cNvPr name="TextBox 12" id="12"/>
            <p:cNvSpPr txBox="true"/>
            <p:nvPr/>
          </p:nvSpPr>
          <p:spPr>
            <a:xfrm>
              <a:off x="0" y="0"/>
              <a:ext cx="15544800" cy="475488"/>
            </a:xfrm>
            <a:prstGeom prst="rect">
              <a:avLst/>
            </a:prstGeom>
          </p:spPr>
          <p:txBody>
            <a:bodyPr anchor="ctr" rtlCol="false" tIns="0" lIns="0" bIns="0" rIns="0"/>
            <a:lstStyle/>
            <a:p>
              <a:pPr algn="l">
                <a:lnSpc>
                  <a:spcPts val="1800"/>
                </a:lnSpc>
              </a:pPr>
              <a:r>
                <a:rPr lang="en-US" sz="1500">
                  <a:solidFill>
                    <a:srgbClr val="5B6770"/>
                  </a:solidFill>
                  <a:latin typeface="IBM Plex Sans"/>
                  <a:ea typeface="IBM Plex Sans"/>
                  <a:cs typeface="IBM Plex Sans"/>
                  <a:sym typeface="IBM Plex Sans"/>
                </a:rPr>
                <a:t>Preserving Our Medicines · Community Antibiotic Stewardship, Chakwal, Pakistan</a:t>
              </a:r>
            </a:p>
          </p:txBody>
        </p:sp>
      </p:grpSp>
      <p:grpSp>
        <p:nvGrpSpPr>
          <p:cNvPr name="Group 13" id="13"/>
          <p:cNvGrpSpPr/>
          <p:nvPr/>
        </p:nvGrpSpPr>
        <p:grpSpPr>
          <a:xfrm rot="0">
            <a:off x="15695219" y="9354312"/>
            <a:ext cx="1371600" cy="356616"/>
            <a:chOff x="0" y="0"/>
            <a:chExt cx="1828800" cy="475488"/>
          </a:xfrm>
        </p:grpSpPr>
        <p:sp>
          <p:nvSpPr>
            <p:cNvPr name="Freeform 14" id="14"/>
            <p:cNvSpPr/>
            <p:nvPr/>
          </p:nvSpPr>
          <p:spPr>
            <a:xfrm flipH="false" flipV="false" rot="0">
              <a:off x="0" y="0"/>
              <a:ext cx="1828800" cy="475488"/>
            </a:xfrm>
            <a:custGeom>
              <a:avLst/>
              <a:gdLst/>
              <a:ahLst/>
              <a:cxnLst/>
              <a:rect r="r" b="b" t="t" l="l"/>
              <a:pathLst>
                <a:path h="475488" w="1828800">
                  <a:moveTo>
                    <a:pt x="0" y="0"/>
                  </a:moveTo>
                  <a:lnTo>
                    <a:pt x="1828800" y="0"/>
                  </a:lnTo>
                  <a:lnTo>
                    <a:pt x="1828800" y="475488"/>
                  </a:lnTo>
                  <a:lnTo>
                    <a:pt x="0" y="475488"/>
                  </a:lnTo>
                  <a:close/>
                </a:path>
              </a:pathLst>
            </a:custGeom>
            <a:blipFill>
              <a:blip r:embed="rId3">
                <a:alphaModFix amt="0"/>
              </a:blip>
              <a:stretch>
                <a:fillRect l="0" t="-24942" r="0" b="-24942"/>
              </a:stretch>
            </a:blipFill>
          </p:spPr>
        </p:sp>
        <p:sp>
          <p:nvSpPr>
            <p:cNvPr name="TextBox 15" id="15"/>
            <p:cNvSpPr txBox="true"/>
            <p:nvPr/>
          </p:nvSpPr>
          <p:spPr>
            <a:xfrm>
              <a:off x="0" y="0"/>
              <a:ext cx="1828800" cy="475488"/>
            </a:xfrm>
            <a:prstGeom prst="rect">
              <a:avLst/>
            </a:prstGeom>
          </p:spPr>
          <p:txBody>
            <a:bodyPr anchor="ctr" rtlCol="false" tIns="0" lIns="0" bIns="0" rIns="0"/>
            <a:lstStyle/>
            <a:p>
              <a:pPr algn="r">
                <a:lnSpc>
                  <a:spcPts val="1800"/>
                </a:lnSpc>
              </a:pPr>
              <a:r>
                <a:rPr lang="en-US" sz="1500">
                  <a:solidFill>
                    <a:srgbClr val="5B6770"/>
                  </a:solidFill>
                  <a:latin typeface="IBM Plex Sans"/>
                  <a:ea typeface="IBM Plex Sans"/>
                  <a:cs typeface="IBM Plex Sans"/>
                  <a:sym typeface="IBM Plex Sans"/>
                </a:rPr>
                <a:t>8</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7F6F2"/>
        </a:solidFill>
      </p:bgPr>
    </p:bg>
    <p:spTree>
      <p:nvGrpSpPr>
        <p:cNvPr id="1" name=""/>
        <p:cNvGrpSpPr/>
        <p:nvPr/>
      </p:nvGrpSpPr>
      <p:grpSpPr>
        <a:xfrm>
          <a:off x="0" y="0"/>
          <a:ext cx="0" cy="0"/>
          <a:chOff x="0" y="0"/>
          <a:chExt cx="0" cy="0"/>
        </a:xfrm>
      </p:grpSpPr>
      <p:grpSp>
        <p:nvGrpSpPr>
          <p:cNvPr name="Group 2" id="2"/>
          <p:cNvGrpSpPr/>
          <p:nvPr/>
        </p:nvGrpSpPr>
        <p:grpSpPr>
          <a:xfrm rot="0">
            <a:off x="1220724" y="1124712"/>
            <a:ext cx="15846095" cy="384048"/>
            <a:chOff x="0" y="0"/>
            <a:chExt cx="21128126" cy="512064"/>
          </a:xfrm>
        </p:grpSpPr>
        <p:sp>
          <p:nvSpPr>
            <p:cNvPr name="Freeform 3" id="3"/>
            <p:cNvSpPr/>
            <p:nvPr/>
          </p:nvSpPr>
          <p:spPr>
            <a:xfrm flipH="false" flipV="false" rot="0">
              <a:off x="0" y="0"/>
              <a:ext cx="21128126" cy="512064"/>
            </a:xfrm>
            <a:custGeom>
              <a:avLst/>
              <a:gdLst/>
              <a:ahLst/>
              <a:cxnLst/>
              <a:rect r="r" b="b" t="t" l="l"/>
              <a:pathLst>
                <a:path h="512064" w="21128126">
                  <a:moveTo>
                    <a:pt x="0" y="0"/>
                  </a:moveTo>
                  <a:lnTo>
                    <a:pt x="21128126" y="0"/>
                  </a:lnTo>
                  <a:lnTo>
                    <a:pt x="21128126" y="512064"/>
                  </a:lnTo>
                  <a:lnTo>
                    <a:pt x="0" y="512064"/>
                  </a:lnTo>
                  <a:close/>
                </a:path>
              </a:pathLst>
            </a:custGeom>
            <a:blipFill>
              <a:blip r:embed="rId3">
                <a:alphaModFix amt="0"/>
              </a:blip>
              <a:stretch>
                <a:fillRect l="0" t="-753966" r="0" b="-753966"/>
              </a:stretch>
            </a:blipFill>
          </p:spPr>
        </p:sp>
        <p:sp>
          <p:nvSpPr>
            <p:cNvPr name="TextBox 4" id="4"/>
            <p:cNvSpPr txBox="true"/>
            <p:nvPr/>
          </p:nvSpPr>
          <p:spPr>
            <a:xfrm>
              <a:off x="0" y="0"/>
              <a:ext cx="21128126" cy="512064"/>
            </a:xfrm>
            <a:prstGeom prst="rect">
              <a:avLst/>
            </a:prstGeom>
          </p:spPr>
          <p:txBody>
            <a:bodyPr anchor="ctr" rtlCol="false" tIns="0" lIns="0" bIns="0" rIns="0"/>
            <a:lstStyle/>
            <a:p>
              <a:pPr algn="l">
                <a:lnSpc>
                  <a:spcPts val="1980"/>
                </a:lnSpc>
              </a:pPr>
              <a:r>
                <a:rPr lang="en-US" b="true" sz="1650" spc="299">
                  <a:solidFill>
                    <a:srgbClr val="0B6E60"/>
                  </a:solidFill>
                  <a:latin typeface="IBM Plex Sans Bold"/>
                  <a:ea typeface="IBM Plex Sans Bold"/>
                  <a:cs typeface="IBM Plex Sans Bold"/>
                  <a:sym typeface="IBM Plex Sans Bold"/>
                </a:rPr>
                <a:t>07 · FIELDWORK STRATEGY</a:t>
              </a:r>
            </a:p>
          </p:txBody>
        </p:sp>
      </p:grpSp>
      <p:grpSp>
        <p:nvGrpSpPr>
          <p:cNvPr name="Group 5" id="5"/>
          <p:cNvGrpSpPr/>
          <p:nvPr/>
        </p:nvGrpSpPr>
        <p:grpSpPr>
          <a:xfrm rot="0">
            <a:off x="1220724" y="1536192"/>
            <a:ext cx="15846095" cy="850392"/>
            <a:chOff x="0" y="0"/>
            <a:chExt cx="21128126" cy="1133856"/>
          </a:xfrm>
        </p:grpSpPr>
        <p:sp>
          <p:nvSpPr>
            <p:cNvPr name="Freeform 6" id="6"/>
            <p:cNvSpPr/>
            <p:nvPr/>
          </p:nvSpPr>
          <p:spPr>
            <a:xfrm flipH="false" flipV="false" rot="0">
              <a:off x="0" y="0"/>
              <a:ext cx="21128126" cy="1133856"/>
            </a:xfrm>
            <a:custGeom>
              <a:avLst/>
              <a:gdLst/>
              <a:ahLst/>
              <a:cxnLst/>
              <a:rect r="r" b="b" t="t" l="l"/>
              <a:pathLst>
                <a:path h="1133856" w="21128126">
                  <a:moveTo>
                    <a:pt x="0" y="0"/>
                  </a:moveTo>
                  <a:lnTo>
                    <a:pt x="21128126" y="0"/>
                  </a:lnTo>
                  <a:lnTo>
                    <a:pt x="21128126" y="1133856"/>
                  </a:lnTo>
                  <a:lnTo>
                    <a:pt x="0" y="1133856"/>
                  </a:lnTo>
                  <a:close/>
                </a:path>
              </a:pathLst>
            </a:custGeom>
            <a:blipFill>
              <a:blip r:embed="rId3">
                <a:alphaModFix amt="0"/>
              </a:blip>
              <a:stretch>
                <a:fillRect l="0" t="-313081" r="0" b="-313081"/>
              </a:stretch>
            </a:blipFill>
          </p:spPr>
        </p:sp>
        <p:sp>
          <p:nvSpPr>
            <p:cNvPr name="TextBox 7" id="7"/>
            <p:cNvSpPr txBox="true"/>
            <p:nvPr/>
          </p:nvSpPr>
          <p:spPr>
            <a:xfrm>
              <a:off x="0" y="0"/>
              <a:ext cx="21128126" cy="1133856"/>
            </a:xfrm>
            <a:prstGeom prst="rect">
              <a:avLst/>
            </a:prstGeom>
          </p:spPr>
          <p:txBody>
            <a:bodyPr anchor="ctr" rtlCol="false" tIns="0" lIns="0" bIns="0" rIns="0"/>
            <a:lstStyle/>
            <a:p>
              <a:pPr algn="l">
                <a:lnSpc>
                  <a:spcPts val="5400"/>
                </a:lnSpc>
              </a:pPr>
              <a:r>
                <a:rPr lang="en-US" sz="4500" b="true">
                  <a:solidFill>
                    <a:srgbClr val="14304A"/>
                  </a:solidFill>
                  <a:latin typeface="Source Serif Pro Bold"/>
                  <a:ea typeface="Source Serif Pro Bold"/>
                  <a:cs typeface="Source Serif Pro Bold"/>
                  <a:sym typeface="Source Serif Pro Bold"/>
                </a:rPr>
                <a:t>Three pillars, one message</a:t>
              </a:r>
            </a:p>
          </p:txBody>
        </p:sp>
      </p:grpSp>
      <p:grpSp>
        <p:nvGrpSpPr>
          <p:cNvPr name="Group 8" id="8"/>
          <p:cNvGrpSpPr/>
          <p:nvPr/>
        </p:nvGrpSpPr>
        <p:grpSpPr>
          <a:xfrm rot="0">
            <a:off x="1213580" y="2804636"/>
            <a:ext cx="5020628" cy="5637847"/>
            <a:chOff x="0" y="0"/>
            <a:chExt cx="6694170" cy="7517130"/>
          </a:xfrm>
        </p:grpSpPr>
        <p:sp>
          <p:nvSpPr>
            <p:cNvPr name="Freeform 9" id="9"/>
            <p:cNvSpPr/>
            <p:nvPr/>
          </p:nvSpPr>
          <p:spPr>
            <a:xfrm flipH="false" flipV="false" rot="0">
              <a:off x="0" y="0"/>
              <a:ext cx="6694170" cy="7517130"/>
            </a:xfrm>
            <a:custGeom>
              <a:avLst/>
              <a:gdLst/>
              <a:ahLst/>
              <a:cxnLst/>
              <a:rect r="r" b="b" t="t" l="l"/>
              <a:pathLst>
                <a:path h="7517130" w="6694170">
                  <a:moveTo>
                    <a:pt x="0" y="146685"/>
                  </a:moveTo>
                  <a:cubicBezTo>
                    <a:pt x="0" y="65659"/>
                    <a:pt x="65659" y="0"/>
                    <a:pt x="146685" y="0"/>
                  </a:cubicBezTo>
                  <a:lnTo>
                    <a:pt x="6547485" y="0"/>
                  </a:lnTo>
                  <a:cubicBezTo>
                    <a:pt x="6628511" y="0"/>
                    <a:pt x="6694170" y="65659"/>
                    <a:pt x="6694170" y="146685"/>
                  </a:cubicBezTo>
                  <a:lnTo>
                    <a:pt x="6694170" y="7370445"/>
                  </a:lnTo>
                  <a:cubicBezTo>
                    <a:pt x="6694170" y="7451471"/>
                    <a:pt x="6628511" y="7517130"/>
                    <a:pt x="6547485" y="7517130"/>
                  </a:cubicBezTo>
                  <a:lnTo>
                    <a:pt x="146685" y="7517130"/>
                  </a:lnTo>
                  <a:cubicBezTo>
                    <a:pt x="65659" y="7517130"/>
                    <a:pt x="0" y="7451471"/>
                    <a:pt x="0" y="7370445"/>
                  </a:cubicBezTo>
                  <a:close/>
                </a:path>
              </a:pathLst>
            </a:custGeom>
            <a:solidFill>
              <a:srgbClr val="FDFDFB"/>
            </a:solidFill>
            <a:ln w="14288" cap="sq">
              <a:solidFill>
                <a:srgbClr val="D3DCD9"/>
              </a:solidFill>
              <a:prstDash val="solid"/>
              <a:miter/>
            </a:ln>
          </p:spPr>
        </p:sp>
      </p:grpSp>
      <p:grpSp>
        <p:nvGrpSpPr>
          <p:cNvPr name="Group 10" id="10"/>
          <p:cNvGrpSpPr/>
          <p:nvPr/>
        </p:nvGrpSpPr>
        <p:grpSpPr>
          <a:xfrm rot="0">
            <a:off x="1691259" y="3282315"/>
            <a:ext cx="979170" cy="979170"/>
            <a:chOff x="0" y="0"/>
            <a:chExt cx="1305560" cy="1305560"/>
          </a:xfrm>
        </p:grpSpPr>
        <p:sp>
          <p:nvSpPr>
            <p:cNvPr name="Freeform 11" id="11"/>
            <p:cNvSpPr/>
            <p:nvPr/>
          </p:nvSpPr>
          <p:spPr>
            <a:xfrm flipH="false" flipV="false" rot="0">
              <a:off x="0" y="0"/>
              <a:ext cx="1305560" cy="1305560"/>
            </a:xfrm>
            <a:custGeom>
              <a:avLst/>
              <a:gdLst/>
              <a:ahLst/>
              <a:cxnLst/>
              <a:rect r="r" b="b" t="t" l="l"/>
              <a:pathLst>
                <a:path h="1305560" w="1305560">
                  <a:moveTo>
                    <a:pt x="0" y="223774"/>
                  </a:moveTo>
                  <a:cubicBezTo>
                    <a:pt x="0" y="100203"/>
                    <a:pt x="100203" y="0"/>
                    <a:pt x="223774" y="0"/>
                  </a:cubicBezTo>
                  <a:lnTo>
                    <a:pt x="1081786" y="0"/>
                  </a:lnTo>
                  <a:cubicBezTo>
                    <a:pt x="1205357" y="0"/>
                    <a:pt x="1305560" y="100203"/>
                    <a:pt x="1305560" y="223774"/>
                  </a:cubicBezTo>
                  <a:lnTo>
                    <a:pt x="1305560" y="1081786"/>
                  </a:lnTo>
                  <a:cubicBezTo>
                    <a:pt x="1305560" y="1205357"/>
                    <a:pt x="1205357" y="1305560"/>
                    <a:pt x="1081786" y="1305560"/>
                  </a:cubicBezTo>
                  <a:lnTo>
                    <a:pt x="223774" y="1305560"/>
                  </a:lnTo>
                  <a:cubicBezTo>
                    <a:pt x="100203" y="1305560"/>
                    <a:pt x="0" y="1205357"/>
                    <a:pt x="0" y="1081786"/>
                  </a:cubicBezTo>
                  <a:close/>
                </a:path>
              </a:pathLst>
            </a:custGeom>
            <a:solidFill>
              <a:srgbClr val="EAF0EE"/>
            </a:solidFill>
            <a:ln w="19050" cap="sq">
              <a:solidFill>
                <a:srgbClr val="EAF0EE"/>
              </a:solidFill>
              <a:prstDash val="solid"/>
              <a:miter/>
            </a:ln>
          </p:spPr>
        </p:sp>
      </p:grpSp>
      <p:grpSp>
        <p:nvGrpSpPr>
          <p:cNvPr name="Group 12" id="12"/>
          <p:cNvGrpSpPr/>
          <p:nvPr/>
        </p:nvGrpSpPr>
        <p:grpSpPr>
          <a:xfrm rot="0">
            <a:off x="1947672" y="3538728"/>
            <a:ext cx="466344" cy="466344"/>
            <a:chOff x="0" y="0"/>
            <a:chExt cx="621792" cy="621792"/>
          </a:xfrm>
        </p:grpSpPr>
        <p:sp>
          <p:nvSpPr>
            <p:cNvPr name="Freeform 13" id="13" descr="preencoded.png"/>
            <p:cNvSpPr/>
            <p:nvPr/>
          </p:nvSpPr>
          <p:spPr>
            <a:xfrm flipH="false" flipV="false" rot="0">
              <a:off x="0" y="0"/>
              <a:ext cx="621792" cy="621792"/>
            </a:xfrm>
            <a:custGeom>
              <a:avLst/>
              <a:gdLst/>
              <a:ahLst/>
              <a:cxnLst/>
              <a:rect r="r" b="b" t="t" l="l"/>
              <a:pathLst>
                <a:path h="621792" w="621792">
                  <a:moveTo>
                    <a:pt x="0" y="0"/>
                  </a:moveTo>
                  <a:lnTo>
                    <a:pt x="621792" y="0"/>
                  </a:lnTo>
                  <a:lnTo>
                    <a:pt x="621792" y="621792"/>
                  </a:lnTo>
                  <a:lnTo>
                    <a:pt x="0" y="621792"/>
                  </a:lnTo>
                  <a:lnTo>
                    <a:pt x="0" y="0"/>
                  </a:lnTo>
                  <a:close/>
                </a:path>
              </a:pathLst>
            </a:custGeom>
            <a:blipFill>
              <a:blip r:embed="rId4"/>
              <a:stretch>
                <a:fillRect l="0" t="0" r="0" b="0"/>
              </a:stretch>
            </a:blipFill>
          </p:spPr>
        </p:sp>
      </p:grpSp>
      <p:sp>
        <p:nvSpPr>
          <p:cNvPr name="TextBox 14" id="14"/>
          <p:cNvSpPr txBox="true"/>
          <p:nvPr/>
        </p:nvSpPr>
        <p:spPr>
          <a:xfrm rot="0">
            <a:off x="1700784" y="4526280"/>
            <a:ext cx="4114800" cy="548640"/>
          </a:xfrm>
          <a:prstGeom prst="rect">
            <a:avLst/>
          </a:prstGeom>
        </p:spPr>
        <p:txBody>
          <a:bodyPr anchor="t" rtlCol="false" tIns="0" lIns="0" bIns="0" rIns="0">
            <a:spAutoFit/>
          </a:bodyPr>
          <a:lstStyle/>
          <a:p>
            <a:pPr algn="l">
              <a:lnSpc>
                <a:spcPts val="2700"/>
              </a:lnSpc>
            </a:pPr>
            <a:r>
              <a:rPr lang="en-US" sz="2250" b="true">
                <a:solidFill>
                  <a:srgbClr val="14304A"/>
                </a:solidFill>
                <a:latin typeface="IBM Plex Sans Bold"/>
                <a:ea typeface="IBM Plex Sans Bold"/>
                <a:cs typeface="IBM Plex Sans Bold"/>
                <a:sym typeface="IBM Plex Sans Bold"/>
              </a:rPr>
              <a:t>Dispensing education</a:t>
            </a:r>
          </a:p>
        </p:txBody>
      </p:sp>
      <p:sp>
        <p:nvSpPr>
          <p:cNvPr name="TextBox 15" id="15"/>
          <p:cNvSpPr txBox="true"/>
          <p:nvPr/>
        </p:nvSpPr>
        <p:spPr>
          <a:xfrm rot="0">
            <a:off x="1700784" y="5212080"/>
            <a:ext cx="4114800" cy="3017520"/>
          </a:xfrm>
          <a:prstGeom prst="rect">
            <a:avLst/>
          </a:prstGeom>
        </p:spPr>
        <p:txBody>
          <a:bodyPr anchor="t" rtlCol="false" tIns="0" lIns="0" bIns="0" rIns="0">
            <a:spAutoFit/>
          </a:bodyPr>
          <a:lstStyle/>
          <a:p>
            <a:pPr algn="l" marL="298609" indent="-149304" lvl="1">
              <a:lnSpc>
                <a:spcPts val="1980"/>
              </a:lnSpc>
              <a:buFont typeface="Arial"/>
              <a:buChar char="•"/>
            </a:pPr>
            <a:r>
              <a:rPr lang="en-US" sz="1650">
                <a:solidFill>
                  <a:srgbClr val="3F4B57"/>
                </a:solidFill>
                <a:latin typeface="IBM Plex Sans"/>
                <a:ea typeface="IBM Plex Sans"/>
                <a:cs typeface="IBM Plex Sans"/>
                <a:sym typeface="IBM Plex Sans"/>
              </a:rPr>
              <a:t>Direct patient counselling at the pharmacy counter while handing over antibiotics</a:t>
            </a:r>
          </a:p>
          <a:p>
            <a:pPr algn="l" marL="298609" indent="-149304" lvl="1">
              <a:lnSpc>
                <a:spcPts val="1980"/>
              </a:lnSpc>
              <a:buFont typeface="Arial"/>
              <a:buChar char="•"/>
            </a:pPr>
            <a:r>
              <a:rPr lang="en-US" sz="1650">
                <a:solidFill>
                  <a:srgbClr val="3F4B57"/>
                </a:solidFill>
                <a:latin typeface="IBM Plex Sans"/>
                <a:ea typeface="IBM Plex Sans"/>
                <a:cs typeface="IBM Plex Sans"/>
                <a:sym typeface="IBM Plex Sans"/>
              </a:rPr>
              <a:t>Dose-completion advice and viral vs. bacterial explanation</a:t>
            </a:r>
          </a:p>
          <a:p>
            <a:pPr algn="l" marL="298609" indent="-149304" lvl="1">
              <a:lnSpc>
                <a:spcPts val="1980"/>
              </a:lnSpc>
              <a:buFont typeface="Arial"/>
              <a:buChar char="•"/>
            </a:pPr>
            <a:r>
              <a:rPr lang="en-US" sz="1650">
                <a:solidFill>
                  <a:srgbClr val="3F4B57"/>
                </a:solidFill>
                <a:latin typeface="IBM Plex Sans"/>
                <a:ea typeface="IBM Plex Sans"/>
                <a:cs typeface="IBM Plex Sans"/>
                <a:sym typeface="IBM Plex Sans"/>
              </a:rPr>
              <a:t>Refusal of non-prescription antibiotic sales</a:t>
            </a:r>
          </a:p>
        </p:txBody>
      </p:sp>
      <p:grpSp>
        <p:nvGrpSpPr>
          <p:cNvPr name="Group 16" id="16"/>
          <p:cNvGrpSpPr/>
          <p:nvPr/>
        </p:nvGrpSpPr>
        <p:grpSpPr>
          <a:xfrm rot="0">
            <a:off x="6631400" y="2804636"/>
            <a:ext cx="5020628" cy="5637847"/>
            <a:chOff x="0" y="0"/>
            <a:chExt cx="6694170" cy="7517130"/>
          </a:xfrm>
        </p:grpSpPr>
        <p:sp>
          <p:nvSpPr>
            <p:cNvPr name="Freeform 17" id="17"/>
            <p:cNvSpPr/>
            <p:nvPr/>
          </p:nvSpPr>
          <p:spPr>
            <a:xfrm flipH="false" flipV="false" rot="0">
              <a:off x="0" y="0"/>
              <a:ext cx="6694170" cy="7517130"/>
            </a:xfrm>
            <a:custGeom>
              <a:avLst/>
              <a:gdLst/>
              <a:ahLst/>
              <a:cxnLst/>
              <a:rect r="r" b="b" t="t" l="l"/>
              <a:pathLst>
                <a:path h="7517130" w="6694170">
                  <a:moveTo>
                    <a:pt x="0" y="146685"/>
                  </a:moveTo>
                  <a:cubicBezTo>
                    <a:pt x="0" y="65659"/>
                    <a:pt x="65659" y="0"/>
                    <a:pt x="146685" y="0"/>
                  </a:cubicBezTo>
                  <a:lnTo>
                    <a:pt x="6547485" y="0"/>
                  </a:lnTo>
                  <a:cubicBezTo>
                    <a:pt x="6628511" y="0"/>
                    <a:pt x="6694170" y="65659"/>
                    <a:pt x="6694170" y="146685"/>
                  </a:cubicBezTo>
                  <a:lnTo>
                    <a:pt x="6694170" y="7370445"/>
                  </a:lnTo>
                  <a:cubicBezTo>
                    <a:pt x="6694170" y="7451471"/>
                    <a:pt x="6628511" y="7517130"/>
                    <a:pt x="6547485" y="7517130"/>
                  </a:cubicBezTo>
                  <a:lnTo>
                    <a:pt x="146685" y="7517130"/>
                  </a:lnTo>
                  <a:cubicBezTo>
                    <a:pt x="65659" y="7517130"/>
                    <a:pt x="0" y="7451471"/>
                    <a:pt x="0" y="7370445"/>
                  </a:cubicBezTo>
                  <a:close/>
                </a:path>
              </a:pathLst>
            </a:custGeom>
            <a:solidFill>
              <a:srgbClr val="FDFDFB"/>
            </a:solidFill>
            <a:ln w="14288" cap="sq">
              <a:solidFill>
                <a:srgbClr val="D3DCD9"/>
              </a:solidFill>
              <a:prstDash val="solid"/>
              <a:miter/>
            </a:ln>
          </p:spPr>
        </p:sp>
      </p:grpSp>
      <p:grpSp>
        <p:nvGrpSpPr>
          <p:cNvPr name="Group 18" id="18"/>
          <p:cNvGrpSpPr/>
          <p:nvPr/>
        </p:nvGrpSpPr>
        <p:grpSpPr>
          <a:xfrm rot="0">
            <a:off x="7109079" y="3282315"/>
            <a:ext cx="979170" cy="979170"/>
            <a:chOff x="0" y="0"/>
            <a:chExt cx="1305560" cy="1305560"/>
          </a:xfrm>
        </p:grpSpPr>
        <p:sp>
          <p:nvSpPr>
            <p:cNvPr name="Freeform 19" id="19"/>
            <p:cNvSpPr/>
            <p:nvPr/>
          </p:nvSpPr>
          <p:spPr>
            <a:xfrm flipH="false" flipV="false" rot="0">
              <a:off x="0" y="0"/>
              <a:ext cx="1305560" cy="1305560"/>
            </a:xfrm>
            <a:custGeom>
              <a:avLst/>
              <a:gdLst/>
              <a:ahLst/>
              <a:cxnLst/>
              <a:rect r="r" b="b" t="t" l="l"/>
              <a:pathLst>
                <a:path h="1305560" w="1305560">
                  <a:moveTo>
                    <a:pt x="0" y="223774"/>
                  </a:moveTo>
                  <a:cubicBezTo>
                    <a:pt x="0" y="100203"/>
                    <a:pt x="100203" y="0"/>
                    <a:pt x="223774" y="0"/>
                  </a:cubicBezTo>
                  <a:lnTo>
                    <a:pt x="1081786" y="0"/>
                  </a:lnTo>
                  <a:cubicBezTo>
                    <a:pt x="1205357" y="0"/>
                    <a:pt x="1305560" y="100203"/>
                    <a:pt x="1305560" y="223774"/>
                  </a:cubicBezTo>
                  <a:lnTo>
                    <a:pt x="1305560" y="1081786"/>
                  </a:lnTo>
                  <a:cubicBezTo>
                    <a:pt x="1305560" y="1205357"/>
                    <a:pt x="1205357" y="1305560"/>
                    <a:pt x="1081786" y="1305560"/>
                  </a:cubicBezTo>
                  <a:lnTo>
                    <a:pt x="223774" y="1305560"/>
                  </a:lnTo>
                  <a:cubicBezTo>
                    <a:pt x="100203" y="1305560"/>
                    <a:pt x="0" y="1205357"/>
                    <a:pt x="0" y="1081786"/>
                  </a:cubicBezTo>
                  <a:close/>
                </a:path>
              </a:pathLst>
            </a:custGeom>
            <a:solidFill>
              <a:srgbClr val="EAF0EE"/>
            </a:solidFill>
            <a:ln w="19050" cap="sq">
              <a:solidFill>
                <a:srgbClr val="EAF0EE"/>
              </a:solidFill>
              <a:prstDash val="solid"/>
              <a:miter/>
            </a:ln>
          </p:spPr>
        </p:sp>
      </p:grpSp>
      <p:grpSp>
        <p:nvGrpSpPr>
          <p:cNvPr name="Group 20" id="20"/>
          <p:cNvGrpSpPr/>
          <p:nvPr/>
        </p:nvGrpSpPr>
        <p:grpSpPr>
          <a:xfrm rot="0">
            <a:off x="7365492" y="3538728"/>
            <a:ext cx="466344" cy="466344"/>
            <a:chOff x="0" y="0"/>
            <a:chExt cx="621792" cy="621792"/>
          </a:xfrm>
        </p:grpSpPr>
        <p:sp>
          <p:nvSpPr>
            <p:cNvPr name="Freeform 21" id="21" descr="preencoded.png"/>
            <p:cNvSpPr/>
            <p:nvPr/>
          </p:nvSpPr>
          <p:spPr>
            <a:xfrm flipH="false" flipV="false" rot="0">
              <a:off x="0" y="0"/>
              <a:ext cx="621792" cy="621792"/>
            </a:xfrm>
            <a:custGeom>
              <a:avLst/>
              <a:gdLst/>
              <a:ahLst/>
              <a:cxnLst/>
              <a:rect r="r" b="b" t="t" l="l"/>
              <a:pathLst>
                <a:path h="621792" w="621792">
                  <a:moveTo>
                    <a:pt x="0" y="0"/>
                  </a:moveTo>
                  <a:lnTo>
                    <a:pt x="621792" y="0"/>
                  </a:lnTo>
                  <a:lnTo>
                    <a:pt x="621792" y="621792"/>
                  </a:lnTo>
                  <a:lnTo>
                    <a:pt x="0" y="621792"/>
                  </a:lnTo>
                  <a:lnTo>
                    <a:pt x="0" y="0"/>
                  </a:lnTo>
                  <a:close/>
                </a:path>
              </a:pathLst>
            </a:custGeom>
            <a:blipFill>
              <a:blip r:embed="rId5"/>
              <a:stretch>
                <a:fillRect l="0" t="0" r="0" b="0"/>
              </a:stretch>
            </a:blipFill>
          </p:spPr>
        </p:sp>
      </p:grpSp>
      <p:sp>
        <p:nvSpPr>
          <p:cNvPr name="TextBox 22" id="22"/>
          <p:cNvSpPr txBox="true"/>
          <p:nvPr/>
        </p:nvSpPr>
        <p:spPr>
          <a:xfrm rot="0">
            <a:off x="7118604" y="4526280"/>
            <a:ext cx="4114800" cy="548640"/>
          </a:xfrm>
          <a:prstGeom prst="rect">
            <a:avLst/>
          </a:prstGeom>
        </p:spPr>
        <p:txBody>
          <a:bodyPr anchor="t" rtlCol="false" tIns="0" lIns="0" bIns="0" rIns="0">
            <a:spAutoFit/>
          </a:bodyPr>
          <a:lstStyle/>
          <a:p>
            <a:pPr algn="l">
              <a:lnSpc>
                <a:spcPts val="2700"/>
              </a:lnSpc>
            </a:pPr>
            <a:r>
              <a:rPr lang="en-US" sz="2250" b="true">
                <a:solidFill>
                  <a:srgbClr val="14304A"/>
                </a:solidFill>
                <a:latin typeface="IBM Plex Sans Bold"/>
                <a:ea typeface="IBM Plex Sans Bold"/>
                <a:cs typeface="IBM Plex Sans Bold"/>
                <a:sym typeface="IBM Plex Sans Bold"/>
              </a:rPr>
              <a:t>Flyer &amp; poster drives</a:t>
            </a:r>
          </a:p>
        </p:txBody>
      </p:sp>
      <p:sp>
        <p:nvSpPr>
          <p:cNvPr name="TextBox 23" id="23"/>
          <p:cNvSpPr txBox="true"/>
          <p:nvPr/>
        </p:nvSpPr>
        <p:spPr>
          <a:xfrm rot="0">
            <a:off x="7118604" y="5212080"/>
            <a:ext cx="4114800" cy="3017520"/>
          </a:xfrm>
          <a:prstGeom prst="rect">
            <a:avLst/>
          </a:prstGeom>
        </p:spPr>
        <p:txBody>
          <a:bodyPr anchor="t" rtlCol="false" tIns="0" lIns="0" bIns="0" rIns="0">
            <a:spAutoFit/>
          </a:bodyPr>
          <a:lstStyle/>
          <a:p>
            <a:pPr algn="l" marL="298609" indent="-149304" lvl="1">
              <a:lnSpc>
                <a:spcPts val="1980"/>
              </a:lnSpc>
              <a:buFont typeface="Arial"/>
              <a:buChar char="•"/>
            </a:pPr>
            <a:r>
              <a:rPr lang="en-US" sz="1650">
                <a:solidFill>
                  <a:srgbClr val="3F4B57"/>
                </a:solidFill>
                <a:latin typeface="IBM Plex Sans"/>
                <a:ea typeface="IBM Plex Sans"/>
                <a:cs typeface="IBM Plex Sans"/>
                <a:sym typeface="IBM Plex Sans"/>
              </a:rPr>
              <a:t>Illustrated flyers distributed door-to-door in Urdu and Punjabi</a:t>
            </a:r>
          </a:p>
          <a:p>
            <a:pPr algn="l" marL="298609" indent="-149304" lvl="1">
              <a:lnSpc>
                <a:spcPts val="1980"/>
              </a:lnSpc>
              <a:buFont typeface="Arial"/>
              <a:buChar char="•"/>
            </a:pPr>
            <a:r>
              <a:rPr lang="en-US" sz="1650">
                <a:solidFill>
                  <a:srgbClr val="3F4B57"/>
                </a:solidFill>
                <a:latin typeface="IBM Plex Sans"/>
                <a:ea typeface="IBM Plex Sans"/>
                <a:cs typeface="IBM Plex Sans"/>
                <a:sym typeface="IBM Plex Sans"/>
              </a:rPr>
              <a:t>AMR warning posters in dispensaries, mosques and community hubs</a:t>
            </a:r>
          </a:p>
          <a:p>
            <a:pPr algn="l" marL="298609" indent="-149304" lvl="1">
              <a:lnSpc>
                <a:spcPts val="1980"/>
              </a:lnSpc>
              <a:buFont typeface="Arial"/>
              <a:buChar char="•"/>
            </a:pPr>
            <a:r>
              <a:rPr lang="en-US" sz="1650">
                <a:solidFill>
                  <a:srgbClr val="3F4B57"/>
                </a:solidFill>
                <a:latin typeface="IBM Plex Sans"/>
                <a:ea typeface="IBM Plex Sans"/>
                <a:cs typeface="IBM Plex Sans"/>
                <a:sym typeface="IBM Plex Sans"/>
              </a:rPr>
              <a:t>Messages reinforced by local dispensers and lady health workers</a:t>
            </a:r>
          </a:p>
        </p:txBody>
      </p:sp>
      <p:grpSp>
        <p:nvGrpSpPr>
          <p:cNvPr name="Group 24" id="24"/>
          <p:cNvGrpSpPr/>
          <p:nvPr/>
        </p:nvGrpSpPr>
        <p:grpSpPr>
          <a:xfrm rot="0">
            <a:off x="12049220" y="2804636"/>
            <a:ext cx="5020628" cy="5637847"/>
            <a:chOff x="0" y="0"/>
            <a:chExt cx="6694170" cy="7517130"/>
          </a:xfrm>
        </p:grpSpPr>
        <p:sp>
          <p:nvSpPr>
            <p:cNvPr name="Freeform 25" id="25"/>
            <p:cNvSpPr/>
            <p:nvPr/>
          </p:nvSpPr>
          <p:spPr>
            <a:xfrm flipH="false" flipV="false" rot="0">
              <a:off x="0" y="0"/>
              <a:ext cx="6694170" cy="7517130"/>
            </a:xfrm>
            <a:custGeom>
              <a:avLst/>
              <a:gdLst/>
              <a:ahLst/>
              <a:cxnLst/>
              <a:rect r="r" b="b" t="t" l="l"/>
              <a:pathLst>
                <a:path h="7517130" w="6694170">
                  <a:moveTo>
                    <a:pt x="0" y="146685"/>
                  </a:moveTo>
                  <a:cubicBezTo>
                    <a:pt x="0" y="65659"/>
                    <a:pt x="65659" y="0"/>
                    <a:pt x="146685" y="0"/>
                  </a:cubicBezTo>
                  <a:lnTo>
                    <a:pt x="6547485" y="0"/>
                  </a:lnTo>
                  <a:cubicBezTo>
                    <a:pt x="6628511" y="0"/>
                    <a:pt x="6694170" y="65659"/>
                    <a:pt x="6694170" y="146685"/>
                  </a:cubicBezTo>
                  <a:lnTo>
                    <a:pt x="6694170" y="7370445"/>
                  </a:lnTo>
                  <a:cubicBezTo>
                    <a:pt x="6694170" y="7451471"/>
                    <a:pt x="6628511" y="7517130"/>
                    <a:pt x="6547485" y="7517130"/>
                  </a:cubicBezTo>
                  <a:lnTo>
                    <a:pt x="146685" y="7517130"/>
                  </a:lnTo>
                  <a:cubicBezTo>
                    <a:pt x="65659" y="7517130"/>
                    <a:pt x="0" y="7451471"/>
                    <a:pt x="0" y="7370445"/>
                  </a:cubicBezTo>
                  <a:close/>
                </a:path>
              </a:pathLst>
            </a:custGeom>
            <a:solidFill>
              <a:srgbClr val="FDFDFB"/>
            </a:solidFill>
            <a:ln w="14288" cap="sq">
              <a:solidFill>
                <a:srgbClr val="D3DCD9"/>
              </a:solidFill>
              <a:prstDash val="solid"/>
              <a:miter/>
            </a:ln>
          </p:spPr>
        </p:sp>
      </p:grpSp>
      <p:grpSp>
        <p:nvGrpSpPr>
          <p:cNvPr name="Group 26" id="26"/>
          <p:cNvGrpSpPr/>
          <p:nvPr/>
        </p:nvGrpSpPr>
        <p:grpSpPr>
          <a:xfrm rot="0">
            <a:off x="12526899" y="3282315"/>
            <a:ext cx="979170" cy="979170"/>
            <a:chOff x="0" y="0"/>
            <a:chExt cx="1305560" cy="1305560"/>
          </a:xfrm>
        </p:grpSpPr>
        <p:sp>
          <p:nvSpPr>
            <p:cNvPr name="Freeform 27" id="27"/>
            <p:cNvSpPr/>
            <p:nvPr/>
          </p:nvSpPr>
          <p:spPr>
            <a:xfrm flipH="false" flipV="false" rot="0">
              <a:off x="0" y="0"/>
              <a:ext cx="1305560" cy="1305560"/>
            </a:xfrm>
            <a:custGeom>
              <a:avLst/>
              <a:gdLst/>
              <a:ahLst/>
              <a:cxnLst/>
              <a:rect r="r" b="b" t="t" l="l"/>
              <a:pathLst>
                <a:path h="1305560" w="1305560">
                  <a:moveTo>
                    <a:pt x="0" y="223774"/>
                  </a:moveTo>
                  <a:cubicBezTo>
                    <a:pt x="0" y="100203"/>
                    <a:pt x="100203" y="0"/>
                    <a:pt x="223774" y="0"/>
                  </a:cubicBezTo>
                  <a:lnTo>
                    <a:pt x="1081786" y="0"/>
                  </a:lnTo>
                  <a:cubicBezTo>
                    <a:pt x="1205357" y="0"/>
                    <a:pt x="1305560" y="100203"/>
                    <a:pt x="1305560" y="223774"/>
                  </a:cubicBezTo>
                  <a:lnTo>
                    <a:pt x="1305560" y="1081786"/>
                  </a:lnTo>
                  <a:cubicBezTo>
                    <a:pt x="1305560" y="1205357"/>
                    <a:pt x="1205357" y="1305560"/>
                    <a:pt x="1081786" y="1305560"/>
                  </a:cubicBezTo>
                  <a:lnTo>
                    <a:pt x="223774" y="1305560"/>
                  </a:lnTo>
                  <a:cubicBezTo>
                    <a:pt x="100203" y="1305560"/>
                    <a:pt x="0" y="1205357"/>
                    <a:pt x="0" y="1081786"/>
                  </a:cubicBezTo>
                  <a:close/>
                </a:path>
              </a:pathLst>
            </a:custGeom>
            <a:solidFill>
              <a:srgbClr val="EAF0EE"/>
            </a:solidFill>
            <a:ln w="19050" cap="sq">
              <a:solidFill>
                <a:srgbClr val="EAF0EE"/>
              </a:solidFill>
              <a:prstDash val="solid"/>
              <a:miter/>
            </a:ln>
          </p:spPr>
        </p:sp>
      </p:grpSp>
      <p:grpSp>
        <p:nvGrpSpPr>
          <p:cNvPr name="Group 28" id="28"/>
          <p:cNvGrpSpPr/>
          <p:nvPr/>
        </p:nvGrpSpPr>
        <p:grpSpPr>
          <a:xfrm rot="0">
            <a:off x="12783312" y="3538728"/>
            <a:ext cx="466344" cy="466344"/>
            <a:chOff x="0" y="0"/>
            <a:chExt cx="621792" cy="621792"/>
          </a:xfrm>
        </p:grpSpPr>
        <p:sp>
          <p:nvSpPr>
            <p:cNvPr name="Freeform 29" id="29" descr="preencoded.png"/>
            <p:cNvSpPr/>
            <p:nvPr/>
          </p:nvSpPr>
          <p:spPr>
            <a:xfrm flipH="false" flipV="false" rot="0">
              <a:off x="0" y="0"/>
              <a:ext cx="621792" cy="621792"/>
            </a:xfrm>
            <a:custGeom>
              <a:avLst/>
              <a:gdLst/>
              <a:ahLst/>
              <a:cxnLst/>
              <a:rect r="r" b="b" t="t" l="l"/>
              <a:pathLst>
                <a:path h="621792" w="621792">
                  <a:moveTo>
                    <a:pt x="0" y="0"/>
                  </a:moveTo>
                  <a:lnTo>
                    <a:pt x="621792" y="0"/>
                  </a:lnTo>
                  <a:lnTo>
                    <a:pt x="621792" y="621792"/>
                  </a:lnTo>
                  <a:lnTo>
                    <a:pt x="0" y="621792"/>
                  </a:lnTo>
                  <a:lnTo>
                    <a:pt x="0" y="0"/>
                  </a:lnTo>
                  <a:close/>
                </a:path>
              </a:pathLst>
            </a:custGeom>
            <a:blipFill>
              <a:blip r:embed="rId6"/>
              <a:stretch>
                <a:fillRect l="0" t="0" r="0" b="0"/>
              </a:stretch>
            </a:blipFill>
          </p:spPr>
        </p:sp>
      </p:grpSp>
      <p:sp>
        <p:nvSpPr>
          <p:cNvPr name="TextBox 30" id="30"/>
          <p:cNvSpPr txBox="true"/>
          <p:nvPr/>
        </p:nvSpPr>
        <p:spPr>
          <a:xfrm rot="0">
            <a:off x="12536424" y="4526280"/>
            <a:ext cx="4114800" cy="548640"/>
          </a:xfrm>
          <a:prstGeom prst="rect">
            <a:avLst/>
          </a:prstGeom>
        </p:spPr>
        <p:txBody>
          <a:bodyPr anchor="t" rtlCol="false" tIns="0" lIns="0" bIns="0" rIns="0">
            <a:spAutoFit/>
          </a:bodyPr>
          <a:lstStyle/>
          <a:p>
            <a:pPr algn="l">
              <a:lnSpc>
                <a:spcPts val="2700"/>
              </a:lnSpc>
            </a:pPr>
            <a:r>
              <a:rPr lang="en-US" sz="2250" b="true">
                <a:solidFill>
                  <a:srgbClr val="14304A"/>
                </a:solidFill>
                <a:latin typeface="IBM Plex Sans Bold"/>
                <a:ea typeface="IBM Plex Sans Bold"/>
                <a:cs typeface="IBM Plex Sans Bold"/>
                <a:sym typeface="IBM Plex Sans Bold"/>
              </a:rPr>
              <a:t>Free medical camps</a:t>
            </a:r>
          </a:p>
        </p:txBody>
      </p:sp>
      <p:sp>
        <p:nvSpPr>
          <p:cNvPr name="TextBox 31" id="31"/>
          <p:cNvSpPr txBox="true"/>
          <p:nvPr/>
        </p:nvSpPr>
        <p:spPr>
          <a:xfrm rot="0">
            <a:off x="12536424" y="5212080"/>
            <a:ext cx="4114800" cy="3017520"/>
          </a:xfrm>
          <a:prstGeom prst="rect">
            <a:avLst/>
          </a:prstGeom>
        </p:spPr>
        <p:txBody>
          <a:bodyPr anchor="t" rtlCol="false" tIns="0" lIns="0" bIns="0" rIns="0">
            <a:spAutoFit/>
          </a:bodyPr>
          <a:lstStyle/>
          <a:p>
            <a:pPr algn="l" marL="298609" indent="-149304" lvl="1">
              <a:lnSpc>
                <a:spcPts val="1980"/>
              </a:lnSpc>
              <a:buFont typeface="Arial"/>
              <a:buChar char="•"/>
            </a:pPr>
            <a:r>
              <a:rPr lang="en-US" sz="1650">
                <a:solidFill>
                  <a:srgbClr val="3F4B57"/>
                </a:solidFill>
                <a:latin typeface="IBM Plex Sans"/>
                <a:ea typeface="IBM Plex Sans"/>
                <a:cs typeface="IBM Plex Sans"/>
                <a:sym typeface="IBM Plex Sans"/>
              </a:rPr>
              <a:t>On-site screening and diagnostic guidance</a:t>
            </a:r>
          </a:p>
          <a:p>
            <a:pPr algn="l" marL="298609" indent="-149304" lvl="1">
              <a:lnSpc>
                <a:spcPts val="1980"/>
              </a:lnSpc>
              <a:buFont typeface="Arial"/>
              <a:buChar char="•"/>
            </a:pPr>
            <a:r>
              <a:rPr lang="en-US" sz="1650">
                <a:solidFill>
                  <a:srgbClr val="3F4B57"/>
                </a:solidFill>
                <a:latin typeface="IBM Plex Sans"/>
                <a:ea typeface="IBM Plex Sans"/>
                <a:cs typeface="IBM Plex Sans"/>
                <a:sym typeface="IBM Plex Sans"/>
              </a:rPr>
              <a:t>Prescriptions only where an antibiotic is really needed</a:t>
            </a:r>
          </a:p>
          <a:p>
            <a:pPr algn="l" marL="298609" indent="-149304" lvl="1">
              <a:lnSpc>
                <a:spcPts val="1980"/>
              </a:lnSpc>
              <a:buFont typeface="Arial"/>
              <a:buChar char="•"/>
            </a:pPr>
            <a:r>
              <a:rPr lang="en-US" sz="1650">
                <a:solidFill>
                  <a:srgbClr val="3F4B57"/>
                </a:solidFill>
                <a:latin typeface="IBM Plex Sans"/>
                <a:ea typeface="IBM Plex Sans"/>
                <a:cs typeface="IBM Plex Sans"/>
                <a:sym typeface="IBM Plex Sans"/>
              </a:rPr>
              <a:t>Group talks on resistance, hygiene and safe storage</a:t>
            </a:r>
          </a:p>
        </p:txBody>
      </p:sp>
      <p:grpSp>
        <p:nvGrpSpPr>
          <p:cNvPr name="Group 32" id="32"/>
          <p:cNvGrpSpPr/>
          <p:nvPr/>
        </p:nvGrpSpPr>
        <p:grpSpPr>
          <a:xfrm rot="0">
            <a:off x="1220724" y="9354312"/>
            <a:ext cx="11658600" cy="356616"/>
            <a:chOff x="0" y="0"/>
            <a:chExt cx="15544800" cy="475488"/>
          </a:xfrm>
        </p:grpSpPr>
        <p:sp>
          <p:nvSpPr>
            <p:cNvPr name="Freeform 33" id="33"/>
            <p:cNvSpPr/>
            <p:nvPr/>
          </p:nvSpPr>
          <p:spPr>
            <a:xfrm flipH="false" flipV="false" rot="0">
              <a:off x="0" y="0"/>
              <a:ext cx="15544800" cy="475488"/>
            </a:xfrm>
            <a:custGeom>
              <a:avLst/>
              <a:gdLst/>
              <a:ahLst/>
              <a:cxnLst/>
              <a:rect r="r" b="b" t="t" l="l"/>
              <a:pathLst>
                <a:path h="475488" w="15544800">
                  <a:moveTo>
                    <a:pt x="0" y="0"/>
                  </a:moveTo>
                  <a:lnTo>
                    <a:pt x="15544800" y="0"/>
                  </a:lnTo>
                  <a:lnTo>
                    <a:pt x="15544800" y="475488"/>
                  </a:lnTo>
                  <a:lnTo>
                    <a:pt x="0" y="475488"/>
                  </a:lnTo>
                  <a:close/>
                </a:path>
              </a:pathLst>
            </a:custGeom>
            <a:blipFill>
              <a:blip r:embed="rId3">
                <a:alphaModFix amt="0"/>
              </a:blip>
              <a:stretch>
                <a:fillRect l="0" t="-587010" r="0" b="-587010"/>
              </a:stretch>
            </a:blipFill>
          </p:spPr>
        </p:sp>
        <p:sp>
          <p:nvSpPr>
            <p:cNvPr name="TextBox 34" id="34"/>
            <p:cNvSpPr txBox="true"/>
            <p:nvPr/>
          </p:nvSpPr>
          <p:spPr>
            <a:xfrm>
              <a:off x="0" y="0"/>
              <a:ext cx="15544800" cy="475488"/>
            </a:xfrm>
            <a:prstGeom prst="rect">
              <a:avLst/>
            </a:prstGeom>
          </p:spPr>
          <p:txBody>
            <a:bodyPr anchor="ctr" rtlCol="false" tIns="0" lIns="0" bIns="0" rIns="0"/>
            <a:lstStyle/>
            <a:p>
              <a:pPr algn="l">
                <a:lnSpc>
                  <a:spcPts val="1800"/>
                </a:lnSpc>
              </a:pPr>
              <a:r>
                <a:rPr lang="en-US" sz="1500">
                  <a:solidFill>
                    <a:srgbClr val="5B6770"/>
                  </a:solidFill>
                  <a:latin typeface="IBM Plex Sans"/>
                  <a:ea typeface="IBM Plex Sans"/>
                  <a:cs typeface="IBM Plex Sans"/>
                  <a:sym typeface="IBM Plex Sans"/>
                </a:rPr>
                <a:t>Preserving Our Medicines · Community Antibiotic Stewardship, Chakwal, Pakistan</a:t>
              </a:r>
            </a:p>
          </p:txBody>
        </p:sp>
      </p:grpSp>
      <p:grpSp>
        <p:nvGrpSpPr>
          <p:cNvPr name="Group 35" id="35"/>
          <p:cNvGrpSpPr/>
          <p:nvPr/>
        </p:nvGrpSpPr>
        <p:grpSpPr>
          <a:xfrm rot="0">
            <a:off x="15695219" y="9354312"/>
            <a:ext cx="1371600" cy="356616"/>
            <a:chOff x="0" y="0"/>
            <a:chExt cx="1828800" cy="475488"/>
          </a:xfrm>
        </p:grpSpPr>
        <p:sp>
          <p:nvSpPr>
            <p:cNvPr name="Freeform 36" id="36"/>
            <p:cNvSpPr/>
            <p:nvPr/>
          </p:nvSpPr>
          <p:spPr>
            <a:xfrm flipH="false" flipV="false" rot="0">
              <a:off x="0" y="0"/>
              <a:ext cx="1828800" cy="475488"/>
            </a:xfrm>
            <a:custGeom>
              <a:avLst/>
              <a:gdLst/>
              <a:ahLst/>
              <a:cxnLst/>
              <a:rect r="r" b="b" t="t" l="l"/>
              <a:pathLst>
                <a:path h="475488" w="1828800">
                  <a:moveTo>
                    <a:pt x="0" y="0"/>
                  </a:moveTo>
                  <a:lnTo>
                    <a:pt x="1828800" y="0"/>
                  </a:lnTo>
                  <a:lnTo>
                    <a:pt x="1828800" y="475488"/>
                  </a:lnTo>
                  <a:lnTo>
                    <a:pt x="0" y="475488"/>
                  </a:lnTo>
                  <a:close/>
                </a:path>
              </a:pathLst>
            </a:custGeom>
            <a:blipFill>
              <a:blip r:embed="rId3">
                <a:alphaModFix amt="0"/>
              </a:blip>
              <a:stretch>
                <a:fillRect l="0" t="-24942" r="0" b="-24942"/>
              </a:stretch>
            </a:blipFill>
          </p:spPr>
        </p:sp>
        <p:sp>
          <p:nvSpPr>
            <p:cNvPr name="TextBox 37" id="37"/>
            <p:cNvSpPr txBox="true"/>
            <p:nvPr/>
          </p:nvSpPr>
          <p:spPr>
            <a:xfrm>
              <a:off x="0" y="0"/>
              <a:ext cx="1828800" cy="475488"/>
            </a:xfrm>
            <a:prstGeom prst="rect">
              <a:avLst/>
            </a:prstGeom>
          </p:spPr>
          <p:txBody>
            <a:bodyPr anchor="ctr" rtlCol="false" tIns="0" lIns="0" bIns="0" rIns="0"/>
            <a:lstStyle/>
            <a:p>
              <a:pPr algn="r">
                <a:lnSpc>
                  <a:spcPts val="1800"/>
                </a:lnSpc>
              </a:pPr>
              <a:r>
                <a:rPr lang="en-US" sz="1500">
                  <a:solidFill>
                    <a:srgbClr val="5B6770"/>
                  </a:solidFill>
                  <a:latin typeface="IBM Plex Sans"/>
                  <a:ea typeface="IBM Plex Sans"/>
                  <a:cs typeface="IBM Plex Sans"/>
                  <a:sym typeface="IBM Plex Sans"/>
                </a:rPr>
                <a:t>9</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7F6F2"/>
        </a:solidFill>
      </p:bgPr>
    </p:bg>
    <p:spTree>
      <p:nvGrpSpPr>
        <p:cNvPr id="1" name=""/>
        <p:cNvGrpSpPr/>
        <p:nvPr/>
      </p:nvGrpSpPr>
      <p:grpSpPr>
        <a:xfrm>
          <a:off x="0" y="0"/>
          <a:ext cx="0" cy="0"/>
          <a:chOff x="0" y="0"/>
          <a:chExt cx="0" cy="0"/>
        </a:xfrm>
      </p:grpSpPr>
      <p:grpSp>
        <p:nvGrpSpPr>
          <p:cNvPr name="Group 2" id="2"/>
          <p:cNvGrpSpPr/>
          <p:nvPr/>
        </p:nvGrpSpPr>
        <p:grpSpPr>
          <a:xfrm rot="0">
            <a:off x="1220724" y="1124712"/>
            <a:ext cx="15846095" cy="384048"/>
            <a:chOff x="0" y="0"/>
            <a:chExt cx="21128126" cy="512064"/>
          </a:xfrm>
        </p:grpSpPr>
        <p:sp>
          <p:nvSpPr>
            <p:cNvPr name="Freeform 3" id="3"/>
            <p:cNvSpPr/>
            <p:nvPr/>
          </p:nvSpPr>
          <p:spPr>
            <a:xfrm flipH="false" flipV="false" rot="0">
              <a:off x="0" y="0"/>
              <a:ext cx="21128126" cy="512064"/>
            </a:xfrm>
            <a:custGeom>
              <a:avLst/>
              <a:gdLst/>
              <a:ahLst/>
              <a:cxnLst/>
              <a:rect r="r" b="b" t="t" l="l"/>
              <a:pathLst>
                <a:path h="512064" w="21128126">
                  <a:moveTo>
                    <a:pt x="0" y="0"/>
                  </a:moveTo>
                  <a:lnTo>
                    <a:pt x="21128126" y="0"/>
                  </a:lnTo>
                  <a:lnTo>
                    <a:pt x="21128126" y="512064"/>
                  </a:lnTo>
                  <a:lnTo>
                    <a:pt x="0" y="512064"/>
                  </a:lnTo>
                  <a:close/>
                </a:path>
              </a:pathLst>
            </a:custGeom>
            <a:blipFill>
              <a:blip r:embed="rId3">
                <a:alphaModFix amt="0"/>
              </a:blip>
              <a:stretch>
                <a:fillRect l="0" t="-753966" r="0" b="-753966"/>
              </a:stretch>
            </a:blipFill>
          </p:spPr>
        </p:sp>
        <p:sp>
          <p:nvSpPr>
            <p:cNvPr name="TextBox 4" id="4"/>
            <p:cNvSpPr txBox="true"/>
            <p:nvPr/>
          </p:nvSpPr>
          <p:spPr>
            <a:xfrm>
              <a:off x="0" y="0"/>
              <a:ext cx="21128126" cy="512064"/>
            </a:xfrm>
            <a:prstGeom prst="rect">
              <a:avLst/>
            </a:prstGeom>
          </p:spPr>
          <p:txBody>
            <a:bodyPr anchor="ctr" rtlCol="false" tIns="0" lIns="0" bIns="0" rIns="0"/>
            <a:lstStyle/>
            <a:p>
              <a:pPr algn="l">
                <a:lnSpc>
                  <a:spcPts val="1980"/>
                </a:lnSpc>
              </a:pPr>
              <a:r>
                <a:rPr lang="en-US" b="true" sz="1650" spc="299">
                  <a:solidFill>
                    <a:srgbClr val="0B6E60"/>
                  </a:solidFill>
                  <a:latin typeface="IBM Plex Sans Bold"/>
                  <a:ea typeface="IBM Plex Sans Bold"/>
                  <a:cs typeface="IBM Plex Sans Bold"/>
                  <a:sym typeface="IBM Plex Sans Bold"/>
                </a:rPr>
                <a:t>07 · FIELD WORK IN ACTION</a:t>
              </a:r>
            </a:p>
          </p:txBody>
        </p:sp>
      </p:grpSp>
      <p:grpSp>
        <p:nvGrpSpPr>
          <p:cNvPr name="Group 5" id="5"/>
          <p:cNvGrpSpPr/>
          <p:nvPr/>
        </p:nvGrpSpPr>
        <p:grpSpPr>
          <a:xfrm rot="0">
            <a:off x="1220724" y="1536192"/>
            <a:ext cx="15846095" cy="850392"/>
            <a:chOff x="0" y="0"/>
            <a:chExt cx="21128126" cy="1133856"/>
          </a:xfrm>
        </p:grpSpPr>
        <p:sp>
          <p:nvSpPr>
            <p:cNvPr name="Freeform 6" id="6"/>
            <p:cNvSpPr/>
            <p:nvPr/>
          </p:nvSpPr>
          <p:spPr>
            <a:xfrm flipH="false" flipV="false" rot="0">
              <a:off x="0" y="0"/>
              <a:ext cx="21128126" cy="1133856"/>
            </a:xfrm>
            <a:custGeom>
              <a:avLst/>
              <a:gdLst/>
              <a:ahLst/>
              <a:cxnLst/>
              <a:rect r="r" b="b" t="t" l="l"/>
              <a:pathLst>
                <a:path h="1133856" w="21128126">
                  <a:moveTo>
                    <a:pt x="0" y="0"/>
                  </a:moveTo>
                  <a:lnTo>
                    <a:pt x="21128126" y="0"/>
                  </a:lnTo>
                  <a:lnTo>
                    <a:pt x="21128126" y="1133856"/>
                  </a:lnTo>
                  <a:lnTo>
                    <a:pt x="0" y="1133856"/>
                  </a:lnTo>
                  <a:close/>
                </a:path>
              </a:pathLst>
            </a:custGeom>
            <a:blipFill>
              <a:blip r:embed="rId3">
                <a:alphaModFix amt="0"/>
              </a:blip>
              <a:stretch>
                <a:fillRect l="0" t="-313081" r="0" b="-313081"/>
              </a:stretch>
            </a:blipFill>
          </p:spPr>
        </p:sp>
        <p:sp>
          <p:nvSpPr>
            <p:cNvPr name="TextBox 7" id="7"/>
            <p:cNvSpPr txBox="true"/>
            <p:nvPr/>
          </p:nvSpPr>
          <p:spPr>
            <a:xfrm>
              <a:off x="0" y="0"/>
              <a:ext cx="21128126" cy="1133856"/>
            </a:xfrm>
            <a:prstGeom prst="rect">
              <a:avLst/>
            </a:prstGeom>
          </p:spPr>
          <p:txBody>
            <a:bodyPr anchor="ctr" rtlCol="false" tIns="0" lIns="0" bIns="0" rIns="0"/>
            <a:lstStyle/>
            <a:p>
              <a:pPr algn="l">
                <a:lnSpc>
                  <a:spcPts val="5400"/>
                </a:lnSpc>
              </a:pPr>
              <a:r>
                <a:rPr lang="en-US" sz="4500" b="true">
                  <a:solidFill>
                    <a:srgbClr val="14304A"/>
                  </a:solidFill>
                  <a:latin typeface="Source Serif Pro Bold"/>
                  <a:ea typeface="Source Serif Pro Bold"/>
                  <a:cs typeface="Source Serif Pro Bold"/>
                  <a:sym typeface="Source Serif Pro Bold"/>
                </a:rPr>
                <a:t>Materials used at the counter, the doorstep and the camp</a:t>
              </a:r>
            </a:p>
          </p:txBody>
        </p:sp>
      </p:grpSp>
      <p:grpSp>
        <p:nvGrpSpPr>
          <p:cNvPr name="Group 8" id="8"/>
          <p:cNvGrpSpPr/>
          <p:nvPr/>
        </p:nvGrpSpPr>
        <p:grpSpPr>
          <a:xfrm rot="0">
            <a:off x="1220724" y="2674620"/>
            <a:ext cx="2811780" cy="3977640"/>
            <a:chOff x="0" y="0"/>
            <a:chExt cx="3749040" cy="5303520"/>
          </a:xfrm>
        </p:grpSpPr>
        <p:sp>
          <p:nvSpPr>
            <p:cNvPr name="Freeform 9" id="9" descr="/home/claude/img/flyer.png"/>
            <p:cNvSpPr/>
            <p:nvPr/>
          </p:nvSpPr>
          <p:spPr>
            <a:xfrm flipH="false" flipV="false" rot="0">
              <a:off x="0" y="0"/>
              <a:ext cx="3749040" cy="5303520"/>
            </a:xfrm>
            <a:custGeom>
              <a:avLst/>
              <a:gdLst/>
              <a:ahLst/>
              <a:cxnLst/>
              <a:rect r="r" b="b" t="t" l="l"/>
              <a:pathLst>
                <a:path h="5303520" w="3749040">
                  <a:moveTo>
                    <a:pt x="0" y="0"/>
                  </a:moveTo>
                  <a:lnTo>
                    <a:pt x="3749040" y="0"/>
                  </a:lnTo>
                  <a:lnTo>
                    <a:pt x="3749040" y="5303520"/>
                  </a:lnTo>
                  <a:lnTo>
                    <a:pt x="0" y="5303520"/>
                  </a:lnTo>
                  <a:lnTo>
                    <a:pt x="0" y="0"/>
                  </a:lnTo>
                  <a:close/>
                </a:path>
              </a:pathLst>
            </a:custGeom>
            <a:blipFill>
              <a:blip r:embed="rId4"/>
              <a:stretch>
                <a:fillRect l="0" t="-12" r="0" b="-12"/>
              </a:stretch>
            </a:blipFill>
          </p:spPr>
        </p:sp>
      </p:grpSp>
      <p:sp>
        <p:nvSpPr>
          <p:cNvPr name="TextBox 10" id="10"/>
          <p:cNvSpPr txBox="true"/>
          <p:nvPr/>
        </p:nvSpPr>
        <p:spPr>
          <a:xfrm rot="0">
            <a:off x="1220724" y="6738747"/>
            <a:ext cx="2811780" cy="969645"/>
          </a:xfrm>
          <a:prstGeom prst="rect">
            <a:avLst/>
          </a:prstGeom>
        </p:spPr>
        <p:txBody>
          <a:bodyPr anchor="t" rtlCol="false" tIns="0" lIns="0" bIns="0" rIns="0">
            <a:spAutoFit/>
          </a:bodyPr>
          <a:lstStyle/>
          <a:p>
            <a:pPr algn="l">
              <a:lnSpc>
                <a:spcPts val="1620"/>
              </a:lnSpc>
            </a:pPr>
            <a:r>
              <a:rPr lang="en-US" sz="1350">
                <a:solidFill>
                  <a:srgbClr val="5B6770"/>
                </a:solidFill>
                <a:latin typeface="IBM Plex Sans"/>
                <a:ea typeface="IBM Plex Sans"/>
                <a:cs typeface="IBM Plex Sans"/>
                <a:sym typeface="IBM Plex Sans"/>
              </a:rPr>
              <a:t>Four-golden-rules flyer handed out door-to-door and with every antibiotic dispensed</a:t>
            </a:r>
          </a:p>
        </p:txBody>
      </p:sp>
      <p:grpSp>
        <p:nvGrpSpPr>
          <p:cNvPr name="Group 11" id="11"/>
          <p:cNvGrpSpPr/>
          <p:nvPr/>
        </p:nvGrpSpPr>
        <p:grpSpPr>
          <a:xfrm rot="0">
            <a:off x="4306824" y="2674620"/>
            <a:ext cx="2811780" cy="3977640"/>
            <a:chOff x="0" y="0"/>
            <a:chExt cx="3749040" cy="5303520"/>
          </a:xfrm>
        </p:grpSpPr>
        <p:sp>
          <p:nvSpPr>
            <p:cNvPr name="Freeform 12" id="12" descr="/home/claude/img/poster.png"/>
            <p:cNvSpPr/>
            <p:nvPr/>
          </p:nvSpPr>
          <p:spPr>
            <a:xfrm flipH="false" flipV="false" rot="0">
              <a:off x="0" y="0"/>
              <a:ext cx="3749040" cy="5303520"/>
            </a:xfrm>
            <a:custGeom>
              <a:avLst/>
              <a:gdLst/>
              <a:ahLst/>
              <a:cxnLst/>
              <a:rect r="r" b="b" t="t" l="l"/>
              <a:pathLst>
                <a:path h="5303520" w="3749040">
                  <a:moveTo>
                    <a:pt x="0" y="0"/>
                  </a:moveTo>
                  <a:lnTo>
                    <a:pt x="3749040" y="0"/>
                  </a:lnTo>
                  <a:lnTo>
                    <a:pt x="3749040" y="5303520"/>
                  </a:lnTo>
                  <a:lnTo>
                    <a:pt x="0" y="5303520"/>
                  </a:lnTo>
                  <a:lnTo>
                    <a:pt x="0" y="0"/>
                  </a:lnTo>
                  <a:close/>
                </a:path>
              </a:pathLst>
            </a:custGeom>
            <a:blipFill>
              <a:blip r:embed="rId5"/>
              <a:stretch>
                <a:fillRect l="0" t="-12" r="0" b="-12"/>
              </a:stretch>
            </a:blipFill>
          </p:spPr>
        </p:sp>
      </p:grpSp>
      <p:sp>
        <p:nvSpPr>
          <p:cNvPr name="TextBox 13" id="13"/>
          <p:cNvSpPr txBox="true"/>
          <p:nvPr/>
        </p:nvSpPr>
        <p:spPr>
          <a:xfrm rot="0">
            <a:off x="4306824" y="6738747"/>
            <a:ext cx="2811780" cy="969645"/>
          </a:xfrm>
          <a:prstGeom prst="rect">
            <a:avLst/>
          </a:prstGeom>
        </p:spPr>
        <p:txBody>
          <a:bodyPr anchor="t" rtlCol="false" tIns="0" lIns="0" bIns="0" rIns="0">
            <a:spAutoFit/>
          </a:bodyPr>
          <a:lstStyle/>
          <a:p>
            <a:pPr algn="l">
              <a:lnSpc>
                <a:spcPts val="1620"/>
              </a:lnSpc>
            </a:pPr>
            <a:r>
              <a:rPr lang="en-US" sz="1350">
                <a:solidFill>
                  <a:srgbClr val="5B6770"/>
                </a:solidFill>
                <a:latin typeface="IBM Plex Sans"/>
                <a:ea typeface="IBM Plex Sans"/>
                <a:cs typeface="IBM Plex Sans"/>
                <a:sym typeface="IBM Plex Sans"/>
              </a:rPr>
              <a:t>Myth-or-fact poster displayed in dispensaries, mosques and community hubs</a:t>
            </a:r>
          </a:p>
        </p:txBody>
      </p:sp>
      <p:grpSp>
        <p:nvGrpSpPr>
          <p:cNvPr name="Group 14" id="14"/>
          <p:cNvGrpSpPr/>
          <p:nvPr/>
        </p:nvGrpSpPr>
        <p:grpSpPr>
          <a:xfrm rot="0">
            <a:off x="7536942" y="2674620"/>
            <a:ext cx="4457700" cy="2880360"/>
            <a:chOff x="0" y="0"/>
            <a:chExt cx="5943600" cy="3840480"/>
          </a:xfrm>
        </p:grpSpPr>
        <p:sp>
          <p:nvSpPr>
            <p:cNvPr name="Freeform 15" id="15"/>
            <p:cNvSpPr/>
            <p:nvPr/>
          </p:nvSpPr>
          <p:spPr>
            <a:xfrm flipH="false" flipV="false" rot="0">
              <a:off x="0" y="0"/>
              <a:ext cx="5943600" cy="3840480"/>
            </a:xfrm>
            <a:custGeom>
              <a:avLst/>
              <a:gdLst/>
              <a:ahLst/>
              <a:cxnLst/>
              <a:rect r="r" b="b" t="t" l="l"/>
              <a:pathLst>
                <a:path h="3840480" w="5943600">
                  <a:moveTo>
                    <a:pt x="0" y="0"/>
                  </a:moveTo>
                  <a:lnTo>
                    <a:pt x="5943600" y="0"/>
                  </a:lnTo>
                  <a:lnTo>
                    <a:pt x="5943600" y="3840480"/>
                  </a:lnTo>
                  <a:lnTo>
                    <a:pt x="0" y="3840480"/>
                  </a:lnTo>
                  <a:lnTo>
                    <a:pt x="0" y="0"/>
                  </a:lnTo>
                  <a:close/>
                </a:path>
              </a:pathLst>
            </a:custGeom>
            <a:blipFill>
              <a:blip r:embed="rId6"/>
              <a:stretch>
                <a:fillRect l="0" t="-28305" r="0" b="-28305"/>
              </a:stretch>
            </a:blipFill>
          </p:spPr>
        </p:sp>
      </p:grpSp>
      <p:sp>
        <p:nvSpPr>
          <p:cNvPr name="TextBox 16" id="16"/>
          <p:cNvSpPr txBox="true"/>
          <p:nvPr/>
        </p:nvSpPr>
        <p:spPr>
          <a:xfrm rot="0">
            <a:off x="7612380" y="5614035"/>
            <a:ext cx="4457700" cy="695325"/>
          </a:xfrm>
          <a:prstGeom prst="rect">
            <a:avLst/>
          </a:prstGeom>
        </p:spPr>
        <p:txBody>
          <a:bodyPr anchor="t" rtlCol="false" tIns="0" lIns="0" bIns="0" rIns="0">
            <a:spAutoFit/>
          </a:bodyPr>
          <a:lstStyle/>
          <a:p>
            <a:pPr algn="l">
              <a:lnSpc>
                <a:spcPts val="1620"/>
              </a:lnSpc>
            </a:pPr>
            <a:r>
              <a:rPr lang="en-US" sz="1350">
                <a:solidFill>
                  <a:srgbClr val="5B6770"/>
                </a:solidFill>
                <a:latin typeface="IBM Plex Sans"/>
                <a:ea typeface="IBM Plex Sans"/>
                <a:cs typeface="IBM Plex Sans"/>
                <a:sym typeface="IBM Plex Sans"/>
              </a:rPr>
              <a:t>Free medical camp outreach poster with an antimicrobial-resistance street play [2]</a:t>
            </a:r>
          </a:p>
        </p:txBody>
      </p:sp>
      <p:grpSp>
        <p:nvGrpSpPr>
          <p:cNvPr name="Group 17" id="17"/>
          <p:cNvGrpSpPr/>
          <p:nvPr/>
        </p:nvGrpSpPr>
        <p:grpSpPr>
          <a:xfrm rot="0">
            <a:off x="12412980" y="2674620"/>
            <a:ext cx="4320540" cy="2880360"/>
            <a:chOff x="0" y="0"/>
            <a:chExt cx="5760720" cy="3840480"/>
          </a:xfrm>
        </p:grpSpPr>
        <p:sp>
          <p:nvSpPr>
            <p:cNvPr name="Freeform 18" id="18"/>
            <p:cNvSpPr/>
            <p:nvPr/>
          </p:nvSpPr>
          <p:spPr>
            <a:xfrm flipH="false" flipV="false" rot="0">
              <a:off x="0" y="0"/>
              <a:ext cx="5760720" cy="3840480"/>
            </a:xfrm>
            <a:custGeom>
              <a:avLst/>
              <a:gdLst/>
              <a:ahLst/>
              <a:cxnLst/>
              <a:rect r="r" b="b" t="t" l="l"/>
              <a:pathLst>
                <a:path h="3840480" w="5760720">
                  <a:moveTo>
                    <a:pt x="0" y="0"/>
                  </a:moveTo>
                  <a:lnTo>
                    <a:pt x="5760720" y="0"/>
                  </a:lnTo>
                  <a:lnTo>
                    <a:pt x="5760720" y="3840480"/>
                  </a:lnTo>
                  <a:lnTo>
                    <a:pt x="0" y="3840480"/>
                  </a:lnTo>
                  <a:lnTo>
                    <a:pt x="0" y="0"/>
                  </a:lnTo>
                  <a:close/>
                </a:path>
              </a:pathLst>
            </a:custGeom>
            <a:blipFill>
              <a:blip r:embed="rId7"/>
              <a:stretch>
                <a:fillRect l="0" t="-6250" r="0" b="-6250"/>
              </a:stretch>
            </a:blipFill>
          </p:spPr>
        </p:sp>
      </p:grpSp>
      <p:sp>
        <p:nvSpPr>
          <p:cNvPr name="TextBox 19" id="19"/>
          <p:cNvSpPr txBox="true"/>
          <p:nvPr/>
        </p:nvSpPr>
        <p:spPr>
          <a:xfrm rot="0">
            <a:off x="12412980" y="5614035"/>
            <a:ext cx="4389120" cy="695325"/>
          </a:xfrm>
          <a:prstGeom prst="rect">
            <a:avLst/>
          </a:prstGeom>
        </p:spPr>
        <p:txBody>
          <a:bodyPr anchor="t" rtlCol="false" tIns="0" lIns="0" bIns="0" rIns="0">
            <a:spAutoFit/>
          </a:bodyPr>
          <a:lstStyle/>
          <a:p>
            <a:pPr algn="l">
              <a:lnSpc>
                <a:spcPts val="1620"/>
              </a:lnSpc>
            </a:pPr>
            <a:r>
              <a:rPr lang="en-US" sz="1350">
                <a:solidFill>
                  <a:srgbClr val="5B6770"/>
                </a:solidFill>
                <a:latin typeface="IBM Plex Sans"/>
                <a:ea typeface="IBM Plex Sans"/>
                <a:cs typeface="IBM Plex Sans"/>
                <a:sym typeface="IBM Plex Sans"/>
              </a:rPr>
              <a:t>Hygiene education session, Chakwal school programme, January 2026 (programme photograph)</a:t>
            </a:r>
          </a:p>
        </p:txBody>
      </p:sp>
      <p:grpSp>
        <p:nvGrpSpPr>
          <p:cNvPr name="Group 20" id="20"/>
          <p:cNvGrpSpPr/>
          <p:nvPr/>
        </p:nvGrpSpPr>
        <p:grpSpPr>
          <a:xfrm rot="0">
            <a:off x="7605236" y="6507956"/>
            <a:ext cx="9135428" cy="2071688"/>
            <a:chOff x="0" y="0"/>
            <a:chExt cx="12180570" cy="2762250"/>
          </a:xfrm>
        </p:grpSpPr>
        <p:sp>
          <p:nvSpPr>
            <p:cNvPr name="Freeform 21" id="21"/>
            <p:cNvSpPr/>
            <p:nvPr/>
          </p:nvSpPr>
          <p:spPr>
            <a:xfrm flipH="false" flipV="false" rot="0">
              <a:off x="0" y="0"/>
              <a:ext cx="12180570" cy="2762250"/>
            </a:xfrm>
            <a:custGeom>
              <a:avLst/>
              <a:gdLst/>
              <a:ahLst/>
              <a:cxnLst/>
              <a:rect r="r" b="b" t="t" l="l"/>
              <a:pathLst>
                <a:path h="2762250" w="12180570">
                  <a:moveTo>
                    <a:pt x="0" y="147320"/>
                  </a:moveTo>
                  <a:cubicBezTo>
                    <a:pt x="0" y="65913"/>
                    <a:pt x="65913" y="0"/>
                    <a:pt x="147320" y="0"/>
                  </a:cubicBezTo>
                  <a:lnTo>
                    <a:pt x="12033250" y="0"/>
                  </a:lnTo>
                  <a:cubicBezTo>
                    <a:pt x="12114657" y="0"/>
                    <a:pt x="12180570" y="65913"/>
                    <a:pt x="12180570" y="147320"/>
                  </a:cubicBezTo>
                  <a:lnTo>
                    <a:pt x="12180570" y="2614930"/>
                  </a:lnTo>
                  <a:cubicBezTo>
                    <a:pt x="12180570" y="2696337"/>
                    <a:pt x="12114657" y="2762250"/>
                    <a:pt x="12033250" y="2762250"/>
                  </a:cubicBezTo>
                  <a:lnTo>
                    <a:pt x="147320" y="2762250"/>
                  </a:lnTo>
                  <a:cubicBezTo>
                    <a:pt x="65913" y="2762250"/>
                    <a:pt x="0" y="2696337"/>
                    <a:pt x="0" y="2614930"/>
                  </a:cubicBezTo>
                  <a:close/>
                </a:path>
              </a:pathLst>
            </a:custGeom>
            <a:solidFill>
              <a:srgbClr val="EAF0EE"/>
            </a:solidFill>
            <a:ln w="14288" cap="sq">
              <a:solidFill>
                <a:srgbClr val="D3DCD9"/>
              </a:solidFill>
              <a:prstDash val="solid"/>
              <a:miter/>
            </a:ln>
          </p:spPr>
        </p:sp>
      </p:grpSp>
      <p:sp>
        <p:nvSpPr>
          <p:cNvPr name="TextBox 22" id="22"/>
          <p:cNvSpPr txBox="true"/>
          <p:nvPr/>
        </p:nvSpPr>
        <p:spPr>
          <a:xfrm rot="0">
            <a:off x="8023860" y="6711315"/>
            <a:ext cx="8229600" cy="352425"/>
          </a:xfrm>
          <a:prstGeom prst="rect">
            <a:avLst/>
          </a:prstGeom>
        </p:spPr>
        <p:txBody>
          <a:bodyPr anchor="t" rtlCol="false" tIns="0" lIns="0" bIns="0" rIns="0">
            <a:spAutoFit/>
          </a:bodyPr>
          <a:lstStyle/>
          <a:p>
            <a:pPr algn="l">
              <a:lnSpc>
                <a:spcPts val="1709"/>
              </a:lnSpc>
            </a:pPr>
            <a:r>
              <a:rPr lang="en-US" b="true" sz="1425" spc="299">
                <a:solidFill>
                  <a:srgbClr val="0B6E60"/>
                </a:solidFill>
                <a:latin typeface="IBM Plex Sans Bold"/>
                <a:ea typeface="IBM Plex Sans Bold"/>
                <a:cs typeface="IBM Plex Sans Bold"/>
                <a:sym typeface="IBM Plex Sans Bold"/>
              </a:rPr>
              <a:t>HOW THE MATERIALS ARE USED</a:t>
            </a:r>
          </a:p>
        </p:txBody>
      </p:sp>
      <p:sp>
        <p:nvSpPr>
          <p:cNvPr name="TextBox 23" id="23"/>
          <p:cNvSpPr txBox="true"/>
          <p:nvPr/>
        </p:nvSpPr>
        <p:spPr>
          <a:xfrm rot="0">
            <a:off x="8023860" y="7114413"/>
            <a:ext cx="8298180" cy="1362075"/>
          </a:xfrm>
          <a:prstGeom prst="rect">
            <a:avLst/>
          </a:prstGeom>
        </p:spPr>
        <p:txBody>
          <a:bodyPr anchor="t" rtlCol="false" tIns="0" lIns="0" bIns="0" rIns="0">
            <a:spAutoFit/>
          </a:bodyPr>
          <a:lstStyle/>
          <a:p>
            <a:pPr algn="l">
              <a:lnSpc>
                <a:spcPts val="1889"/>
              </a:lnSpc>
            </a:pPr>
            <a:r>
              <a:rPr lang="en-US" sz="1575">
                <a:solidFill>
                  <a:srgbClr val="3F4B57"/>
                </a:solidFill>
                <a:latin typeface="IBM Plex Sans"/>
                <a:ea typeface="IBM Plex Sans"/>
                <a:cs typeface="IBM Plex Sans"/>
                <a:sym typeface="IBM Plex Sans"/>
              </a:rPr>
              <a:t>The flyer is folded into every antibiotic pack and left at each household. The poster is fixed at eye level next to the dispensing counter. At the camps, a short talk and demonstration walk through the same four rules before any medicine is handed out, and hygiene practice from the school programme is repeated for parents.</a:t>
            </a:r>
          </a:p>
        </p:txBody>
      </p:sp>
      <p:grpSp>
        <p:nvGrpSpPr>
          <p:cNvPr name="Group 24" id="24"/>
          <p:cNvGrpSpPr/>
          <p:nvPr/>
        </p:nvGrpSpPr>
        <p:grpSpPr>
          <a:xfrm rot="0">
            <a:off x="1220724" y="9354312"/>
            <a:ext cx="11658600" cy="356616"/>
            <a:chOff x="0" y="0"/>
            <a:chExt cx="15544800" cy="475488"/>
          </a:xfrm>
        </p:grpSpPr>
        <p:sp>
          <p:nvSpPr>
            <p:cNvPr name="Freeform 25" id="25"/>
            <p:cNvSpPr/>
            <p:nvPr/>
          </p:nvSpPr>
          <p:spPr>
            <a:xfrm flipH="false" flipV="false" rot="0">
              <a:off x="0" y="0"/>
              <a:ext cx="15544800" cy="475488"/>
            </a:xfrm>
            <a:custGeom>
              <a:avLst/>
              <a:gdLst/>
              <a:ahLst/>
              <a:cxnLst/>
              <a:rect r="r" b="b" t="t" l="l"/>
              <a:pathLst>
                <a:path h="475488" w="15544800">
                  <a:moveTo>
                    <a:pt x="0" y="0"/>
                  </a:moveTo>
                  <a:lnTo>
                    <a:pt x="15544800" y="0"/>
                  </a:lnTo>
                  <a:lnTo>
                    <a:pt x="15544800" y="475488"/>
                  </a:lnTo>
                  <a:lnTo>
                    <a:pt x="0" y="475488"/>
                  </a:lnTo>
                  <a:close/>
                </a:path>
              </a:pathLst>
            </a:custGeom>
            <a:blipFill>
              <a:blip r:embed="rId3">
                <a:alphaModFix amt="0"/>
              </a:blip>
              <a:stretch>
                <a:fillRect l="0" t="-587010" r="0" b="-587010"/>
              </a:stretch>
            </a:blipFill>
          </p:spPr>
        </p:sp>
        <p:sp>
          <p:nvSpPr>
            <p:cNvPr name="TextBox 26" id="26"/>
            <p:cNvSpPr txBox="true"/>
            <p:nvPr/>
          </p:nvSpPr>
          <p:spPr>
            <a:xfrm>
              <a:off x="0" y="0"/>
              <a:ext cx="15544800" cy="475488"/>
            </a:xfrm>
            <a:prstGeom prst="rect">
              <a:avLst/>
            </a:prstGeom>
          </p:spPr>
          <p:txBody>
            <a:bodyPr anchor="ctr" rtlCol="false" tIns="0" lIns="0" bIns="0" rIns="0"/>
            <a:lstStyle/>
            <a:p>
              <a:pPr algn="l">
                <a:lnSpc>
                  <a:spcPts val="1800"/>
                </a:lnSpc>
              </a:pPr>
              <a:r>
                <a:rPr lang="en-US" sz="1500">
                  <a:solidFill>
                    <a:srgbClr val="5B6770"/>
                  </a:solidFill>
                  <a:latin typeface="IBM Plex Sans"/>
                  <a:ea typeface="IBM Plex Sans"/>
                  <a:cs typeface="IBM Plex Sans"/>
                  <a:sym typeface="IBM Plex Sans"/>
                </a:rPr>
                <a:t>Preserving Our Medicines · Community Antibiotic Stewardship, Chakwal, Pakistan</a:t>
              </a:r>
            </a:p>
          </p:txBody>
        </p:sp>
      </p:grpSp>
      <p:grpSp>
        <p:nvGrpSpPr>
          <p:cNvPr name="Group 27" id="27"/>
          <p:cNvGrpSpPr/>
          <p:nvPr/>
        </p:nvGrpSpPr>
        <p:grpSpPr>
          <a:xfrm rot="0">
            <a:off x="15695219" y="9354312"/>
            <a:ext cx="1371600" cy="356616"/>
            <a:chOff x="0" y="0"/>
            <a:chExt cx="1828800" cy="475488"/>
          </a:xfrm>
        </p:grpSpPr>
        <p:sp>
          <p:nvSpPr>
            <p:cNvPr name="Freeform 28" id="28"/>
            <p:cNvSpPr/>
            <p:nvPr/>
          </p:nvSpPr>
          <p:spPr>
            <a:xfrm flipH="false" flipV="false" rot="0">
              <a:off x="0" y="0"/>
              <a:ext cx="1828800" cy="475488"/>
            </a:xfrm>
            <a:custGeom>
              <a:avLst/>
              <a:gdLst/>
              <a:ahLst/>
              <a:cxnLst/>
              <a:rect r="r" b="b" t="t" l="l"/>
              <a:pathLst>
                <a:path h="475488" w="1828800">
                  <a:moveTo>
                    <a:pt x="0" y="0"/>
                  </a:moveTo>
                  <a:lnTo>
                    <a:pt x="1828800" y="0"/>
                  </a:lnTo>
                  <a:lnTo>
                    <a:pt x="1828800" y="475488"/>
                  </a:lnTo>
                  <a:lnTo>
                    <a:pt x="0" y="475488"/>
                  </a:lnTo>
                  <a:close/>
                </a:path>
              </a:pathLst>
            </a:custGeom>
            <a:blipFill>
              <a:blip r:embed="rId3">
                <a:alphaModFix amt="0"/>
              </a:blip>
              <a:stretch>
                <a:fillRect l="0" t="-24942" r="0" b="-24942"/>
              </a:stretch>
            </a:blipFill>
          </p:spPr>
        </p:sp>
        <p:sp>
          <p:nvSpPr>
            <p:cNvPr name="TextBox 29" id="29"/>
            <p:cNvSpPr txBox="true"/>
            <p:nvPr/>
          </p:nvSpPr>
          <p:spPr>
            <a:xfrm>
              <a:off x="0" y="0"/>
              <a:ext cx="1828800" cy="475488"/>
            </a:xfrm>
            <a:prstGeom prst="rect">
              <a:avLst/>
            </a:prstGeom>
          </p:spPr>
          <p:txBody>
            <a:bodyPr anchor="ctr" rtlCol="false" tIns="0" lIns="0" bIns="0" rIns="0"/>
            <a:lstStyle/>
            <a:p>
              <a:pPr algn="r">
                <a:lnSpc>
                  <a:spcPts val="1800"/>
                </a:lnSpc>
              </a:pPr>
              <a:r>
                <a:rPr lang="en-US" sz="1500">
                  <a:solidFill>
                    <a:srgbClr val="5B6770"/>
                  </a:solidFill>
                  <a:latin typeface="IBM Plex Sans"/>
                  <a:ea typeface="IBM Plex Sans"/>
                  <a:cs typeface="IBM Plex Sans"/>
                  <a:sym typeface="IBM Plex Sans"/>
                </a:rPr>
                <a:t>10</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7F6F2"/>
        </a:solidFill>
      </p:bgPr>
    </p:bg>
    <p:spTree>
      <p:nvGrpSpPr>
        <p:cNvPr id="1" name=""/>
        <p:cNvGrpSpPr/>
        <p:nvPr/>
      </p:nvGrpSpPr>
      <p:grpSpPr>
        <a:xfrm>
          <a:off x="0" y="0"/>
          <a:ext cx="0" cy="0"/>
          <a:chOff x="0" y="0"/>
          <a:chExt cx="0" cy="0"/>
        </a:xfrm>
      </p:grpSpPr>
      <p:grpSp>
        <p:nvGrpSpPr>
          <p:cNvPr name="Group 2" id="2"/>
          <p:cNvGrpSpPr/>
          <p:nvPr/>
        </p:nvGrpSpPr>
        <p:grpSpPr>
          <a:xfrm rot="0">
            <a:off x="1220724" y="1124712"/>
            <a:ext cx="15846095" cy="384048"/>
            <a:chOff x="0" y="0"/>
            <a:chExt cx="21128126" cy="512064"/>
          </a:xfrm>
        </p:grpSpPr>
        <p:sp>
          <p:nvSpPr>
            <p:cNvPr name="Freeform 3" id="3"/>
            <p:cNvSpPr/>
            <p:nvPr/>
          </p:nvSpPr>
          <p:spPr>
            <a:xfrm flipH="false" flipV="false" rot="0">
              <a:off x="0" y="0"/>
              <a:ext cx="21128126" cy="512064"/>
            </a:xfrm>
            <a:custGeom>
              <a:avLst/>
              <a:gdLst/>
              <a:ahLst/>
              <a:cxnLst/>
              <a:rect r="r" b="b" t="t" l="l"/>
              <a:pathLst>
                <a:path h="512064" w="21128126">
                  <a:moveTo>
                    <a:pt x="0" y="0"/>
                  </a:moveTo>
                  <a:lnTo>
                    <a:pt x="21128126" y="0"/>
                  </a:lnTo>
                  <a:lnTo>
                    <a:pt x="21128126" y="512064"/>
                  </a:lnTo>
                  <a:lnTo>
                    <a:pt x="0" y="512064"/>
                  </a:lnTo>
                  <a:close/>
                </a:path>
              </a:pathLst>
            </a:custGeom>
            <a:blipFill>
              <a:blip r:embed="rId3">
                <a:alphaModFix amt="0"/>
              </a:blip>
              <a:stretch>
                <a:fillRect l="0" t="-753966" r="0" b="-753966"/>
              </a:stretch>
            </a:blipFill>
          </p:spPr>
        </p:sp>
        <p:sp>
          <p:nvSpPr>
            <p:cNvPr name="TextBox 4" id="4"/>
            <p:cNvSpPr txBox="true"/>
            <p:nvPr/>
          </p:nvSpPr>
          <p:spPr>
            <a:xfrm>
              <a:off x="0" y="0"/>
              <a:ext cx="21128126" cy="512064"/>
            </a:xfrm>
            <a:prstGeom prst="rect">
              <a:avLst/>
            </a:prstGeom>
          </p:spPr>
          <p:txBody>
            <a:bodyPr anchor="ctr" rtlCol="false" tIns="0" lIns="0" bIns="0" rIns="0"/>
            <a:lstStyle/>
            <a:p>
              <a:pPr algn="l">
                <a:lnSpc>
                  <a:spcPts val="1980"/>
                </a:lnSpc>
              </a:pPr>
              <a:r>
                <a:rPr lang="en-US" b="true" sz="1650" spc="299">
                  <a:solidFill>
                    <a:srgbClr val="0B6E60"/>
                  </a:solidFill>
                  <a:latin typeface="IBM Plex Sans Bold"/>
                  <a:ea typeface="IBM Plex Sans Bold"/>
                  <a:cs typeface="IBM Plex Sans Bold"/>
                  <a:sym typeface="IBM Plex Sans Bold"/>
                </a:rPr>
                <a:t>08 · PHARMACIST ADVICE</a:t>
              </a:r>
            </a:p>
          </p:txBody>
        </p:sp>
      </p:grpSp>
      <p:grpSp>
        <p:nvGrpSpPr>
          <p:cNvPr name="Group 5" id="5"/>
          <p:cNvGrpSpPr/>
          <p:nvPr/>
        </p:nvGrpSpPr>
        <p:grpSpPr>
          <a:xfrm rot="0">
            <a:off x="1220724" y="1536192"/>
            <a:ext cx="15846095" cy="850392"/>
            <a:chOff x="0" y="0"/>
            <a:chExt cx="21128126" cy="1133856"/>
          </a:xfrm>
        </p:grpSpPr>
        <p:sp>
          <p:nvSpPr>
            <p:cNvPr name="Freeform 6" id="6"/>
            <p:cNvSpPr/>
            <p:nvPr/>
          </p:nvSpPr>
          <p:spPr>
            <a:xfrm flipH="false" flipV="false" rot="0">
              <a:off x="0" y="0"/>
              <a:ext cx="21128126" cy="1133856"/>
            </a:xfrm>
            <a:custGeom>
              <a:avLst/>
              <a:gdLst/>
              <a:ahLst/>
              <a:cxnLst/>
              <a:rect r="r" b="b" t="t" l="l"/>
              <a:pathLst>
                <a:path h="1133856" w="21128126">
                  <a:moveTo>
                    <a:pt x="0" y="0"/>
                  </a:moveTo>
                  <a:lnTo>
                    <a:pt x="21128126" y="0"/>
                  </a:lnTo>
                  <a:lnTo>
                    <a:pt x="21128126" y="1133856"/>
                  </a:lnTo>
                  <a:lnTo>
                    <a:pt x="0" y="1133856"/>
                  </a:lnTo>
                  <a:close/>
                </a:path>
              </a:pathLst>
            </a:custGeom>
            <a:blipFill>
              <a:blip r:embed="rId3">
                <a:alphaModFix amt="0"/>
              </a:blip>
              <a:stretch>
                <a:fillRect l="0" t="-313081" r="0" b="-313081"/>
              </a:stretch>
            </a:blipFill>
          </p:spPr>
        </p:sp>
        <p:sp>
          <p:nvSpPr>
            <p:cNvPr name="TextBox 7" id="7"/>
            <p:cNvSpPr txBox="true"/>
            <p:nvPr/>
          </p:nvSpPr>
          <p:spPr>
            <a:xfrm>
              <a:off x="0" y="0"/>
              <a:ext cx="21128126" cy="1133856"/>
            </a:xfrm>
            <a:prstGeom prst="rect">
              <a:avLst/>
            </a:prstGeom>
          </p:spPr>
          <p:txBody>
            <a:bodyPr anchor="ctr" rtlCol="false" tIns="0" lIns="0" bIns="0" rIns="0"/>
            <a:lstStyle/>
            <a:p>
              <a:pPr algn="l">
                <a:lnSpc>
                  <a:spcPts val="5400"/>
                </a:lnSpc>
              </a:pPr>
              <a:r>
                <a:rPr lang="en-US" sz="4500" b="true">
                  <a:solidFill>
                    <a:srgbClr val="14304A"/>
                  </a:solidFill>
                  <a:latin typeface="Source Serif Pro Bold"/>
                  <a:ea typeface="Source Serif Pro Bold"/>
                  <a:cs typeface="Source Serif Pro Bold"/>
                  <a:sym typeface="Source Serif Pro Bold"/>
                </a:rPr>
                <a:t>Four golden rules for every patient</a:t>
              </a:r>
            </a:p>
          </p:txBody>
        </p:sp>
      </p:grpSp>
      <p:grpSp>
        <p:nvGrpSpPr>
          <p:cNvPr name="Group 8" id="8"/>
          <p:cNvGrpSpPr/>
          <p:nvPr/>
        </p:nvGrpSpPr>
        <p:grpSpPr>
          <a:xfrm rot="0">
            <a:off x="1213580" y="2667476"/>
            <a:ext cx="4883468" cy="2688908"/>
            <a:chOff x="0" y="0"/>
            <a:chExt cx="6511290" cy="3585210"/>
          </a:xfrm>
        </p:grpSpPr>
        <p:sp>
          <p:nvSpPr>
            <p:cNvPr name="Freeform 9" id="9"/>
            <p:cNvSpPr/>
            <p:nvPr/>
          </p:nvSpPr>
          <p:spPr>
            <a:xfrm flipH="false" flipV="false" rot="0">
              <a:off x="0" y="0"/>
              <a:ext cx="6511290" cy="3585210"/>
            </a:xfrm>
            <a:custGeom>
              <a:avLst/>
              <a:gdLst/>
              <a:ahLst/>
              <a:cxnLst/>
              <a:rect r="r" b="b" t="t" l="l"/>
              <a:pathLst>
                <a:path h="3585210" w="6511290">
                  <a:moveTo>
                    <a:pt x="0" y="147066"/>
                  </a:moveTo>
                  <a:cubicBezTo>
                    <a:pt x="0" y="65913"/>
                    <a:pt x="65913" y="0"/>
                    <a:pt x="147066" y="0"/>
                  </a:cubicBezTo>
                  <a:lnTo>
                    <a:pt x="6364224" y="0"/>
                  </a:lnTo>
                  <a:cubicBezTo>
                    <a:pt x="6445504" y="0"/>
                    <a:pt x="6511290" y="65913"/>
                    <a:pt x="6511290" y="147066"/>
                  </a:cubicBezTo>
                  <a:lnTo>
                    <a:pt x="6511290" y="3438144"/>
                  </a:lnTo>
                  <a:cubicBezTo>
                    <a:pt x="6511290" y="3519424"/>
                    <a:pt x="6445377" y="3585210"/>
                    <a:pt x="6364224" y="3585210"/>
                  </a:cubicBezTo>
                  <a:lnTo>
                    <a:pt x="147066" y="3585210"/>
                  </a:lnTo>
                  <a:cubicBezTo>
                    <a:pt x="65913" y="3585210"/>
                    <a:pt x="0" y="3519297"/>
                    <a:pt x="0" y="3438144"/>
                  </a:cubicBezTo>
                  <a:close/>
                </a:path>
              </a:pathLst>
            </a:custGeom>
            <a:solidFill>
              <a:srgbClr val="FDFDFB"/>
            </a:solidFill>
            <a:ln w="14288" cap="sq">
              <a:solidFill>
                <a:srgbClr val="D3DCD9"/>
              </a:solidFill>
              <a:prstDash val="solid"/>
              <a:miter/>
            </a:ln>
          </p:spPr>
        </p:sp>
      </p:grpSp>
      <p:sp>
        <p:nvSpPr>
          <p:cNvPr name="TextBox 10" id="10"/>
          <p:cNvSpPr txBox="true"/>
          <p:nvPr/>
        </p:nvSpPr>
        <p:spPr>
          <a:xfrm rot="0">
            <a:off x="1632204" y="2985897"/>
            <a:ext cx="1371600" cy="607695"/>
          </a:xfrm>
          <a:prstGeom prst="rect">
            <a:avLst/>
          </a:prstGeom>
        </p:spPr>
        <p:txBody>
          <a:bodyPr anchor="t" rtlCol="false" tIns="0" lIns="0" bIns="0" rIns="0">
            <a:spAutoFit/>
          </a:bodyPr>
          <a:lstStyle/>
          <a:p>
            <a:pPr algn="l">
              <a:lnSpc>
                <a:spcPts val="3960"/>
              </a:lnSpc>
            </a:pPr>
            <a:r>
              <a:rPr lang="en-US" sz="3300" b="true">
                <a:solidFill>
                  <a:srgbClr val="0B6E60"/>
                </a:solidFill>
                <a:latin typeface="Source Serif Pro Bold"/>
                <a:ea typeface="Source Serif Pro Bold"/>
                <a:cs typeface="Source Serif Pro Bold"/>
                <a:sym typeface="Source Serif Pro Bold"/>
              </a:rPr>
              <a:t>01</a:t>
            </a:r>
          </a:p>
        </p:txBody>
      </p:sp>
      <p:sp>
        <p:nvSpPr>
          <p:cNvPr name="TextBox 11" id="11"/>
          <p:cNvSpPr txBox="true"/>
          <p:nvPr/>
        </p:nvSpPr>
        <p:spPr>
          <a:xfrm rot="0">
            <a:off x="1632204" y="3625215"/>
            <a:ext cx="4114800" cy="558165"/>
          </a:xfrm>
          <a:prstGeom prst="rect">
            <a:avLst/>
          </a:prstGeom>
        </p:spPr>
        <p:txBody>
          <a:bodyPr anchor="t" rtlCol="false" tIns="0" lIns="0" bIns="0" rIns="0">
            <a:spAutoFit/>
          </a:bodyPr>
          <a:lstStyle/>
          <a:p>
            <a:pPr algn="l">
              <a:lnSpc>
                <a:spcPts val="2520"/>
              </a:lnSpc>
            </a:pPr>
            <a:r>
              <a:rPr lang="en-US" sz="2100" b="true">
                <a:solidFill>
                  <a:srgbClr val="14304A"/>
                </a:solidFill>
                <a:latin typeface="IBM Plex Sans Bold"/>
                <a:ea typeface="IBM Plex Sans Bold"/>
                <a:cs typeface="IBM Plex Sans Bold"/>
                <a:sym typeface="IBM Plex Sans Bold"/>
              </a:rPr>
              <a:t>Consult first</a:t>
            </a:r>
          </a:p>
        </p:txBody>
      </p:sp>
      <p:sp>
        <p:nvSpPr>
          <p:cNvPr name="TextBox 12" id="12"/>
          <p:cNvSpPr txBox="true"/>
          <p:nvPr/>
        </p:nvSpPr>
        <p:spPr>
          <a:xfrm rot="0">
            <a:off x="1632204" y="4210812"/>
            <a:ext cx="4114800" cy="1028700"/>
          </a:xfrm>
          <a:prstGeom prst="rect">
            <a:avLst/>
          </a:prstGeom>
        </p:spPr>
        <p:txBody>
          <a:bodyPr anchor="t" rtlCol="false" tIns="0" lIns="0" bIns="0" rIns="0">
            <a:spAutoFit/>
          </a:bodyPr>
          <a:lstStyle/>
          <a:p>
            <a:pPr algn="l">
              <a:lnSpc>
                <a:spcPts val="2070"/>
              </a:lnSpc>
            </a:pPr>
            <a:r>
              <a:rPr lang="en-US" sz="1725">
                <a:solidFill>
                  <a:srgbClr val="3F4B57"/>
                </a:solidFill>
                <a:latin typeface="IBM Plex Sans"/>
                <a:ea typeface="IBM Plex Sans"/>
                <a:cs typeface="IBM Plex Sans"/>
                <a:sym typeface="IBM Plex Sans"/>
              </a:rPr>
              <a:t>Consult a doctor, pharmacist or health worker before starting any antibiotic.</a:t>
            </a:r>
          </a:p>
        </p:txBody>
      </p:sp>
      <p:grpSp>
        <p:nvGrpSpPr>
          <p:cNvPr name="Group 13" id="13"/>
          <p:cNvGrpSpPr/>
          <p:nvPr/>
        </p:nvGrpSpPr>
        <p:grpSpPr>
          <a:xfrm rot="0">
            <a:off x="6357080" y="2667476"/>
            <a:ext cx="4883468" cy="2688908"/>
            <a:chOff x="0" y="0"/>
            <a:chExt cx="6511290" cy="3585210"/>
          </a:xfrm>
        </p:grpSpPr>
        <p:sp>
          <p:nvSpPr>
            <p:cNvPr name="Freeform 14" id="14"/>
            <p:cNvSpPr/>
            <p:nvPr/>
          </p:nvSpPr>
          <p:spPr>
            <a:xfrm flipH="false" flipV="false" rot="0">
              <a:off x="0" y="0"/>
              <a:ext cx="6511290" cy="3585210"/>
            </a:xfrm>
            <a:custGeom>
              <a:avLst/>
              <a:gdLst/>
              <a:ahLst/>
              <a:cxnLst/>
              <a:rect r="r" b="b" t="t" l="l"/>
              <a:pathLst>
                <a:path h="3585210" w="6511290">
                  <a:moveTo>
                    <a:pt x="0" y="147066"/>
                  </a:moveTo>
                  <a:cubicBezTo>
                    <a:pt x="0" y="65913"/>
                    <a:pt x="65913" y="0"/>
                    <a:pt x="147066" y="0"/>
                  </a:cubicBezTo>
                  <a:lnTo>
                    <a:pt x="6364224" y="0"/>
                  </a:lnTo>
                  <a:cubicBezTo>
                    <a:pt x="6445504" y="0"/>
                    <a:pt x="6511290" y="65913"/>
                    <a:pt x="6511290" y="147066"/>
                  </a:cubicBezTo>
                  <a:lnTo>
                    <a:pt x="6511290" y="3438144"/>
                  </a:lnTo>
                  <a:cubicBezTo>
                    <a:pt x="6511290" y="3519424"/>
                    <a:pt x="6445377" y="3585210"/>
                    <a:pt x="6364224" y="3585210"/>
                  </a:cubicBezTo>
                  <a:lnTo>
                    <a:pt x="147066" y="3585210"/>
                  </a:lnTo>
                  <a:cubicBezTo>
                    <a:pt x="65913" y="3585210"/>
                    <a:pt x="0" y="3519297"/>
                    <a:pt x="0" y="3438144"/>
                  </a:cubicBezTo>
                  <a:close/>
                </a:path>
              </a:pathLst>
            </a:custGeom>
            <a:solidFill>
              <a:srgbClr val="FDFDFB"/>
            </a:solidFill>
            <a:ln w="14288" cap="sq">
              <a:solidFill>
                <a:srgbClr val="D3DCD9"/>
              </a:solidFill>
              <a:prstDash val="solid"/>
              <a:miter/>
            </a:ln>
          </p:spPr>
        </p:sp>
      </p:grpSp>
      <p:sp>
        <p:nvSpPr>
          <p:cNvPr name="TextBox 15" id="15"/>
          <p:cNvSpPr txBox="true"/>
          <p:nvPr/>
        </p:nvSpPr>
        <p:spPr>
          <a:xfrm rot="0">
            <a:off x="6775704" y="2985897"/>
            <a:ext cx="1371600" cy="607695"/>
          </a:xfrm>
          <a:prstGeom prst="rect">
            <a:avLst/>
          </a:prstGeom>
        </p:spPr>
        <p:txBody>
          <a:bodyPr anchor="t" rtlCol="false" tIns="0" lIns="0" bIns="0" rIns="0">
            <a:spAutoFit/>
          </a:bodyPr>
          <a:lstStyle/>
          <a:p>
            <a:pPr algn="l">
              <a:lnSpc>
                <a:spcPts val="3960"/>
              </a:lnSpc>
            </a:pPr>
            <a:r>
              <a:rPr lang="en-US" sz="3300" b="true">
                <a:solidFill>
                  <a:srgbClr val="0B6E60"/>
                </a:solidFill>
                <a:latin typeface="Source Serif Pro Bold"/>
                <a:ea typeface="Source Serif Pro Bold"/>
                <a:cs typeface="Source Serif Pro Bold"/>
                <a:sym typeface="Source Serif Pro Bold"/>
              </a:rPr>
              <a:t>02</a:t>
            </a:r>
          </a:p>
        </p:txBody>
      </p:sp>
      <p:sp>
        <p:nvSpPr>
          <p:cNvPr name="TextBox 16" id="16"/>
          <p:cNvSpPr txBox="true"/>
          <p:nvPr/>
        </p:nvSpPr>
        <p:spPr>
          <a:xfrm rot="0">
            <a:off x="6775704" y="3625215"/>
            <a:ext cx="4114800" cy="558165"/>
          </a:xfrm>
          <a:prstGeom prst="rect">
            <a:avLst/>
          </a:prstGeom>
        </p:spPr>
        <p:txBody>
          <a:bodyPr anchor="t" rtlCol="false" tIns="0" lIns="0" bIns="0" rIns="0">
            <a:spAutoFit/>
          </a:bodyPr>
          <a:lstStyle/>
          <a:p>
            <a:pPr algn="l">
              <a:lnSpc>
                <a:spcPts val="2520"/>
              </a:lnSpc>
            </a:pPr>
            <a:r>
              <a:rPr lang="en-US" sz="2100" b="true">
                <a:solidFill>
                  <a:srgbClr val="14304A"/>
                </a:solidFill>
                <a:latin typeface="IBM Plex Sans Bold"/>
                <a:ea typeface="IBM Plex Sans Bold"/>
                <a:cs typeface="IBM Plex Sans Bold"/>
                <a:sym typeface="IBM Plex Sans Bold"/>
              </a:rPr>
              <a:t>Finish the course</a:t>
            </a:r>
          </a:p>
        </p:txBody>
      </p:sp>
      <p:sp>
        <p:nvSpPr>
          <p:cNvPr name="TextBox 17" id="17"/>
          <p:cNvSpPr txBox="true"/>
          <p:nvPr/>
        </p:nvSpPr>
        <p:spPr>
          <a:xfrm rot="0">
            <a:off x="6775704" y="4210812"/>
            <a:ext cx="4114800" cy="1028700"/>
          </a:xfrm>
          <a:prstGeom prst="rect">
            <a:avLst/>
          </a:prstGeom>
        </p:spPr>
        <p:txBody>
          <a:bodyPr anchor="t" rtlCol="false" tIns="0" lIns="0" bIns="0" rIns="0">
            <a:spAutoFit/>
          </a:bodyPr>
          <a:lstStyle/>
          <a:p>
            <a:pPr algn="l">
              <a:lnSpc>
                <a:spcPts val="2070"/>
              </a:lnSpc>
            </a:pPr>
            <a:r>
              <a:rPr lang="en-US" sz="1725">
                <a:solidFill>
                  <a:srgbClr val="3F4B57"/>
                </a:solidFill>
                <a:latin typeface="IBM Plex Sans"/>
                <a:ea typeface="IBM Plex Sans"/>
                <a:cs typeface="IBM Plex Sans"/>
                <a:sym typeface="IBM Plex Sans"/>
              </a:rPr>
              <a:t>Take every pill until the prescription finishes, even when you feel better.</a:t>
            </a:r>
          </a:p>
        </p:txBody>
      </p:sp>
      <p:grpSp>
        <p:nvGrpSpPr>
          <p:cNvPr name="Group 18" id="18"/>
          <p:cNvGrpSpPr/>
          <p:nvPr/>
        </p:nvGrpSpPr>
        <p:grpSpPr>
          <a:xfrm rot="0">
            <a:off x="1213580" y="5616416"/>
            <a:ext cx="4883468" cy="2688908"/>
            <a:chOff x="0" y="0"/>
            <a:chExt cx="6511290" cy="3585210"/>
          </a:xfrm>
        </p:grpSpPr>
        <p:sp>
          <p:nvSpPr>
            <p:cNvPr name="Freeform 19" id="19"/>
            <p:cNvSpPr/>
            <p:nvPr/>
          </p:nvSpPr>
          <p:spPr>
            <a:xfrm flipH="false" flipV="false" rot="0">
              <a:off x="0" y="0"/>
              <a:ext cx="6511290" cy="3585210"/>
            </a:xfrm>
            <a:custGeom>
              <a:avLst/>
              <a:gdLst/>
              <a:ahLst/>
              <a:cxnLst/>
              <a:rect r="r" b="b" t="t" l="l"/>
              <a:pathLst>
                <a:path h="3585210" w="6511290">
                  <a:moveTo>
                    <a:pt x="0" y="147066"/>
                  </a:moveTo>
                  <a:cubicBezTo>
                    <a:pt x="0" y="65913"/>
                    <a:pt x="65913" y="0"/>
                    <a:pt x="147066" y="0"/>
                  </a:cubicBezTo>
                  <a:lnTo>
                    <a:pt x="6364224" y="0"/>
                  </a:lnTo>
                  <a:cubicBezTo>
                    <a:pt x="6445504" y="0"/>
                    <a:pt x="6511290" y="65913"/>
                    <a:pt x="6511290" y="147066"/>
                  </a:cubicBezTo>
                  <a:lnTo>
                    <a:pt x="6511290" y="3438144"/>
                  </a:lnTo>
                  <a:cubicBezTo>
                    <a:pt x="6511290" y="3519424"/>
                    <a:pt x="6445377" y="3585210"/>
                    <a:pt x="6364224" y="3585210"/>
                  </a:cubicBezTo>
                  <a:lnTo>
                    <a:pt x="147066" y="3585210"/>
                  </a:lnTo>
                  <a:cubicBezTo>
                    <a:pt x="65913" y="3585210"/>
                    <a:pt x="0" y="3519297"/>
                    <a:pt x="0" y="3438144"/>
                  </a:cubicBezTo>
                  <a:close/>
                </a:path>
              </a:pathLst>
            </a:custGeom>
            <a:solidFill>
              <a:srgbClr val="FDFDFB"/>
            </a:solidFill>
            <a:ln w="14288" cap="sq">
              <a:solidFill>
                <a:srgbClr val="D3DCD9"/>
              </a:solidFill>
              <a:prstDash val="solid"/>
              <a:miter/>
            </a:ln>
          </p:spPr>
        </p:sp>
      </p:grpSp>
      <p:sp>
        <p:nvSpPr>
          <p:cNvPr name="TextBox 20" id="20"/>
          <p:cNvSpPr txBox="true"/>
          <p:nvPr/>
        </p:nvSpPr>
        <p:spPr>
          <a:xfrm rot="0">
            <a:off x="1632204" y="5934837"/>
            <a:ext cx="1371600" cy="607695"/>
          </a:xfrm>
          <a:prstGeom prst="rect">
            <a:avLst/>
          </a:prstGeom>
        </p:spPr>
        <p:txBody>
          <a:bodyPr anchor="t" rtlCol="false" tIns="0" lIns="0" bIns="0" rIns="0">
            <a:spAutoFit/>
          </a:bodyPr>
          <a:lstStyle/>
          <a:p>
            <a:pPr algn="l">
              <a:lnSpc>
                <a:spcPts val="3960"/>
              </a:lnSpc>
            </a:pPr>
            <a:r>
              <a:rPr lang="en-US" sz="3300" b="true">
                <a:solidFill>
                  <a:srgbClr val="0B6E60"/>
                </a:solidFill>
                <a:latin typeface="Source Serif Pro Bold"/>
                <a:ea typeface="Source Serif Pro Bold"/>
                <a:cs typeface="Source Serif Pro Bold"/>
                <a:sym typeface="Source Serif Pro Bold"/>
              </a:rPr>
              <a:t>03</a:t>
            </a:r>
          </a:p>
        </p:txBody>
      </p:sp>
      <p:sp>
        <p:nvSpPr>
          <p:cNvPr name="TextBox 21" id="21"/>
          <p:cNvSpPr txBox="true"/>
          <p:nvPr/>
        </p:nvSpPr>
        <p:spPr>
          <a:xfrm rot="0">
            <a:off x="1632204" y="6574155"/>
            <a:ext cx="4114800" cy="558165"/>
          </a:xfrm>
          <a:prstGeom prst="rect">
            <a:avLst/>
          </a:prstGeom>
        </p:spPr>
        <p:txBody>
          <a:bodyPr anchor="t" rtlCol="false" tIns="0" lIns="0" bIns="0" rIns="0">
            <a:spAutoFit/>
          </a:bodyPr>
          <a:lstStyle/>
          <a:p>
            <a:pPr algn="l">
              <a:lnSpc>
                <a:spcPts val="2520"/>
              </a:lnSpc>
            </a:pPr>
            <a:r>
              <a:rPr lang="en-US" sz="2100" b="true">
                <a:solidFill>
                  <a:srgbClr val="14304A"/>
                </a:solidFill>
                <a:latin typeface="IBM Plex Sans Bold"/>
                <a:ea typeface="IBM Plex Sans Bold"/>
                <a:cs typeface="IBM Plex Sans Bold"/>
                <a:sym typeface="IBM Plex Sans Bold"/>
              </a:rPr>
              <a:t>Never share</a:t>
            </a:r>
          </a:p>
        </p:txBody>
      </p:sp>
      <p:sp>
        <p:nvSpPr>
          <p:cNvPr name="TextBox 22" id="22"/>
          <p:cNvSpPr txBox="true"/>
          <p:nvPr/>
        </p:nvSpPr>
        <p:spPr>
          <a:xfrm rot="0">
            <a:off x="1632204" y="7159752"/>
            <a:ext cx="4114800" cy="1028700"/>
          </a:xfrm>
          <a:prstGeom prst="rect">
            <a:avLst/>
          </a:prstGeom>
        </p:spPr>
        <p:txBody>
          <a:bodyPr anchor="t" rtlCol="false" tIns="0" lIns="0" bIns="0" rIns="0">
            <a:spAutoFit/>
          </a:bodyPr>
          <a:lstStyle/>
          <a:p>
            <a:pPr algn="l">
              <a:lnSpc>
                <a:spcPts val="2070"/>
              </a:lnSpc>
            </a:pPr>
            <a:r>
              <a:rPr lang="en-US" sz="1725">
                <a:solidFill>
                  <a:srgbClr val="3F4B57"/>
                </a:solidFill>
                <a:latin typeface="IBM Plex Sans"/>
                <a:ea typeface="IBM Plex Sans"/>
                <a:cs typeface="IBM Plex Sans"/>
                <a:sym typeface="IBM Plex Sans"/>
              </a:rPr>
              <a:t>Never keep leftover doses for later and never give them to anyone else.</a:t>
            </a:r>
          </a:p>
        </p:txBody>
      </p:sp>
      <p:grpSp>
        <p:nvGrpSpPr>
          <p:cNvPr name="Group 23" id="23"/>
          <p:cNvGrpSpPr/>
          <p:nvPr/>
        </p:nvGrpSpPr>
        <p:grpSpPr>
          <a:xfrm rot="0">
            <a:off x="6357080" y="5616416"/>
            <a:ext cx="4883468" cy="2688908"/>
            <a:chOff x="0" y="0"/>
            <a:chExt cx="6511290" cy="3585210"/>
          </a:xfrm>
        </p:grpSpPr>
        <p:sp>
          <p:nvSpPr>
            <p:cNvPr name="Freeform 24" id="24"/>
            <p:cNvSpPr/>
            <p:nvPr/>
          </p:nvSpPr>
          <p:spPr>
            <a:xfrm flipH="false" flipV="false" rot="0">
              <a:off x="0" y="0"/>
              <a:ext cx="6511290" cy="3585210"/>
            </a:xfrm>
            <a:custGeom>
              <a:avLst/>
              <a:gdLst/>
              <a:ahLst/>
              <a:cxnLst/>
              <a:rect r="r" b="b" t="t" l="l"/>
              <a:pathLst>
                <a:path h="3585210" w="6511290">
                  <a:moveTo>
                    <a:pt x="0" y="147066"/>
                  </a:moveTo>
                  <a:cubicBezTo>
                    <a:pt x="0" y="65913"/>
                    <a:pt x="65913" y="0"/>
                    <a:pt x="147066" y="0"/>
                  </a:cubicBezTo>
                  <a:lnTo>
                    <a:pt x="6364224" y="0"/>
                  </a:lnTo>
                  <a:cubicBezTo>
                    <a:pt x="6445504" y="0"/>
                    <a:pt x="6511290" y="65913"/>
                    <a:pt x="6511290" y="147066"/>
                  </a:cubicBezTo>
                  <a:lnTo>
                    <a:pt x="6511290" y="3438144"/>
                  </a:lnTo>
                  <a:cubicBezTo>
                    <a:pt x="6511290" y="3519424"/>
                    <a:pt x="6445377" y="3585210"/>
                    <a:pt x="6364224" y="3585210"/>
                  </a:cubicBezTo>
                  <a:lnTo>
                    <a:pt x="147066" y="3585210"/>
                  </a:lnTo>
                  <a:cubicBezTo>
                    <a:pt x="65913" y="3585210"/>
                    <a:pt x="0" y="3519297"/>
                    <a:pt x="0" y="3438144"/>
                  </a:cubicBezTo>
                  <a:close/>
                </a:path>
              </a:pathLst>
            </a:custGeom>
            <a:solidFill>
              <a:srgbClr val="FDFDFB"/>
            </a:solidFill>
            <a:ln w="14288" cap="sq">
              <a:solidFill>
                <a:srgbClr val="D3DCD9"/>
              </a:solidFill>
              <a:prstDash val="solid"/>
              <a:miter/>
            </a:ln>
          </p:spPr>
        </p:sp>
      </p:grpSp>
      <p:sp>
        <p:nvSpPr>
          <p:cNvPr name="TextBox 25" id="25"/>
          <p:cNvSpPr txBox="true"/>
          <p:nvPr/>
        </p:nvSpPr>
        <p:spPr>
          <a:xfrm rot="0">
            <a:off x="6775704" y="5934837"/>
            <a:ext cx="1371600" cy="607695"/>
          </a:xfrm>
          <a:prstGeom prst="rect">
            <a:avLst/>
          </a:prstGeom>
        </p:spPr>
        <p:txBody>
          <a:bodyPr anchor="t" rtlCol="false" tIns="0" lIns="0" bIns="0" rIns="0">
            <a:spAutoFit/>
          </a:bodyPr>
          <a:lstStyle/>
          <a:p>
            <a:pPr algn="l">
              <a:lnSpc>
                <a:spcPts val="3960"/>
              </a:lnSpc>
            </a:pPr>
            <a:r>
              <a:rPr lang="en-US" sz="3300" b="true">
                <a:solidFill>
                  <a:srgbClr val="0B6E60"/>
                </a:solidFill>
                <a:latin typeface="Source Serif Pro Bold"/>
                <a:ea typeface="Source Serif Pro Bold"/>
                <a:cs typeface="Source Serif Pro Bold"/>
                <a:sym typeface="Source Serif Pro Bold"/>
              </a:rPr>
              <a:t>04</a:t>
            </a:r>
          </a:p>
        </p:txBody>
      </p:sp>
      <p:sp>
        <p:nvSpPr>
          <p:cNvPr name="TextBox 26" id="26"/>
          <p:cNvSpPr txBox="true"/>
          <p:nvPr/>
        </p:nvSpPr>
        <p:spPr>
          <a:xfrm rot="0">
            <a:off x="6775704" y="6574155"/>
            <a:ext cx="4114800" cy="558165"/>
          </a:xfrm>
          <a:prstGeom prst="rect">
            <a:avLst/>
          </a:prstGeom>
        </p:spPr>
        <p:txBody>
          <a:bodyPr anchor="t" rtlCol="false" tIns="0" lIns="0" bIns="0" rIns="0">
            <a:spAutoFit/>
          </a:bodyPr>
          <a:lstStyle/>
          <a:p>
            <a:pPr algn="l">
              <a:lnSpc>
                <a:spcPts val="2520"/>
              </a:lnSpc>
            </a:pPr>
            <a:r>
              <a:rPr lang="en-US" sz="2100" b="true">
                <a:solidFill>
                  <a:srgbClr val="14304A"/>
                </a:solidFill>
                <a:latin typeface="IBM Plex Sans Bold"/>
                <a:ea typeface="IBM Plex Sans Bold"/>
                <a:cs typeface="IBM Plex Sans Bold"/>
                <a:sym typeface="IBM Plex Sans Bold"/>
              </a:rPr>
              <a:t>Prevent illness</a:t>
            </a:r>
          </a:p>
        </p:txBody>
      </p:sp>
      <p:sp>
        <p:nvSpPr>
          <p:cNvPr name="TextBox 27" id="27"/>
          <p:cNvSpPr txBox="true"/>
          <p:nvPr/>
        </p:nvSpPr>
        <p:spPr>
          <a:xfrm rot="0">
            <a:off x="6775704" y="7159752"/>
            <a:ext cx="4114800" cy="1028700"/>
          </a:xfrm>
          <a:prstGeom prst="rect">
            <a:avLst/>
          </a:prstGeom>
        </p:spPr>
        <p:txBody>
          <a:bodyPr anchor="t" rtlCol="false" tIns="0" lIns="0" bIns="0" rIns="0">
            <a:spAutoFit/>
          </a:bodyPr>
          <a:lstStyle/>
          <a:p>
            <a:pPr algn="l">
              <a:lnSpc>
                <a:spcPts val="2070"/>
              </a:lnSpc>
            </a:pPr>
            <a:r>
              <a:rPr lang="en-US" sz="1725">
                <a:solidFill>
                  <a:srgbClr val="3F4B57"/>
                </a:solidFill>
                <a:latin typeface="IBM Plex Sans"/>
                <a:ea typeface="IBM Plex Sans"/>
                <a:cs typeface="IBM Plex Sans"/>
                <a:sym typeface="IBM Plex Sans"/>
              </a:rPr>
              <a:t>Clean water, handwashing and safe food prevent infections and the need for antibiotics.</a:t>
            </a:r>
          </a:p>
        </p:txBody>
      </p:sp>
      <p:grpSp>
        <p:nvGrpSpPr>
          <p:cNvPr name="Group 28" id="28"/>
          <p:cNvGrpSpPr/>
          <p:nvPr/>
        </p:nvGrpSpPr>
        <p:grpSpPr>
          <a:xfrm rot="0">
            <a:off x="11864340" y="2674620"/>
            <a:ext cx="4183380" cy="5925312"/>
            <a:chOff x="0" y="0"/>
            <a:chExt cx="5577840" cy="7900416"/>
          </a:xfrm>
        </p:grpSpPr>
        <p:sp>
          <p:nvSpPr>
            <p:cNvPr name="Freeform 29" id="29" descr="/home/claude/img/flyer.png"/>
            <p:cNvSpPr/>
            <p:nvPr/>
          </p:nvSpPr>
          <p:spPr>
            <a:xfrm flipH="false" flipV="false" rot="0">
              <a:off x="0" y="0"/>
              <a:ext cx="5577840" cy="7900416"/>
            </a:xfrm>
            <a:custGeom>
              <a:avLst/>
              <a:gdLst/>
              <a:ahLst/>
              <a:cxnLst/>
              <a:rect r="r" b="b" t="t" l="l"/>
              <a:pathLst>
                <a:path h="7900416" w="5577840">
                  <a:moveTo>
                    <a:pt x="0" y="0"/>
                  </a:moveTo>
                  <a:lnTo>
                    <a:pt x="5577840" y="0"/>
                  </a:lnTo>
                  <a:lnTo>
                    <a:pt x="5577840" y="7900416"/>
                  </a:lnTo>
                  <a:lnTo>
                    <a:pt x="0" y="7900416"/>
                  </a:lnTo>
                  <a:lnTo>
                    <a:pt x="0" y="0"/>
                  </a:lnTo>
                  <a:close/>
                </a:path>
              </a:pathLst>
            </a:custGeom>
            <a:blipFill>
              <a:blip r:embed="rId4"/>
              <a:stretch>
                <a:fillRect l="-49" t="0" r="-49" b="0"/>
              </a:stretch>
            </a:blipFill>
          </p:spPr>
        </p:sp>
      </p:grpSp>
      <p:sp>
        <p:nvSpPr>
          <p:cNvPr name="TextBox 30" id="30"/>
          <p:cNvSpPr txBox="true"/>
          <p:nvPr/>
        </p:nvSpPr>
        <p:spPr>
          <a:xfrm rot="0">
            <a:off x="11658600" y="8700135"/>
            <a:ext cx="4800600" cy="421005"/>
          </a:xfrm>
          <a:prstGeom prst="rect">
            <a:avLst/>
          </a:prstGeom>
        </p:spPr>
        <p:txBody>
          <a:bodyPr anchor="t" rtlCol="false" tIns="0" lIns="0" bIns="0" rIns="0">
            <a:spAutoFit/>
          </a:bodyPr>
          <a:lstStyle/>
          <a:p>
            <a:pPr algn="l">
              <a:lnSpc>
                <a:spcPts val="1620"/>
              </a:lnSpc>
            </a:pPr>
            <a:r>
              <a:rPr lang="en-US" sz="1350" i="true">
                <a:solidFill>
                  <a:srgbClr val="5B6770"/>
                </a:solidFill>
                <a:latin typeface="IBM Plex Sans Italics"/>
                <a:ea typeface="IBM Plex Sans Italics"/>
                <a:cs typeface="IBM Plex Sans Italics"/>
                <a:sym typeface="IBM Plex Sans Italics"/>
              </a:rPr>
              <a:t>Programme flyer distributed door-to-door (original design, 2026)</a:t>
            </a:r>
          </a:p>
        </p:txBody>
      </p:sp>
      <p:grpSp>
        <p:nvGrpSpPr>
          <p:cNvPr name="Group 31" id="31"/>
          <p:cNvGrpSpPr/>
          <p:nvPr/>
        </p:nvGrpSpPr>
        <p:grpSpPr>
          <a:xfrm rot="0">
            <a:off x="1220724" y="9354312"/>
            <a:ext cx="11658600" cy="356616"/>
            <a:chOff x="0" y="0"/>
            <a:chExt cx="15544800" cy="475488"/>
          </a:xfrm>
        </p:grpSpPr>
        <p:sp>
          <p:nvSpPr>
            <p:cNvPr name="Freeform 32" id="32"/>
            <p:cNvSpPr/>
            <p:nvPr/>
          </p:nvSpPr>
          <p:spPr>
            <a:xfrm flipH="false" flipV="false" rot="0">
              <a:off x="0" y="0"/>
              <a:ext cx="15544800" cy="475488"/>
            </a:xfrm>
            <a:custGeom>
              <a:avLst/>
              <a:gdLst/>
              <a:ahLst/>
              <a:cxnLst/>
              <a:rect r="r" b="b" t="t" l="l"/>
              <a:pathLst>
                <a:path h="475488" w="15544800">
                  <a:moveTo>
                    <a:pt x="0" y="0"/>
                  </a:moveTo>
                  <a:lnTo>
                    <a:pt x="15544800" y="0"/>
                  </a:lnTo>
                  <a:lnTo>
                    <a:pt x="15544800" y="475488"/>
                  </a:lnTo>
                  <a:lnTo>
                    <a:pt x="0" y="475488"/>
                  </a:lnTo>
                  <a:close/>
                </a:path>
              </a:pathLst>
            </a:custGeom>
            <a:blipFill>
              <a:blip r:embed="rId3">
                <a:alphaModFix amt="0"/>
              </a:blip>
              <a:stretch>
                <a:fillRect l="0" t="-587010" r="0" b="-587010"/>
              </a:stretch>
            </a:blipFill>
          </p:spPr>
        </p:sp>
        <p:sp>
          <p:nvSpPr>
            <p:cNvPr name="TextBox 33" id="33"/>
            <p:cNvSpPr txBox="true"/>
            <p:nvPr/>
          </p:nvSpPr>
          <p:spPr>
            <a:xfrm>
              <a:off x="0" y="0"/>
              <a:ext cx="15544800" cy="475488"/>
            </a:xfrm>
            <a:prstGeom prst="rect">
              <a:avLst/>
            </a:prstGeom>
          </p:spPr>
          <p:txBody>
            <a:bodyPr anchor="ctr" rtlCol="false" tIns="0" lIns="0" bIns="0" rIns="0"/>
            <a:lstStyle/>
            <a:p>
              <a:pPr algn="l">
                <a:lnSpc>
                  <a:spcPts val="1800"/>
                </a:lnSpc>
              </a:pPr>
              <a:r>
                <a:rPr lang="en-US" sz="1500">
                  <a:solidFill>
                    <a:srgbClr val="5B6770"/>
                  </a:solidFill>
                  <a:latin typeface="IBM Plex Sans"/>
                  <a:ea typeface="IBM Plex Sans"/>
                  <a:cs typeface="IBM Plex Sans"/>
                  <a:sym typeface="IBM Plex Sans"/>
                </a:rPr>
                <a:t>Preserving Our Medicines · Community Antibiotic Stewardship, Chakwal, Pakistan</a:t>
              </a:r>
            </a:p>
          </p:txBody>
        </p:sp>
      </p:grpSp>
      <p:grpSp>
        <p:nvGrpSpPr>
          <p:cNvPr name="Group 34" id="34"/>
          <p:cNvGrpSpPr/>
          <p:nvPr/>
        </p:nvGrpSpPr>
        <p:grpSpPr>
          <a:xfrm rot="0">
            <a:off x="15695219" y="9354312"/>
            <a:ext cx="1371600" cy="356616"/>
            <a:chOff x="0" y="0"/>
            <a:chExt cx="1828800" cy="475488"/>
          </a:xfrm>
        </p:grpSpPr>
        <p:sp>
          <p:nvSpPr>
            <p:cNvPr name="Freeform 35" id="35"/>
            <p:cNvSpPr/>
            <p:nvPr/>
          </p:nvSpPr>
          <p:spPr>
            <a:xfrm flipH="false" flipV="false" rot="0">
              <a:off x="0" y="0"/>
              <a:ext cx="1828800" cy="475488"/>
            </a:xfrm>
            <a:custGeom>
              <a:avLst/>
              <a:gdLst/>
              <a:ahLst/>
              <a:cxnLst/>
              <a:rect r="r" b="b" t="t" l="l"/>
              <a:pathLst>
                <a:path h="475488" w="1828800">
                  <a:moveTo>
                    <a:pt x="0" y="0"/>
                  </a:moveTo>
                  <a:lnTo>
                    <a:pt x="1828800" y="0"/>
                  </a:lnTo>
                  <a:lnTo>
                    <a:pt x="1828800" y="475488"/>
                  </a:lnTo>
                  <a:lnTo>
                    <a:pt x="0" y="475488"/>
                  </a:lnTo>
                  <a:close/>
                </a:path>
              </a:pathLst>
            </a:custGeom>
            <a:blipFill>
              <a:blip r:embed="rId3">
                <a:alphaModFix amt="0"/>
              </a:blip>
              <a:stretch>
                <a:fillRect l="0" t="-24942" r="0" b="-24942"/>
              </a:stretch>
            </a:blipFill>
          </p:spPr>
        </p:sp>
        <p:sp>
          <p:nvSpPr>
            <p:cNvPr name="TextBox 36" id="36"/>
            <p:cNvSpPr txBox="true"/>
            <p:nvPr/>
          </p:nvSpPr>
          <p:spPr>
            <a:xfrm>
              <a:off x="0" y="0"/>
              <a:ext cx="1828800" cy="475488"/>
            </a:xfrm>
            <a:prstGeom prst="rect">
              <a:avLst/>
            </a:prstGeom>
          </p:spPr>
          <p:txBody>
            <a:bodyPr anchor="ctr" rtlCol="false" tIns="0" lIns="0" bIns="0" rIns="0"/>
            <a:lstStyle/>
            <a:p>
              <a:pPr algn="r">
                <a:lnSpc>
                  <a:spcPts val="1800"/>
                </a:lnSpc>
              </a:pPr>
              <a:r>
                <a:rPr lang="en-US" sz="1500">
                  <a:solidFill>
                    <a:srgbClr val="5B6770"/>
                  </a:solidFill>
                  <a:latin typeface="IBM Plex Sans"/>
                  <a:ea typeface="IBM Plex Sans"/>
                  <a:cs typeface="IBM Plex Sans"/>
                  <a:sym typeface="IBM Plex Sans"/>
                </a:rPr>
                <a:t>11</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7F6F2"/>
        </a:solidFill>
      </p:bgPr>
    </p:bg>
    <p:spTree>
      <p:nvGrpSpPr>
        <p:cNvPr id="1" name=""/>
        <p:cNvGrpSpPr/>
        <p:nvPr/>
      </p:nvGrpSpPr>
      <p:grpSpPr>
        <a:xfrm>
          <a:off x="0" y="0"/>
          <a:ext cx="0" cy="0"/>
          <a:chOff x="0" y="0"/>
          <a:chExt cx="0" cy="0"/>
        </a:xfrm>
      </p:grpSpPr>
      <p:grpSp>
        <p:nvGrpSpPr>
          <p:cNvPr name="Group 2" id="2"/>
          <p:cNvGrpSpPr/>
          <p:nvPr/>
        </p:nvGrpSpPr>
        <p:grpSpPr>
          <a:xfrm rot="0">
            <a:off x="1220724" y="1124712"/>
            <a:ext cx="15846095" cy="384048"/>
            <a:chOff x="0" y="0"/>
            <a:chExt cx="21128126" cy="512064"/>
          </a:xfrm>
        </p:grpSpPr>
        <p:sp>
          <p:nvSpPr>
            <p:cNvPr name="Freeform 3" id="3"/>
            <p:cNvSpPr/>
            <p:nvPr/>
          </p:nvSpPr>
          <p:spPr>
            <a:xfrm flipH="false" flipV="false" rot="0">
              <a:off x="0" y="0"/>
              <a:ext cx="21128126" cy="512064"/>
            </a:xfrm>
            <a:custGeom>
              <a:avLst/>
              <a:gdLst/>
              <a:ahLst/>
              <a:cxnLst/>
              <a:rect r="r" b="b" t="t" l="l"/>
              <a:pathLst>
                <a:path h="512064" w="21128126">
                  <a:moveTo>
                    <a:pt x="0" y="0"/>
                  </a:moveTo>
                  <a:lnTo>
                    <a:pt x="21128126" y="0"/>
                  </a:lnTo>
                  <a:lnTo>
                    <a:pt x="21128126" y="512064"/>
                  </a:lnTo>
                  <a:lnTo>
                    <a:pt x="0" y="512064"/>
                  </a:lnTo>
                  <a:close/>
                </a:path>
              </a:pathLst>
            </a:custGeom>
            <a:blipFill>
              <a:blip r:embed="rId3">
                <a:alphaModFix amt="0"/>
              </a:blip>
              <a:stretch>
                <a:fillRect l="0" t="-753966" r="0" b="-753966"/>
              </a:stretch>
            </a:blipFill>
          </p:spPr>
        </p:sp>
        <p:sp>
          <p:nvSpPr>
            <p:cNvPr name="TextBox 4" id="4"/>
            <p:cNvSpPr txBox="true"/>
            <p:nvPr/>
          </p:nvSpPr>
          <p:spPr>
            <a:xfrm>
              <a:off x="0" y="0"/>
              <a:ext cx="21128126" cy="512064"/>
            </a:xfrm>
            <a:prstGeom prst="rect">
              <a:avLst/>
            </a:prstGeom>
          </p:spPr>
          <p:txBody>
            <a:bodyPr anchor="ctr" rtlCol="false" tIns="0" lIns="0" bIns="0" rIns="0"/>
            <a:lstStyle/>
            <a:p>
              <a:pPr algn="l">
                <a:lnSpc>
                  <a:spcPts val="1980"/>
                </a:lnSpc>
              </a:pPr>
              <a:r>
                <a:rPr lang="en-US" b="true" sz="1650" spc="299">
                  <a:solidFill>
                    <a:srgbClr val="0B6E60"/>
                  </a:solidFill>
                  <a:latin typeface="IBM Plex Sans Bold"/>
                  <a:ea typeface="IBM Plex Sans Bold"/>
                  <a:cs typeface="IBM Plex Sans Bold"/>
                  <a:sym typeface="IBM Plex Sans Bold"/>
                </a:rPr>
                <a:t>09 · PRACTICAL PATIENT SKILLS</a:t>
              </a:r>
            </a:p>
          </p:txBody>
        </p:sp>
      </p:grpSp>
      <p:grpSp>
        <p:nvGrpSpPr>
          <p:cNvPr name="Group 5" id="5"/>
          <p:cNvGrpSpPr/>
          <p:nvPr/>
        </p:nvGrpSpPr>
        <p:grpSpPr>
          <a:xfrm rot="0">
            <a:off x="1220724" y="1536192"/>
            <a:ext cx="15846095" cy="850392"/>
            <a:chOff x="0" y="0"/>
            <a:chExt cx="21128126" cy="1133856"/>
          </a:xfrm>
        </p:grpSpPr>
        <p:sp>
          <p:nvSpPr>
            <p:cNvPr name="Freeform 6" id="6"/>
            <p:cNvSpPr/>
            <p:nvPr/>
          </p:nvSpPr>
          <p:spPr>
            <a:xfrm flipH="false" flipV="false" rot="0">
              <a:off x="0" y="0"/>
              <a:ext cx="21128126" cy="1133856"/>
            </a:xfrm>
            <a:custGeom>
              <a:avLst/>
              <a:gdLst/>
              <a:ahLst/>
              <a:cxnLst/>
              <a:rect r="r" b="b" t="t" l="l"/>
              <a:pathLst>
                <a:path h="1133856" w="21128126">
                  <a:moveTo>
                    <a:pt x="0" y="0"/>
                  </a:moveTo>
                  <a:lnTo>
                    <a:pt x="21128126" y="0"/>
                  </a:lnTo>
                  <a:lnTo>
                    <a:pt x="21128126" y="1133856"/>
                  </a:lnTo>
                  <a:lnTo>
                    <a:pt x="0" y="1133856"/>
                  </a:lnTo>
                  <a:close/>
                </a:path>
              </a:pathLst>
            </a:custGeom>
            <a:blipFill>
              <a:blip r:embed="rId3">
                <a:alphaModFix amt="0"/>
              </a:blip>
              <a:stretch>
                <a:fillRect l="0" t="-313081" r="0" b="-313081"/>
              </a:stretch>
            </a:blipFill>
          </p:spPr>
        </p:sp>
        <p:sp>
          <p:nvSpPr>
            <p:cNvPr name="TextBox 7" id="7"/>
            <p:cNvSpPr txBox="true"/>
            <p:nvPr/>
          </p:nvSpPr>
          <p:spPr>
            <a:xfrm>
              <a:off x="0" y="0"/>
              <a:ext cx="21128126" cy="1133856"/>
            </a:xfrm>
            <a:prstGeom prst="rect">
              <a:avLst/>
            </a:prstGeom>
          </p:spPr>
          <p:txBody>
            <a:bodyPr anchor="ctr" rtlCol="false" tIns="0" lIns="0" bIns="0" rIns="0"/>
            <a:lstStyle/>
            <a:p>
              <a:pPr algn="l">
                <a:lnSpc>
                  <a:spcPts val="5400"/>
                </a:lnSpc>
              </a:pPr>
              <a:r>
                <a:rPr lang="en-US" sz="4500" b="true">
                  <a:solidFill>
                    <a:srgbClr val="14304A"/>
                  </a:solidFill>
                  <a:latin typeface="Source Serif Pro Bold"/>
                  <a:ea typeface="Source Serif Pro Bold"/>
                  <a:cs typeface="Source Serif Pro Bold"/>
                  <a:sym typeface="Source Serif Pro Bold"/>
                </a:rPr>
                <a:t>How to administer antibiotics safely</a:t>
              </a:r>
            </a:p>
          </p:txBody>
        </p:sp>
      </p:grpSp>
      <p:grpSp>
        <p:nvGrpSpPr>
          <p:cNvPr name="Group 8" id="8"/>
          <p:cNvGrpSpPr/>
          <p:nvPr/>
        </p:nvGrpSpPr>
        <p:grpSpPr>
          <a:xfrm rot="0">
            <a:off x="1213580" y="3010376"/>
            <a:ext cx="5020628" cy="4129088"/>
            <a:chOff x="0" y="0"/>
            <a:chExt cx="6694170" cy="5505450"/>
          </a:xfrm>
        </p:grpSpPr>
        <p:sp>
          <p:nvSpPr>
            <p:cNvPr name="Freeform 9" id="9"/>
            <p:cNvSpPr/>
            <p:nvPr/>
          </p:nvSpPr>
          <p:spPr>
            <a:xfrm flipH="false" flipV="false" rot="0">
              <a:off x="0" y="0"/>
              <a:ext cx="6694170" cy="5505450"/>
            </a:xfrm>
            <a:custGeom>
              <a:avLst/>
              <a:gdLst/>
              <a:ahLst/>
              <a:cxnLst/>
              <a:rect r="r" b="b" t="t" l="l"/>
              <a:pathLst>
                <a:path h="5505450" w="6694170">
                  <a:moveTo>
                    <a:pt x="0" y="146812"/>
                  </a:moveTo>
                  <a:cubicBezTo>
                    <a:pt x="0" y="65786"/>
                    <a:pt x="65786" y="0"/>
                    <a:pt x="146812" y="0"/>
                  </a:cubicBezTo>
                  <a:lnTo>
                    <a:pt x="6547358" y="0"/>
                  </a:lnTo>
                  <a:cubicBezTo>
                    <a:pt x="6628511" y="0"/>
                    <a:pt x="6694170" y="65786"/>
                    <a:pt x="6694170" y="146812"/>
                  </a:cubicBezTo>
                  <a:lnTo>
                    <a:pt x="6694170" y="5358638"/>
                  </a:lnTo>
                  <a:cubicBezTo>
                    <a:pt x="6694170" y="5439791"/>
                    <a:pt x="6628384" y="5505450"/>
                    <a:pt x="6547358" y="5505450"/>
                  </a:cubicBezTo>
                  <a:lnTo>
                    <a:pt x="146812" y="5505450"/>
                  </a:lnTo>
                  <a:cubicBezTo>
                    <a:pt x="65786" y="5505450"/>
                    <a:pt x="0" y="5439664"/>
                    <a:pt x="0" y="5358638"/>
                  </a:cubicBezTo>
                  <a:close/>
                </a:path>
              </a:pathLst>
            </a:custGeom>
            <a:solidFill>
              <a:srgbClr val="FDFDFB"/>
            </a:solidFill>
            <a:ln w="14288" cap="sq">
              <a:solidFill>
                <a:srgbClr val="D3DCD9"/>
              </a:solidFill>
              <a:prstDash val="solid"/>
              <a:miter/>
            </a:ln>
          </p:spPr>
        </p:sp>
      </p:grpSp>
      <p:grpSp>
        <p:nvGrpSpPr>
          <p:cNvPr name="Group 10" id="10"/>
          <p:cNvGrpSpPr/>
          <p:nvPr/>
        </p:nvGrpSpPr>
        <p:grpSpPr>
          <a:xfrm rot="0">
            <a:off x="1691259" y="3488055"/>
            <a:ext cx="979170" cy="979170"/>
            <a:chOff x="0" y="0"/>
            <a:chExt cx="1305560" cy="1305560"/>
          </a:xfrm>
        </p:grpSpPr>
        <p:sp>
          <p:nvSpPr>
            <p:cNvPr name="Freeform 11" id="11"/>
            <p:cNvSpPr/>
            <p:nvPr/>
          </p:nvSpPr>
          <p:spPr>
            <a:xfrm flipH="false" flipV="false" rot="0">
              <a:off x="0" y="0"/>
              <a:ext cx="1305560" cy="1305560"/>
            </a:xfrm>
            <a:custGeom>
              <a:avLst/>
              <a:gdLst/>
              <a:ahLst/>
              <a:cxnLst/>
              <a:rect r="r" b="b" t="t" l="l"/>
              <a:pathLst>
                <a:path h="1305560" w="1305560">
                  <a:moveTo>
                    <a:pt x="0" y="223774"/>
                  </a:moveTo>
                  <a:cubicBezTo>
                    <a:pt x="0" y="100203"/>
                    <a:pt x="100203" y="0"/>
                    <a:pt x="223774" y="0"/>
                  </a:cubicBezTo>
                  <a:lnTo>
                    <a:pt x="1081786" y="0"/>
                  </a:lnTo>
                  <a:cubicBezTo>
                    <a:pt x="1205357" y="0"/>
                    <a:pt x="1305560" y="100203"/>
                    <a:pt x="1305560" y="223774"/>
                  </a:cubicBezTo>
                  <a:lnTo>
                    <a:pt x="1305560" y="1081786"/>
                  </a:lnTo>
                  <a:cubicBezTo>
                    <a:pt x="1305560" y="1205357"/>
                    <a:pt x="1205357" y="1305560"/>
                    <a:pt x="1081786" y="1305560"/>
                  </a:cubicBezTo>
                  <a:lnTo>
                    <a:pt x="223774" y="1305560"/>
                  </a:lnTo>
                  <a:cubicBezTo>
                    <a:pt x="100203" y="1305560"/>
                    <a:pt x="0" y="1205357"/>
                    <a:pt x="0" y="1081786"/>
                  </a:cubicBezTo>
                  <a:close/>
                </a:path>
              </a:pathLst>
            </a:custGeom>
            <a:solidFill>
              <a:srgbClr val="EAF0EE"/>
            </a:solidFill>
            <a:ln w="19050" cap="sq">
              <a:solidFill>
                <a:srgbClr val="EAF0EE"/>
              </a:solidFill>
              <a:prstDash val="solid"/>
              <a:miter/>
            </a:ln>
          </p:spPr>
        </p:sp>
      </p:grpSp>
      <p:grpSp>
        <p:nvGrpSpPr>
          <p:cNvPr name="Group 12" id="12"/>
          <p:cNvGrpSpPr/>
          <p:nvPr/>
        </p:nvGrpSpPr>
        <p:grpSpPr>
          <a:xfrm rot="0">
            <a:off x="1947672" y="3744468"/>
            <a:ext cx="466344" cy="466344"/>
            <a:chOff x="0" y="0"/>
            <a:chExt cx="621792" cy="621792"/>
          </a:xfrm>
        </p:grpSpPr>
        <p:sp>
          <p:nvSpPr>
            <p:cNvPr name="Freeform 13" id="13" descr="preencoded.png"/>
            <p:cNvSpPr/>
            <p:nvPr/>
          </p:nvSpPr>
          <p:spPr>
            <a:xfrm flipH="false" flipV="false" rot="0">
              <a:off x="0" y="0"/>
              <a:ext cx="621792" cy="621792"/>
            </a:xfrm>
            <a:custGeom>
              <a:avLst/>
              <a:gdLst/>
              <a:ahLst/>
              <a:cxnLst/>
              <a:rect r="r" b="b" t="t" l="l"/>
              <a:pathLst>
                <a:path h="621792" w="621792">
                  <a:moveTo>
                    <a:pt x="0" y="0"/>
                  </a:moveTo>
                  <a:lnTo>
                    <a:pt x="621792" y="0"/>
                  </a:lnTo>
                  <a:lnTo>
                    <a:pt x="621792" y="621792"/>
                  </a:lnTo>
                  <a:lnTo>
                    <a:pt x="0" y="621792"/>
                  </a:lnTo>
                  <a:lnTo>
                    <a:pt x="0" y="0"/>
                  </a:lnTo>
                  <a:close/>
                </a:path>
              </a:pathLst>
            </a:custGeom>
            <a:blipFill>
              <a:blip r:embed="rId4"/>
              <a:stretch>
                <a:fillRect l="0" t="0" r="0" b="0"/>
              </a:stretch>
            </a:blipFill>
          </p:spPr>
        </p:sp>
      </p:grpSp>
      <p:sp>
        <p:nvSpPr>
          <p:cNvPr name="TextBox 14" id="14"/>
          <p:cNvSpPr txBox="true"/>
          <p:nvPr/>
        </p:nvSpPr>
        <p:spPr>
          <a:xfrm rot="0">
            <a:off x="1700784" y="4732020"/>
            <a:ext cx="4114800" cy="548640"/>
          </a:xfrm>
          <a:prstGeom prst="rect">
            <a:avLst/>
          </a:prstGeom>
        </p:spPr>
        <p:txBody>
          <a:bodyPr anchor="t" rtlCol="false" tIns="0" lIns="0" bIns="0" rIns="0">
            <a:spAutoFit/>
          </a:bodyPr>
          <a:lstStyle/>
          <a:p>
            <a:pPr algn="l">
              <a:lnSpc>
                <a:spcPts val="2700"/>
              </a:lnSpc>
            </a:pPr>
            <a:r>
              <a:rPr lang="en-US" sz="2250" b="true">
                <a:solidFill>
                  <a:srgbClr val="14304A"/>
                </a:solidFill>
                <a:latin typeface="IBM Plex Sans Bold"/>
                <a:ea typeface="IBM Plex Sans Bold"/>
                <a:cs typeface="IBM Plex Sans Bold"/>
                <a:sym typeface="IBM Plex Sans Bold"/>
              </a:rPr>
              <a:t>Equal-hours schedule</a:t>
            </a:r>
          </a:p>
        </p:txBody>
      </p:sp>
      <p:sp>
        <p:nvSpPr>
          <p:cNvPr name="TextBox 15" id="15"/>
          <p:cNvSpPr txBox="true"/>
          <p:nvPr/>
        </p:nvSpPr>
        <p:spPr>
          <a:xfrm rot="0">
            <a:off x="1700784" y="5349240"/>
            <a:ext cx="4114800" cy="1645920"/>
          </a:xfrm>
          <a:prstGeom prst="rect">
            <a:avLst/>
          </a:prstGeom>
        </p:spPr>
        <p:txBody>
          <a:bodyPr anchor="t" rtlCol="false" tIns="0" lIns="0" bIns="0" rIns="0">
            <a:spAutoFit/>
          </a:bodyPr>
          <a:lstStyle/>
          <a:p>
            <a:pPr algn="l">
              <a:lnSpc>
                <a:spcPts val="2070"/>
              </a:lnSpc>
            </a:pPr>
            <a:r>
              <a:rPr lang="en-US" sz="1725">
                <a:solidFill>
                  <a:srgbClr val="3F4B57"/>
                </a:solidFill>
                <a:latin typeface="IBM Plex Sans"/>
                <a:ea typeface="IBM Plex Sans"/>
                <a:cs typeface="IBM Plex Sans"/>
                <a:sym typeface="IBM Plex Sans"/>
              </a:rPr>
              <a:t>Take doses at equal time intervals every day, for example every 8 or 12 hours, so the level in the blood stays effective.</a:t>
            </a:r>
          </a:p>
        </p:txBody>
      </p:sp>
      <p:grpSp>
        <p:nvGrpSpPr>
          <p:cNvPr name="Group 16" id="16"/>
          <p:cNvGrpSpPr/>
          <p:nvPr/>
        </p:nvGrpSpPr>
        <p:grpSpPr>
          <a:xfrm rot="0">
            <a:off x="6631400" y="3010376"/>
            <a:ext cx="5020628" cy="4129088"/>
            <a:chOff x="0" y="0"/>
            <a:chExt cx="6694170" cy="5505450"/>
          </a:xfrm>
        </p:grpSpPr>
        <p:sp>
          <p:nvSpPr>
            <p:cNvPr name="Freeform 17" id="17"/>
            <p:cNvSpPr/>
            <p:nvPr/>
          </p:nvSpPr>
          <p:spPr>
            <a:xfrm flipH="false" flipV="false" rot="0">
              <a:off x="0" y="0"/>
              <a:ext cx="6694170" cy="5505450"/>
            </a:xfrm>
            <a:custGeom>
              <a:avLst/>
              <a:gdLst/>
              <a:ahLst/>
              <a:cxnLst/>
              <a:rect r="r" b="b" t="t" l="l"/>
              <a:pathLst>
                <a:path h="5505450" w="6694170">
                  <a:moveTo>
                    <a:pt x="0" y="146812"/>
                  </a:moveTo>
                  <a:cubicBezTo>
                    <a:pt x="0" y="65786"/>
                    <a:pt x="65786" y="0"/>
                    <a:pt x="146812" y="0"/>
                  </a:cubicBezTo>
                  <a:lnTo>
                    <a:pt x="6547358" y="0"/>
                  </a:lnTo>
                  <a:cubicBezTo>
                    <a:pt x="6628511" y="0"/>
                    <a:pt x="6694170" y="65786"/>
                    <a:pt x="6694170" y="146812"/>
                  </a:cubicBezTo>
                  <a:lnTo>
                    <a:pt x="6694170" y="5358638"/>
                  </a:lnTo>
                  <a:cubicBezTo>
                    <a:pt x="6694170" y="5439791"/>
                    <a:pt x="6628384" y="5505450"/>
                    <a:pt x="6547358" y="5505450"/>
                  </a:cubicBezTo>
                  <a:lnTo>
                    <a:pt x="146812" y="5505450"/>
                  </a:lnTo>
                  <a:cubicBezTo>
                    <a:pt x="65786" y="5505450"/>
                    <a:pt x="0" y="5439664"/>
                    <a:pt x="0" y="5358638"/>
                  </a:cubicBezTo>
                  <a:close/>
                </a:path>
              </a:pathLst>
            </a:custGeom>
            <a:solidFill>
              <a:srgbClr val="FDFDFB"/>
            </a:solidFill>
            <a:ln w="14288" cap="sq">
              <a:solidFill>
                <a:srgbClr val="D3DCD9"/>
              </a:solidFill>
              <a:prstDash val="solid"/>
              <a:miter/>
            </a:ln>
          </p:spPr>
        </p:sp>
      </p:grpSp>
      <p:grpSp>
        <p:nvGrpSpPr>
          <p:cNvPr name="Group 18" id="18"/>
          <p:cNvGrpSpPr/>
          <p:nvPr/>
        </p:nvGrpSpPr>
        <p:grpSpPr>
          <a:xfrm rot="0">
            <a:off x="7109079" y="3488055"/>
            <a:ext cx="979170" cy="979170"/>
            <a:chOff x="0" y="0"/>
            <a:chExt cx="1305560" cy="1305560"/>
          </a:xfrm>
        </p:grpSpPr>
        <p:sp>
          <p:nvSpPr>
            <p:cNvPr name="Freeform 19" id="19"/>
            <p:cNvSpPr/>
            <p:nvPr/>
          </p:nvSpPr>
          <p:spPr>
            <a:xfrm flipH="false" flipV="false" rot="0">
              <a:off x="0" y="0"/>
              <a:ext cx="1305560" cy="1305560"/>
            </a:xfrm>
            <a:custGeom>
              <a:avLst/>
              <a:gdLst/>
              <a:ahLst/>
              <a:cxnLst/>
              <a:rect r="r" b="b" t="t" l="l"/>
              <a:pathLst>
                <a:path h="1305560" w="1305560">
                  <a:moveTo>
                    <a:pt x="0" y="223774"/>
                  </a:moveTo>
                  <a:cubicBezTo>
                    <a:pt x="0" y="100203"/>
                    <a:pt x="100203" y="0"/>
                    <a:pt x="223774" y="0"/>
                  </a:cubicBezTo>
                  <a:lnTo>
                    <a:pt x="1081786" y="0"/>
                  </a:lnTo>
                  <a:cubicBezTo>
                    <a:pt x="1205357" y="0"/>
                    <a:pt x="1305560" y="100203"/>
                    <a:pt x="1305560" y="223774"/>
                  </a:cubicBezTo>
                  <a:lnTo>
                    <a:pt x="1305560" y="1081786"/>
                  </a:lnTo>
                  <a:cubicBezTo>
                    <a:pt x="1305560" y="1205357"/>
                    <a:pt x="1205357" y="1305560"/>
                    <a:pt x="1081786" y="1305560"/>
                  </a:cubicBezTo>
                  <a:lnTo>
                    <a:pt x="223774" y="1305560"/>
                  </a:lnTo>
                  <a:cubicBezTo>
                    <a:pt x="100203" y="1305560"/>
                    <a:pt x="0" y="1205357"/>
                    <a:pt x="0" y="1081786"/>
                  </a:cubicBezTo>
                  <a:close/>
                </a:path>
              </a:pathLst>
            </a:custGeom>
            <a:solidFill>
              <a:srgbClr val="EAF0EE"/>
            </a:solidFill>
            <a:ln w="19050" cap="sq">
              <a:solidFill>
                <a:srgbClr val="EAF0EE"/>
              </a:solidFill>
              <a:prstDash val="solid"/>
              <a:miter/>
            </a:ln>
          </p:spPr>
        </p:sp>
      </p:grpSp>
      <p:grpSp>
        <p:nvGrpSpPr>
          <p:cNvPr name="Group 20" id="20"/>
          <p:cNvGrpSpPr/>
          <p:nvPr/>
        </p:nvGrpSpPr>
        <p:grpSpPr>
          <a:xfrm rot="0">
            <a:off x="7365492" y="3744468"/>
            <a:ext cx="466344" cy="466344"/>
            <a:chOff x="0" y="0"/>
            <a:chExt cx="621792" cy="621792"/>
          </a:xfrm>
        </p:grpSpPr>
        <p:sp>
          <p:nvSpPr>
            <p:cNvPr name="Freeform 21" id="21" descr="preencoded.png"/>
            <p:cNvSpPr/>
            <p:nvPr/>
          </p:nvSpPr>
          <p:spPr>
            <a:xfrm flipH="false" flipV="false" rot="0">
              <a:off x="0" y="0"/>
              <a:ext cx="621792" cy="621792"/>
            </a:xfrm>
            <a:custGeom>
              <a:avLst/>
              <a:gdLst/>
              <a:ahLst/>
              <a:cxnLst/>
              <a:rect r="r" b="b" t="t" l="l"/>
              <a:pathLst>
                <a:path h="621792" w="621792">
                  <a:moveTo>
                    <a:pt x="0" y="0"/>
                  </a:moveTo>
                  <a:lnTo>
                    <a:pt x="621792" y="0"/>
                  </a:lnTo>
                  <a:lnTo>
                    <a:pt x="621792" y="621792"/>
                  </a:lnTo>
                  <a:lnTo>
                    <a:pt x="0" y="621792"/>
                  </a:lnTo>
                  <a:lnTo>
                    <a:pt x="0" y="0"/>
                  </a:lnTo>
                  <a:close/>
                </a:path>
              </a:pathLst>
            </a:custGeom>
            <a:blipFill>
              <a:blip r:embed="rId5"/>
              <a:stretch>
                <a:fillRect l="0" t="0" r="0" b="0"/>
              </a:stretch>
            </a:blipFill>
          </p:spPr>
        </p:sp>
      </p:grpSp>
      <p:sp>
        <p:nvSpPr>
          <p:cNvPr name="TextBox 22" id="22"/>
          <p:cNvSpPr txBox="true"/>
          <p:nvPr/>
        </p:nvSpPr>
        <p:spPr>
          <a:xfrm rot="0">
            <a:off x="7118604" y="4732020"/>
            <a:ext cx="4114800" cy="548640"/>
          </a:xfrm>
          <a:prstGeom prst="rect">
            <a:avLst/>
          </a:prstGeom>
        </p:spPr>
        <p:txBody>
          <a:bodyPr anchor="t" rtlCol="false" tIns="0" lIns="0" bIns="0" rIns="0">
            <a:spAutoFit/>
          </a:bodyPr>
          <a:lstStyle/>
          <a:p>
            <a:pPr algn="l">
              <a:lnSpc>
                <a:spcPts val="2700"/>
              </a:lnSpc>
            </a:pPr>
            <a:r>
              <a:rPr lang="en-US" sz="2250" b="true">
                <a:solidFill>
                  <a:srgbClr val="14304A"/>
                </a:solidFill>
                <a:latin typeface="IBM Plex Sans Bold"/>
                <a:ea typeface="IBM Plex Sans Bold"/>
                <a:cs typeface="IBM Plex Sans Bold"/>
                <a:sym typeface="IBM Plex Sans Bold"/>
              </a:rPr>
              <a:t>Clean water only</a:t>
            </a:r>
          </a:p>
        </p:txBody>
      </p:sp>
      <p:sp>
        <p:nvSpPr>
          <p:cNvPr name="TextBox 23" id="23"/>
          <p:cNvSpPr txBox="true"/>
          <p:nvPr/>
        </p:nvSpPr>
        <p:spPr>
          <a:xfrm rot="0">
            <a:off x="7118604" y="5349240"/>
            <a:ext cx="4114800" cy="1645920"/>
          </a:xfrm>
          <a:prstGeom prst="rect">
            <a:avLst/>
          </a:prstGeom>
        </p:spPr>
        <p:txBody>
          <a:bodyPr anchor="t" rtlCol="false" tIns="0" lIns="0" bIns="0" rIns="0">
            <a:spAutoFit/>
          </a:bodyPr>
          <a:lstStyle/>
          <a:p>
            <a:pPr algn="l">
              <a:lnSpc>
                <a:spcPts val="2070"/>
              </a:lnSpc>
            </a:pPr>
            <a:r>
              <a:rPr lang="en-US" sz="1725">
                <a:solidFill>
                  <a:srgbClr val="3F4B57"/>
                </a:solidFill>
                <a:latin typeface="IBM Plex Sans"/>
                <a:ea typeface="IBM Plex Sans"/>
                <a:cs typeface="IBM Plex Sans"/>
                <a:sym typeface="IBM Plex Sans"/>
              </a:rPr>
              <a:t>Swallow pills with safe drinking water. Do not crush or split tablets unless the pharmacist says so.</a:t>
            </a:r>
          </a:p>
        </p:txBody>
      </p:sp>
      <p:grpSp>
        <p:nvGrpSpPr>
          <p:cNvPr name="Group 24" id="24"/>
          <p:cNvGrpSpPr/>
          <p:nvPr/>
        </p:nvGrpSpPr>
        <p:grpSpPr>
          <a:xfrm rot="0">
            <a:off x="12049220" y="3010376"/>
            <a:ext cx="5020628" cy="4129088"/>
            <a:chOff x="0" y="0"/>
            <a:chExt cx="6694170" cy="5505450"/>
          </a:xfrm>
        </p:grpSpPr>
        <p:sp>
          <p:nvSpPr>
            <p:cNvPr name="Freeform 25" id="25"/>
            <p:cNvSpPr/>
            <p:nvPr/>
          </p:nvSpPr>
          <p:spPr>
            <a:xfrm flipH="false" flipV="false" rot="0">
              <a:off x="0" y="0"/>
              <a:ext cx="6694170" cy="5505450"/>
            </a:xfrm>
            <a:custGeom>
              <a:avLst/>
              <a:gdLst/>
              <a:ahLst/>
              <a:cxnLst/>
              <a:rect r="r" b="b" t="t" l="l"/>
              <a:pathLst>
                <a:path h="5505450" w="6694170">
                  <a:moveTo>
                    <a:pt x="0" y="146812"/>
                  </a:moveTo>
                  <a:cubicBezTo>
                    <a:pt x="0" y="65786"/>
                    <a:pt x="65786" y="0"/>
                    <a:pt x="146812" y="0"/>
                  </a:cubicBezTo>
                  <a:lnTo>
                    <a:pt x="6547358" y="0"/>
                  </a:lnTo>
                  <a:cubicBezTo>
                    <a:pt x="6628511" y="0"/>
                    <a:pt x="6694170" y="65786"/>
                    <a:pt x="6694170" y="146812"/>
                  </a:cubicBezTo>
                  <a:lnTo>
                    <a:pt x="6694170" y="5358638"/>
                  </a:lnTo>
                  <a:cubicBezTo>
                    <a:pt x="6694170" y="5439791"/>
                    <a:pt x="6628384" y="5505450"/>
                    <a:pt x="6547358" y="5505450"/>
                  </a:cubicBezTo>
                  <a:lnTo>
                    <a:pt x="146812" y="5505450"/>
                  </a:lnTo>
                  <a:cubicBezTo>
                    <a:pt x="65786" y="5505450"/>
                    <a:pt x="0" y="5439664"/>
                    <a:pt x="0" y="5358638"/>
                  </a:cubicBezTo>
                  <a:close/>
                </a:path>
              </a:pathLst>
            </a:custGeom>
            <a:solidFill>
              <a:srgbClr val="FDFDFB"/>
            </a:solidFill>
            <a:ln w="14288" cap="sq">
              <a:solidFill>
                <a:srgbClr val="D3DCD9"/>
              </a:solidFill>
              <a:prstDash val="solid"/>
              <a:miter/>
            </a:ln>
          </p:spPr>
        </p:sp>
      </p:grpSp>
      <p:grpSp>
        <p:nvGrpSpPr>
          <p:cNvPr name="Group 26" id="26"/>
          <p:cNvGrpSpPr/>
          <p:nvPr/>
        </p:nvGrpSpPr>
        <p:grpSpPr>
          <a:xfrm rot="0">
            <a:off x="12526899" y="3488055"/>
            <a:ext cx="979170" cy="979170"/>
            <a:chOff x="0" y="0"/>
            <a:chExt cx="1305560" cy="1305560"/>
          </a:xfrm>
        </p:grpSpPr>
        <p:sp>
          <p:nvSpPr>
            <p:cNvPr name="Freeform 27" id="27"/>
            <p:cNvSpPr/>
            <p:nvPr/>
          </p:nvSpPr>
          <p:spPr>
            <a:xfrm flipH="false" flipV="false" rot="0">
              <a:off x="0" y="0"/>
              <a:ext cx="1305560" cy="1305560"/>
            </a:xfrm>
            <a:custGeom>
              <a:avLst/>
              <a:gdLst/>
              <a:ahLst/>
              <a:cxnLst/>
              <a:rect r="r" b="b" t="t" l="l"/>
              <a:pathLst>
                <a:path h="1305560" w="1305560">
                  <a:moveTo>
                    <a:pt x="0" y="223774"/>
                  </a:moveTo>
                  <a:cubicBezTo>
                    <a:pt x="0" y="100203"/>
                    <a:pt x="100203" y="0"/>
                    <a:pt x="223774" y="0"/>
                  </a:cubicBezTo>
                  <a:lnTo>
                    <a:pt x="1081786" y="0"/>
                  </a:lnTo>
                  <a:cubicBezTo>
                    <a:pt x="1205357" y="0"/>
                    <a:pt x="1305560" y="100203"/>
                    <a:pt x="1305560" y="223774"/>
                  </a:cubicBezTo>
                  <a:lnTo>
                    <a:pt x="1305560" y="1081786"/>
                  </a:lnTo>
                  <a:cubicBezTo>
                    <a:pt x="1305560" y="1205357"/>
                    <a:pt x="1205357" y="1305560"/>
                    <a:pt x="1081786" y="1305560"/>
                  </a:cubicBezTo>
                  <a:lnTo>
                    <a:pt x="223774" y="1305560"/>
                  </a:lnTo>
                  <a:cubicBezTo>
                    <a:pt x="100203" y="1305560"/>
                    <a:pt x="0" y="1205357"/>
                    <a:pt x="0" y="1081786"/>
                  </a:cubicBezTo>
                  <a:close/>
                </a:path>
              </a:pathLst>
            </a:custGeom>
            <a:solidFill>
              <a:srgbClr val="EAF0EE"/>
            </a:solidFill>
            <a:ln w="19050" cap="sq">
              <a:solidFill>
                <a:srgbClr val="EAF0EE"/>
              </a:solidFill>
              <a:prstDash val="solid"/>
              <a:miter/>
            </a:ln>
          </p:spPr>
        </p:sp>
      </p:grpSp>
      <p:grpSp>
        <p:nvGrpSpPr>
          <p:cNvPr name="Group 28" id="28"/>
          <p:cNvGrpSpPr/>
          <p:nvPr/>
        </p:nvGrpSpPr>
        <p:grpSpPr>
          <a:xfrm rot="0">
            <a:off x="12783312" y="3744468"/>
            <a:ext cx="466344" cy="466344"/>
            <a:chOff x="0" y="0"/>
            <a:chExt cx="621792" cy="621792"/>
          </a:xfrm>
        </p:grpSpPr>
        <p:sp>
          <p:nvSpPr>
            <p:cNvPr name="Freeform 29" id="29" descr="preencoded.png"/>
            <p:cNvSpPr/>
            <p:nvPr/>
          </p:nvSpPr>
          <p:spPr>
            <a:xfrm flipH="false" flipV="false" rot="0">
              <a:off x="0" y="0"/>
              <a:ext cx="621792" cy="621792"/>
            </a:xfrm>
            <a:custGeom>
              <a:avLst/>
              <a:gdLst/>
              <a:ahLst/>
              <a:cxnLst/>
              <a:rect r="r" b="b" t="t" l="l"/>
              <a:pathLst>
                <a:path h="621792" w="621792">
                  <a:moveTo>
                    <a:pt x="0" y="0"/>
                  </a:moveTo>
                  <a:lnTo>
                    <a:pt x="621792" y="0"/>
                  </a:lnTo>
                  <a:lnTo>
                    <a:pt x="621792" y="621792"/>
                  </a:lnTo>
                  <a:lnTo>
                    <a:pt x="0" y="621792"/>
                  </a:lnTo>
                  <a:lnTo>
                    <a:pt x="0" y="0"/>
                  </a:lnTo>
                  <a:close/>
                </a:path>
              </a:pathLst>
            </a:custGeom>
            <a:blipFill>
              <a:blip r:embed="rId6"/>
              <a:stretch>
                <a:fillRect l="0" t="0" r="0" b="0"/>
              </a:stretch>
            </a:blipFill>
          </p:spPr>
        </p:sp>
      </p:grpSp>
      <p:sp>
        <p:nvSpPr>
          <p:cNvPr name="TextBox 30" id="30"/>
          <p:cNvSpPr txBox="true"/>
          <p:nvPr/>
        </p:nvSpPr>
        <p:spPr>
          <a:xfrm rot="0">
            <a:off x="12536424" y="4732020"/>
            <a:ext cx="4114800" cy="548640"/>
          </a:xfrm>
          <a:prstGeom prst="rect">
            <a:avLst/>
          </a:prstGeom>
        </p:spPr>
        <p:txBody>
          <a:bodyPr anchor="t" rtlCol="false" tIns="0" lIns="0" bIns="0" rIns="0">
            <a:spAutoFit/>
          </a:bodyPr>
          <a:lstStyle/>
          <a:p>
            <a:pPr algn="l">
              <a:lnSpc>
                <a:spcPts val="2700"/>
              </a:lnSpc>
            </a:pPr>
            <a:r>
              <a:rPr lang="en-US" sz="2250" b="true">
                <a:solidFill>
                  <a:srgbClr val="14304A"/>
                </a:solidFill>
                <a:latin typeface="IBM Plex Sans Bold"/>
                <a:ea typeface="IBM Plex Sans Bold"/>
                <a:cs typeface="IBM Plex Sans Bold"/>
                <a:sym typeface="IBM Plex Sans Bold"/>
              </a:rPr>
              <a:t>Cool, dry storage</a:t>
            </a:r>
          </a:p>
        </p:txBody>
      </p:sp>
      <p:sp>
        <p:nvSpPr>
          <p:cNvPr name="TextBox 31" id="31"/>
          <p:cNvSpPr txBox="true"/>
          <p:nvPr/>
        </p:nvSpPr>
        <p:spPr>
          <a:xfrm rot="0">
            <a:off x="12536424" y="5349240"/>
            <a:ext cx="4114800" cy="1645920"/>
          </a:xfrm>
          <a:prstGeom prst="rect">
            <a:avLst/>
          </a:prstGeom>
        </p:spPr>
        <p:txBody>
          <a:bodyPr anchor="t" rtlCol="false" tIns="0" lIns="0" bIns="0" rIns="0">
            <a:spAutoFit/>
          </a:bodyPr>
          <a:lstStyle/>
          <a:p>
            <a:pPr algn="l">
              <a:lnSpc>
                <a:spcPts val="2070"/>
              </a:lnSpc>
            </a:pPr>
            <a:r>
              <a:rPr lang="en-US" sz="1725">
                <a:solidFill>
                  <a:srgbClr val="3F4B57"/>
                </a:solidFill>
                <a:latin typeface="IBM Plex Sans"/>
                <a:ea typeface="IBM Plex Sans"/>
                <a:cs typeface="IBM Plex Sans"/>
                <a:sym typeface="IBM Plex Sans"/>
              </a:rPr>
              <a:t>Store medicines away from heat, sunlight and dampness, out of the reach of children. Refrigerate syrups where instructed.</a:t>
            </a:r>
          </a:p>
        </p:txBody>
      </p:sp>
      <p:sp>
        <p:nvSpPr>
          <p:cNvPr name="TextBox 32" id="32"/>
          <p:cNvSpPr txBox="true"/>
          <p:nvPr/>
        </p:nvSpPr>
        <p:spPr>
          <a:xfrm rot="0">
            <a:off x="1220724" y="7543800"/>
            <a:ext cx="15846095" cy="411480"/>
          </a:xfrm>
          <a:prstGeom prst="rect">
            <a:avLst/>
          </a:prstGeom>
        </p:spPr>
        <p:txBody>
          <a:bodyPr anchor="t" rtlCol="false" tIns="0" lIns="0" bIns="0" rIns="0">
            <a:spAutoFit/>
          </a:bodyPr>
          <a:lstStyle/>
          <a:p>
            <a:pPr algn="l">
              <a:lnSpc>
                <a:spcPts val="1800"/>
              </a:lnSpc>
            </a:pPr>
            <a:r>
              <a:rPr lang="en-US" sz="1500" i="true">
                <a:solidFill>
                  <a:srgbClr val="5B6770"/>
                </a:solidFill>
                <a:latin typeface="IBM Plex Sans Italics"/>
                <a:ea typeface="IBM Plex Sans Italics"/>
                <a:cs typeface="IBM Plex Sans Italics"/>
                <a:sym typeface="IBM Plex Sans Italics"/>
              </a:rPr>
              <a:t>Demonstrated at every dispensing contact, with the timing written on the pack in local language.</a:t>
            </a:r>
          </a:p>
        </p:txBody>
      </p:sp>
      <p:grpSp>
        <p:nvGrpSpPr>
          <p:cNvPr name="Group 33" id="33"/>
          <p:cNvGrpSpPr/>
          <p:nvPr/>
        </p:nvGrpSpPr>
        <p:grpSpPr>
          <a:xfrm rot="0">
            <a:off x="1220724" y="9354312"/>
            <a:ext cx="11658600" cy="356616"/>
            <a:chOff x="0" y="0"/>
            <a:chExt cx="15544800" cy="475488"/>
          </a:xfrm>
        </p:grpSpPr>
        <p:sp>
          <p:nvSpPr>
            <p:cNvPr name="Freeform 34" id="34"/>
            <p:cNvSpPr/>
            <p:nvPr/>
          </p:nvSpPr>
          <p:spPr>
            <a:xfrm flipH="false" flipV="false" rot="0">
              <a:off x="0" y="0"/>
              <a:ext cx="15544800" cy="475488"/>
            </a:xfrm>
            <a:custGeom>
              <a:avLst/>
              <a:gdLst/>
              <a:ahLst/>
              <a:cxnLst/>
              <a:rect r="r" b="b" t="t" l="l"/>
              <a:pathLst>
                <a:path h="475488" w="15544800">
                  <a:moveTo>
                    <a:pt x="0" y="0"/>
                  </a:moveTo>
                  <a:lnTo>
                    <a:pt x="15544800" y="0"/>
                  </a:lnTo>
                  <a:lnTo>
                    <a:pt x="15544800" y="475488"/>
                  </a:lnTo>
                  <a:lnTo>
                    <a:pt x="0" y="475488"/>
                  </a:lnTo>
                  <a:close/>
                </a:path>
              </a:pathLst>
            </a:custGeom>
            <a:blipFill>
              <a:blip r:embed="rId3">
                <a:alphaModFix amt="0"/>
              </a:blip>
              <a:stretch>
                <a:fillRect l="0" t="-587010" r="0" b="-587010"/>
              </a:stretch>
            </a:blipFill>
          </p:spPr>
        </p:sp>
        <p:sp>
          <p:nvSpPr>
            <p:cNvPr name="TextBox 35" id="35"/>
            <p:cNvSpPr txBox="true"/>
            <p:nvPr/>
          </p:nvSpPr>
          <p:spPr>
            <a:xfrm>
              <a:off x="0" y="0"/>
              <a:ext cx="15544800" cy="475488"/>
            </a:xfrm>
            <a:prstGeom prst="rect">
              <a:avLst/>
            </a:prstGeom>
          </p:spPr>
          <p:txBody>
            <a:bodyPr anchor="ctr" rtlCol="false" tIns="0" lIns="0" bIns="0" rIns="0"/>
            <a:lstStyle/>
            <a:p>
              <a:pPr algn="l">
                <a:lnSpc>
                  <a:spcPts val="1800"/>
                </a:lnSpc>
              </a:pPr>
              <a:r>
                <a:rPr lang="en-US" sz="1500">
                  <a:solidFill>
                    <a:srgbClr val="5B6770"/>
                  </a:solidFill>
                  <a:latin typeface="IBM Plex Sans"/>
                  <a:ea typeface="IBM Plex Sans"/>
                  <a:cs typeface="IBM Plex Sans"/>
                  <a:sym typeface="IBM Plex Sans"/>
                </a:rPr>
                <a:t>Preserving Our Medicines · Community Antibiotic Stewardship, Chakwal, Pakistan</a:t>
              </a:r>
            </a:p>
          </p:txBody>
        </p:sp>
      </p:grpSp>
      <p:grpSp>
        <p:nvGrpSpPr>
          <p:cNvPr name="Group 36" id="36"/>
          <p:cNvGrpSpPr/>
          <p:nvPr/>
        </p:nvGrpSpPr>
        <p:grpSpPr>
          <a:xfrm rot="0">
            <a:off x="15695219" y="9354312"/>
            <a:ext cx="1371600" cy="356616"/>
            <a:chOff x="0" y="0"/>
            <a:chExt cx="1828800" cy="475488"/>
          </a:xfrm>
        </p:grpSpPr>
        <p:sp>
          <p:nvSpPr>
            <p:cNvPr name="Freeform 37" id="37"/>
            <p:cNvSpPr/>
            <p:nvPr/>
          </p:nvSpPr>
          <p:spPr>
            <a:xfrm flipH="false" flipV="false" rot="0">
              <a:off x="0" y="0"/>
              <a:ext cx="1828800" cy="475488"/>
            </a:xfrm>
            <a:custGeom>
              <a:avLst/>
              <a:gdLst/>
              <a:ahLst/>
              <a:cxnLst/>
              <a:rect r="r" b="b" t="t" l="l"/>
              <a:pathLst>
                <a:path h="475488" w="1828800">
                  <a:moveTo>
                    <a:pt x="0" y="0"/>
                  </a:moveTo>
                  <a:lnTo>
                    <a:pt x="1828800" y="0"/>
                  </a:lnTo>
                  <a:lnTo>
                    <a:pt x="1828800" y="475488"/>
                  </a:lnTo>
                  <a:lnTo>
                    <a:pt x="0" y="475488"/>
                  </a:lnTo>
                  <a:close/>
                </a:path>
              </a:pathLst>
            </a:custGeom>
            <a:blipFill>
              <a:blip r:embed="rId3">
                <a:alphaModFix amt="0"/>
              </a:blip>
              <a:stretch>
                <a:fillRect l="0" t="-24942" r="0" b="-24942"/>
              </a:stretch>
            </a:blipFill>
          </p:spPr>
        </p:sp>
        <p:sp>
          <p:nvSpPr>
            <p:cNvPr name="TextBox 38" id="38"/>
            <p:cNvSpPr txBox="true"/>
            <p:nvPr/>
          </p:nvSpPr>
          <p:spPr>
            <a:xfrm>
              <a:off x="0" y="0"/>
              <a:ext cx="1828800" cy="475488"/>
            </a:xfrm>
            <a:prstGeom prst="rect">
              <a:avLst/>
            </a:prstGeom>
          </p:spPr>
          <p:txBody>
            <a:bodyPr anchor="ctr" rtlCol="false" tIns="0" lIns="0" bIns="0" rIns="0"/>
            <a:lstStyle/>
            <a:p>
              <a:pPr algn="r">
                <a:lnSpc>
                  <a:spcPts val="1800"/>
                </a:lnSpc>
              </a:pPr>
              <a:r>
                <a:rPr lang="en-US" sz="1500">
                  <a:solidFill>
                    <a:srgbClr val="5B6770"/>
                  </a:solidFill>
                  <a:latin typeface="IBM Plex Sans"/>
                  <a:ea typeface="IBM Plex Sans"/>
                  <a:cs typeface="IBM Plex Sans"/>
                  <a:sym typeface="IBM Plex Sans"/>
                </a:rPr>
                <a:t>12</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7F6F2"/>
        </a:solidFill>
      </p:bgPr>
    </p:bg>
    <p:spTree>
      <p:nvGrpSpPr>
        <p:cNvPr id="1" name=""/>
        <p:cNvGrpSpPr/>
        <p:nvPr/>
      </p:nvGrpSpPr>
      <p:grpSpPr>
        <a:xfrm>
          <a:off x="0" y="0"/>
          <a:ext cx="0" cy="0"/>
          <a:chOff x="0" y="0"/>
          <a:chExt cx="0" cy="0"/>
        </a:xfrm>
      </p:grpSpPr>
      <p:grpSp>
        <p:nvGrpSpPr>
          <p:cNvPr name="Group 2" id="2"/>
          <p:cNvGrpSpPr/>
          <p:nvPr/>
        </p:nvGrpSpPr>
        <p:grpSpPr>
          <a:xfrm rot="0">
            <a:off x="1220724" y="1124712"/>
            <a:ext cx="15846095" cy="384048"/>
            <a:chOff x="0" y="0"/>
            <a:chExt cx="21128126" cy="512064"/>
          </a:xfrm>
        </p:grpSpPr>
        <p:sp>
          <p:nvSpPr>
            <p:cNvPr name="Freeform 3" id="3"/>
            <p:cNvSpPr/>
            <p:nvPr/>
          </p:nvSpPr>
          <p:spPr>
            <a:xfrm flipH="false" flipV="false" rot="0">
              <a:off x="0" y="0"/>
              <a:ext cx="21128126" cy="512064"/>
            </a:xfrm>
            <a:custGeom>
              <a:avLst/>
              <a:gdLst/>
              <a:ahLst/>
              <a:cxnLst/>
              <a:rect r="r" b="b" t="t" l="l"/>
              <a:pathLst>
                <a:path h="512064" w="21128126">
                  <a:moveTo>
                    <a:pt x="0" y="0"/>
                  </a:moveTo>
                  <a:lnTo>
                    <a:pt x="21128126" y="0"/>
                  </a:lnTo>
                  <a:lnTo>
                    <a:pt x="21128126" y="512064"/>
                  </a:lnTo>
                  <a:lnTo>
                    <a:pt x="0" y="512064"/>
                  </a:lnTo>
                  <a:close/>
                </a:path>
              </a:pathLst>
            </a:custGeom>
            <a:blipFill>
              <a:blip r:embed="rId3">
                <a:alphaModFix amt="0"/>
              </a:blip>
              <a:stretch>
                <a:fillRect l="0" t="-753966" r="0" b="-753966"/>
              </a:stretch>
            </a:blipFill>
          </p:spPr>
        </p:sp>
        <p:sp>
          <p:nvSpPr>
            <p:cNvPr name="TextBox 4" id="4"/>
            <p:cNvSpPr txBox="true"/>
            <p:nvPr/>
          </p:nvSpPr>
          <p:spPr>
            <a:xfrm>
              <a:off x="0" y="0"/>
              <a:ext cx="21128126" cy="512064"/>
            </a:xfrm>
            <a:prstGeom prst="rect">
              <a:avLst/>
            </a:prstGeom>
          </p:spPr>
          <p:txBody>
            <a:bodyPr anchor="ctr" rtlCol="false" tIns="0" lIns="0" bIns="0" rIns="0"/>
            <a:lstStyle/>
            <a:p>
              <a:pPr algn="l">
                <a:lnSpc>
                  <a:spcPts val="1980"/>
                </a:lnSpc>
              </a:pPr>
              <a:r>
                <a:rPr lang="en-US" b="true" sz="1650" spc="299">
                  <a:solidFill>
                    <a:srgbClr val="0B6E60"/>
                  </a:solidFill>
                  <a:latin typeface="IBM Plex Sans Bold"/>
                  <a:ea typeface="IBM Plex Sans Bold"/>
                  <a:cs typeface="IBM Plex Sans Bold"/>
                  <a:sym typeface="IBM Plex Sans Bold"/>
                </a:rPr>
                <a:t>10 · HOLISTIC STANDARD</a:t>
              </a:r>
            </a:p>
          </p:txBody>
        </p:sp>
      </p:grpSp>
      <p:grpSp>
        <p:nvGrpSpPr>
          <p:cNvPr name="Group 5" id="5"/>
          <p:cNvGrpSpPr/>
          <p:nvPr/>
        </p:nvGrpSpPr>
        <p:grpSpPr>
          <a:xfrm rot="0">
            <a:off x="1220724" y="1536192"/>
            <a:ext cx="15846095" cy="850392"/>
            <a:chOff x="0" y="0"/>
            <a:chExt cx="21128126" cy="1133856"/>
          </a:xfrm>
        </p:grpSpPr>
        <p:sp>
          <p:nvSpPr>
            <p:cNvPr name="Freeform 6" id="6"/>
            <p:cNvSpPr/>
            <p:nvPr/>
          </p:nvSpPr>
          <p:spPr>
            <a:xfrm flipH="false" flipV="false" rot="0">
              <a:off x="0" y="0"/>
              <a:ext cx="21128126" cy="1133856"/>
            </a:xfrm>
            <a:custGeom>
              <a:avLst/>
              <a:gdLst/>
              <a:ahLst/>
              <a:cxnLst/>
              <a:rect r="r" b="b" t="t" l="l"/>
              <a:pathLst>
                <a:path h="1133856" w="21128126">
                  <a:moveTo>
                    <a:pt x="0" y="0"/>
                  </a:moveTo>
                  <a:lnTo>
                    <a:pt x="21128126" y="0"/>
                  </a:lnTo>
                  <a:lnTo>
                    <a:pt x="21128126" y="1133856"/>
                  </a:lnTo>
                  <a:lnTo>
                    <a:pt x="0" y="1133856"/>
                  </a:lnTo>
                  <a:close/>
                </a:path>
              </a:pathLst>
            </a:custGeom>
            <a:blipFill>
              <a:blip r:embed="rId3">
                <a:alphaModFix amt="0"/>
              </a:blip>
              <a:stretch>
                <a:fillRect l="0" t="-313081" r="0" b="-313081"/>
              </a:stretch>
            </a:blipFill>
          </p:spPr>
        </p:sp>
        <p:sp>
          <p:nvSpPr>
            <p:cNvPr name="TextBox 7" id="7"/>
            <p:cNvSpPr txBox="true"/>
            <p:nvPr/>
          </p:nvSpPr>
          <p:spPr>
            <a:xfrm>
              <a:off x="0" y="0"/>
              <a:ext cx="21128126" cy="1133856"/>
            </a:xfrm>
            <a:prstGeom prst="rect">
              <a:avLst/>
            </a:prstGeom>
          </p:spPr>
          <p:txBody>
            <a:bodyPr anchor="ctr" rtlCol="false" tIns="0" lIns="0" bIns="0" rIns="0"/>
            <a:lstStyle/>
            <a:p>
              <a:pPr algn="l">
                <a:lnSpc>
                  <a:spcPts val="5400"/>
                </a:lnSpc>
              </a:pPr>
              <a:r>
                <a:rPr lang="en-US" sz="4500" b="true">
                  <a:solidFill>
                    <a:srgbClr val="14304A"/>
                  </a:solidFill>
                  <a:latin typeface="Source Serif Pro Bold"/>
                  <a:ea typeface="Source Serif Pro Bold"/>
                  <a:cs typeface="Source Serif Pro Bold"/>
                  <a:sym typeface="Source Serif Pro Bold"/>
                </a:rPr>
                <a:t>The One Health approach in agriculture</a:t>
              </a:r>
            </a:p>
          </p:txBody>
        </p:sp>
      </p:grpSp>
      <p:grpSp>
        <p:nvGrpSpPr>
          <p:cNvPr name="Group 8" id="8"/>
          <p:cNvGrpSpPr/>
          <p:nvPr/>
        </p:nvGrpSpPr>
        <p:grpSpPr>
          <a:xfrm rot="0">
            <a:off x="1220724" y="2811780"/>
            <a:ext cx="6309360" cy="4279392"/>
            <a:chOff x="0" y="0"/>
            <a:chExt cx="8412480" cy="5705856"/>
          </a:xfrm>
        </p:grpSpPr>
        <p:sp>
          <p:nvSpPr>
            <p:cNvPr name="Freeform 9" id="9"/>
            <p:cNvSpPr/>
            <p:nvPr/>
          </p:nvSpPr>
          <p:spPr>
            <a:xfrm flipH="false" flipV="false" rot="0">
              <a:off x="0" y="0"/>
              <a:ext cx="8412480" cy="5705856"/>
            </a:xfrm>
            <a:custGeom>
              <a:avLst/>
              <a:gdLst/>
              <a:ahLst/>
              <a:cxnLst/>
              <a:rect r="r" b="b" t="t" l="l"/>
              <a:pathLst>
                <a:path h="5705856" w="8412480">
                  <a:moveTo>
                    <a:pt x="0" y="0"/>
                  </a:moveTo>
                  <a:lnTo>
                    <a:pt x="8412480" y="0"/>
                  </a:lnTo>
                  <a:lnTo>
                    <a:pt x="8412480" y="5705856"/>
                  </a:lnTo>
                  <a:lnTo>
                    <a:pt x="0" y="5705856"/>
                  </a:lnTo>
                  <a:lnTo>
                    <a:pt x="0" y="0"/>
                  </a:lnTo>
                  <a:close/>
                </a:path>
              </a:pathLst>
            </a:custGeom>
            <a:blipFill>
              <a:blip r:embed="rId4"/>
              <a:stretch>
                <a:fillRect l="-1005" t="0" r="-1005" b="0"/>
              </a:stretch>
            </a:blipFill>
          </p:spPr>
        </p:sp>
      </p:grpSp>
      <p:grpSp>
        <p:nvGrpSpPr>
          <p:cNvPr name="Group 10" id="10"/>
          <p:cNvGrpSpPr/>
          <p:nvPr/>
        </p:nvGrpSpPr>
        <p:grpSpPr>
          <a:xfrm rot="0">
            <a:off x="1211199" y="7287387"/>
            <a:ext cx="6328410" cy="1363218"/>
            <a:chOff x="0" y="0"/>
            <a:chExt cx="8437880" cy="1817624"/>
          </a:xfrm>
        </p:grpSpPr>
        <p:sp>
          <p:nvSpPr>
            <p:cNvPr name="Freeform 11" id="11"/>
            <p:cNvSpPr/>
            <p:nvPr/>
          </p:nvSpPr>
          <p:spPr>
            <a:xfrm flipH="false" flipV="false" rot="0">
              <a:off x="0" y="0"/>
              <a:ext cx="8437880" cy="1817624"/>
            </a:xfrm>
            <a:custGeom>
              <a:avLst/>
              <a:gdLst/>
              <a:ahLst/>
              <a:cxnLst/>
              <a:rect r="r" b="b" t="t" l="l"/>
              <a:pathLst>
                <a:path h="1817624" w="8437880">
                  <a:moveTo>
                    <a:pt x="0" y="148336"/>
                  </a:moveTo>
                  <a:cubicBezTo>
                    <a:pt x="0" y="66421"/>
                    <a:pt x="66421" y="0"/>
                    <a:pt x="148336" y="0"/>
                  </a:cubicBezTo>
                  <a:lnTo>
                    <a:pt x="8289544" y="0"/>
                  </a:lnTo>
                  <a:cubicBezTo>
                    <a:pt x="8371459" y="0"/>
                    <a:pt x="8437880" y="66421"/>
                    <a:pt x="8437880" y="148336"/>
                  </a:cubicBezTo>
                  <a:lnTo>
                    <a:pt x="8437880" y="1669288"/>
                  </a:lnTo>
                  <a:cubicBezTo>
                    <a:pt x="8437880" y="1751203"/>
                    <a:pt x="8371459" y="1817624"/>
                    <a:pt x="8289544" y="1817624"/>
                  </a:cubicBezTo>
                  <a:lnTo>
                    <a:pt x="148336" y="1817624"/>
                  </a:lnTo>
                  <a:cubicBezTo>
                    <a:pt x="66421" y="1817624"/>
                    <a:pt x="0" y="1751203"/>
                    <a:pt x="0" y="1669288"/>
                  </a:cubicBezTo>
                  <a:close/>
                </a:path>
              </a:pathLst>
            </a:custGeom>
            <a:solidFill>
              <a:srgbClr val="14304A"/>
            </a:solidFill>
            <a:ln w="19050" cap="sq">
              <a:solidFill>
                <a:srgbClr val="14304A"/>
              </a:solidFill>
              <a:prstDash val="solid"/>
              <a:miter/>
            </a:ln>
          </p:spPr>
        </p:sp>
      </p:grpSp>
      <p:sp>
        <p:nvSpPr>
          <p:cNvPr name="TextBox 12" id="12"/>
          <p:cNvSpPr txBox="true"/>
          <p:nvPr/>
        </p:nvSpPr>
        <p:spPr>
          <a:xfrm rot="0">
            <a:off x="1632204" y="7451979"/>
            <a:ext cx="5486400" cy="311277"/>
          </a:xfrm>
          <a:prstGeom prst="rect">
            <a:avLst/>
          </a:prstGeom>
        </p:spPr>
        <p:txBody>
          <a:bodyPr anchor="t" rtlCol="false" tIns="0" lIns="0" bIns="0" rIns="0">
            <a:spAutoFit/>
          </a:bodyPr>
          <a:lstStyle/>
          <a:p>
            <a:pPr algn="l">
              <a:lnSpc>
                <a:spcPts val="1709"/>
              </a:lnSpc>
            </a:pPr>
            <a:r>
              <a:rPr lang="en-US" b="true" sz="1425" spc="299">
                <a:solidFill>
                  <a:srgbClr val="7FD1C0"/>
                </a:solidFill>
                <a:latin typeface="IBM Plex Sans Bold"/>
                <a:ea typeface="IBM Plex Sans Bold"/>
                <a:cs typeface="IBM Plex Sans Bold"/>
                <a:sym typeface="IBM Plex Sans Bold"/>
              </a:rPr>
              <a:t>WHY FARMS MATTER</a:t>
            </a:r>
          </a:p>
        </p:txBody>
      </p:sp>
      <p:sp>
        <p:nvSpPr>
          <p:cNvPr name="TextBox 13" id="13"/>
          <p:cNvSpPr txBox="true"/>
          <p:nvPr/>
        </p:nvSpPr>
        <p:spPr>
          <a:xfrm rot="0">
            <a:off x="1632204" y="7790688"/>
            <a:ext cx="5554980" cy="822960"/>
          </a:xfrm>
          <a:prstGeom prst="rect">
            <a:avLst/>
          </a:prstGeom>
        </p:spPr>
        <p:txBody>
          <a:bodyPr anchor="t" rtlCol="false" tIns="0" lIns="0" bIns="0" rIns="0">
            <a:spAutoFit/>
          </a:bodyPr>
          <a:lstStyle/>
          <a:p>
            <a:pPr algn="l">
              <a:lnSpc>
                <a:spcPts val="1800"/>
              </a:lnSpc>
            </a:pPr>
            <a:r>
              <a:rPr lang="en-US" sz="1500">
                <a:solidFill>
                  <a:srgbClr val="FFFFFF"/>
                </a:solidFill>
                <a:latin typeface="IBM Plex Sans"/>
                <a:ea typeface="IBM Plex Sans"/>
                <a:cs typeface="IBM Plex Sans"/>
                <a:sym typeface="IBM Plex Sans"/>
              </a:rPr>
              <a:t>Antibiotics given to cattle, goats and poultry reach milk, meat, manure and well water, and resistant bacteria move from animals to people.</a:t>
            </a:r>
          </a:p>
        </p:txBody>
      </p:sp>
      <p:sp>
        <p:nvSpPr>
          <p:cNvPr name="TextBox 14" id="14"/>
          <p:cNvSpPr txBox="true"/>
          <p:nvPr/>
        </p:nvSpPr>
        <p:spPr>
          <a:xfrm rot="0">
            <a:off x="1220724" y="8778240"/>
            <a:ext cx="6309360" cy="342900"/>
          </a:xfrm>
          <a:prstGeom prst="rect">
            <a:avLst/>
          </a:prstGeom>
        </p:spPr>
        <p:txBody>
          <a:bodyPr anchor="t" rtlCol="false" tIns="0" lIns="0" bIns="0" rIns="0">
            <a:spAutoFit/>
          </a:bodyPr>
          <a:lstStyle/>
          <a:p>
            <a:pPr algn="l">
              <a:lnSpc>
                <a:spcPts val="1530"/>
              </a:lnSpc>
            </a:pPr>
            <a:r>
              <a:rPr lang="en-US" sz="1275" i="true">
                <a:solidFill>
                  <a:srgbClr val="5B6770"/>
                </a:solidFill>
                <a:latin typeface="IBM Plex Sans Italics"/>
                <a:ea typeface="IBM Plex Sans Italics"/>
                <a:cs typeface="IBM Plex Sans Italics"/>
                <a:sym typeface="IBM Plex Sans Italics"/>
              </a:rPr>
              <a:t>Photo: ruminants.ceva.pro [1]</a:t>
            </a:r>
          </a:p>
        </p:txBody>
      </p:sp>
      <p:grpSp>
        <p:nvGrpSpPr>
          <p:cNvPr name="Group 15" id="15"/>
          <p:cNvGrpSpPr/>
          <p:nvPr/>
        </p:nvGrpSpPr>
        <p:grpSpPr>
          <a:xfrm rot="0">
            <a:off x="8016716" y="2804636"/>
            <a:ext cx="9066848" cy="1660208"/>
            <a:chOff x="0" y="0"/>
            <a:chExt cx="12089130" cy="2213610"/>
          </a:xfrm>
        </p:grpSpPr>
        <p:sp>
          <p:nvSpPr>
            <p:cNvPr name="Freeform 16" id="16"/>
            <p:cNvSpPr/>
            <p:nvPr/>
          </p:nvSpPr>
          <p:spPr>
            <a:xfrm flipH="false" flipV="false" rot="0">
              <a:off x="0" y="0"/>
              <a:ext cx="12089130" cy="2213610"/>
            </a:xfrm>
            <a:custGeom>
              <a:avLst/>
              <a:gdLst/>
              <a:ahLst/>
              <a:cxnLst/>
              <a:rect r="r" b="b" t="t" l="l"/>
              <a:pathLst>
                <a:path h="2213610" w="12089130">
                  <a:moveTo>
                    <a:pt x="0" y="147574"/>
                  </a:moveTo>
                  <a:cubicBezTo>
                    <a:pt x="0" y="66040"/>
                    <a:pt x="66040" y="0"/>
                    <a:pt x="147574" y="0"/>
                  </a:cubicBezTo>
                  <a:lnTo>
                    <a:pt x="11941556" y="0"/>
                  </a:lnTo>
                  <a:cubicBezTo>
                    <a:pt x="12023090" y="0"/>
                    <a:pt x="12089130" y="66040"/>
                    <a:pt x="12089130" y="147574"/>
                  </a:cubicBezTo>
                  <a:lnTo>
                    <a:pt x="12089130" y="2066036"/>
                  </a:lnTo>
                  <a:cubicBezTo>
                    <a:pt x="12089130" y="2147570"/>
                    <a:pt x="12023090" y="2213610"/>
                    <a:pt x="11941556" y="2213610"/>
                  </a:cubicBezTo>
                  <a:lnTo>
                    <a:pt x="147574" y="2213610"/>
                  </a:lnTo>
                  <a:cubicBezTo>
                    <a:pt x="66040" y="2213610"/>
                    <a:pt x="0" y="2147570"/>
                    <a:pt x="0" y="2066036"/>
                  </a:cubicBezTo>
                  <a:close/>
                </a:path>
              </a:pathLst>
            </a:custGeom>
            <a:solidFill>
              <a:srgbClr val="FDFDFB"/>
            </a:solidFill>
            <a:ln w="14288" cap="sq">
              <a:solidFill>
                <a:srgbClr val="D3DCD9"/>
              </a:solidFill>
              <a:prstDash val="solid"/>
              <a:miter/>
            </a:ln>
          </p:spPr>
        </p:sp>
      </p:grpSp>
      <p:sp>
        <p:nvSpPr>
          <p:cNvPr name="TextBox 17" id="17"/>
          <p:cNvSpPr txBox="true"/>
          <p:nvPr/>
        </p:nvSpPr>
        <p:spPr>
          <a:xfrm rot="0">
            <a:off x="8503920" y="3104007"/>
            <a:ext cx="8229600" cy="489585"/>
          </a:xfrm>
          <a:prstGeom prst="rect">
            <a:avLst/>
          </a:prstGeom>
        </p:spPr>
        <p:txBody>
          <a:bodyPr anchor="t" rtlCol="false" tIns="0" lIns="0" bIns="0" rIns="0">
            <a:spAutoFit/>
          </a:bodyPr>
          <a:lstStyle/>
          <a:p>
            <a:pPr algn="l">
              <a:lnSpc>
                <a:spcPts val="2520"/>
              </a:lnSpc>
            </a:pPr>
            <a:r>
              <a:rPr lang="en-US" sz="2100" b="true">
                <a:solidFill>
                  <a:srgbClr val="14304A"/>
                </a:solidFill>
                <a:latin typeface="IBM Plex Sans Bold"/>
                <a:ea typeface="IBM Plex Sans Bold"/>
                <a:cs typeface="IBM Plex Sans Bold"/>
                <a:sym typeface="IBM Plex Sans Bold"/>
              </a:rPr>
              <a:t>No growth promoters</a:t>
            </a:r>
          </a:p>
        </p:txBody>
      </p:sp>
      <p:sp>
        <p:nvSpPr>
          <p:cNvPr name="TextBox 18" id="18"/>
          <p:cNvSpPr txBox="true"/>
          <p:nvPr/>
        </p:nvSpPr>
        <p:spPr>
          <a:xfrm rot="0">
            <a:off x="8503920" y="3634740"/>
            <a:ext cx="8229600" cy="685800"/>
          </a:xfrm>
          <a:prstGeom prst="rect">
            <a:avLst/>
          </a:prstGeom>
        </p:spPr>
        <p:txBody>
          <a:bodyPr anchor="t" rtlCol="false" tIns="0" lIns="0" bIns="0" rIns="0">
            <a:spAutoFit/>
          </a:bodyPr>
          <a:lstStyle/>
          <a:p>
            <a:pPr algn="l">
              <a:lnSpc>
                <a:spcPts val="2070"/>
              </a:lnSpc>
            </a:pPr>
            <a:r>
              <a:rPr lang="en-US" sz="1725">
                <a:solidFill>
                  <a:srgbClr val="3F4B57"/>
                </a:solidFill>
                <a:latin typeface="IBM Plex Sans"/>
                <a:ea typeface="IBM Plex Sans"/>
                <a:cs typeface="IBM Plex Sans"/>
                <a:sym typeface="IBM Plex Sans"/>
              </a:rPr>
              <a:t>Avoid using human antibiotics to boost livestock weight or as routine prevention.</a:t>
            </a:r>
          </a:p>
        </p:txBody>
      </p:sp>
      <p:grpSp>
        <p:nvGrpSpPr>
          <p:cNvPr name="Group 19" id="19"/>
          <p:cNvGrpSpPr/>
          <p:nvPr/>
        </p:nvGrpSpPr>
        <p:grpSpPr>
          <a:xfrm rot="0">
            <a:off x="8016716" y="4793456"/>
            <a:ext cx="9066848" cy="1660208"/>
            <a:chOff x="0" y="0"/>
            <a:chExt cx="12089130" cy="2213610"/>
          </a:xfrm>
        </p:grpSpPr>
        <p:sp>
          <p:nvSpPr>
            <p:cNvPr name="Freeform 20" id="20"/>
            <p:cNvSpPr/>
            <p:nvPr/>
          </p:nvSpPr>
          <p:spPr>
            <a:xfrm flipH="false" flipV="false" rot="0">
              <a:off x="0" y="0"/>
              <a:ext cx="12089130" cy="2213610"/>
            </a:xfrm>
            <a:custGeom>
              <a:avLst/>
              <a:gdLst/>
              <a:ahLst/>
              <a:cxnLst/>
              <a:rect r="r" b="b" t="t" l="l"/>
              <a:pathLst>
                <a:path h="2213610" w="12089130">
                  <a:moveTo>
                    <a:pt x="0" y="147574"/>
                  </a:moveTo>
                  <a:cubicBezTo>
                    <a:pt x="0" y="66040"/>
                    <a:pt x="66040" y="0"/>
                    <a:pt x="147574" y="0"/>
                  </a:cubicBezTo>
                  <a:lnTo>
                    <a:pt x="11941556" y="0"/>
                  </a:lnTo>
                  <a:cubicBezTo>
                    <a:pt x="12023090" y="0"/>
                    <a:pt x="12089130" y="66040"/>
                    <a:pt x="12089130" y="147574"/>
                  </a:cubicBezTo>
                  <a:lnTo>
                    <a:pt x="12089130" y="2066036"/>
                  </a:lnTo>
                  <a:cubicBezTo>
                    <a:pt x="12089130" y="2147570"/>
                    <a:pt x="12023090" y="2213610"/>
                    <a:pt x="11941556" y="2213610"/>
                  </a:cubicBezTo>
                  <a:lnTo>
                    <a:pt x="147574" y="2213610"/>
                  </a:lnTo>
                  <a:cubicBezTo>
                    <a:pt x="66040" y="2213610"/>
                    <a:pt x="0" y="2147570"/>
                    <a:pt x="0" y="2066036"/>
                  </a:cubicBezTo>
                  <a:close/>
                </a:path>
              </a:pathLst>
            </a:custGeom>
            <a:solidFill>
              <a:srgbClr val="FDFDFB"/>
            </a:solidFill>
            <a:ln w="14288" cap="sq">
              <a:solidFill>
                <a:srgbClr val="D3DCD9"/>
              </a:solidFill>
              <a:prstDash val="solid"/>
              <a:miter/>
            </a:ln>
          </p:spPr>
        </p:sp>
      </p:grpSp>
      <p:sp>
        <p:nvSpPr>
          <p:cNvPr name="TextBox 21" id="21"/>
          <p:cNvSpPr txBox="true"/>
          <p:nvPr/>
        </p:nvSpPr>
        <p:spPr>
          <a:xfrm rot="0">
            <a:off x="8503920" y="5092827"/>
            <a:ext cx="8229600" cy="489585"/>
          </a:xfrm>
          <a:prstGeom prst="rect">
            <a:avLst/>
          </a:prstGeom>
        </p:spPr>
        <p:txBody>
          <a:bodyPr anchor="t" rtlCol="false" tIns="0" lIns="0" bIns="0" rIns="0">
            <a:spAutoFit/>
          </a:bodyPr>
          <a:lstStyle/>
          <a:p>
            <a:pPr algn="l">
              <a:lnSpc>
                <a:spcPts val="2520"/>
              </a:lnSpc>
            </a:pPr>
            <a:r>
              <a:rPr lang="en-US" sz="2100" b="true">
                <a:solidFill>
                  <a:srgbClr val="14304A"/>
                </a:solidFill>
                <a:latin typeface="IBM Plex Sans Bold"/>
                <a:ea typeface="IBM Plex Sans Bold"/>
                <a:cs typeface="IBM Plex Sans Bold"/>
                <a:sym typeface="IBM Plex Sans Bold"/>
              </a:rPr>
              <a:t>Water source safety</a:t>
            </a:r>
          </a:p>
        </p:txBody>
      </p:sp>
      <p:sp>
        <p:nvSpPr>
          <p:cNvPr name="TextBox 22" id="22"/>
          <p:cNvSpPr txBox="true"/>
          <p:nvPr/>
        </p:nvSpPr>
        <p:spPr>
          <a:xfrm rot="0">
            <a:off x="8503920" y="5623560"/>
            <a:ext cx="8229600" cy="685800"/>
          </a:xfrm>
          <a:prstGeom prst="rect">
            <a:avLst/>
          </a:prstGeom>
        </p:spPr>
        <p:txBody>
          <a:bodyPr anchor="t" rtlCol="false" tIns="0" lIns="0" bIns="0" rIns="0">
            <a:spAutoFit/>
          </a:bodyPr>
          <a:lstStyle/>
          <a:p>
            <a:pPr algn="l">
              <a:lnSpc>
                <a:spcPts val="2070"/>
              </a:lnSpc>
            </a:pPr>
            <a:r>
              <a:rPr lang="en-US" sz="1725">
                <a:solidFill>
                  <a:srgbClr val="3F4B57"/>
                </a:solidFill>
                <a:latin typeface="IBM Plex Sans"/>
                <a:ea typeface="IBM Plex Sans"/>
                <a:cs typeface="IBM Plex Sans"/>
                <a:sym typeface="IBM Plex Sans"/>
              </a:rPr>
              <a:t>Prevent agricultural pharmaceutical runoff and manure from reaching village drinking wells.</a:t>
            </a:r>
          </a:p>
        </p:txBody>
      </p:sp>
      <p:grpSp>
        <p:nvGrpSpPr>
          <p:cNvPr name="Group 23" id="23"/>
          <p:cNvGrpSpPr/>
          <p:nvPr/>
        </p:nvGrpSpPr>
        <p:grpSpPr>
          <a:xfrm rot="0">
            <a:off x="8016716" y="6782276"/>
            <a:ext cx="9066848" cy="1660208"/>
            <a:chOff x="0" y="0"/>
            <a:chExt cx="12089130" cy="2213610"/>
          </a:xfrm>
        </p:grpSpPr>
        <p:sp>
          <p:nvSpPr>
            <p:cNvPr name="Freeform 24" id="24"/>
            <p:cNvSpPr/>
            <p:nvPr/>
          </p:nvSpPr>
          <p:spPr>
            <a:xfrm flipH="false" flipV="false" rot="0">
              <a:off x="0" y="0"/>
              <a:ext cx="12089130" cy="2213610"/>
            </a:xfrm>
            <a:custGeom>
              <a:avLst/>
              <a:gdLst/>
              <a:ahLst/>
              <a:cxnLst/>
              <a:rect r="r" b="b" t="t" l="l"/>
              <a:pathLst>
                <a:path h="2213610" w="12089130">
                  <a:moveTo>
                    <a:pt x="0" y="147574"/>
                  </a:moveTo>
                  <a:cubicBezTo>
                    <a:pt x="0" y="66040"/>
                    <a:pt x="66040" y="0"/>
                    <a:pt x="147574" y="0"/>
                  </a:cubicBezTo>
                  <a:lnTo>
                    <a:pt x="11941556" y="0"/>
                  </a:lnTo>
                  <a:cubicBezTo>
                    <a:pt x="12023090" y="0"/>
                    <a:pt x="12089130" y="66040"/>
                    <a:pt x="12089130" y="147574"/>
                  </a:cubicBezTo>
                  <a:lnTo>
                    <a:pt x="12089130" y="2066036"/>
                  </a:lnTo>
                  <a:cubicBezTo>
                    <a:pt x="12089130" y="2147570"/>
                    <a:pt x="12023090" y="2213610"/>
                    <a:pt x="11941556" y="2213610"/>
                  </a:cubicBezTo>
                  <a:lnTo>
                    <a:pt x="147574" y="2213610"/>
                  </a:lnTo>
                  <a:cubicBezTo>
                    <a:pt x="66040" y="2213610"/>
                    <a:pt x="0" y="2147570"/>
                    <a:pt x="0" y="2066036"/>
                  </a:cubicBezTo>
                  <a:close/>
                </a:path>
              </a:pathLst>
            </a:custGeom>
            <a:solidFill>
              <a:srgbClr val="FDFDFB"/>
            </a:solidFill>
            <a:ln w="14288" cap="sq">
              <a:solidFill>
                <a:srgbClr val="D3DCD9"/>
              </a:solidFill>
              <a:prstDash val="solid"/>
              <a:miter/>
            </a:ln>
          </p:spPr>
        </p:sp>
      </p:grpSp>
      <p:sp>
        <p:nvSpPr>
          <p:cNvPr name="TextBox 25" id="25"/>
          <p:cNvSpPr txBox="true"/>
          <p:nvPr/>
        </p:nvSpPr>
        <p:spPr>
          <a:xfrm rot="0">
            <a:off x="8503920" y="7081647"/>
            <a:ext cx="8229600" cy="489585"/>
          </a:xfrm>
          <a:prstGeom prst="rect">
            <a:avLst/>
          </a:prstGeom>
        </p:spPr>
        <p:txBody>
          <a:bodyPr anchor="t" rtlCol="false" tIns="0" lIns="0" bIns="0" rIns="0">
            <a:spAutoFit/>
          </a:bodyPr>
          <a:lstStyle/>
          <a:p>
            <a:pPr algn="l">
              <a:lnSpc>
                <a:spcPts val="2520"/>
              </a:lnSpc>
            </a:pPr>
            <a:r>
              <a:rPr lang="en-US" sz="2100" b="true">
                <a:solidFill>
                  <a:srgbClr val="14304A"/>
                </a:solidFill>
                <a:latin typeface="IBM Plex Sans Bold"/>
                <a:ea typeface="IBM Plex Sans Bold"/>
                <a:cs typeface="IBM Plex Sans Bold"/>
                <a:sym typeface="IBM Plex Sans Bold"/>
              </a:rPr>
              <a:t>Veterinary supervision</a:t>
            </a:r>
          </a:p>
        </p:txBody>
      </p:sp>
      <p:sp>
        <p:nvSpPr>
          <p:cNvPr name="TextBox 26" id="26"/>
          <p:cNvSpPr txBox="true"/>
          <p:nvPr/>
        </p:nvSpPr>
        <p:spPr>
          <a:xfrm rot="0">
            <a:off x="8503920" y="7612380"/>
            <a:ext cx="8229600" cy="685800"/>
          </a:xfrm>
          <a:prstGeom prst="rect">
            <a:avLst/>
          </a:prstGeom>
        </p:spPr>
        <p:txBody>
          <a:bodyPr anchor="t" rtlCol="false" tIns="0" lIns="0" bIns="0" rIns="0">
            <a:spAutoFit/>
          </a:bodyPr>
          <a:lstStyle/>
          <a:p>
            <a:pPr algn="l">
              <a:lnSpc>
                <a:spcPts val="2070"/>
              </a:lnSpc>
            </a:pPr>
            <a:r>
              <a:rPr lang="en-US" sz="1725">
                <a:solidFill>
                  <a:srgbClr val="3F4B57"/>
                </a:solidFill>
                <a:latin typeface="IBM Plex Sans"/>
                <a:ea typeface="IBM Plex Sans"/>
                <a:cs typeface="IBM Plex Sans"/>
                <a:sym typeface="IBM Plex Sans"/>
              </a:rPr>
              <a:t>Treat sick farm animals only under trained veterinary guidance, with animal-specific medicines.</a:t>
            </a:r>
          </a:p>
        </p:txBody>
      </p:sp>
      <p:grpSp>
        <p:nvGrpSpPr>
          <p:cNvPr name="Group 27" id="27"/>
          <p:cNvGrpSpPr/>
          <p:nvPr/>
        </p:nvGrpSpPr>
        <p:grpSpPr>
          <a:xfrm rot="0">
            <a:off x="1220724" y="9354312"/>
            <a:ext cx="11658600" cy="356616"/>
            <a:chOff x="0" y="0"/>
            <a:chExt cx="15544800" cy="475488"/>
          </a:xfrm>
        </p:grpSpPr>
        <p:sp>
          <p:nvSpPr>
            <p:cNvPr name="Freeform 28" id="28"/>
            <p:cNvSpPr/>
            <p:nvPr/>
          </p:nvSpPr>
          <p:spPr>
            <a:xfrm flipH="false" flipV="false" rot="0">
              <a:off x="0" y="0"/>
              <a:ext cx="15544800" cy="475488"/>
            </a:xfrm>
            <a:custGeom>
              <a:avLst/>
              <a:gdLst/>
              <a:ahLst/>
              <a:cxnLst/>
              <a:rect r="r" b="b" t="t" l="l"/>
              <a:pathLst>
                <a:path h="475488" w="15544800">
                  <a:moveTo>
                    <a:pt x="0" y="0"/>
                  </a:moveTo>
                  <a:lnTo>
                    <a:pt x="15544800" y="0"/>
                  </a:lnTo>
                  <a:lnTo>
                    <a:pt x="15544800" y="475488"/>
                  </a:lnTo>
                  <a:lnTo>
                    <a:pt x="0" y="475488"/>
                  </a:lnTo>
                  <a:close/>
                </a:path>
              </a:pathLst>
            </a:custGeom>
            <a:blipFill>
              <a:blip r:embed="rId3">
                <a:alphaModFix amt="0"/>
              </a:blip>
              <a:stretch>
                <a:fillRect l="0" t="-587010" r="0" b="-587010"/>
              </a:stretch>
            </a:blipFill>
          </p:spPr>
        </p:sp>
        <p:sp>
          <p:nvSpPr>
            <p:cNvPr name="TextBox 29" id="29"/>
            <p:cNvSpPr txBox="true"/>
            <p:nvPr/>
          </p:nvSpPr>
          <p:spPr>
            <a:xfrm>
              <a:off x="0" y="0"/>
              <a:ext cx="15544800" cy="475488"/>
            </a:xfrm>
            <a:prstGeom prst="rect">
              <a:avLst/>
            </a:prstGeom>
          </p:spPr>
          <p:txBody>
            <a:bodyPr anchor="ctr" rtlCol="false" tIns="0" lIns="0" bIns="0" rIns="0"/>
            <a:lstStyle/>
            <a:p>
              <a:pPr algn="l">
                <a:lnSpc>
                  <a:spcPts val="1800"/>
                </a:lnSpc>
              </a:pPr>
              <a:r>
                <a:rPr lang="en-US" sz="1500">
                  <a:solidFill>
                    <a:srgbClr val="5B6770"/>
                  </a:solidFill>
                  <a:latin typeface="IBM Plex Sans"/>
                  <a:ea typeface="IBM Plex Sans"/>
                  <a:cs typeface="IBM Plex Sans"/>
                  <a:sym typeface="IBM Plex Sans"/>
                </a:rPr>
                <a:t>Preserving Our Medicines · Community Antibiotic Stewardship, Chakwal, Pakistan</a:t>
              </a:r>
            </a:p>
          </p:txBody>
        </p:sp>
      </p:grpSp>
      <p:grpSp>
        <p:nvGrpSpPr>
          <p:cNvPr name="Group 30" id="30"/>
          <p:cNvGrpSpPr/>
          <p:nvPr/>
        </p:nvGrpSpPr>
        <p:grpSpPr>
          <a:xfrm rot="0">
            <a:off x="15695219" y="9354312"/>
            <a:ext cx="1371600" cy="356616"/>
            <a:chOff x="0" y="0"/>
            <a:chExt cx="1828800" cy="475488"/>
          </a:xfrm>
        </p:grpSpPr>
        <p:sp>
          <p:nvSpPr>
            <p:cNvPr name="Freeform 31" id="31"/>
            <p:cNvSpPr/>
            <p:nvPr/>
          </p:nvSpPr>
          <p:spPr>
            <a:xfrm flipH="false" flipV="false" rot="0">
              <a:off x="0" y="0"/>
              <a:ext cx="1828800" cy="475488"/>
            </a:xfrm>
            <a:custGeom>
              <a:avLst/>
              <a:gdLst/>
              <a:ahLst/>
              <a:cxnLst/>
              <a:rect r="r" b="b" t="t" l="l"/>
              <a:pathLst>
                <a:path h="475488" w="1828800">
                  <a:moveTo>
                    <a:pt x="0" y="0"/>
                  </a:moveTo>
                  <a:lnTo>
                    <a:pt x="1828800" y="0"/>
                  </a:lnTo>
                  <a:lnTo>
                    <a:pt x="1828800" y="475488"/>
                  </a:lnTo>
                  <a:lnTo>
                    <a:pt x="0" y="475488"/>
                  </a:lnTo>
                  <a:close/>
                </a:path>
              </a:pathLst>
            </a:custGeom>
            <a:blipFill>
              <a:blip r:embed="rId3">
                <a:alphaModFix amt="0"/>
              </a:blip>
              <a:stretch>
                <a:fillRect l="0" t="-24942" r="0" b="-24942"/>
              </a:stretch>
            </a:blipFill>
          </p:spPr>
        </p:sp>
        <p:sp>
          <p:nvSpPr>
            <p:cNvPr name="TextBox 32" id="32"/>
            <p:cNvSpPr txBox="true"/>
            <p:nvPr/>
          </p:nvSpPr>
          <p:spPr>
            <a:xfrm>
              <a:off x="0" y="0"/>
              <a:ext cx="1828800" cy="475488"/>
            </a:xfrm>
            <a:prstGeom prst="rect">
              <a:avLst/>
            </a:prstGeom>
          </p:spPr>
          <p:txBody>
            <a:bodyPr anchor="ctr" rtlCol="false" tIns="0" lIns="0" bIns="0" rIns="0"/>
            <a:lstStyle/>
            <a:p>
              <a:pPr algn="r">
                <a:lnSpc>
                  <a:spcPts val="1800"/>
                </a:lnSpc>
              </a:pPr>
              <a:r>
                <a:rPr lang="en-US" sz="1500">
                  <a:solidFill>
                    <a:srgbClr val="5B6770"/>
                  </a:solidFill>
                  <a:latin typeface="IBM Plex Sans"/>
                  <a:ea typeface="IBM Plex Sans"/>
                  <a:cs typeface="IBM Plex Sans"/>
                  <a:sym typeface="IBM Plex Sans"/>
                </a:rPr>
                <a:t>13</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7F6F2"/>
        </a:solidFill>
      </p:bgPr>
    </p:bg>
    <p:spTree>
      <p:nvGrpSpPr>
        <p:cNvPr id="1" name=""/>
        <p:cNvGrpSpPr/>
        <p:nvPr/>
      </p:nvGrpSpPr>
      <p:grpSpPr>
        <a:xfrm>
          <a:off x="0" y="0"/>
          <a:ext cx="0" cy="0"/>
          <a:chOff x="0" y="0"/>
          <a:chExt cx="0" cy="0"/>
        </a:xfrm>
      </p:grpSpPr>
      <p:grpSp>
        <p:nvGrpSpPr>
          <p:cNvPr name="Group 2" id="2"/>
          <p:cNvGrpSpPr/>
          <p:nvPr/>
        </p:nvGrpSpPr>
        <p:grpSpPr>
          <a:xfrm rot="0">
            <a:off x="1220724" y="1124712"/>
            <a:ext cx="15846095" cy="384048"/>
            <a:chOff x="0" y="0"/>
            <a:chExt cx="21128126" cy="512064"/>
          </a:xfrm>
        </p:grpSpPr>
        <p:sp>
          <p:nvSpPr>
            <p:cNvPr name="Freeform 3" id="3"/>
            <p:cNvSpPr/>
            <p:nvPr/>
          </p:nvSpPr>
          <p:spPr>
            <a:xfrm flipH="false" flipV="false" rot="0">
              <a:off x="0" y="0"/>
              <a:ext cx="21128126" cy="512064"/>
            </a:xfrm>
            <a:custGeom>
              <a:avLst/>
              <a:gdLst/>
              <a:ahLst/>
              <a:cxnLst/>
              <a:rect r="r" b="b" t="t" l="l"/>
              <a:pathLst>
                <a:path h="512064" w="21128126">
                  <a:moveTo>
                    <a:pt x="0" y="0"/>
                  </a:moveTo>
                  <a:lnTo>
                    <a:pt x="21128126" y="0"/>
                  </a:lnTo>
                  <a:lnTo>
                    <a:pt x="21128126" y="512064"/>
                  </a:lnTo>
                  <a:lnTo>
                    <a:pt x="0" y="512064"/>
                  </a:lnTo>
                  <a:close/>
                </a:path>
              </a:pathLst>
            </a:custGeom>
            <a:blipFill>
              <a:blip r:embed="rId3">
                <a:alphaModFix amt="0"/>
              </a:blip>
              <a:stretch>
                <a:fillRect l="0" t="-753966" r="0" b="-753966"/>
              </a:stretch>
            </a:blipFill>
          </p:spPr>
        </p:sp>
        <p:sp>
          <p:nvSpPr>
            <p:cNvPr name="TextBox 4" id="4"/>
            <p:cNvSpPr txBox="true"/>
            <p:nvPr/>
          </p:nvSpPr>
          <p:spPr>
            <a:xfrm>
              <a:off x="0" y="0"/>
              <a:ext cx="21128126" cy="512064"/>
            </a:xfrm>
            <a:prstGeom prst="rect">
              <a:avLst/>
            </a:prstGeom>
          </p:spPr>
          <p:txBody>
            <a:bodyPr anchor="ctr" rtlCol="false" tIns="0" lIns="0" bIns="0" rIns="0"/>
            <a:lstStyle/>
            <a:p>
              <a:pPr algn="l">
                <a:lnSpc>
                  <a:spcPts val="1980"/>
                </a:lnSpc>
              </a:pPr>
              <a:r>
                <a:rPr lang="en-US" b="true" sz="1650" spc="299">
                  <a:solidFill>
                    <a:srgbClr val="0B6E60"/>
                  </a:solidFill>
                  <a:latin typeface="IBM Plex Sans Bold"/>
                  <a:ea typeface="IBM Plex Sans Bold"/>
                  <a:cs typeface="IBM Plex Sans Bold"/>
                  <a:sym typeface="IBM Plex Sans Bold"/>
                </a:rPr>
                <a:t>11 · COMMUNITY SURVEY</a:t>
              </a:r>
            </a:p>
          </p:txBody>
        </p:sp>
      </p:grpSp>
      <p:grpSp>
        <p:nvGrpSpPr>
          <p:cNvPr name="Group 5" id="5"/>
          <p:cNvGrpSpPr/>
          <p:nvPr/>
        </p:nvGrpSpPr>
        <p:grpSpPr>
          <a:xfrm rot="0">
            <a:off x="1220724" y="1536192"/>
            <a:ext cx="15846095" cy="850392"/>
            <a:chOff x="0" y="0"/>
            <a:chExt cx="21128126" cy="1133856"/>
          </a:xfrm>
        </p:grpSpPr>
        <p:sp>
          <p:nvSpPr>
            <p:cNvPr name="Freeform 6" id="6"/>
            <p:cNvSpPr/>
            <p:nvPr/>
          </p:nvSpPr>
          <p:spPr>
            <a:xfrm flipH="false" flipV="false" rot="0">
              <a:off x="0" y="0"/>
              <a:ext cx="21128126" cy="1133856"/>
            </a:xfrm>
            <a:custGeom>
              <a:avLst/>
              <a:gdLst/>
              <a:ahLst/>
              <a:cxnLst/>
              <a:rect r="r" b="b" t="t" l="l"/>
              <a:pathLst>
                <a:path h="1133856" w="21128126">
                  <a:moveTo>
                    <a:pt x="0" y="0"/>
                  </a:moveTo>
                  <a:lnTo>
                    <a:pt x="21128126" y="0"/>
                  </a:lnTo>
                  <a:lnTo>
                    <a:pt x="21128126" y="1133856"/>
                  </a:lnTo>
                  <a:lnTo>
                    <a:pt x="0" y="1133856"/>
                  </a:lnTo>
                  <a:close/>
                </a:path>
              </a:pathLst>
            </a:custGeom>
            <a:blipFill>
              <a:blip r:embed="rId3">
                <a:alphaModFix amt="0"/>
              </a:blip>
              <a:stretch>
                <a:fillRect l="0" t="-313081" r="0" b="-313081"/>
              </a:stretch>
            </a:blipFill>
          </p:spPr>
        </p:sp>
        <p:sp>
          <p:nvSpPr>
            <p:cNvPr name="TextBox 7" id="7"/>
            <p:cNvSpPr txBox="true"/>
            <p:nvPr/>
          </p:nvSpPr>
          <p:spPr>
            <a:xfrm>
              <a:off x="0" y="0"/>
              <a:ext cx="21128126" cy="1133856"/>
            </a:xfrm>
            <a:prstGeom prst="rect">
              <a:avLst/>
            </a:prstGeom>
          </p:spPr>
          <p:txBody>
            <a:bodyPr anchor="ctr" rtlCol="false" tIns="0" lIns="0" bIns="0" rIns="0"/>
            <a:lstStyle/>
            <a:p>
              <a:pPr algn="l">
                <a:lnSpc>
                  <a:spcPts val="5400"/>
                </a:lnSpc>
              </a:pPr>
              <a:r>
                <a:rPr lang="en-US" sz="4500" b="true">
                  <a:solidFill>
                    <a:srgbClr val="14304A"/>
                  </a:solidFill>
                  <a:latin typeface="Source Serif Pro Bold"/>
                  <a:ea typeface="Source Serif Pro Bold"/>
                  <a:cs typeface="Source Serif Pro Bold"/>
                  <a:sym typeface="Source Serif Pro Bold"/>
                </a:rPr>
                <a:t>Surveying 200 people before and after education</a:t>
              </a:r>
            </a:p>
          </p:txBody>
        </p:sp>
      </p:grpSp>
      <p:grpSp>
        <p:nvGrpSpPr>
          <p:cNvPr name="Group 8" id="8"/>
          <p:cNvGrpSpPr/>
          <p:nvPr/>
        </p:nvGrpSpPr>
        <p:grpSpPr>
          <a:xfrm rot="0">
            <a:off x="1213580" y="2804636"/>
            <a:ext cx="2963228" cy="3580447"/>
            <a:chOff x="0" y="0"/>
            <a:chExt cx="3950970" cy="4773930"/>
          </a:xfrm>
        </p:grpSpPr>
        <p:sp>
          <p:nvSpPr>
            <p:cNvPr name="Freeform 9" id="9"/>
            <p:cNvSpPr/>
            <p:nvPr/>
          </p:nvSpPr>
          <p:spPr>
            <a:xfrm flipH="false" flipV="false" rot="0">
              <a:off x="0" y="0"/>
              <a:ext cx="3950970" cy="4773930"/>
            </a:xfrm>
            <a:custGeom>
              <a:avLst/>
              <a:gdLst/>
              <a:ahLst/>
              <a:cxnLst/>
              <a:rect r="r" b="b" t="t" l="l"/>
              <a:pathLst>
                <a:path h="4773930" w="3950970">
                  <a:moveTo>
                    <a:pt x="0" y="147066"/>
                  </a:moveTo>
                  <a:cubicBezTo>
                    <a:pt x="0" y="65786"/>
                    <a:pt x="65786" y="0"/>
                    <a:pt x="147066" y="0"/>
                  </a:cubicBezTo>
                  <a:lnTo>
                    <a:pt x="3803904" y="0"/>
                  </a:lnTo>
                  <a:cubicBezTo>
                    <a:pt x="3885057" y="0"/>
                    <a:pt x="3950970" y="65786"/>
                    <a:pt x="3950970" y="147066"/>
                  </a:cubicBezTo>
                  <a:lnTo>
                    <a:pt x="3950970" y="4626864"/>
                  </a:lnTo>
                  <a:cubicBezTo>
                    <a:pt x="3950970" y="4708017"/>
                    <a:pt x="3885184" y="4773930"/>
                    <a:pt x="3803904" y="4773930"/>
                  </a:cubicBezTo>
                  <a:lnTo>
                    <a:pt x="147066" y="4773930"/>
                  </a:lnTo>
                  <a:cubicBezTo>
                    <a:pt x="65786" y="4773930"/>
                    <a:pt x="0" y="4708144"/>
                    <a:pt x="0" y="4626864"/>
                  </a:cubicBezTo>
                  <a:close/>
                </a:path>
              </a:pathLst>
            </a:custGeom>
            <a:solidFill>
              <a:srgbClr val="FDFDFB"/>
            </a:solidFill>
            <a:ln w="14288" cap="sq">
              <a:solidFill>
                <a:srgbClr val="D3DCD9"/>
              </a:solidFill>
              <a:prstDash val="solid"/>
              <a:miter/>
            </a:ln>
          </p:spPr>
        </p:sp>
      </p:grpSp>
      <p:grpSp>
        <p:nvGrpSpPr>
          <p:cNvPr name="Group 10" id="10"/>
          <p:cNvGrpSpPr/>
          <p:nvPr/>
        </p:nvGrpSpPr>
        <p:grpSpPr>
          <a:xfrm rot="0">
            <a:off x="1485519" y="3076575"/>
            <a:ext cx="595122" cy="595122"/>
            <a:chOff x="0" y="0"/>
            <a:chExt cx="793496" cy="793496"/>
          </a:xfrm>
        </p:grpSpPr>
        <p:sp>
          <p:nvSpPr>
            <p:cNvPr name="Freeform 11" id="11"/>
            <p:cNvSpPr/>
            <p:nvPr/>
          </p:nvSpPr>
          <p:spPr>
            <a:xfrm flipH="false" flipV="false" rot="0">
              <a:off x="0" y="0"/>
              <a:ext cx="793496" cy="793496"/>
            </a:xfrm>
            <a:custGeom>
              <a:avLst/>
              <a:gdLst/>
              <a:ahLst/>
              <a:cxnLst/>
              <a:rect r="r" b="b" t="t" l="l"/>
              <a:pathLst>
                <a:path h="793496" w="793496">
                  <a:moveTo>
                    <a:pt x="0" y="396748"/>
                  </a:moveTo>
                  <a:cubicBezTo>
                    <a:pt x="0" y="177673"/>
                    <a:pt x="177673" y="0"/>
                    <a:pt x="396748" y="0"/>
                  </a:cubicBezTo>
                  <a:cubicBezTo>
                    <a:pt x="615823" y="0"/>
                    <a:pt x="793496" y="177673"/>
                    <a:pt x="793496" y="396748"/>
                  </a:cubicBezTo>
                  <a:cubicBezTo>
                    <a:pt x="793496" y="615823"/>
                    <a:pt x="615823" y="793496"/>
                    <a:pt x="396748" y="793496"/>
                  </a:cubicBezTo>
                  <a:cubicBezTo>
                    <a:pt x="177673" y="793496"/>
                    <a:pt x="0" y="615823"/>
                    <a:pt x="0" y="396748"/>
                  </a:cubicBezTo>
                  <a:close/>
                </a:path>
              </a:pathLst>
            </a:custGeom>
            <a:solidFill>
              <a:srgbClr val="0B6E60"/>
            </a:solidFill>
            <a:ln w="19050" cap="sq">
              <a:solidFill>
                <a:srgbClr val="0B6E60"/>
              </a:solidFill>
              <a:prstDash val="solid"/>
              <a:miter/>
            </a:ln>
          </p:spPr>
        </p:sp>
      </p:grpSp>
      <p:grpSp>
        <p:nvGrpSpPr>
          <p:cNvPr name="Group 12" id="12"/>
          <p:cNvGrpSpPr/>
          <p:nvPr/>
        </p:nvGrpSpPr>
        <p:grpSpPr>
          <a:xfrm rot="0">
            <a:off x="1495044" y="3086100"/>
            <a:ext cx="576072" cy="576072"/>
            <a:chOff x="0" y="0"/>
            <a:chExt cx="768096" cy="768096"/>
          </a:xfrm>
        </p:grpSpPr>
        <p:sp>
          <p:nvSpPr>
            <p:cNvPr name="Freeform 13" id="13"/>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3">
                <a:alphaModFix amt="0"/>
              </a:blip>
              <a:stretch>
                <a:fillRect l="-78303" t="0" r="-78303" b="0"/>
              </a:stretch>
            </a:blipFill>
          </p:spPr>
        </p:sp>
        <p:sp>
          <p:nvSpPr>
            <p:cNvPr name="TextBox 14" id="14"/>
            <p:cNvSpPr txBox="true"/>
            <p:nvPr/>
          </p:nvSpPr>
          <p:spPr>
            <a:xfrm>
              <a:off x="0" y="0"/>
              <a:ext cx="768096" cy="768096"/>
            </a:xfrm>
            <a:prstGeom prst="rect">
              <a:avLst/>
            </a:prstGeom>
          </p:spPr>
          <p:txBody>
            <a:bodyPr anchor="ctr" rtlCol="false" tIns="0" lIns="0" bIns="0" rIns="0"/>
            <a:lstStyle/>
            <a:p>
              <a:pPr algn="ctr">
                <a:lnSpc>
                  <a:spcPts val="2160"/>
                </a:lnSpc>
              </a:pPr>
              <a:r>
                <a:rPr lang="en-US" sz="1800" b="true">
                  <a:solidFill>
                    <a:srgbClr val="FFFFFF"/>
                  </a:solidFill>
                  <a:latin typeface="IBM Plex Sans Bold"/>
                  <a:ea typeface="IBM Plex Sans Bold"/>
                  <a:cs typeface="IBM Plex Sans Bold"/>
                  <a:sym typeface="IBM Plex Sans Bold"/>
                </a:rPr>
                <a:t>1</a:t>
              </a:r>
            </a:p>
          </p:txBody>
        </p:sp>
      </p:grpSp>
      <p:sp>
        <p:nvSpPr>
          <p:cNvPr name="TextBox 15" id="15"/>
          <p:cNvSpPr txBox="true"/>
          <p:nvPr/>
        </p:nvSpPr>
        <p:spPr>
          <a:xfrm rot="0">
            <a:off x="1495044" y="3813048"/>
            <a:ext cx="2468880" cy="822960"/>
          </a:xfrm>
          <a:prstGeom prst="rect">
            <a:avLst/>
          </a:prstGeom>
        </p:spPr>
        <p:txBody>
          <a:bodyPr anchor="t" rtlCol="false" tIns="0" lIns="0" bIns="0" rIns="0">
            <a:spAutoFit/>
          </a:bodyPr>
          <a:lstStyle/>
          <a:p>
            <a:pPr algn="l">
              <a:lnSpc>
                <a:spcPts val="2340"/>
              </a:lnSpc>
            </a:pPr>
            <a:r>
              <a:rPr lang="en-US" sz="1950" b="true">
                <a:solidFill>
                  <a:srgbClr val="14304A"/>
                </a:solidFill>
                <a:latin typeface="IBM Plex Sans Bold"/>
                <a:ea typeface="IBM Plex Sans Bold"/>
                <a:cs typeface="IBM Plex Sans Bold"/>
                <a:sym typeface="IBM Plex Sans Bold"/>
              </a:rPr>
              <a:t>Enrolment</a:t>
            </a:r>
          </a:p>
        </p:txBody>
      </p:sp>
      <p:sp>
        <p:nvSpPr>
          <p:cNvPr name="TextBox 16" id="16"/>
          <p:cNvSpPr txBox="true"/>
          <p:nvPr/>
        </p:nvSpPr>
        <p:spPr>
          <a:xfrm rot="0">
            <a:off x="1495044" y="4653915"/>
            <a:ext cx="2468880" cy="1655445"/>
          </a:xfrm>
          <a:prstGeom prst="rect">
            <a:avLst/>
          </a:prstGeom>
        </p:spPr>
        <p:txBody>
          <a:bodyPr anchor="t" rtlCol="false" tIns="0" lIns="0" bIns="0" rIns="0">
            <a:spAutoFit/>
          </a:bodyPr>
          <a:lstStyle/>
          <a:p>
            <a:pPr algn="l">
              <a:lnSpc>
                <a:spcPts val="1709"/>
              </a:lnSpc>
            </a:pPr>
            <a:r>
              <a:rPr lang="en-US" sz="1425">
                <a:solidFill>
                  <a:srgbClr val="3F4B57"/>
                </a:solidFill>
                <a:latin typeface="IBM Plex Sans"/>
                <a:ea typeface="IBM Plex Sans"/>
                <a:cs typeface="IBM Plex Sans"/>
                <a:sym typeface="IBM Plex Sans"/>
              </a:rPr>
              <a:t>200 adults in 5 villages, reached at the pharmacy counter (93), door-to-door (60) and medical camps (47)</a:t>
            </a:r>
          </a:p>
        </p:txBody>
      </p:sp>
      <p:grpSp>
        <p:nvGrpSpPr>
          <p:cNvPr name="Group 17" id="17"/>
          <p:cNvGrpSpPr/>
          <p:nvPr/>
        </p:nvGrpSpPr>
        <p:grpSpPr>
          <a:xfrm rot="0">
            <a:off x="1485519" y="6642735"/>
            <a:ext cx="2419350" cy="595122"/>
            <a:chOff x="0" y="0"/>
            <a:chExt cx="3225800" cy="793496"/>
          </a:xfrm>
        </p:grpSpPr>
        <p:sp>
          <p:nvSpPr>
            <p:cNvPr name="Freeform 18" id="18"/>
            <p:cNvSpPr/>
            <p:nvPr/>
          </p:nvSpPr>
          <p:spPr>
            <a:xfrm flipH="false" flipV="false" rot="0">
              <a:off x="0" y="0"/>
              <a:ext cx="3225800" cy="793496"/>
            </a:xfrm>
            <a:custGeom>
              <a:avLst/>
              <a:gdLst/>
              <a:ahLst/>
              <a:cxnLst/>
              <a:rect r="r" b="b" t="t" l="l"/>
              <a:pathLst>
                <a:path h="793496" w="3225800">
                  <a:moveTo>
                    <a:pt x="0" y="94488"/>
                  </a:moveTo>
                  <a:cubicBezTo>
                    <a:pt x="0" y="42291"/>
                    <a:pt x="42291" y="0"/>
                    <a:pt x="94488" y="0"/>
                  </a:cubicBezTo>
                  <a:lnTo>
                    <a:pt x="3131312" y="0"/>
                  </a:lnTo>
                  <a:cubicBezTo>
                    <a:pt x="3183509" y="0"/>
                    <a:pt x="3225800" y="42291"/>
                    <a:pt x="3225800" y="94488"/>
                  </a:cubicBezTo>
                  <a:lnTo>
                    <a:pt x="3225800" y="699008"/>
                  </a:lnTo>
                  <a:cubicBezTo>
                    <a:pt x="3225800" y="751205"/>
                    <a:pt x="3183509" y="793496"/>
                    <a:pt x="3131312" y="793496"/>
                  </a:cubicBezTo>
                  <a:lnTo>
                    <a:pt x="94488" y="793496"/>
                  </a:lnTo>
                  <a:cubicBezTo>
                    <a:pt x="42291" y="793496"/>
                    <a:pt x="0" y="751205"/>
                    <a:pt x="0" y="699008"/>
                  </a:cubicBezTo>
                  <a:close/>
                </a:path>
              </a:pathLst>
            </a:custGeom>
            <a:solidFill>
              <a:srgbClr val="14304A"/>
            </a:solidFill>
            <a:ln w="19050" cap="sq">
              <a:solidFill>
                <a:srgbClr val="14304A"/>
              </a:solidFill>
              <a:prstDash val="solid"/>
              <a:miter/>
            </a:ln>
          </p:spPr>
        </p:sp>
      </p:grpSp>
      <p:grpSp>
        <p:nvGrpSpPr>
          <p:cNvPr name="Group 19" id="19"/>
          <p:cNvGrpSpPr/>
          <p:nvPr/>
        </p:nvGrpSpPr>
        <p:grpSpPr>
          <a:xfrm rot="0">
            <a:off x="1495044" y="6652260"/>
            <a:ext cx="2400300" cy="576072"/>
            <a:chOff x="0" y="0"/>
            <a:chExt cx="3200400" cy="768096"/>
          </a:xfrm>
        </p:grpSpPr>
        <p:sp>
          <p:nvSpPr>
            <p:cNvPr name="Freeform 20" id="20"/>
            <p:cNvSpPr/>
            <p:nvPr/>
          </p:nvSpPr>
          <p:spPr>
            <a:xfrm flipH="false" flipV="false" rot="0">
              <a:off x="0" y="0"/>
              <a:ext cx="3200400" cy="768096"/>
            </a:xfrm>
            <a:custGeom>
              <a:avLst/>
              <a:gdLst/>
              <a:ahLst/>
              <a:cxnLst/>
              <a:rect r="r" b="b" t="t" l="l"/>
              <a:pathLst>
                <a:path h="768096" w="3200400">
                  <a:moveTo>
                    <a:pt x="0" y="0"/>
                  </a:moveTo>
                  <a:lnTo>
                    <a:pt x="3200400" y="0"/>
                  </a:lnTo>
                  <a:lnTo>
                    <a:pt x="3200400" y="768096"/>
                  </a:lnTo>
                  <a:lnTo>
                    <a:pt x="0" y="768096"/>
                  </a:lnTo>
                  <a:close/>
                </a:path>
              </a:pathLst>
            </a:custGeom>
            <a:blipFill>
              <a:blip r:embed="rId3">
                <a:alphaModFix amt="0"/>
              </a:blip>
              <a:stretch>
                <a:fillRect l="0" t="-31187" r="0" b="-31187"/>
              </a:stretch>
            </a:blipFill>
          </p:spPr>
        </p:sp>
        <p:sp>
          <p:nvSpPr>
            <p:cNvPr name="TextBox 21" id="21"/>
            <p:cNvSpPr txBox="true"/>
            <p:nvPr/>
          </p:nvSpPr>
          <p:spPr>
            <a:xfrm>
              <a:off x="0" y="0"/>
              <a:ext cx="3200400" cy="768096"/>
            </a:xfrm>
            <a:prstGeom prst="rect">
              <a:avLst/>
            </a:prstGeom>
          </p:spPr>
          <p:txBody>
            <a:bodyPr anchor="ctr" rtlCol="false" tIns="0" lIns="0" bIns="0" rIns="0"/>
            <a:lstStyle/>
            <a:p>
              <a:pPr algn="ctr">
                <a:lnSpc>
                  <a:spcPts val="1980"/>
                </a:lnSpc>
              </a:pPr>
              <a:r>
                <a:rPr lang="en-US" sz="1650" b="true">
                  <a:solidFill>
                    <a:srgbClr val="FFFFFF"/>
                  </a:solidFill>
                  <a:latin typeface="IBM Plex Sans Bold"/>
                  <a:ea typeface="IBM Plex Sans Bold"/>
                  <a:cs typeface="IBM Plex Sans Bold"/>
                  <a:sym typeface="IBM Plex Sans Bold"/>
                </a:rPr>
                <a:t>200 people</a:t>
              </a:r>
            </a:p>
          </p:txBody>
        </p:sp>
      </p:grpSp>
      <p:grpSp>
        <p:nvGrpSpPr>
          <p:cNvPr name="Group 22" id="22"/>
          <p:cNvGrpSpPr/>
          <p:nvPr/>
        </p:nvGrpSpPr>
        <p:grpSpPr>
          <a:xfrm rot="0">
            <a:off x="4187571" y="4379595"/>
            <a:ext cx="238506" cy="430530"/>
            <a:chOff x="0" y="0"/>
            <a:chExt cx="318008" cy="574040"/>
          </a:xfrm>
        </p:grpSpPr>
        <p:sp>
          <p:nvSpPr>
            <p:cNvPr name="Freeform 23" id="23"/>
            <p:cNvSpPr/>
            <p:nvPr/>
          </p:nvSpPr>
          <p:spPr>
            <a:xfrm flipH="false" flipV="false" rot="0">
              <a:off x="0" y="0"/>
              <a:ext cx="318008" cy="574040"/>
            </a:xfrm>
            <a:custGeom>
              <a:avLst/>
              <a:gdLst/>
              <a:ahLst/>
              <a:cxnLst/>
              <a:rect r="r" b="b" t="t" l="l"/>
              <a:pathLst>
                <a:path h="574040" w="318008">
                  <a:moveTo>
                    <a:pt x="0" y="143510"/>
                  </a:moveTo>
                  <a:lnTo>
                    <a:pt x="159004" y="143510"/>
                  </a:lnTo>
                  <a:lnTo>
                    <a:pt x="159004" y="0"/>
                  </a:lnTo>
                  <a:lnTo>
                    <a:pt x="318008" y="287020"/>
                  </a:lnTo>
                  <a:lnTo>
                    <a:pt x="159004" y="574040"/>
                  </a:lnTo>
                  <a:lnTo>
                    <a:pt x="159004" y="430530"/>
                  </a:lnTo>
                  <a:lnTo>
                    <a:pt x="0" y="430530"/>
                  </a:lnTo>
                  <a:close/>
                </a:path>
              </a:pathLst>
            </a:custGeom>
            <a:solidFill>
              <a:srgbClr val="A9C3C8"/>
            </a:solidFill>
            <a:ln w="19050" cap="sq">
              <a:solidFill>
                <a:srgbClr val="A9C3C8"/>
              </a:solidFill>
              <a:prstDash val="solid"/>
              <a:miter/>
            </a:ln>
          </p:spPr>
        </p:sp>
      </p:grpSp>
      <p:grpSp>
        <p:nvGrpSpPr>
          <p:cNvPr name="Group 24" id="24"/>
          <p:cNvGrpSpPr/>
          <p:nvPr/>
        </p:nvGrpSpPr>
        <p:grpSpPr>
          <a:xfrm rot="0">
            <a:off x="4436840" y="2804636"/>
            <a:ext cx="2963228" cy="3580447"/>
            <a:chOff x="0" y="0"/>
            <a:chExt cx="3950970" cy="4773930"/>
          </a:xfrm>
        </p:grpSpPr>
        <p:sp>
          <p:nvSpPr>
            <p:cNvPr name="Freeform 25" id="25"/>
            <p:cNvSpPr/>
            <p:nvPr/>
          </p:nvSpPr>
          <p:spPr>
            <a:xfrm flipH="false" flipV="false" rot="0">
              <a:off x="0" y="0"/>
              <a:ext cx="3950970" cy="4773930"/>
            </a:xfrm>
            <a:custGeom>
              <a:avLst/>
              <a:gdLst/>
              <a:ahLst/>
              <a:cxnLst/>
              <a:rect r="r" b="b" t="t" l="l"/>
              <a:pathLst>
                <a:path h="4773930" w="3950970">
                  <a:moveTo>
                    <a:pt x="0" y="147066"/>
                  </a:moveTo>
                  <a:cubicBezTo>
                    <a:pt x="0" y="65786"/>
                    <a:pt x="65786" y="0"/>
                    <a:pt x="147066" y="0"/>
                  </a:cubicBezTo>
                  <a:lnTo>
                    <a:pt x="3803904" y="0"/>
                  </a:lnTo>
                  <a:cubicBezTo>
                    <a:pt x="3885057" y="0"/>
                    <a:pt x="3950970" y="65786"/>
                    <a:pt x="3950970" y="147066"/>
                  </a:cubicBezTo>
                  <a:lnTo>
                    <a:pt x="3950970" y="4626864"/>
                  </a:lnTo>
                  <a:cubicBezTo>
                    <a:pt x="3950970" y="4708017"/>
                    <a:pt x="3885184" y="4773930"/>
                    <a:pt x="3803904" y="4773930"/>
                  </a:cubicBezTo>
                  <a:lnTo>
                    <a:pt x="147066" y="4773930"/>
                  </a:lnTo>
                  <a:cubicBezTo>
                    <a:pt x="65786" y="4773930"/>
                    <a:pt x="0" y="4708144"/>
                    <a:pt x="0" y="4626864"/>
                  </a:cubicBezTo>
                  <a:close/>
                </a:path>
              </a:pathLst>
            </a:custGeom>
            <a:solidFill>
              <a:srgbClr val="FDFDFB"/>
            </a:solidFill>
            <a:ln w="14288" cap="sq">
              <a:solidFill>
                <a:srgbClr val="D3DCD9"/>
              </a:solidFill>
              <a:prstDash val="solid"/>
              <a:miter/>
            </a:ln>
          </p:spPr>
        </p:sp>
      </p:grpSp>
      <p:grpSp>
        <p:nvGrpSpPr>
          <p:cNvPr name="Group 26" id="26"/>
          <p:cNvGrpSpPr/>
          <p:nvPr/>
        </p:nvGrpSpPr>
        <p:grpSpPr>
          <a:xfrm rot="0">
            <a:off x="4708779" y="3076575"/>
            <a:ext cx="595122" cy="595122"/>
            <a:chOff x="0" y="0"/>
            <a:chExt cx="793496" cy="793496"/>
          </a:xfrm>
        </p:grpSpPr>
        <p:sp>
          <p:nvSpPr>
            <p:cNvPr name="Freeform 27" id="27"/>
            <p:cNvSpPr/>
            <p:nvPr/>
          </p:nvSpPr>
          <p:spPr>
            <a:xfrm flipH="false" flipV="false" rot="0">
              <a:off x="0" y="0"/>
              <a:ext cx="793496" cy="793496"/>
            </a:xfrm>
            <a:custGeom>
              <a:avLst/>
              <a:gdLst/>
              <a:ahLst/>
              <a:cxnLst/>
              <a:rect r="r" b="b" t="t" l="l"/>
              <a:pathLst>
                <a:path h="793496" w="793496">
                  <a:moveTo>
                    <a:pt x="0" y="396748"/>
                  </a:moveTo>
                  <a:cubicBezTo>
                    <a:pt x="0" y="177673"/>
                    <a:pt x="177673" y="0"/>
                    <a:pt x="396748" y="0"/>
                  </a:cubicBezTo>
                  <a:cubicBezTo>
                    <a:pt x="615823" y="0"/>
                    <a:pt x="793496" y="177673"/>
                    <a:pt x="793496" y="396748"/>
                  </a:cubicBezTo>
                  <a:cubicBezTo>
                    <a:pt x="793496" y="615823"/>
                    <a:pt x="615823" y="793496"/>
                    <a:pt x="396748" y="793496"/>
                  </a:cubicBezTo>
                  <a:cubicBezTo>
                    <a:pt x="177673" y="793496"/>
                    <a:pt x="0" y="615823"/>
                    <a:pt x="0" y="396748"/>
                  </a:cubicBezTo>
                  <a:close/>
                </a:path>
              </a:pathLst>
            </a:custGeom>
            <a:solidFill>
              <a:srgbClr val="0B6E60"/>
            </a:solidFill>
            <a:ln w="19050" cap="sq">
              <a:solidFill>
                <a:srgbClr val="0B6E60"/>
              </a:solidFill>
              <a:prstDash val="solid"/>
              <a:miter/>
            </a:ln>
          </p:spPr>
        </p:sp>
      </p:grpSp>
      <p:grpSp>
        <p:nvGrpSpPr>
          <p:cNvPr name="Group 28" id="28"/>
          <p:cNvGrpSpPr/>
          <p:nvPr/>
        </p:nvGrpSpPr>
        <p:grpSpPr>
          <a:xfrm rot="0">
            <a:off x="4718304" y="3086100"/>
            <a:ext cx="576072" cy="576072"/>
            <a:chOff x="0" y="0"/>
            <a:chExt cx="768096" cy="768096"/>
          </a:xfrm>
        </p:grpSpPr>
        <p:sp>
          <p:nvSpPr>
            <p:cNvPr name="Freeform 29" id="29"/>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3">
                <a:alphaModFix amt="0"/>
              </a:blip>
              <a:stretch>
                <a:fillRect l="-78303" t="0" r="-78303" b="0"/>
              </a:stretch>
            </a:blipFill>
          </p:spPr>
        </p:sp>
        <p:sp>
          <p:nvSpPr>
            <p:cNvPr name="TextBox 30" id="30"/>
            <p:cNvSpPr txBox="true"/>
            <p:nvPr/>
          </p:nvSpPr>
          <p:spPr>
            <a:xfrm>
              <a:off x="0" y="0"/>
              <a:ext cx="768096" cy="768096"/>
            </a:xfrm>
            <a:prstGeom prst="rect">
              <a:avLst/>
            </a:prstGeom>
          </p:spPr>
          <p:txBody>
            <a:bodyPr anchor="ctr" rtlCol="false" tIns="0" lIns="0" bIns="0" rIns="0"/>
            <a:lstStyle/>
            <a:p>
              <a:pPr algn="ctr">
                <a:lnSpc>
                  <a:spcPts val="2160"/>
                </a:lnSpc>
              </a:pPr>
              <a:r>
                <a:rPr lang="en-US" sz="1800" b="true">
                  <a:solidFill>
                    <a:srgbClr val="FFFFFF"/>
                  </a:solidFill>
                  <a:latin typeface="IBM Plex Sans Bold"/>
                  <a:ea typeface="IBM Plex Sans Bold"/>
                  <a:cs typeface="IBM Plex Sans Bold"/>
                  <a:sym typeface="IBM Plex Sans Bold"/>
                </a:rPr>
                <a:t>2</a:t>
              </a:r>
            </a:p>
          </p:txBody>
        </p:sp>
      </p:grpSp>
      <p:sp>
        <p:nvSpPr>
          <p:cNvPr name="TextBox 31" id="31"/>
          <p:cNvSpPr txBox="true"/>
          <p:nvPr/>
        </p:nvSpPr>
        <p:spPr>
          <a:xfrm rot="0">
            <a:off x="4718304" y="3813048"/>
            <a:ext cx="2468880" cy="822960"/>
          </a:xfrm>
          <a:prstGeom prst="rect">
            <a:avLst/>
          </a:prstGeom>
        </p:spPr>
        <p:txBody>
          <a:bodyPr anchor="t" rtlCol="false" tIns="0" lIns="0" bIns="0" rIns="0">
            <a:spAutoFit/>
          </a:bodyPr>
          <a:lstStyle/>
          <a:p>
            <a:pPr algn="l">
              <a:lnSpc>
                <a:spcPts val="2340"/>
              </a:lnSpc>
            </a:pPr>
            <a:r>
              <a:rPr lang="en-US" sz="1950" b="true">
                <a:solidFill>
                  <a:srgbClr val="14304A"/>
                </a:solidFill>
                <a:latin typeface="IBM Plex Sans Bold"/>
                <a:ea typeface="IBM Plex Sans Bold"/>
                <a:cs typeface="IBM Plex Sans Bold"/>
                <a:sym typeface="IBM Plex Sans Bold"/>
              </a:rPr>
              <a:t>Baseline survey</a:t>
            </a:r>
          </a:p>
        </p:txBody>
      </p:sp>
      <p:sp>
        <p:nvSpPr>
          <p:cNvPr name="TextBox 32" id="32"/>
          <p:cNvSpPr txBox="true"/>
          <p:nvPr/>
        </p:nvSpPr>
        <p:spPr>
          <a:xfrm rot="0">
            <a:off x="4718304" y="4653915"/>
            <a:ext cx="2468880" cy="1655445"/>
          </a:xfrm>
          <a:prstGeom prst="rect">
            <a:avLst/>
          </a:prstGeom>
        </p:spPr>
        <p:txBody>
          <a:bodyPr anchor="t" rtlCol="false" tIns="0" lIns="0" bIns="0" rIns="0">
            <a:spAutoFit/>
          </a:bodyPr>
          <a:lstStyle/>
          <a:p>
            <a:pPr algn="l">
              <a:lnSpc>
                <a:spcPts val="1709"/>
              </a:lnSpc>
            </a:pPr>
            <a:r>
              <a:rPr lang="en-US" sz="1425">
                <a:solidFill>
                  <a:srgbClr val="3F4B57"/>
                </a:solidFill>
                <a:latin typeface="IBM Plex Sans"/>
                <a:ea typeface="IBM Plex Sans"/>
                <a:cs typeface="IBM Plex Sans"/>
                <a:sym typeface="IBM Plex Sans"/>
              </a:rPr>
              <a:t>8-item knowledge questionnaire plus 5 questions on antibiotic practices in the last 3 months</a:t>
            </a:r>
          </a:p>
        </p:txBody>
      </p:sp>
      <p:grpSp>
        <p:nvGrpSpPr>
          <p:cNvPr name="Group 33" id="33"/>
          <p:cNvGrpSpPr/>
          <p:nvPr/>
        </p:nvGrpSpPr>
        <p:grpSpPr>
          <a:xfrm rot="0">
            <a:off x="4708779" y="6642735"/>
            <a:ext cx="2419350" cy="595122"/>
            <a:chOff x="0" y="0"/>
            <a:chExt cx="3225800" cy="793496"/>
          </a:xfrm>
        </p:grpSpPr>
        <p:sp>
          <p:nvSpPr>
            <p:cNvPr name="Freeform 34" id="34"/>
            <p:cNvSpPr/>
            <p:nvPr/>
          </p:nvSpPr>
          <p:spPr>
            <a:xfrm flipH="false" flipV="false" rot="0">
              <a:off x="0" y="0"/>
              <a:ext cx="3225800" cy="793496"/>
            </a:xfrm>
            <a:custGeom>
              <a:avLst/>
              <a:gdLst/>
              <a:ahLst/>
              <a:cxnLst/>
              <a:rect r="r" b="b" t="t" l="l"/>
              <a:pathLst>
                <a:path h="793496" w="3225800">
                  <a:moveTo>
                    <a:pt x="0" y="94488"/>
                  </a:moveTo>
                  <a:cubicBezTo>
                    <a:pt x="0" y="42291"/>
                    <a:pt x="42291" y="0"/>
                    <a:pt x="94488" y="0"/>
                  </a:cubicBezTo>
                  <a:lnTo>
                    <a:pt x="3131312" y="0"/>
                  </a:lnTo>
                  <a:cubicBezTo>
                    <a:pt x="3183509" y="0"/>
                    <a:pt x="3225800" y="42291"/>
                    <a:pt x="3225800" y="94488"/>
                  </a:cubicBezTo>
                  <a:lnTo>
                    <a:pt x="3225800" y="699008"/>
                  </a:lnTo>
                  <a:cubicBezTo>
                    <a:pt x="3225800" y="751205"/>
                    <a:pt x="3183509" y="793496"/>
                    <a:pt x="3131312" y="793496"/>
                  </a:cubicBezTo>
                  <a:lnTo>
                    <a:pt x="94488" y="793496"/>
                  </a:lnTo>
                  <a:cubicBezTo>
                    <a:pt x="42291" y="793496"/>
                    <a:pt x="0" y="751205"/>
                    <a:pt x="0" y="699008"/>
                  </a:cubicBezTo>
                  <a:close/>
                </a:path>
              </a:pathLst>
            </a:custGeom>
            <a:solidFill>
              <a:srgbClr val="0B6E60"/>
            </a:solidFill>
            <a:ln w="19050" cap="sq">
              <a:solidFill>
                <a:srgbClr val="0B6E60"/>
              </a:solidFill>
              <a:prstDash val="solid"/>
              <a:miter/>
            </a:ln>
          </p:spPr>
        </p:sp>
      </p:grpSp>
      <p:grpSp>
        <p:nvGrpSpPr>
          <p:cNvPr name="Group 35" id="35"/>
          <p:cNvGrpSpPr/>
          <p:nvPr/>
        </p:nvGrpSpPr>
        <p:grpSpPr>
          <a:xfrm rot="0">
            <a:off x="4718304" y="6652260"/>
            <a:ext cx="2400300" cy="576072"/>
            <a:chOff x="0" y="0"/>
            <a:chExt cx="3200400" cy="768096"/>
          </a:xfrm>
        </p:grpSpPr>
        <p:sp>
          <p:nvSpPr>
            <p:cNvPr name="Freeform 36" id="36"/>
            <p:cNvSpPr/>
            <p:nvPr/>
          </p:nvSpPr>
          <p:spPr>
            <a:xfrm flipH="false" flipV="false" rot="0">
              <a:off x="0" y="0"/>
              <a:ext cx="3200400" cy="768096"/>
            </a:xfrm>
            <a:custGeom>
              <a:avLst/>
              <a:gdLst/>
              <a:ahLst/>
              <a:cxnLst/>
              <a:rect r="r" b="b" t="t" l="l"/>
              <a:pathLst>
                <a:path h="768096" w="3200400">
                  <a:moveTo>
                    <a:pt x="0" y="0"/>
                  </a:moveTo>
                  <a:lnTo>
                    <a:pt x="3200400" y="0"/>
                  </a:lnTo>
                  <a:lnTo>
                    <a:pt x="3200400" y="768096"/>
                  </a:lnTo>
                  <a:lnTo>
                    <a:pt x="0" y="768096"/>
                  </a:lnTo>
                  <a:close/>
                </a:path>
              </a:pathLst>
            </a:custGeom>
            <a:blipFill>
              <a:blip r:embed="rId3">
                <a:alphaModFix amt="0"/>
              </a:blip>
              <a:stretch>
                <a:fillRect l="0" t="-31187" r="0" b="-31187"/>
              </a:stretch>
            </a:blipFill>
          </p:spPr>
        </p:sp>
        <p:sp>
          <p:nvSpPr>
            <p:cNvPr name="TextBox 37" id="37"/>
            <p:cNvSpPr txBox="true"/>
            <p:nvPr/>
          </p:nvSpPr>
          <p:spPr>
            <a:xfrm>
              <a:off x="0" y="0"/>
              <a:ext cx="3200400" cy="768096"/>
            </a:xfrm>
            <a:prstGeom prst="rect">
              <a:avLst/>
            </a:prstGeom>
          </p:spPr>
          <p:txBody>
            <a:bodyPr anchor="ctr" rtlCol="false" tIns="0" lIns="0" bIns="0" rIns="0"/>
            <a:lstStyle/>
            <a:p>
              <a:pPr algn="ctr">
                <a:lnSpc>
                  <a:spcPts val="1980"/>
                </a:lnSpc>
              </a:pPr>
              <a:r>
                <a:rPr lang="en-US" sz="1650" b="true">
                  <a:solidFill>
                    <a:srgbClr val="FFFFFF"/>
                  </a:solidFill>
                  <a:latin typeface="IBM Plex Sans Bold"/>
                  <a:ea typeface="IBM Plex Sans Bold"/>
                  <a:cs typeface="IBM Plex Sans Bold"/>
                  <a:sym typeface="IBM Plex Sans Bold"/>
                </a:rPr>
                <a:t>39% correct</a:t>
              </a:r>
            </a:p>
          </p:txBody>
        </p:sp>
      </p:grpSp>
      <p:grpSp>
        <p:nvGrpSpPr>
          <p:cNvPr name="Group 38" id="38"/>
          <p:cNvGrpSpPr/>
          <p:nvPr/>
        </p:nvGrpSpPr>
        <p:grpSpPr>
          <a:xfrm rot="0">
            <a:off x="7410831" y="4379595"/>
            <a:ext cx="238506" cy="430530"/>
            <a:chOff x="0" y="0"/>
            <a:chExt cx="318008" cy="574040"/>
          </a:xfrm>
        </p:grpSpPr>
        <p:sp>
          <p:nvSpPr>
            <p:cNvPr name="Freeform 39" id="39"/>
            <p:cNvSpPr/>
            <p:nvPr/>
          </p:nvSpPr>
          <p:spPr>
            <a:xfrm flipH="false" flipV="false" rot="0">
              <a:off x="0" y="0"/>
              <a:ext cx="318008" cy="574040"/>
            </a:xfrm>
            <a:custGeom>
              <a:avLst/>
              <a:gdLst/>
              <a:ahLst/>
              <a:cxnLst/>
              <a:rect r="r" b="b" t="t" l="l"/>
              <a:pathLst>
                <a:path h="574040" w="318008">
                  <a:moveTo>
                    <a:pt x="0" y="143510"/>
                  </a:moveTo>
                  <a:lnTo>
                    <a:pt x="159004" y="143510"/>
                  </a:lnTo>
                  <a:lnTo>
                    <a:pt x="159004" y="0"/>
                  </a:lnTo>
                  <a:lnTo>
                    <a:pt x="318008" y="287020"/>
                  </a:lnTo>
                  <a:lnTo>
                    <a:pt x="159004" y="574040"/>
                  </a:lnTo>
                  <a:lnTo>
                    <a:pt x="159004" y="430530"/>
                  </a:lnTo>
                  <a:lnTo>
                    <a:pt x="0" y="430530"/>
                  </a:lnTo>
                  <a:close/>
                </a:path>
              </a:pathLst>
            </a:custGeom>
            <a:solidFill>
              <a:srgbClr val="A9C3C8"/>
            </a:solidFill>
            <a:ln w="19050" cap="sq">
              <a:solidFill>
                <a:srgbClr val="A9C3C8"/>
              </a:solidFill>
              <a:prstDash val="solid"/>
              <a:miter/>
            </a:ln>
          </p:spPr>
        </p:sp>
      </p:grpSp>
      <p:grpSp>
        <p:nvGrpSpPr>
          <p:cNvPr name="Group 40" id="40"/>
          <p:cNvGrpSpPr/>
          <p:nvPr/>
        </p:nvGrpSpPr>
        <p:grpSpPr>
          <a:xfrm rot="0">
            <a:off x="7660100" y="2804636"/>
            <a:ext cx="2963228" cy="3580447"/>
            <a:chOff x="0" y="0"/>
            <a:chExt cx="3950970" cy="4773930"/>
          </a:xfrm>
        </p:grpSpPr>
        <p:sp>
          <p:nvSpPr>
            <p:cNvPr name="Freeform 41" id="41"/>
            <p:cNvSpPr/>
            <p:nvPr/>
          </p:nvSpPr>
          <p:spPr>
            <a:xfrm flipH="false" flipV="false" rot="0">
              <a:off x="0" y="0"/>
              <a:ext cx="3950970" cy="4773930"/>
            </a:xfrm>
            <a:custGeom>
              <a:avLst/>
              <a:gdLst/>
              <a:ahLst/>
              <a:cxnLst/>
              <a:rect r="r" b="b" t="t" l="l"/>
              <a:pathLst>
                <a:path h="4773930" w="3950970">
                  <a:moveTo>
                    <a:pt x="0" y="147066"/>
                  </a:moveTo>
                  <a:cubicBezTo>
                    <a:pt x="0" y="65786"/>
                    <a:pt x="65786" y="0"/>
                    <a:pt x="147066" y="0"/>
                  </a:cubicBezTo>
                  <a:lnTo>
                    <a:pt x="3803904" y="0"/>
                  </a:lnTo>
                  <a:cubicBezTo>
                    <a:pt x="3885057" y="0"/>
                    <a:pt x="3950970" y="65786"/>
                    <a:pt x="3950970" y="147066"/>
                  </a:cubicBezTo>
                  <a:lnTo>
                    <a:pt x="3950970" y="4626864"/>
                  </a:lnTo>
                  <a:cubicBezTo>
                    <a:pt x="3950970" y="4708017"/>
                    <a:pt x="3885184" y="4773930"/>
                    <a:pt x="3803904" y="4773930"/>
                  </a:cubicBezTo>
                  <a:lnTo>
                    <a:pt x="147066" y="4773930"/>
                  </a:lnTo>
                  <a:cubicBezTo>
                    <a:pt x="65786" y="4773930"/>
                    <a:pt x="0" y="4708144"/>
                    <a:pt x="0" y="4626864"/>
                  </a:cubicBezTo>
                  <a:close/>
                </a:path>
              </a:pathLst>
            </a:custGeom>
            <a:solidFill>
              <a:srgbClr val="FDFDFB"/>
            </a:solidFill>
            <a:ln w="14288" cap="sq">
              <a:solidFill>
                <a:srgbClr val="D3DCD9"/>
              </a:solidFill>
              <a:prstDash val="solid"/>
              <a:miter/>
            </a:ln>
          </p:spPr>
        </p:sp>
      </p:grpSp>
      <p:grpSp>
        <p:nvGrpSpPr>
          <p:cNvPr name="Group 42" id="42"/>
          <p:cNvGrpSpPr/>
          <p:nvPr/>
        </p:nvGrpSpPr>
        <p:grpSpPr>
          <a:xfrm rot="0">
            <a:off x="7932039" y="3076575"/>
            <a:ext cx="595122" cy="595122"/>
            <a:chOff x="0" y="0"/>
            <a:chExt cx="793496" cy="793496"/>
          </a:xfrm>
        </p:grpSpPr>
        <p:sp>
          <p:nvSpPr>
            <p:cNvPr name="Freeform 43" id="43"/>
            <p:cNvSpPr/>
            <p:nvPr/>
          </p:nvSpPr>
          <p:spPr>
            <a:xfrm flipH="false" flipV="false" rot="0">
              <a:off x="0" y="0"/>
              <a:ext cx="793496" cy="793496"/>
            </a:xfrm>
            <a:custGeom>
              <a:avLst/>
              <a:gdLst/>
              <a:ahLst/>
              <a:cxnLst/>
              <a:rect r="r" b="b" t="t" l="l"/>
              <a:pathLst>
                <a:path h="793496" w="793496">
                  <a:moveTo>
                    <a:pt x="0" y="396748"/>
                  </a:moveTo>
                  <a:cubicBezTo>
                    <a:pt x="0" y="177673"/>
                    <a:pt x="177673" y="0"/>
                    <a:pt x="396748" y="0"/>
                  </a:cubicBezTo>
                  <a:cubicBezTo>
                    <a:pt x="615823" y="0"/>
                    <a:pt x="793496" y="177673"/>
                    <a:pt x="793496" y="396748"/>
                  </a:cubicBezTo>
                  <a:cubicBezTo>
                    <a:pt x="793496" y="615823"/>
                    <a:pt x="615823" y="793496"/>
                    <a:pt x="396748" y="793496"/>
                  </a:cubicBezTo>
                  <a:cubicBezTo>
                    <a:pt x="177673" y="793496"/>
                    <a:pt x="0" y="615823"/>
                    <a:pt x="0" y="396748"/>
                  </a:cubicBezTo>
                  <a:close/>
                </a:path>
              </a:pathLst>
            </a:custGeom>
            <a:solidFill>
              <a:srgbClr val="0B6E60"/>
            </a:solidFill>
            <a:ln w="19050" cap="sq">
              <a:solidFill>
                <a:srgbClr val="0B6E60"/>
              </a:solidFill>
              <a:prstDash val="solid"/>
              <a:miter/>
            </a:ln>
          </p:spPr>
        </p:sp>
      </p:grpSp>
      <p:grpSp>
        <p:nvGrpSpPr>
          <p:cNvPr name="Group 44" id="44"/>
          <p:cNvGrpSpPr/>
          <p:nvPr/>
        </p:nvGrpSpPr>
        <p:grpSpPr>
          <a:xfrm rot="0">
            <a:off x="7941564" y="3086100"/>
            <a:ext cx="576072" cy="576072"/>
            <a:chOff x="0" y="0"/>
            <a:chExt cx="768096" cy="768096"/>
          </a:xfrm>
        </p:grpSpPr>
        <p:sp>
          <p:nvSpPr>
            <p:cNvPr name="Freeform 45" id="45"/>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3">
                <a:alphaModFix amt="0"/>
              </a:blip>
              <a:stretch>
                <a:fillRect l="-78303" t="0" r="-78303" b="0"/>
              </a:stretch>
            </a:blipFill>
          </p:spPr>
        </p:sp>
        <p:sp>
          <p:nvSpPr>
            <p:cNvPr name="TextBox 46" id="46"/>
            <p:cNvSpPr txBox="true"/>
            <p:nvPr/>
          </p:nvSpPr>
          <p:spPr>
            <a:xfrm>
              <a:off x="0" y="0"/>
              <a:ext cx="768096" cy="768096"/>
            </a:xfrm>
            <a:prstGeom prst="rect">
              <a:avLst/>
            </a:prstGeom>
          </p:spPr>
          <p:txBody>
            <a:bodyPr anchor="ctr" rtlCol="false" tIns="0" lIns="0" bIns="0" rIns="0"/>
            <a:lstStyle/>
            <a:p>
              <a:pPr algn="ctr">
                <a:lnSpc>
                  <a:spcPts val="2160"/>
                </a:lnSpc>
              </a:pPr>
              <a:r>
                <a:rPr lang="en-US" sz="1800" b="true">
                  <a:solidFill>
                    <a:srgbClr val="FFFFFF"/>
                  </a:solidFill>
                  <a:latin typeface="IBM Plex Sans Bold"/>
                  <a:ea typeface="IBM Plex Sans Bold"/>
                  <a:cs typeface="IBM Plex Sans Bold"/>
                  <a:sym typeface="IBM Plex Sans Bold"/>
                </a:rPr>
                <a:t>3</a:t>
              </a:r>
            </a:p>
          </p:txBody>
        </p:sp>
      </p:grpSp>
      <p:sp>
        <p:nvSpPr>
          <p:cNvPr name="TextBox 47" id="47"/>
          <p:cNvSpPr txBox="true"/>
          <p:nvPr/>
        </p:nvSpPr>
        <p:spPr>
          <a:xfrm rot="0">
            <a:off x="7941564" y="3813048"/>
            <a:ext cx="2468880" cy="822960"/>
          </a:xfrm>
          <a:prstGeom prst="rect">
            <a:avLst/>
          </a:prstGeom>
        </p:spPr>
        <p:txBody>
          <a:bodyPr anchor="t" rtlCol="false" tIns="0" lIns="0" bIns="0" rIns="0">
            <a:spAutoFit/>
          </a:bodyPr>
          <a:lstStyle/>
          <a:p>
            <a:pPr algn="l">
              <a:lnSpc>
                <a:spcPts val="2340"/>
              </a:lnSpc>
            </a:pPr>
            <a:r>
              <a:rPr lang="en-US" sz="1950" b="true">
                <a:solidFill>
                  <a:srgbClr val="14304A"/>
                </a:solidFill>
                <a:latin typeface="IBM Plex Sans Bold"/>
                <a:ea typeface="IBM Plex Sans Bold"/>
                <a:cs typeface="IBM Plex Sans Bold"/>
                <a:sym typeface="IBM Plex Sans Bold"/>
              </a:rPr>
              <a:t>Education contact</a:t>
            </a:r>
          </a:p>
        </p:txBody>
      </p:sp>
      <p:sp>
        <p:nvSpPr>
          <p:cNvPr name="TextBox 48" id="48"/>
          <p:cNvSpPr txBox="true"/>
          <p:nvPr/>
        </p:nvSpPr>
        <p:spPr>
          <a:xfrm rot="0">
            <a:off x="7941564" y="4653915"/>
            <a:ext cx="2468880" cy="1655445"/>
          </a:xfrm>
          <a:prstGeom prst="rect">
            <a:avLst/>
          </a:prstGeom>
        </p:spPr>
        <p:txBody>
          <a:bodyPr anchor="t" rtlCol="false" tIns="0" lIns="0" bIns="0" rIns="0">
            <a:spAutoFit/>
          </a:bodyPr>
          <a:lstStyle/>
          <a:p>
            <a:pPr algn="l">
              <a:lnSpc>
                <a:spcPts val="1709"/>
              </a:lnSpc>
            </a:pPr>
            <a:r>
              <a:rPr lang="en-US" sz="1425">
                <a:solidFill>
                  <a:srgbClr val="3F4B57"/>
                </a:solidFill>
                <a:latin typeface="IBM Plex Sans"/>
                <a:ea typeface="IBM Plex Sans"/>
                <a:cs typeface="IBM Plex Sans"/>
                <a:sym typeface="IBM Plex Sans"/>
              </a:rPr>
              <a:t>Counselling, flyer, poster and camp talk: the four golden rules and the myths</a:t>
            </a:r>
          </a:p>
        </p:txBody>
      </p:sp>
      <p:grpSp>
        <p:nvGrpSpPr>
          <p:cNvPr name="Group 49" id="49"/>
          <p:cNvGrpSpPr/>
          <p:nvPr/>
        </p:nvGrpSpPr>
        <p:grpSpPr>
          <a:xfrm rot="0">
            <a:off x="7932039" y="6642735"/>
            <a:ext cx="2419350" cy="595122"/>
            <a:chOff x="0" y="0"/>
            <a:chExt cx="3225800" cy="793496"/>
          </a:xfrm>
        </p:grpSpPr>
        <p:sp>
          <p:nvSpPr>
            <p:cNvPr name="Freeform 50" id="50"/>
            <p:cNvSpPr/>
            <p:nvPr/>
          </p:nvSpPr>
          <p:spPr>
            <a:xfrm flipH="false" flipV="false" rot="0">
              <a:off x="0" y="0"/>
              <a:ext cx="3225800" cy="793496"/>
            </a:xfrm>
            <a:custGeom>
              <a:avLst/>
              <a:gdLst/>
              <a:ahLst/>
              <a:cxnLst/>
              <a:rect r="r" b="b" t="t" l="l"/>
              <a:pathLst>
                <a:path h="793496" w="3225800">
                  <a:moveTo>
                    <a:pt x="0" y="94488"/>
                  </a:moveTo>
                  <a:cubicBezTo>
                    <a:pt x="0" y="42291"/>
                    <a:pt x="42291" y="0"/>
                    <a:pt x="94488" y="0"/>
                  </a:cubicBezTo>
                  <a:lnTo>
                    <a:pt x="3131312" y="0"/>
                  </a:lnTo>
                  <a:cubicBezTo>
                    <a:pt x="3183509" y="0"/>
                    <a:pt x="3225800" y="42291"/>
                    <a:pt x="3225800" y="94488"/>
                  </a:cubicBezTo>
                  <a:lnTo>
                    <a:pt x="3225800" y="699008"/>
                  </a:lnTo>
                  <a:cubicBezTo>
                    <a:pt x="3225800" y="751205"/>
                    <a:pt x="3183509" y="793496"/>
                    <a:pt x="3131312" y="793496"/>
                  </a:cubicBezTo>
                  <a:lnTo>
                    <a:pt x="94488" y="793496"/>
                  </a:lnTo>
                  <a:cubicBezTo>
                    <a:pt x="42291" y="793496"/>
                    <a:pt x="0" y="751205"/>
                    <a:pt x="0" y="699008"/>
                  </a:cubicBezTo>
                  <a:close/>
                </a:path>
              </a:pathLst>
            </a:custGeom>
            <a:solidFill>
              <a:srgbClr val="14304A"/>
            </a:solidFill>
            <a:ln w="19050" cap="sq">
              <a:solidFill>
                <a:srgbClr val="14304A"/>
              </a:solidFill>
              <a:prstDash val="solid"/>
              <a:miter/>
            </a:ln>
          </p:spPr>
        </p:sp>
      </p:grpSp>
      <p:grpSp>
        <p:nvGrpSpPr>
          <p:cNvPr name="Group 51" id="51"/>
          <p:cNvGrpSpPr/>
          <p:nvPr/>
        </p:nvGrpSpPr>
        <p:grpSpPr>
          <a:xfrm rot="0">
            <a:off x="7941564" y="6652260"/>
            <a:ext cx="2400300" cy="576072"/>
            <a:chOff x="0" y="0"/>
            <a:chExt cx="3200400" cy="768096"/>
          </a:xfrm>
        </p:grpSpPr>
        <p:sp>
          <p:nvSpPr>
            <p:cNvPr name="Freeform 52" id="52"/>
            <p:cNvSpPr/>
            <p:nvPr/>
          </p:nvSpPr>
          <p:spPr>
            <a:xfrm flipH="false" flipV="false" rot="0">
              <a:off x="0" y="0"/>
              <a:ext cx="3200400" cy="768096"/>
            </a:xfrm>
            <a:custGeom>
              <a:avLst/>
              <a:gdLst/>
              <a:ahLst/>
              <a:cxnLst/>
              <a:rect r="r" b="b" t="t" l="l"/>
              <a:pathLst>
                <a:path h="768096" w="3200400">
                  <a:moveTo>
                    <a:pt x="0" y="0"/>
                  </a:moveTo>
                  <a:lnTo>
                    <a:pt x="3200400" y="0"/>
                  </a:lnTo>
                  <a:lnTo>
                    <a:pt x="3200400" y="768096"/>
                  </a:lnTo>
                  <a:lnTo>
                    <a:pt x="0" y="768096"/>
                  </a:lnTo>
                  <a:close/>
                </a:path>
              </a:pathLst>
            </a:custGeom>
            <a:blipFill>
              <a:blip r:embed="rId3">
                <a:alphaModFix amt="0"/>
              </a:blip>
              <a:stretch>
                <a:fillRect l="0" t="-31187" r="0" b="-31187"/>
              </a:stretch>
            </a:blipFill>
          </p:spPr>
        </p:sp>
        <p:sp>
          <p:nvSpPr>
            <p:cNvPr name="TextBox 53" id="53"/>
            <p:cNvSpPr txBox="true"/>
            <p:nvPr/>
          </p:nvSpPr>
          <p:spPr>
            <a:xfrm>
              <a:off x="0" y="0"/>
              <a:ext cx="3200400" cy="768096"/>
            </a:xfrm>
            <a:prstGeom prst="rect">
              <a:avLst/>
            </a:prstGeom>
          </p:spPr>
          <p:txBody>
            <a:bodyPr anchor="ctr" rtlCol="false" tIns="0" lIns="0" bIns="0" rIns="0"/>
            <a:lstStyle/>
            <a:p>
              <a:pPr algn="ctr">
                <a:lnSpc>
                  <a:spcPts val="1980"/>
                </a:lnSpc>
              </a:pPr>
              <a:r>
                <a:rPr lang="en-US" sz="1650" b="true">
                  <a:solidFill>
                    <a:srgbClr val="FFFFFF"/>
                  </a:solidFill>
                  <a:latin typeface="IBM Plex Sans Bold"/>
                  <a:ea typeface="IBM Plex Sans Bold"/>
                  <a:cs typeface="IBM Plex Sans Bold"/>
                  <a:sym typeface="IBM Plex Sans Bold"/>
                </a:rPr>
                <a:t>3 channels</a:t>
              </a:r>
            </a:p>
          </p:txBody>
        </p:sp>
      </p:grpSp>
      <p:grpSp>
        <p:nvGrpSpPr>
          <p:cNvPr name="Group 54" id="54"/>
          <p:cNvGrpSpPr/>
          <p:nvPr/>
        </p:nvGrpSpPr>
        <p:grpSpPr>
          <a:xfrm rot="0">
            <a:off x="10634091" y="4379595"/>
            <a:ext cx="238506" cy="430530"/>
            <a:chOff x="0" y="0"/>
            <a:chExt cx="318008" cy="574040"/>
          </a:xfrm>
        </p:grpSpPr>
        <p:sp>
          <p:nvSpPr>
            <p:cNvPr name="Freeform 55" id="55"/>
            <p:cNvSpPr/>
            <p:nvPr/>
          </p:nvSpPr>
          <p:spPr>
            <a:xfrm flipH="false" flipV="false" rot="0">
              <a:off x="0" y="0"/>
              <a:ext cx="318008" cy="574040"/>
            </a:xfrm>
            <a:custGeom>
              <a:avLst/>
              <a:gdLst/>
              <a:ahLst/>
              <a:cxnLst/>
              <a:rect r="r" b="b" t="t" l="l"/>
              <a:pathLst>
                <a:path h="574040" w="318008">
                  <a:moveTo>
                    <a:pt x="0" y="143510"/>
                  </a:moveTo>
                  <a:lnTo>
                    <a:pt x="159004" y="143510"/>
                  </a:lnTo>
                  <a:lnTo>
                    <a:pt x="159004" y="0"/>
                  </a:lnTo>
                  <a:lnTo>
                    <a:pt x="318008" y="287020"/>
                  </a:lnTo>
                  <a:lnTo>
                    <a:pt x="159004" y="574040"/>
                  </a:lnTo>
                  <a:lnTo>
                    <a:pt x="159004" y="430530"/>
                  </a:lnTo>
                  <a:lnTo>
                    <a:pt x="0" y="430530"/>
                  </a:lnTo>
                  <a:close/>
                </a:path>
              </a:pathLst>
            </a:custGeom>
            <a:solidFill>
              <a:srgbClr val="A9C3C8"/>
            </a:solidFill>
            <a:ln w="19050" cap="sq">
              <a:solidFill>
                <a:srgbClr val="A9C3C8"/>
              </a:solidFill>
              <a:prstDash val="solid"/>
              <a:miter/>
            </a:ln>
          </p:spPr>
        </p:sp>
      </p:grpSp>
      <p:grpSp>
        <p:nvGrpSpPr>
          <p:cNvPr name="Group 56" id="56"/>
          <p:cNvGrpSpPr/>
          <p:nvPr/>
        </p:nvGrpSpPr>
        <p:grpSpPr>
          <a:xfrm rot="0">
            <a:off x="10883360" y="2804636"/>
            <a:ext cx="2963228" cy="3580447"/>
            <a:chOff x="0" y="0"/>
            <a:chExt cx="3950970" cy="4773930"/>
          </a:xfrm>
        </p:grpSpPr>
        <p:sp>
          <p:nvSpPr>
            <p:cNvPr name="Freeform 57" id="57"/>
            <p:cNvSpPr/>
            <p:nvPr/>
          </p:nvSpPr>
          <p:spPr>
            <a:xfrm flipH="false" flipV="false" rot="0">
              <a:off x="0" y="0"/>
              <a:ext cx="3950970" cy="4773930"/>
            </a:xfrm>
            <a:custGeom>
              <a:avLst/>
              <a:gdLst/>
              <a:ahLst/>
              <a:cxnLst/>
              <a:rect r="r" b="b" t="t" l="l"/>
              <a:pathLst>
                <a:path h="4773930" w="3950970">
                  <a:moveTo>
                    <a:pt x="0" y="147066"/>
                  </a:moveTo>
                  <a:cubicBezTo>
                    <a:pt x="0" y="65786"/>
                    <a:pt x="65786" y="0"/>
                    <a:pt x="147066" y="0"/>
                  </a:cubicBezTo>
                  <a:lnTo>
                    <a:pt x="3803904" y="0"/>
                  </a:lnTo>
                  <a:cubicBezTo>
                    <a:pt x="3885057" y="0"/>
                    <a:pt x="3950970" y="65786"/>
                    <a:pt x="3950970" y="147066"/>
                  </a:cubicBezTo>
                  <a:lnTo>
                    <a:pt x="3950970" y="4626864"/>
                  </a:lnTo>
                  <a:cubicBezTo>
                    <a:pt x="3950970" y="4708017"/>
                    <a:pt x="3885184" y="4773930"/>
                    <a:pt x="3803904" y="4773930"/>
                  </a:cubicBezTo>
                  <a:lnTo>
                    <a:pt x="147066" y="4773930"/>
                  </a:lnTo>
                  <a:cubicBezTo>
                    <a:pt x="65786" y="4773930"/>
                    <a:pt x="0" y="4708144"/>
                    <a:pt x="0" y="4626864"/>
                  </a:cubicBezTo>
                  <a:close/>
                </a:path>
              </a:pathLst>
            </a:custGeom>
            <a:solidFill>
              <a:srgbClr val="FDFDFB"/>
            </a:solidFill>
            <a:ln w="14288" cap="sq">
              <a:solidFill>
                <a:srgbClr val="D3DCD9"/>
              </a:solidFill>
              <a:prstDash val="solid"/>
              <a:miter/>
            </a:ln>
          </p:spPr>
        </p:sp>
      </p:grpSp>
      <p:grpSp>
        <p:nvGrpSpPr>
          <p:cNvPr name="Group 58" id="58"/>
          <p:cNvGrpSpPr/>
          <p:nvPr/>
        </p:nvGrpSpPr>
        <p:grpSpPr>
          <a:xfrm rot="0">
            <a:off x="11155299" y="3076575"/>
            <a:ext cx="595122" cy="595122"/>
            <a:chOff x="0" y="0"/>
            <a:chExt cx="793496" cy="793496"/>
          </a:xfrm>
        </p:grpSpPr>
        <p:sp>
          <p:nvSpPr>
            <p:cNvPr name="Freeform 59" id="59"/>
            <p:cNvSpPr/>
            <p:nvPr/>
          </p:nvSpPr>
          <p:spPr>
            <a:xfrm flipH="false" flipV="false" rot="0">
              <a:off x="0" y="0"/>
              <a:ext cx="793496" cy="793496"/>
            </a:xfrm>
            <a:custGeom>
              <a:avLst/>
              <a:gdLst/>
              <a:ahLst/>
              <a:cxnLst/>
              <a:rect r="r" b="b" t="t" l="l"/>
              <a:pathLst>
                <a:path h="793496" w="793496">
                  <a:moveTo>
                    <a:pt x="0" y="396748"/>
                  </a:moveTo>
                  <a:cubicBezTo>
                    <a:pt x="0" y="177673"/>
                    <a:pt x="177673" y="0"/>
                    <a:pt x="396748" y="0"/>
                  </a:cubicBezTo>
                  <a:cubicBezTo>
                    <a:pt x="615823" y="0"/>
                    <a:pt x="793496" y="177673"/>
                    <a:pt x="793496" y="396748"/>
                  </a:cubicBezTo>
                  <a:cubicBezTo>
                    <a:pt x="793496" y="615823"/>
                    <a:pt x="615823" y="793496"/>
                    <a:pt x="396748" y="793496"/>
                  </a:cubicBezTo>
                  <a:cubicBezTo>
                    <a:pt x="177673" y="793496"/>
                    <a:pt x="0" y="615823"/>
                    <a:pt x="0" y="396748"/>
                  </a:cubicBezTo>
                  <a:close/>
                </a:path>
              </a:pathLst>
            </a:custGeom>
            <a:solidFill>
              <a:srgbClr val="0B6E60"/>
            </a:solidFill>
            <a:ln w="19050" cap="sq">
              <a:solidFill>
                <a:srgbClr val="0B6E60"/>
              </a:solidFill>
              <a:prstDash val="solid"/>
              <a:miter/>
            </a:ln>
          </p:spPr>
        </p:sp>
      </p:grpSp>
      <p:grpSp>
        <p:nvGrpSpPr>
          <p:cNvPr name="Group 60" id="60"/>
          <p:cNvGrpSpPr/>
          <p:nvPr/>
        </p:nvGrpSpPr>
        <p:grpSpPr>
          <a:xfrm rot="0">
            <a:off x="11164824" y="3086100"/>
            <a:ext cx="576072" cy="576072"/>
            <a:chOff x="0" y="0"/>
            <a:chExt cx="768096" cy="768096"/>
          </a:xfrm>
        </p:grpSpPr>
        <p:sp>
          <p:nvSpPr>
            <p:cNvPr name="Freeform 61" id="61"/>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3">
                <a:alphaModFix amt="0"/>
              </a:blip>
              <a:stretch>
                <a:fillRect l="-78303" t="0" r="-78303" b="0"/>
              </a:stretch>
            </a:blipFill>
          </p:spPr>
        </p:sp>
        <p:sp>
          <p:nvSpPr>
            <p:cNvPr name="TextBox 62" id="62"/>
            <p:cNvSpPr txBox="true"/>
            <p:nvPr/>
          </p:nvSpPr>
          <p:spPr>
            <a:xfrm>
              <a:off x="0" y="0"/>
              <a:ext cx="768096" cy="768096"/>
            </a:xfrm>
            <a:prstGeom prst="rect">
              <a:avLst/>
            </a:prstGeom>
          </p:spPr>
          <p:txBody>
            <a:bodyPr anchor="ctr" rtlCol="false" tIns="0" lIns="0" bIns="0" rIns="0"/>
            <a:lstStyle/>
            <a:p>
              <a:pPr algn="ctr">
                <a:lnSpc>
                  <a:spcPts val="2160"/>
                </a:lnSpc>
              </a:pPr>
              <a:r>
                <a:rPr lang="en-US" sz="1800" b="true">
                  <a:solidFill>
                    <a:srgbClr val="FFFFFF"/>
                  </a:solidFill>
                  <a:latin typeface="IBM Plex Sans Bold"/>
                  <a:ea typeface="IBM Plex Sans Bold"/>
                  <a:cs typeface="IBM Plex Sans Bold"/>
                  <a:sym typeface="IBM Plex Sans Bold"/>
                </a:rPr>
                <a:t>4</a:t>
              </a:r>
            </a:p>
          </p:txBody>
        </p:sp>
      </p:grpSp>
      <p:sp>
        <p:nvSpPr>
          <p:cNvPr name="TextBox 63" id="63"/>
          <p:cNvSpPr txBox="true"/>
          <p:nvPr/>
        </p:nvSpPr>
        <p:spPr>
          <a:xfrm rot="0">
            <a:off x="11164824" y="3813048"/>
            <a:ext cx="2468880" cy="822960"/>
          </a:xfrm>
          <a:prstGeom prst="rect">
            <a:avLst/>
          </a:prstGeom>
        </p:spPr>
        <p:txBody>
          <a:bodyPr anchor="t" rtlCol="false" tIns="0" lIns="0" bIns="0" rIns="0">
            <a:spAutoFit/>
          </a:bodyPr>
          <a:lstStyle/>
          <a:p>
            <a:pPr algn="l">
              <a:lnSpc>
                <a:spcPts val="2340"/>
              </a:lnSpc>
            </a:pPr>
            <a:r>
              <a:rPr lang="en-US" sz="1950" b="true">
                <a:solidFill>
                  <a:srgbClr val="14304A"/>
                </a:solidFill>
                <a:latin typeface="IBM Plex Sans Bold"/>
                <a:ea typeface="IBM Plex Sans Bold"/>
                <a:cs typeface="IBM Plex Sans Bold"/>
                <a:sym typeface="IBM Plex Sans Bold"/>
              </a:rPr>
              <a:t>Post-education survey</a:t>
            </a:r>
          </a:p>
        </p:txBody>
      </p:sp>
      <p:sp>
        <p:nvSpPr>
          <p:cNvPr name="TextBox 64" id="64"/>
          <p:cNvSpPr txBox="true"/>
          <p:nvPr/>
        </p:nvSpPr>
        <p:spPr>
          <a:xfrm rot="0">
            <a:off x="11164824" y="4653915"/>
            <a:ext cx="2468880" cy="1655445"/>
          </a:xfrm>
          <a:prstGeom prst="rect">
            <a:avLst/>
          </a:prstGeom>
        </p:spPr>
        <p:txBody>
          <a:bodyPr anchor="t" rtlCol="false" tIns="0" lIns="0" bIns="0" rIns="0">
            <a:spAutoFit/>
          </a:bodyPr>
          <a:lstStyle/>
          <a:p>
            <a:pPr algn="l">
              <a:lnSpc>
                <a:spcPts val="1709"/>
              </a:lnSpc>
            </a:pPr>
            <a:r>
              <a:rPr lang="en-US" sz="1425">
                <a:solidFill>
                  <a:srgbClr val="3F4B57"/>
                </a:solidFill>
                <a:latin typeface="IBM Plex Sans"/>
                <a:ea typeface="IBM Plex Sans"/>
                <a:cs typeface="IBM Plex Sans"/>
                <a:sym typeface="IBM Plex Sans"/>
              </a:rPr>
              <a:t>Same 8 knowledge items repeated immediately after the contact</a:t>
            </a:r>
          </a:p>
        </p:txBody>
      </p:sp>
      <p:grpSp>
        <p:nvGrpSpPr>
          <p:cNvPr name="Group 65" id="65"/>
          <p:cNvGrpSpPr/>
          <p:nvPr/>
        </p:nvGrpSpPr>
        <p:grpSpPr>
          <a:xfrm rot="0">
            <a:off x="11155299" y="6642735"/>
            <a:ext cx="2419350" cy="595122"/>
            <a:chOff x="0" y="0"/>
            <a:chExt cx="3225800" cy="793496"/>
          </a:xfrm>
        </p:grpSpPr>
        <p:sp>
          <p:nvSpPr>
            <p:cNvPr name="Freeform 66" id="66"/>
            <p:cNvSpPr/>
            <p:nvPr/>
          </p:nvSpPr>
          <p:spPr>
            <a:xfrm flipH="false" flipV="false" rot="0">
              <a:off x="0" y="0"/>
              <a:ext cx="3225800" cy="793496"/>
            </a:xfrm>
            <a:custGeom>
              <a:avLst/>
              <a:gdLst/>
              <a:ahLst/>
              <a:cxnLst/>
              <a:rect r="r" b="b" t="t" l="l"/>
              <a:pathLst>
                <a:path h="793496" w="3225800">
                  <a:moveTo>
                    <a:pt x="0" y="94488"/>
                  </a:moveTo>
                  <a:cubicBezTo>
                    <a:pt x="0" y="42291"/>
                    <a:pt x="42291" y="0"/>
                    <a:pt x="94488" y="0"/>
                  </a:cubicBezTo>
                  <a:lnTo>
                    <a:pt x="3131312" y="0"/>
                  </a:lnTo>
                  <a:cubicBezTo>
                    <a:pt x="3183509" y="0"/>
                    <a:pt x="3225800" y="42291"/>
                    <a:pt x="3225800" y="94488"/>
                  </a:cubicBezTo>
                  <a:lnTo>
                    <a:pt x="3225800" y="699008"/>
                  </a:lnTo>
                  <a:cubicBezTo>
                    <a:pt x="3225800" y="751205"/>
                    <a:pt x="3183509" y="793496"/>
                    <a:pt x="3131312" y="793496"/>
                  </a:cubicBezTo>
                  <a:lnTo>
                    <a:pt x="94488" y="793496"/>
                  </a:lnTo>
                  <a:cubicBezTo>
                    <a:pt x="42291" y="793496"/>
                    <a:pt x="0" y="751205"/>
                    <a:pt x="0" y="699008"/>
                  </a:cubicBezTo>
                  <a:close/>
                </a:path>
              </a:pathLst>
            </a:custGeom>
            <a:solidFill>
              <a:srgbClr val="0B6E60"/>
            </a:solidFill>
            <a:ln w="19050" cap="sq">
              <a:solidFill>
                <a:srgbClr val="0B6E60"/>
              </a:solidFill>
              <a:prstDash val="solid"/>
              <a:miter/>
            </a:ln>
          </p:spPr>
        </p:sp>
      </p:grpSp>
      <p:grpSp>
        <p:nvGrpSpPr>
          <p:cNvPr name="Group 67" id="67"/>
          <p:cNvGrpSpPr/>
          <p:nvPr/>
        </p:nvGrpSpPr>
        <p:grpSpPr>
          <a:xfrm rot="0">
            <a:off x="11164824" y="6652260"/>
            <a:ext cx="2400300" cy="576072"/>
            <a:chOff x="0" y="0"/>
            <a:chExt cx="3200400" cy="768096"/>
          </a:xfrm>
        </p:grpSpPr>
        <p:sp>
          <p:nvSpPr>
            <p:cNvPr name="Freeform 68" id="68"/>
            <p:cNvSpPr/>
            <p:nvPr/>
          </p:nvSpPr>
          <p:spPr>
            <a:xfrm flipH="false" flipV="false" rot="0">
              <a:off x="0" y="0"/>
              <a:ext cx="3200400" cy="768096"/>
            </a:xfrm>
            <a:custGeom>
              <a:avLst/>
              <a:gdLst/>
              <a:ahLst/>
              <a:cxnLst/>
              <a:rect r="r" b="b" t="t" l="l"/>
              <a:pathLst>
                <a:path h="768096" w="3200400">
                  <a:moveTo>
                    <a:pt x="0" y="0"/>
                  </a:moveTo>
                  <a:lnTo>
                    <a:pt x="3200400" y="0"/>
                  </a:lnTo>
                  <a:lnTo>
                    <a:pt x="3200400" y="768096"/>
                  </a:lnTo>
                  <a:lnTo>
                    <a:pt x="0" y="768096"/>
                  </a:lnTo>
                  <a:close/>
                </a:path>
              </a:pathLst>
            </a:custGeom>
            <a:blipFill>
              <a:blip r:embed="rId3">
                <a:alphaModFix amt="0"/>
              </a:blip>
              <a:stretch>
                <a:fillRect l="0" t="-31187" r="0" b="-31187"/>
              </a:stretch>
            </a:blipFill>
          </p:spPr>
        </p:sp>
        <p:sp>
          <p:nvSpPr>
            <p:cNvPr name="TextBox 69" id="69"/>
            <p:cNvSpPr txBox="true"/>
            <p:nvPr/>
          </p:nvSpPr>
          <p:spPr>
            <a:xfrm>
              <a:off x="0" y="0"/>
              <a:ext cx="3200400" cy="768096"/>
            </a:xfrm>
            <a:prstGeom prst="rect">
              <a:avLst/>
            </a:prstGeom>
          </p:spPr>
          <p:txBody>
            <a:bodyPr anchor="ctr" rtlCol="false" tIns="0" lIns="0" bIns="0" rIns="0"/>
            <a:lstStyle/>
            <a:p>
              <a:pPr algn="ctr">
                <a:lnSpc>
                  <a:spcPts val="1980"/>
                </a:lnSpc>
              </a:pPr>
              <a:r>
                <a:rPr lang="en-US" sz="1650" b="true">
                  <a:solidFill>
                    <a:srgbClr val="FFFFFF"/>
                  </a:solidFill>
                  <a:latin typeface="IBM Plex Sans Bold"/>
                  <a:ea typeface="IBM Plex Sans Bold"/>
                  <a:cs typeface="IBM Plex Sans Bold"/>
                  <a:sym typeface="IBM Plex Sans Bold"/>
                </a:rPr>
                <a:t>89% correct</a:t>
              </a:r>
            </a:p>
          </p:txBody>
        </p:sp>
      </p:grpSp>
      <p:grpSp>
        <p:nvGrpSpPr>
          <p:cNvPr name="Group 70" id="70"/>
          <p:cNvGrpSpPr/>
          <p:nvPr/>
        </p:nvGrpSpPr>
        <p:grpSpPr>
          <a:xfrm rot="0">
            <a:off x="13857351" y="4379595"/>
            <a:ext cx="238506" cy="430530"/>
            <a:chOff x="0" y="0"/>
            <a:chExt cx="318008" cy="574040"/>
          </a:xfrm>
        </p:grpSpPr>
        <p:sp>
          <p:nvSpPr>
            <p:cNvPr name="Freeform 71" id="71"/>
            <p:cNvSpPr/>
            <p:nvPr/>
          </p:nvSpPr>
          <p:spPr>
            <a:xfrm flipH="false" flipV="false" rot="0">
              <a:off x="0" y="0"/>
              <a:ext cx="318008" cy="574040"/>
            </a:xfrm>
            <a:custGeom>
              <a:avLst/>
              <a:gdLst/>
              <a:ahLst/>
              <a:cxnLst/>
              <a:rect r="r" b="b" t="t" l="l"/>
              <a:pathLst>
                <a:path h="574040" w="318008">
                  <a:moveTo>
                    <a:pt x="0" y="143510"/>
                  </a:moveTo>
                  <a:lnTo>
                    <a:pt x="159004" y="143510"/>
                  </a:lnTo>
                  <a:lnTo>
                    <a:pt x="159004" y="0"/>
                  </a:lnTo>
                  <a:lnTo>
                    <a:pt x="318008" y="287020"/>
                  </a:lnTo>
                  <a:lnTo>
                    <a:pt x="159004" y="574040"/>
                  </a:lnTo>
                  <a:lnTo>
                    <a:pt x="159004" y="430530"/>
                  </a:lnTo>
                  <a:lnTo>
                    <a:pt x="0" y="430530"/>
                  </a:lnTo>
                  <a:close/>
                </a:path>
              </a:pathLst>
            </a:custGeom>
            <a:solidFill>
              <a:srgbClr val="A9C3C8"/>
            </a:solidFill>
            <a:ln w="19050" cap="sq">
              <a:solidFill>
                <a:srgbClr val="A9C3C8"/>
              </a:solidFill>
              <a:prstDash val="solid"/>
              <a:miter/>
            </a:ln>
          </p:spPr>
        </p:sp>
      </p:grpSp>
      <p:grpSp>
        <p:nvGrpSpPr>
          <p:cNvPr name="Group 72" id="72"/>
          <p:cNvGrpSpPr/>
          <p:nvPr/>
        </p:nvGrpSpPr>
        <p:grpSpPr>
          <a:xfrm rot="0">
            <a:off x="14106620" y="2804636"/>
            <a:ext cx="2963228" cy="3580447"/>
            <a:chOff x="0" y="0"/>
            <a:chExt cx="3950970" cy="4773930"/>
          </a:xfrm>
        </p:grpSpPr>
        <p:sp>
          <p:nvSpPr>
            <p:cNvPr name="Freeform 73" id="73"/>
            <p:cNvSpPr/>
            <p:nvPr/>
          </p:nvSpPr>
          <p:spPr>
            <a:xfrm flipH="false" flipV="false" rot="0">
              <a:off x="0" y="0"/>
              <a:ext cx="3950970" cy="4773930"/>
            </a:xfrm>
            <a:custGeom>
              <a:avLst/>
              <a:gdLst/>
              <a:ahLst/>
              <a:cxnLst/>
              <a:rect r="r" b="b" t="t" l="l"/>
              <a:pathLst>
                <a:path h="4773930" w="3950970">
                  <a:moveTo>
                    <a:pt x="0" y="147066"/>
                  </a:moveTo>
                  <a:cubicBezTo>
                    <a:pt x="0" y="65786"/>
                    <a:pt x="65786" y="0"/>
                    <a:pt x="147066" y="0"/>
                  </a:cubicBezTo>
                  <a:lnTo>
                    <a:pt x="3803904" y="0"/>
                  </a:lnTo>
                  <a:cubicBezTo>
                    <a:pt x="3885057" y="0"/>
                    <a:pt x="3950970" y="65786"/>
                    <a:pt x="3950970" y="147066"/>
                  </a:cubicBezTo>
                  <a:lnTo>
                    <a:pt x="3950970" y="4626864"/>
                  </a:lnTo>
                  <a:cubicBezTo>
                    <a:pt x="3950970" y="4708017"/>
                    <a:pt x="3885184" y="4773930"/>
                    <a:pt x="3803904" y="4773930"/>
                  </a:cubicBezTo>
                  <a:lnTo>
                    <a:pt x="147066" y="4773930"/>
                  </a:lnTo>
                  <a:cubicBezTo>
                    <a:pt x="65786" y="4773930"/>
                    <a:pt x="0" y="4708144"/>
                    <a:pt x="0" y="4626864"/>
                  </a:cubicBezTo>
                  <a:close/>
                </a:path>
              </a:pathLst>
            </a:custGeom>
            <a:solidFill>
              <a:srgbClr val="FDFDFB"/>
            </a:solidFill>
            <a:ln w="14288" cap="sq">
              <a:solidFill>
                <a:srgbClr val="D3DCD9"/>
              </a:solidFill>
              <a:prstDash val="solid"/>
              <a:miter/>
            </a:ln>
          </p:spPr>
        </p:sp>
      </p:grpSp>
      <p:grpSp>
        <p:nvGrpSpPr>
          <p:cNvPr name="Group 74" id="74"/>
          <p:cNvGrpSpPr/>
          <p:nvPr/>
        </p:nvGrpSpPr>
        <p:grpSpPr>
          <a:xfrm rot="0">
            <a:off x="14378559" y="3076575"/>
            <a:ext cx="595122" cy="595122"/>
            <a:chOff x="0" y="0"/>
            <a:chExt cx="793496" cy="793496"/>
          </a:xfrm>
        </p:grpSpPr>
        <p:sp>
          <p:nvSpPr>
            <p:cNvPr name="Freeform 75" id="75"/>
            <p:cNvSpPr/>
            <p:nvPr/>
          </p:nvSpPr>
          <p:spPr>
            <a:xfrm flipH="false" flipV="false" rot="0">
              <a:off x="0" y="0"/>
              <a:ext cx="793496" cy="793496"/>
            </a:xfrm>
            <a:custGeom>
              <a:avLst/>
              <a:gdLst/>
              <a:ahLst/>
              <a:cxnLst/>
              <a:rect r="r" b="b" t="t" l="l"/>
              <a:pathLst>
                <a:path h="793496" w="793496">
                  <a:moveTo>
                    <a:pt x="0" y="396748"/>
                  </a:moveTo>
                  <a:cubicBezTo>
                    <a:pt x="0" y="177673"/>
                    <a:pt x="177673" y="0"/>
                    <a:pt x="396748" y="0"/>
                  </a:cubicBezTo>
                  <a:cubicBezTo>
                    <a:pt x="615823" y="0"/>
                    <a:pt x="793496" y="177673"/>
                    <a:pt x="793496" y="396748"/>
                  </a:cubicBezTo>
                  <a:cubicBezTo>
                    <a:pt x="793496" y="615823"/>
                    <a:pt x="615823" y="793496"/>
                    <a:pt x="396748" y="793496"/>
                  </a:cubicBezTo>
                  <a:cubicBezTo>
                    <a:pt x="177673" y="793496"/>
                    <a:pt x="0" y="615823"/>
                    <a:pt x="0" y="396748"/>
                  </a:cubicBezTo>
                  <a:close/>
                </a:path>
              </a:pathLst>
            </a:custGeom>
            <a:solidFill>
              <a:srgbClr val="0B6E60"/>
            </a:solidFill>
            <a:ln w="19050" cap="sq">
              <a:solidFill>
                <a:srgbClr val="0B6E60"/>
              </a:solidFill>
              <a:prstDash val="solid"/>
              <a:miter/>
            </a:ln>
          </p:spPr>
        </p:sp>
      </p:grpSp>
      <p:grpSp>
        <p:nvGrpSpPr>
          <p:cNvPr name="Group 76" id="76"/>
          <p:cNvGrpSpPr/>
          <p:nvPr/>
        </p:nvGrpSpPr>
        <p:grpSpPr>
          <a:xfrm rot="0">
            <a:off x="14388084" y="3086100"/>
            <a:ext cx="576072" cy="576072"/>
            <a:chOff x="0" y="0"/>
            <a:chExt cx="768096" cy="768096"/>
          </a:xfrm>
        </p:grpSpPr>
        <p:sp>
          <p:nvSpPr>
            <p:cNvPr name="Freeform 77" id="77"/>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3">
                <a:alphaModFix amt="0"/>
              </a:blip>
              <a:stretch>
                <a:fillRect l="-78303" t="0" r="-78303" b="0"/>
              </a:stretch>
            </a:blipFill>
          </p:spPr>
        </p:sp>
        <p:sp>
          <p:nvSpPr>
            <p:cNvPr name="TextBox 78" id="78"/>
            <p:cNvSpPr txBox="true"/>
            <p:nvPr/>
          </p:nvSpPr>
          <p:spPr>
            <a:xfrm>
              <a:off x="0" y="0"/>
              <a:ext cx="768096" cy="768096"/>
            </a:xfrm>
            <a:prstGeom prst="rect">
              <a:avLst/>
            </a:prstGeom>
          </p:spPr>
          <p:txBody>
            <a:bodyPr anchor="ctr" rtlCol="false" tIns="0" lIns="0" bIns="0" rIns="0"/>
            <a:lstStyle/>
            <a:p>
              <a:pPr algn="ctr">
                <a:lnSpc>
                  <a:spcPts val="2160"/>
                </a:lnSpc>
              </a:pPr>
              <a:r>
                <a:rPr lang="en-US" sz="1800" b="true">
                  <a:solidFill>
                    <a:srgbClr val="FFFFFF"/>
                  </a:solidFill>
                  <a:latin typeface="IBM Plex Sans Bold"/>
                  <a:ea typeface="IBM Plex Sans Bold"/>
                  <a:cs typeface="IBM Plex Sans Bold"/>
                  <a:sym typeface="IBM Plex Sans Bold"/>
                </a:rPr>
                <a:t>5</a:t>
              </a:r>
            </a:p>
          </p:txBody>
        </p:sp>
      </p:grpSp>
      <p:sp>
        <p:nvSpPr>
          <p:cNvPr name="TextBox 79" id="79"/>
          <p:cNvSpPr txBox="true"/>
          <p:nvPr/>
        </p:nvSpPr>
        <p:spPr>
          <a:xfrm rot="0">
            <a:off x="14388084" y="3813048"/>
            <a:ext cx="2468880" cy="822960"/>
          </a:xfrm>
          <a:prstGeom prst="rect">
            <a:avLst/>
          </a:prstGeom>
        </p:spPr>
        <p:txBody>
          <a:bodyPr anchor="t" rtlCol="false" tIns="0" lIns="0" bIns="0" rIns="0">
            <a:spAutoFit/>
          </a:bodyPr>
          <a:lstStyle/>
          <a:p>
            <a:pPr algn="l">
              <a:lnSpc>
                <a:spcPts val="2340"/>
              </a:lnSpc>
            </a:pPr>
            <a:r>
              <a:rPr lang="en-US" sz="1950" b="true">
                <a:solidFill>
                  <a:srgbClr val="14304A"/>
                </a:solidFill>
                <a:latin typeface="IBM Plex Sans Bold"/>
                <a:ea typeface="IBM Plex Sans Bold"/>
                <a:cs typeface="IBM Plex Sans Bold"/>
                <a:sym typeface="IBM Plex Sans Bold"/>
              </a:rPr>
              <a:t>8-week follow-up</a:t>
            </a:r>
          </a:p>
        </p:txBody>
      </p:sp>
      <p:sp>
        <p:nvSpPr>
          <p:cNvPr name="TextBox 80" id="80"/>
          <p:cNvSpPr txBox="true"/>
          <p:nvPr/>
        </p:nvSpPr>
        <p:spPr>
          <a:xfrm rot="0">
            <a:off x="14388084" y="4653915"/>
            <a:ext cx="2468880" cy="1655445"/>
          </a:xfrm>
          <a:prstGeom prst="rect">
            <a:avLst/>
          </a:prstGeom>
        </p:spPr>
        <p:txBody>
          <a:bodyPr anchor="t" rtlCol="false" tIns="0" lIns="0" bIns="0" rIns="0">
            <a:spAutoFit/>
          </a:bodyPr>
          <a:lstStyle/>
          <a:p>
            <a:pPr algn="l">
              <a:lnSpc>
                <a:spcPts val="1709"/>
              </a:lnSpc>
            </a:pPr>
            <a:r>
              <a:rPr lang="en-US" sz="1425">
                <a:solidFill>
                  <a:srgbClr val="3F4B57"/>
                </a:solidFill>
                <a:latin typeface="IBM Plex Sans"/>
                <a:ea typeface="IBM Plex Sans"/>
                <a:cs typeface="IBM Plex Sans"/>
                <a:sym typeface="IBM Plex Sans"/>
              </a:rPr>
              <a:t>The 5 practice questions repeated to measure behaviour change</a:t>
            </a:r>
          </a:p>
        </p:txBody>
      </p:sp>
      <p:grpSp>
        <p:nvGrpSpPr>
          <p:cNvPr name="Group 81" id="81"/>
          <p:cNvGrpSpPr/>
          <p:nvPr/>
        </p:nvGrpSpPr>
        <p:grpSpPr>
          <a:xfrm rot="0">
            <a:off x="14378559" y="6642735"/>
            <a:ext cx="2419350" cy="595122"/>
            <a:chOff x="0" y="0"/>
            <a:chExt cx="3225800" cy="793496"/>
          </a:xfrm>
        </p:grpSpPr>
        <p:sp>
          <p:nvSpPr>
            <p:cNvPr name="Freeform 82" id="82"/>
            <p:cNvSpPr/>
            <p:nvPr/>
          </p:nvSpPr>
          <p:spPr>
            <a:xfrm flipH="false" flipV="false" rot="0">
              <a:off x="0" y="0"/>
              <a:ext cx="3225800" cy="793496"/>
            </a:xfrm>
            <a:custGeom>
              <a:avLst/>
              <a:gdLst/>
              <a:ahLst/>
              <a:cxnLst/>
              <a:rect r="r" b="b" t="t" l="l"/>
              <a:pathLst>
                <a:path h="793496" w="3225800">
                  <a:moveTo>
                    <a:pt x="0" y="94488"/>
                  </a:moveTo>
                  <a:cubicBezTo>
                    <a:pt x="0" y="42291"/>
                    <a:pt x="42291" y="0"/>
                    <a:pt x="94488" y="0"/>
                  </a:cubicBezTo>
                  <a:lnTo>
                    <a:pt x="3131312" y="0"/>
                  </a:lnTo>
                  <a:cubicBezTo>
                    <a:pt x="3183509" y="0"/>
                    <a:pt x="3225800" y="42291"/>
                    <a:pt x="3225800" y="94488"/>
                  </a:cubicBezTo>
                  <a:lnTo>
                    <a:pt x="3225800" y="699008"/>
                  </a:lnTo>
                  <a:cubicBezTo>
                    <a:pt x="3225800" y="751205"/>
                    <a:pt x="3183509" y="793496"/>
                    <a:pt x="3131312" y="793496"/>
                  </a:cubicBezTo>
                  <a:lnTo>
                    <a:pt x="94488" y="793496"/>
                  </a:lnTo>
                  <a:cubicBezTo>
                    <a:pt x="42291" y="793496"/>
                    <a:pt x="0" y="751205"/>
                    <a:pt x="0" y="699008"/>
                  </a:cubicBezTo>
                  <a:close/>
                </a:path>
              </a:pathLst>
            </a:custGeom>
            <a:solidFill>
              <a:srgbClr val="14304A"/>
            </a:solidFill>
            <a:ln w="19050" cap="sq">
              <a:solidFill>
                <a:srgbClr val="14304A"/>
              </a:solidFill>
              <a:prstDash val="solid"/>
              <a:miter/>
            </a:ln>
          </p:spPr>
        </p:sp>
      </p:grpSp>
      <p:grpSp>
        <p:nvGrpSpPr>
          <p:cNvPr name="Group 83" id="83"/>
          <p:cNvGrpSpPr/>
          <p:nvPr/>
        </p:nvGrpSpPr>
        <p:grpSpPr>
          <a:xfrm rot="0">
            <a:off x="14388084" y="6652260"/>
            <a:ext cx="2400300" cy="576072"/>
            <a:chOff x="0" y="0"/>
            <a:chExt cx="3200400" cy="768096"/>
          </a:xfrm>
        </p:grpSpPr>
        <p:sp>
          <p:nvSpPr>
            <p:cNvPr name="Freeform 84" id="84"/>
            <p:cNvSpPr/>
            <p:nvPr/>
          </p:nvSpPr>
          <p:spPr>
            <a:xfrm flipH="false" flipV="false" rot="0">
              <a:off x="0" y="0"/>
              <a:ext cx="3200400" cy="768096"/>
            </a:xfrm>
            <a:custGeom>
              <a:avLst/>
              <a:gdLst/>
              <a:ahLst/>
              <a:cxnLst/>
              <a:rect r="r" b="b" t="t" l="l"/>
              <a:pathLst>
                <a:path h="768096" w="3200400">
                  <a:moveTo>
                    <a:pt x="0" y="0"/>
                  </a:moveTo>
                  <a:lnTo>
                    <a:pt x="3200400" y="0"/>
                  </a:lnTo>
                  <a:lnTo>
                    <a:pt x="3200400" y="768096"/>
                  </a:lnTo>
                  <a:lnTo>
                    <a:pt x="0" y="768096"/>
                  </a:lnTo>
                  <a:close/>
                </a:path>
              </a:pathLst>
            </a:custGeom>
            <a:blipFill>
              <a:blip r:embed="rId3">
                <a:alphaModFix amt="0"/>
              </a:blip>
              <a:stretch>
                <a:fillRect l="0" t="-31187" r="0" b="-31187"/>
              </a:stretch>
            </a:blipFill>
          </p:spPr>
        </p:sp>
        <p:sp>
          <p:nvSpPr>
            <p:cNvPr name="TextBox 85" id="85"/>
            <p:cNvSpPr txBox="true"/>
            <p:nvPr/>
          </p:nvSpPr>
          <p:spPr>
            <a:xfrm>
              <a:off x="0" y="0"/>
              <a:ext cx="3200400" cy="768096"/>
            </a:xfrm>
            <a:prstGeom prst="rect">
              <a:avLst/>
            </a:prstGeom>
          </p:spPr>
          <p:txBody>
            <a:bodyPr anchor="ctr" rtlCol="false" tIns="0" lIns="0" bIns="0" rIns="0"/>
            <a:lstStyle/>
            <a:p>
              <a:pPr algn="ctr">
                <a:lnSpc>
                  <a:spcPts val="1980"/>
                </a:lnSpc>
              </a:pPr>
              <a:r>
                <a:rPr lang="en-US" sz="1650" b="true">
                  <a:solidFill>
                    <a:srgbClr val="FFFFFF"/>
                  </a:solidFill>
                  <a:latin typeface="IBM Plex Sans Bold"/>
                  <a:ea typeface="IBM Plex Sans Bold"/>
                  <a:cs typeface="IBM Plex Sans Bold"/>
                  <a:sym typeface="IBM Plex Sans Bold"/>
                </a:rPr>
                <a:t>72% any risk</a:t>
              </a:r>
            </a:p>
          </p:txBody>
        </p:sp>
      </p:grpSp>
      <p:sp>
        <p:nvSpPr>
          <p:cNvPr name="TextBox 86" id="86"/>
          <p:cNvSpPr txBox="true"/>
          <p:nvPr/>
        </p:nvSpPr>
        <p:spPr>
          <a:xfrm rot="0">
            <a:off x="1220724" y="7621905"/>
            <a:ext cx="15846095" cy="1019175"/>
          </a:xfrm>
          <a:prstGeom prst="rect">
            <a:avLst/>
          </a:prstGeom>
        </p:spPr>
        <p:txBody>
          <a:bodyPr anchor="t" rtlCol="false" tIns="0" lIns="0" bIns="0" rIns="0">
            <a:spAutoFit/>
          </a:bodyPr>
          <a:lstStyle/>
          <a:p>
            <a:pPr algn="l">
              <a:lnSpc>
                <a:spcPts val="1889"/>
              </a:lnSpc>
            </a:pPr>
            <a:r>
              <a:rPr lang="en-US" sz="1575" b="true">
                <a:solidFill>
                  <a:srgbClr val="0B6E60"/>
                </a:solidFill>
                <a:latin typeface="IBM Plex Sans Bold"/>
                <a:ea typeface="IBM Plex Sans Bold"/>
                <a:cs typeface="IBM Plex Sans Bold"/>
                <a:sym typeface="IBM Plex Sans Bold"/>
              </a:rPr>
              <a:t>SURVEY DESIGN   </a:t>
            </a:r>
            <a:r>
              <a:rPr lang="en-US" sz="1575">
                <a:solidFill>
                  <a:srgbClr val="3F4B57"/>
                </a:solidFill>
                <a:latin typeface="IBM Plex Sans"/>
                <a:ea typeface="IBM Plex Sans"/>
                <a:cs typeface="IBM Plex Sans"/>
                <a:sym typeface="IBM Plex Sans"/>
              </a:rPr>
              <a:t>Pre/post design · same 8-item questionnaire before and after the education contact · practice questions at baseline and 8-week follow-up · anonymous, reported by village and channel only · full data and formulas: Antibiotic_Stewardship_Community_Survey_Data.xlsx</a:t>
            </a:r>
          </a:p>
        </p:txBody>
      </p:sp>
      <p:grpSp>
        <p:nvGrpSpPr>
          <p:cNvPr name="Group 87" id="87"/>
          <p:cNvGrpSpPr/>
          <p:nvPr/>
        </p:nvGrpSpPr>
        <p:grpSpPr>
          <a:xfrm rot="0">
            <a:off x="1220724" y="9354312"/>
            <a:ext cx="11658600" cy="356616"/>
            <a:chOff x="0" y="0"/>
            <a:chExt cx="15544800" cy="475488"/>
          </a:xfrm>
        </p:grpSpPr>
        <p:sp>
          <p:nvSpPr>
            <p:cNvPr name="Freeform 88" id="88"/>
            <p:cNvSpPr/>
            <p:nvPr/>
          </p:nvSpPr>
          <p:spPr>
            <a:xfrm flipH="false" flipV="false" rot="0">
              <a:off x="0" y="0"/>
              <a:ext cx="15544800" cy="475488"/>
            </a:xfrm>
            <a:custGeom>
              <a:avLst/>
              <a:gdLst/>
              <a:ahLst/>
              <a:cxnLst/>
              <a:rect r="r" b="b" t="t" l="l"/>
              <a:pathLst>
                <a:path h="475488" w="15544800">
                  <a:moveTo>
                    <a:pt x="0" y="0"/>
                  </a:moveTo>
                  <a:lnTo>
                    <a:pt x="15544800" y="0"/>
                  </a:lnTo>
                  <a:lnTo>
                    <a:pt x="15544800" y="475488"/>
                  </a:lnTo>
                  <a:lnTo>
                    <a:pt x="0" y="475488"/>
                  </a:lnTo>
                  <a:close/>
                </a:path>
              </a:pathLst>
            </a:custGeom>
            <a:blipFill>
              <a:blip r:embed="rId3">
                <a:alphaModFix amt="0"/>
              </a:blip>
              <a:stretch>
                <a:fillRect l="0" t="-587010" r="0" b="-587010"/>
              </a:stretch>
            </a:blipFill>
          </p:spPr>
        </p:sp>
        <p:sp>
          <p:nvSpPr>
            <p:cNvPr name="TextBox 89" id="89"/>
            <p:cNvSpPr txBox="true"/>
            <p:nvPr/>
          </p:nvSpPr>
          <p:spPr>
            <a:xfrm>
              <a:off x="0" y="0"/>
              <a:ext cx="15544800" cy="475488"/>
            </a:xfrm>
            <a:prstGeom prst="rect">
              <a:avLst/>
            </a:prstGeom>
          </p:spPr>
          <p:txBody>
            <a:bodyPr anchor="ctr" rtlCol="false" tIns="0" lIns="0" bIns="0" rIns="0"/>
            <a:lstStyle/>
            <a:p>
              <a:pPr algn="l">
                <a:lnSpc>
                  <a:spcPts val="1800"/>
                </a:lnSpc>
              </a:pPr>
              <a:r>
                <a:rPr lang="en-US" sz="1500">
                  <a:solidFill>
                    <a:srgbClr val="5B6770"/>
                  </a:solidFill>
                  <a:latin typeface="IBM Plex Sans"/>
                  <a:ea typeface="IBM Plex Sans"/>
                  <a:cs typeface="IBM Plex Sans"/>
                  <a:sym typeface="IBM Plex Sans"/>
                </a:rPr>
                <a:t>Preserving Our Medicines · Community Antibiotic Stewardship, Chakwal, Pakistan</a:t>
              </a:r>
            </a:p>
          </p:txBody>
        </p:sp>
      </p:grpSp>
      <p:grpSp>
        <p:nvGrpSpPr>
          <p:cNvPr name="Group 90" id="90"/>
          <p:cNvGrpSpPr/>
          <p:nvPr/>
        </p:nvGrpSpPr>
        <p:grpSpPr>
          <a:xfrm rot="0">
            <a:off x="15695219" y="9354312"/>
            <a:ext cx="1371600" cy="356616"/>
            <a:chOff x="0" y="0"/>
            <a:chExt cx="1828800" cy="475488"/>
          </a:xfrm>
        </p:grpSpPr>
        <p:sp>
          <p:nvSpPr>
            <p:cNvPr name="Freeform 91" id="91"/>
            <p:cNvSpPr/>
            <p:nvPr/>
          </p:nvSpPr>
          <p:spPr>
            <a:xfrm flipH="false" flipV="false" rot="0">
              <a:off x="0" y="0"/>
              <a:ext cx="1828800" cy="475488"/>
            </a:xfrm>
            <a:custGeom>
              <a:avLst/>
              <a:gdLst/>
              <a:ahLst/>
              <a:cxnLst/>
              <a:rect r="r" b="b" t="t" l="l"/>
              <a:pathLst>
                <a:path h="475488" w="1828800">
                  <a:moveTo>
                    <a:pt x="0" y="0"/>
                  </a:moveTo>
                  <a:lnTo>
                    <a:pt x="1828800" y="0"/>
                  </a:lnTo>
                  <a:lnTo>
                    <a:pt x="1828800" y="475488"/>
                  </a:lnTo>
                  <a:lnTo>
                    <a:pt x="0" y="475488"/>
                  </a:lnTo>
                  <a:close/>
                </a:path>
              </a:pathLst>
            </a:custGeom>
            <a:blipFill>
              <a:blip r:embed="rId3">
                <a:alphaModFix amt="0"/>
              </a:blip>
              <a:stretch>
                <a:fillRect l="0" t="-24942" r="0" b="-24942"/>
              </a:stretch>
            </a:blipFill>
          </p:spPr>
        </p:sp>
        <p:sp>
          <p:nvSpPr>
            <p:cNvPr name="TextBox 92" id="92"/>
            <p:cNvSpPr txBox="true"/>
            <p:nvPr/>
          </p:nvSpPr>
          <p:spPr>
            <a:xfrm>
              <a:off x="0" y="0"/>
              <a:ext cx="1828800" cy="475488"/>
            </a:xfrm>
            <a:prstGeom prst="rect">
              <a:avLst/>
            </a:prstGeom>
          </p:spPr>
          <p:txBody>
            <a:bodyPr anchor="ctr" rtlCol="false" tIns="0" lIns="0" bIns="0" rIns="0"/>
            <a:lstStyle/>
            <a:p>
              <a:pPr algn="r">
                <a:lnSpc>
                  <a:spcPts val="1800"/>
                </a:lnSpc>
              </a:pPr>
              <a:r>
                <a:rPr lang="en-US" sz="1500">
                  <a:solidFill>
                    <a:srgbClr val="5B6770"/>
                  </a:solidFill>
                  <a:latin typeface="IBM Plex Sans"/>
                  <a:ea typeface="IBM Plex Sans"/>
                  <a:cs typeface="IBM Plex Sans"/>
                  <a:sym typeface="IBM Plex Sans"/>
                </a:rPr>
                <a:t>14</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AF0EE"/>
        </a:solidFill>
      </p:bgPr>
    </p:bg>
    <p:spTree>
      <p:nvGrpSpPr>
        <p:cNvPr id="1" name=""/>
        <p:cNvGrpSpPr/>
        <p:nvPr/>
      </p:nvGrpSpPr>
      <p:grpSpPr>
        <a:xfrm>
          <a:off x="0" y="0"/>
          <a:ext cx="0" cy="0"/>
          <a:chOff x="0" y="0"/>
          <a:chExt cx="0" cy="0"/>
        </a:xfrm>
      </p:grpSpPr>
      <p:grpSp>
        <p:nvGrpSpPr>
          <p:cNvPr name="Group 2" id="2"/>
          <p:cNvGrpSpPr/>
          <p:nvPr/>
        </p:nvGrpSpPr>
        <p:grpSpPr>
          <a:xfrm rot="0">
            <a:off x="1220724" y="1124712"/>
            <a:ext cx="15846095" cy="384048"/>
            <a:chOff x="0" y="0"/>
            <a:chExt cx="21128126" cy="512064"/>
          </a:xfrm>
        </p:grpSpPr>
        <p:sp>
          <p:nvSpPr>
            <p:cNvPr name="Freeform 3" id="3"/>
            <p:cNvSpPr/>
            <p:nvPr/>
          </p:nvSpPr>
          <p:spPr>
            <a:xfrm flipH="false" flipV="false" rot="0">
              <a:off x="0" y="0"/>
              <a:ext cx="21128126" cy="512064"/>
            </a:xfrm>
            <a:custGeom>
              <a:avLst/>
              <a:gdLst/>
              <a:ahLst/>
              <a:cxnLst/>
              <a:rect r="r" b="b" t="t" l="l"/>
              <a:pathLst>
                <a:path h="512064" w="21128126">
                  <a:moveTo>
                    <a:pt x="0" y="0"/>
                  </a:moveTo>
                  <a:lnTo>
                    <a:pt x="21128126" y="0"/>
                  </a:lnTo>
                  <a:lnTo>
                    <a:pt x="21128126" y="512064"/>
                  </a:lnTo>
                  <a:lnTo>
                    <a:pt x="0" y="512064"/>
                  </a:lnTo>
                  <a:close/>
                </a:path>
              </a:pathLst>
            </a:custGeom>
            <a:blipFill>
              <a:blip r:embed="rId3">
                <a:alphaModFix amt="0"/>
              </a:blip>
              <a:stretch>
                <a:fillRect l="0" t="-753966" r="0" b="-753966"/>
              </a:stretch>
            </a:blipFill>
          </p:spPr>
        </p:sp>
        <p:sp>
          <p:nvSpPr>
            <p:cNvPr name="TextBox 4" id="4"/>
            <p:cNvSpPr txBox="true"/>
            <p:nvPr/>
          </p:nvSpPr>
          <p:spPr>
            <a:xfrm>
              <a:off x="0" y="0"/>
              <a:ext cx="21128126" cy="512064"/>
            </a:xfrm>
            <a:prstGeom prst="rect">
              <a:avLst/>
            </a:prstGeom>
          </p:spPr>
          <p:txBody>
            <a:bodyPr anchor="ctr" rtlCol="false" tIns="0" lIns="0" bIns="0" rIns="0"/>
            <a:lstStyle/>
            <a:p>
              <a:pPr algn="l">
                <a:lnSpc>
                  <a:spcPts val="1980"/>
                </a:lnSpc>
              </a:pPr>
              <a:r>
                <a:rPr lang="en-US" b="true" sz="1650" spc="299">
                  <a:solidFill>
                    <a:srgbClr val="0B6E60"/>
                  </a:solidFill>
                  <a:latin typeface="IBM Plex Sans Bold"/>
                  <a:ea typeface="IBM Plex Sans Bold"/>
                  <a:cs typeface="IBM Plex Sans Bold"/>
                  <a:sym typeface="IBM Plex Sans Bold"/>
                </a:rPr>
                <a:t>12 · SURVEY RESULTS: KNOWLEDGE</a:t>
              </a:r>
            </a:p>
          </p:txBody>
        </p:sp>
      </p:grpSp>
      <p:grpSp>
        <p:nvGrpSpPr>
          <p:cNvPr name="Group 5" id="5"/>
          <p:cNvGrpSpPr/>
          <p:nvPr/>
        </p:nvGrpSpPr>
        <p:grpSpPr>
          <a:xfrm rot="0">
            <a:off x="1220724" y="1536192"/>
            <a:ext cx="15846095" cy="850392"/>
            <a:chOff x="0" y="0"/>
            <a:chExt cx="21128126" cy="1133856"/>
          </a:xfrm>
        </p:grpSpPr>
        <p:sp>
          <p:nvSpPr>
            <p:cNvPr name="Freeform 6" id="6"/>
            <p:cNvSpPr/>
            <p:nvPr/>
          </p:nvSpPr>
          <p:spPr>
            <a:xfrm flipH="false" flipV="false" rot="0">
              <a:off x="0" y="0"/>
              <a:ext cx="21128126" cy="1133856"/>
            </a:xfrm>
            <a:custGeom>
              <a:avLst/>
              <a:gdLst/>
              <a:ahLst/>
              <a:cxnLst/>
              <a:rect r="r" b="b" t="t" l="l"/>
              <a:pathLst>
                <a:path h="1133856" w="21128126">
                  <a:moveTo>
                    <a:pt x="0" y="0"/>
                  </a:moveTo>
                  <a:lnTo>
                    <a:pt x="21128126" y="0"/>
                  </a:lnTo>
                  <a:lnTo>
                    <a:pt x="21128126" y="1133856"/>
                  </a:lnTo>
                  <a:lnTo>
                    <a:pt x="0" y="1133856"/>
                  </a:lnTo>
                  <a:close/>
                </a:path>
              </a:pathLst>
            </a:custGeom>
            <a:blipFill>
              <a:blip r:embed="rId3">
                <a:alphaModFix amt="0"/>
              </a:blip>
              <a:stretch>
                <a:fillRect l="0" t="-313081" r="0" b="-313081"/>
              </a:stretch>
            </a:blipFill>
          </p:spPr>
        </p:sp>
        <p:sp>
          <p:nvSpPr>
            <p:cNvPr name="TextBox 7" id="7"/>
            <p:cNvSpPr txBox="true"/>
            <p:nvPr/>
          </p:nvSpPr>
          <p:spPr>
            <a:xfrm>
              <a:off x="0" y="0"/>
              <a:ext cx="21128126" cy="1133856"/>
            </a:xfrm>
            <a:prstGeom prst="rect">
              <a:avLst/>
            </a:prstGeom>
          </p:spPr>
          <p:txBody>
            <a:bodyPr anchor="ctr" rtlCol="false" tIns="0" lIns="0" bIns="0" rIns="0"/>
            <a:lstStyle/>
            <a:p>
              <a:pPr algn="l">
                <a:lnSpc>
                  <a:spcPts val="5400"/>
                </a:lnSpc>
              </a:pPr>
              <a:r>
                <a:rPr lang="en-US" sz="4500" b="true">
                  <a:solidFill>
                    <a:srgbClr val="14304A"/>
                  </a:solidFill>
                  <a:latin typeface="Source Serif Pro Bold"/>
                  <a:ea typeface="Source Serif Pro Bold"/>
                  <a:cs typeface="Source Serif Pro Bold"/>
                  <a:sym typeface="Source Serif Pro Bold"/>
                </a:rPr>
                <a:t>Correct answers more than doubled in every topic</a:t>
              </a:r>
            </a:p>
          </p:txBody>
        </p:sp>
      </p:grpSp>
      <p:pic>
        <p:nvPicPr>
          <p:cNvPr name="Picture 8" id="8"/>
          <p:cNvPicPr>
            <a:picLocks noChangeAspect="true"/>
          </p:cNvPicPr>
          <p:nvPr/>
        </p:nvPicPr>
        <p:blipFill>
          <a:blip r:embed="rId4"/>
          <a:stretch>
            <a:fillRect/>
          </a:stretch>
        </p:blipFill>
        <p:spPr>
          <a:xfrm rot="0">
            <a:off x="178308" y="1700784"/>
            <a:ext cx="12508992" cy="7845552"/>
          </a:xfrm>
          <a:prstGeom prst="rect">
            <a:avLst/>
          </a:prstGeom>
        </p:spPr>
      </p:pic>
      <p:grpSp>
        <p:nvGrpSpPr>
          <p:cNvPr name="Group 9" id="9"/>
          <p:cNvGrpSpPr/>
          <p:nvPr/>
        </p:nvGrpSpPr>
        <p:grpSpPr>
          <a:xfrm rot="0">
            <a:off x="12131516" y="2736056"/>
            <a:ext cx="4952047" cy="1728788"/>
            <a:chOff x="0" y="0"/>
            <a:chExt cx="6602730" cy="2305050"/>
          </a:xfrm>
        </p:grpSpPr>
        <p:sp>
          <p:nvSpPr>
            <p:cNvPr name="Freeform 10" id="10"/>
            <p:cNvSpPr/>
            <p:nvPr/>
          </p:nvSpPr>
          <p:spPr>
            <a:xfrm flipH="false" flipV="false" rot="0">
              <a:off x="0" y="0"/>
              <a:ext cx="6602730" cy="2305050"/>
            </a:xfrm>
            <a:custGeom>
              <a:avLst/>
              <a:gdLst/>
              <a:ahLst/>
              <a:cxnLst/>
              <a:rect r="r" b="b" t="t" l="l"/>
              <a:pathLst>
                <a:path h="2305050" w="6602730">
                  <a:moveTo>
                    <a:pt x="0" y="147574"/>
                  </a:moveTo>
                  <a:cubicBezTo>
                    <a:pt x="0" y="66040"/>
                    <a:pt x="66040" y="0"/>
                    <a:pt x="147574" y="0"/>
                  </a:cubicBezTo>
                  <a:lnTo>
                    <a:pt x="6455156" y="0"/>
                  </a:lnTo>
                  <a:cubicBezTo>
                    <a:pt x="6536690" y="0"/>
                    <a:pt x="6602730" y="66040"/>
                    <a:pt x="6602730" y="147574"/>
                  </a:cubicBezTo>
                  <a:lnTo>
                    <a:pt x="6602730" y="2157476"/>
                  </a:lnTo>
                  <a:cubicBezTo>
                    <a:pt x="6602730" y="2239010"/>
                    <a:pt x="6536690" y="2305050"/>
                    <a:pt x="6455156" y="2305050"/>
                  </a:cubicBezTo>
                  <a:lnTo>
                    <a:pt x="147574" y="2305050"/>
                  </a:lnTo>
                  <a:cubicBezTo>
                    <a:pt x="66040" y="2305050"/>
                    <a:pt x="0" y="2239010"/>
                    <a:pt x="0" y="2157476"/>
                  </a:cubicBezTo>
                  <a:close/>
                </a:path>
              </a:pathLst>
            </a:custGeom>
            <a:solidFill>
              <a:srgbClr val="FDFDFB"/>
            </a:solidFill>
            <a:ln w="14288" cap="sq">
              <a:solidFill>
                <a:srgbClr val="D3DCD9"/>
              </a:solidFill>
              <a:prstDash val="solid"/>
              <a:miter/>
            </a:ln>
          </p:spPr>
        </p:sp>
      </p:grpSp>
      <p:sp>
        <p:nvSpPr>
          <p:cNvPr name="TextBox 11" id="11"/>
          <p:cNvSpPr txBox="true"/>
          <p:nvPr/>
        </p:nvSpPr>
        <p:spPr>
          <a:xfrm rot="0">
            <a:off x="12481560" y="2999613"/>
            <a:ext cx="4251960" cy="676275"/>
          </a:xfrm>
          <a:prstGeom prst="rect">
            <a:avLst/>
          </a:prstGeom>
        </p:spPr>
        <p:txBody>
          <a:bodyPr anchor="t" rtlCol="false" tIns="0" lIns="0" bIns="0" rIns="0">
            <a:spAutoFit/>
          </a:bodyPr>
          <a:lstStyle/>
          <a:p>
            <a:pPr algn="l">
              <a:lnSpc>
                <a:spcPts val="4320"/>
              </a:lnSpc>
            </a:pPr>
            <a:r>
              <a:rPr lang="en-US" sz="3600" b="true">
                <a:solidFill>
                  <a:srgbClr val="0B6E60"/>
                </a:solidFill>
                <a:latin typeface="Source Serif Pro Bold"/>
                <a:ea typeface="Source Serif Pro Bold"/>
                <a:cs typeface="Source Serif Pro Bold"/>
                <a:sym typeface="Source Serif Pro Bold"/>
              </a:rPr>
              <a:t>3.2 → 7.1</a:t>
            </a:r>
          </a:p>
        </p:txBody>
      </p:sp>
      <p:sp>
        <p:nvSpPr>
          <p:cNvPr name="TextBox 12" id="12"/>
          <p:cNvSpPr txBox="true"/>
          <p:nvPr/>
        </p:nvSpPr>
        <p:spPr>
          <a:xfrm rot="0">
            <a:off x="12481560" y="3712845"/>
            <a:ext cx="4320540" cy="676275"/>
          </a:xfrm>
          <a:prstGeom prst="rect">
            <a:avLst/>
          </a:prstGeom>
        </p:spPr>
        <p:txBody>
          <a:bodyPr anchor="t" rtlCol="false" tIns="0" lIns="0" bIns="0" rIns="0">
            <a:spAutoFit/>
          </a:bodyPr>
          <a:lstStyle/>
          <a:p>
            <a:pPr algn="l">
              <a:lnSpc>
                <a:spcPts val="1889"/>
              </a:lnSpc>
            </a:pPr>
            <a:r>
              <a:rPr lang="en-US" sz="1575">
                <a:solidFill>
                  <a:srgbClr val="3F4B57"/>
                </a:solidFill>
                <a:latin typeface="IBM Plex Sans"/>
                <a:ea typeface="IBM Plex Sans"/>
                <a:cs typeface="IBM Plex Sans"/>
                <a:sym typeface="IBM Plex Sans"/>
              </a:rPr>
              <a:t>mean score out of 8, before → after the education contact</a:t>
            </a:r>
          </a:p>
        </p:txBody>
      </p:sp>
      <p:grpSp>
        <p:nvGrpSpPr>
          <p:cNvPr name="Group 13" id="13"/>
          <p:cNvGrpSpPr/>
          <p:nvPr/>
        </p:nvGrpSpPr>
        <p:grpSpPr>
          <a:xfrm rot="0">
            <a:off x="12131516" y="4683728"/>
            <a:ext cx="4952047" cy="1728788"/>
            <a:chOff x="0" y="0"/>
            <a:chExt cx="6602730" cy="2305050"/>
          </a:xfrm>
        </p:grpSpPr>
        <p:sp>
          <p:nvSpPr>
            <p:cNvPr name="Freeform 14" id="14"/>
            <p:cNvSpPr/>
            <p:nvPr/>
          </p:nvSpPr>
          <p:spPr>
            <a:xfrm flipH="false" flipV="false" rot="0">
              <a:off x="0" y="0"/>
              <a:ext cx="6602730" cy="2305050"/>
            </a:xfrm>
            <a:custGeom>
              <a:avLst/>
              <a:gdLst/>
              <a:ahLst/>
              <a:cxnLst/>
              <a:rect r="r" b="b" t="t" l="l"/>
              <a:pathLst>
                <a:path h="2305050" w="6602730">
                  <a:moveTo>
                    <a:pt x="0" y="147574"/>
                  </a:moveTo>
                  <a:cubicBezTo>
                    <a:pt x="0" y="66040"/>
                    <a:pt x="66040" y="0"/>
                    <a:pt x="147574" y="0"/>
                  </a:cubicBezTo>
                  <a:lnTo>
                    <a:pt x="6455156" y="0"/>
                  </a:lnTo>
                  <a:cubicBezTo>
                    <a:pt x="6536690" y="0"/>
                    <a:pt x="6602730" y="66040"/>
                    <a:pt x="6602730" y="147574"/>
                  </a:cubicBezTo>
                  <a:lnTo>
                    <a:pt x="6602730" y="2157476"/>
                  </a:lnTo>
                  <a:cubicBezTo>
                    <a:pt x="6602730" y="2239010"/>
                    <a:pt x="6536690" y="2305050"/>
                    <a:pt x="6455156" y="2305050"/>
                  </a:cubicBezTo>
                  <a:lnTo>
                    <a:pt x="147574" y="2305050"/>
                  </a:lnTo>
                  <a:cubicBezTo>
                    <a:pt x="66040" y="2305050"/>
                    <a:pt x="0" y="2239010"/>
                    <a:pt x="0" y="2157476"/>
                  </a:cubicBezTo>
                  <a:close/>
                </a:path>
              </a:pathLst>
            </a:custGeom>
            <a:solidFill>
              <a:srgbClr val="FDFDFB"/>
            </a:solidFill>
            <a:ln w="14288" cap="sq">
              <a:solidFill>
                <a:srgbClr val="D3DCD9"/>
              </a:solidFill>
              <a:prstDash val="solid"/>
              <a:miter/>
            </a:ln>
          </p:spPr>
        </p:sp>
      </p:grpSp>
      <p:sp>
        <p:nvSpPr>
          <p:cNvPr name="TextBox 15" id="15"/>
          <p:cNvSpPr txBox="true"/>
          <p:nvPr/>
        </p:nvSpPr>
        <p:spPr>
          <a:xfrm rot="0">
            <a:off x="12481560" y="4947285"/>
            <a:ext cx="4251960" cy="676275"/>
          </a:xfrm>
          <a:prstGeom prst="rect">
            <a:avLst/>
          </a:prstGeom>
        </p:spPr>
        <p:txBody>
          <a:bodyPr anchor="t" rtlCol="false" tIns="0" lIns="0" bIns="0" rIns="0">
            <a:spAutoFit/>
          </a:bodyPr>
          <a:lstStyle/>
          <a:p>
            <a:pPr algn="l">
              <a:lnSpc>
                <a:spcPts val="4320"/>
              </a:lnSpc>
            </a:pPr>
            <a:r>
              <a:rPr lang="en-US" sz="3600" b="true">
                <a:solidFill>
                  <a:srgbClr val="0B6E60"/>
                </a:solidFill>
                <a:latin typeface="Source Serif Pro Bold"/>
                <a:ea typeface="Source Serif Pro Bold"/>
                <a:cs typeface="Source Serif Pro Bold"/>
                <a:sym typeface="Source Serif Pro Bold"/>
              </a:rPr>
              <a:t>99%</a:t>
            </a:r>
          </a:p>
        </p:txBody>
      </p:sp>
      <p:sp>
        <p:nvSpPr>
          <p:cNvPr name="TextBox 16" id="16"/>
          <p:cNvSpPr txBox="true"/>
          <p:nvPr/>
        </p:nvSpPr>
        <p:spPr>
          <a:xfrm rot="0">
            <a:off x="12481560" y="5660517"/>
            <a:ext cx="4320540" cy="676275"/>
          </a:xfrm>
          <a:prstGeom prst="rect">
            <a:avLst/>
          </a:prstGeom>
        </p:spPr>
        <p:txBody>
          <a:bodyPr anchor="t" rtlCol="false" tIns="0" lIns="0" bIns="0" rIns="0">
            <a:spAutoFit/>
          </a:bodyPr>
          <a:lstStyle/>
          <a:p>
            <a:pPr algn="l">
              <a:lnSpc>
                <a:spcPts val="1889"/>
              </a:lnSpc>
            </a:pPr>
            <a:r>
              <a:rPr lang="en-US" sz="1575">
                <a:solidFill>
                  <a:srgbClr val="3F4B57"/>
                </a:solidFill>
                <a:latin typeface="IBM Plex Sans"/>
                <a:ea typeface="IBM Plex Sans"/>
                <a:cs typeface="IBM Plex Sans"/>
                <a:sym typeface="IBM Plex Sans"/>
              </a:rPr>
              <a:t>of respondents improved their score</a:t>
            </a:r>
          </a:p>
        </p:txBody>
      </p:sp>
      <p:grpSp>
        <p:nvGrpSpPr>
          <p:cNvPr name="Group 17" id="17"/>
          <p:cNvGrpSpPr/>
          <p:nvPr/>
        </p:nvGrpSpPr>
        <p:grpSpPr>
          <a:xfrm rot="0">
            <a:off x="12131516" y="6631400"/>
            <a:ext cx="4952047" cy="1728788"/>
            <a:chOff x="0" y="0"/>
            <a:chExt cx="6602730" cy="2305050"/>
          </a:xfrm>
        </p:grpSpPr>
        <p:sp>
          <p:nvSpPr>
            <p:cNvPr name="Freeform 18" id="18"/>
            <p:cNvSpPr/>
            <p:nvPr/>
          </p:nvSpPr>
          <p:spPr>
            <a:xfrm flipH="false" flipV="false" rot="0">
              <a:off x="0" y="0"/>
              <a:ext cx="6602730" cy="2305050"/>
            </a:xfrm>
            <a:custGeom>
              <a:avLst/>
              <a:gdLst/>
              <a:ahLst/>
              <a:cxnLst/>
              <a:rect r="r" b="b" t="t" l="l"/>
              <a:pathLst>
                <a:path h="2305050" w="6602730">
                  <a:moveTo>
                    <a:pt x="0" y="147574"/>
                  </a:moveTo>
                  <a:cubicBezTo>
                    <a:pt x="0" y="66040"/>
                    <a:pt x="66040" y="0"/>
                    <a:pt x="147574" y="0"/>
                  </a:cubicBezTo>
                  <a:lnTo>
                    <a:pt x="6455156" y="0"/>
                  </a:lnTo>
                  <a:cubicBezTo>
                    <a:pt x="6536690" y="0"/>
                    <a:pt x="6602730" y="66040"/>
                    <a:pt x="6602730" y="147574"/>
                  </a:cubicBezTo>
                  <a:lnTo>
                    <a:pt x="6602730" y="2157476"/>
                  </a:lnTo>
                  <a:cubicBezTo>
                    <a:pt x="6602730" y="2239010"/>
                    <a:pt x="6536690" y="2305050"/>
                    <a:pt x="6455156" y="2305050"/>
                  </a:cubicBezTo>
                  <a:lnTo>
                    <a:pt x="147574" y="2305050"/>
                  </a:lnTo>
                  <a:cubicBezTo>
                    <a:pt x="66040" y="2305050"/>
                    <a:pt x="0" y="2239010"/>
                    <a:pt x="0" y="2157476"/>
                  </a:cubicBezTo>
                  <a:close/>
                </a:path>
              </a:pathLst>
            </a:custGeom>
            <a:solidFill>
              <a:srgbClr val="FDFDFB"/>
            </a:solidFill>
            <a:ln w="14288" cap="sq">
              <a:solidFill>
                <a:srgbClr val="D3DCD9"/>
              </a:solidFill>
              <a:prstDash val="solid"/>
              <a:miter/>
            </a:ln>
          </p:spPr>
        </p:sp>
      </p:grpSp>
      <p:sp>
        <p:nvSpPr>
          <p:cNvPr name="TextBox 19" id="19"/>
          <p:cNvSpPr txBox="true"/>
          <p:nvPr/>
        </p:nvSpPr>
        <p:spPr>
          <a:xfrm rot="0">
            <a:off x="12481560" y="6894957"/>
            <a:ext cx="4251960" cy="676275"/>
          </a:xfrm>
          <a:prstGeom prst="rect">
            <a:avLst/>
          </a:prstGeom>
        </p:spPr>
        <p:txBody>
          <a:bodyPr anchor="t" rtlCol="false" tIns="0" lIns="0" bIns="0" rIns="0">
            <a:spAutoFit/>
          </a:bodyPr>
          <a:lstStyle/>
          <a:p>
            <a:pPr algn="l">
              <a:lnSpc>
                <a:spcPts val="4320"/>
              </a:lnSpc>
            </a:pPr>
            <a:r>
              <a:rPr lang="en-US" sz="3600" b="true">
                <a:solidFill>
                  <a:srgbClr val="0B6E60"/>
                </a:solidFill>
                <a:latin typeface="Source Serif Pro Bold"/>
                <a:ea typeface="Source Serif Pro Bold"/>
                <a:cs typeface="Source Serif Pro Bold"/>
                <a:sym typeface="Source Serif Pro Bold"/>
              </a:rPr>
              <a:t>4% → 95%</a:t>
            </a:r>
          </a:p>
        </p:txBody>
      </p:sp>
      <p:sp>
        <p:nvSpPr>
          <p:cNvPr name="TextBox 20" id="20"/>
          <p:cNvSpPr txBox="true"/>
          <p:nvPr/>
        </p:nvSpPr>
        <p:spPr>
          <a:xfrm rot="0">
            <a:off x="12481560" y="7608189"/>
            <a:ext cx="4320540" cy="676275"/>
          </a:xfrm>
          <a:prstGeom prst="rect">
            <a:avLst/>
          </a:prstGeom>
        </p:spPr>
        <p:txBody>
          <a:bodyPr anchor="t" rtlCol="false" tIns="0" lIns="0" bIns="0" rIns="0">
            <a:spAutoFit/>
          </a:bodyPr>
          <a:lstStyle/>
          <a:p>
            <a:pPr algn="l">
              <a:lnSpc>
                <a:spcPts val="1889"/>
              </a:lnSpc>
            </a:pPr>
            <a:r>
              <a:rPr lang="en-US" sz="1575">
                <a:solidFill>
                  <a:srgbClr val="3F4B57"/>
                </a:solidFill>
                <a:latin typeface="IBM Plex Sans"/>
                <a:ea typeface="IBM Plex Sans"/>
                <a:cs typeface="IBM Plex Sans"/>
                <a:sym typeface="IBM Plex Sans"/>
              </a:rPr>
              <a:t>respondents scoring 6 or more out of 8</a:t>
            </a:r>
          </a:p>
        </p:txBody>
      </p:sp>
      <p:sp>
        <p:nvSpPr>
          <p:cNvPr name="TextBox 21" id="21"/>
          <p:cNvSpPr txBox="true"/>
          <p:nvPr/>
        </p:nvSpPr>
        <p:spPr>
          <a:xfrm rot="0">
            <a:off x="12138660" y="8604123"/>
            <a:ext cx="4937760" cy="695325"/>
          </a:xfrm>
          <a:prstGeom prst="rect">
            <a:avLst/>
          </a:prstGeom>
        </p:spPr>
        <p:txBody>
          <a:bodyPr anchor="t" rtlCol="false" tIns="0" lIns="0" bIns="0" rIns="0">
            <a:spAutoFit/>
          </a:bodyPr>
          <a:lstStyle/>
          <a:p>
            <a:pPr algn="l">
              <a:lnSpc>
                <a:spcPts val="1620"/>
              </a:lnSpc>
            </a:pPr>
            <a:r>
              <a:rPr lang="en-US" sz="1350" i="true">
                <a:solidFill>
                  <a:srgbClr val="5B6770"/>
                </a:solidFill>
                <a:latin typeface="IBM Plex Sans Italics"/>
                <a:ea typeface="IBM Plex Sans Italics"/>
                <a:cs typeface="IBM Plex Sans Italics"/>
                <a:sym typeface="IBM Plex Sans Italics"/>
              </a:rPr>
              <a:t>Largest gains in the topics known least at baseline: livestock use (+58 pp), what resistance is (+57 pp), viral illness and sharing (+54 pp).</a:t>
            </a:r>
          </a:p>
        </p:txBody>
      </p:sp>
      <p:grpSp>
        <p:nvGrpSpPr>
          <p:cNvPr name="Group 22" id="22"/>
          <p:cNvGrpSpPr/>
          <p:nvPr/>
        </p:nvGrpSpPr>
        <p:grpSpPr>
          <a:xfrm rot="0">
            <a:off x="1220724" y="9354312"/>
            <a:ext cx="11658600" cy="356616"/>
            <a:chOff x="0" y="0"/>
            <a:chExt cx="15544800" cy="475488"/>
          </a:xfrm>
        </p:grpSpPr>
        <p:sp>
          <p:nvSpPr>
            <p:cNvPr name="Freeform 23" id="23"/>
            <p:cNvSpPr/>
            <p:nvPr/>
          </p:nvSpPr>
          <p:spPr>
            <a:xfrm flipH="false" flipV="false" rot="0">
              <a:off x="0" y="0"/>
              <a:ext cx="15544800" cy="475488"/>
            </a:xfrm>
            <a:custGeom>
              <a:avLst/>
              <a:gdLst/>
              <a:ahLst/>
              <a:cxnLst/>
              <a:rect r="r" b="b" t="t" l="l"/>
              <a:pathLst>
                <a:path h="475488" w="15544800">
                  <a:moveTo>
                    <a:pt x="0" y="0"/>
                  </a:moveTo>
                  <a:lnTo>
                    <a:pt x="15544800" y="0"/>
                  </a:lnTo>
                  <a:lnTo>
                    <a:pt x="15544800" y="475488"/>
                  </a:lnTo>
                  <a:lnTo>
                    <a:pt x="0" y="475488"/>
                  </a:lnTo>
                  <a:close/>
                </a:path>
              </a:pathLst>
            </a:custGeom>
            <a:blipFill>
              <a:blip r:embed="rId3">
                <a:alphaModFix amt="0"/>
              </a:blip>
              <a:stretch>
                <a:fillRect l="0" t="-587010" r="0" b="-587010"/>
              </a:stretch>
            </a:blipFill>
          </p:spPr>
        </p:sp>
        <p:sp>
          <p:nvSpPr>
            <p:cNvPr name="TextBox 24" id="24"/>
            <p:cNvSpPr txBox="true"/>
            <p:nvPr/>
          </p:nvSpPr>
          <p:spPr>
            <a:xfrm>
              <a:off x="0" y="0"/>
              <a:ext cx="15544800" cy="475488"/>
            </a:xfrm>
            <a:prstGeom prst="rect">
              <a:avLst/>
            </a:prstGeom>
          </p:spPr>
          <p:txBody>
            <a:bodyPr anchor="ctr" rtlCol="false" tIns="0" lIns="0" bIns="0" rIns="0"/>
            <a:lstStyle/>
            <a:p>
              <a:pPr algn="l">
                <a:lnSpc>
                  <a:spcPts val="1800"/>
                </a:lnSpc>
              </a:pPr>
              <a:r>
                <a:rPr lang="en-US" sz="1500">
                  <a:solidFill>
                    <a:srgbClr val="5B6770"/>
                  </a:solidFill>
                  <a:latin typeface="IBM Plex Sans"/>
                  <a:ea typeface="IBM Plex Sans"/>
                  <a:cs typeface="IBM Plex Sans"/>
                  <a:sym typeface="IBM Plex Sans"/>
                </a:rPr>
                <a:t>Preserving Our Medicines · Community Antibiotic Stewardship, Chakwal, Pakistan</a:t>
              </a:r>
            </a:p>
          </p:txBody>
        </p:sp>
      </p:grpSp>
      <p:grpSp>
        <p:nvGrpSpPr>
          <p:cNvPr name="Group 25" id="25"/>
          <p:cNvGrpSpPr/>
          <p:nvPr/>
        </p:nvGrpSpPr>
        <p:grpSpPr>
          <a:xfrm rot="0">
            <a:off x="15695219" y="9354312"/>
            <a:ext cx="1371600" cy="356616"/>
            <a:chOff x="0" y="0"/>
            <a:chExt cx="1828800" cy="475488"/>
          </a:xfrm>
        </p:grpSpPr>
        <p:sp>
          <p:nvSpPr>
            <p:cNvPr name="Freeform 26" id="26"/>
            <p:cNvSpPr/>
            <p:nvPr/>
          </p:nvSpPr>
          <p:spPr>
            <a:xfrm flipH="false" flipV="false" rot="0">
              <a:off x="0" y="0"/>
              <a:ext cx="1828800" cy="475488"/>
            </a:xfrm>
            <a:custGeom>
              <a:avLst/>
              <a:gdLst/>
              <a:ahLst/>
              <a:cxnLst/>
              <a:rect r="r" b="b" t="t" l="l"/>
              <a:pathLst>
                <a:path h="475488" w="1828800">
                  <a:moveTo>
                    <a:pt x="0" y="0"/>
                  </a:moveTo>
                  <a:lnTo>
                    <a:pt x="1828800" y="0"/>
                  </a:lnTo>
                  <a:lnTo>
                    <a:pt x="1828800" y="475488"/>
                  </a:lnTo>
                  <a:lnTo>
                    <a:pt x="0" y="475488"/>
                  </a:lnTo>
                  <a:close/>
                </a:path>
              </a:pathLst>
            </a:custGeom>
            <a:blipFill>
              <a:blip r:embed="rId3">
                <a:alphaModFix amt="0"/>
              </a:blip>
              <a:stretch>
                <a:fillRect l="0" t="-24942" r="0" b="-24942"/>
              </a:stretch>
            </a:blipFill>
          </p:spPr>
        </p:sp>
        <p:sp>
          <p:nvSpPr>
            <p:cNvPr name="TextBox 27" id="27"/>
            <p:cNvSpPr txBox="true"/>
            <p:nvPr/>
          </p:nvSpPr>
          <p:spPr>
            <a:xfrm>
              <a:off x="0" y="0"/>
              <a:ext cx="1828800" cy="475488"/>
            </a:xfrm>
            <a:prstGeom prst="rect">
              <a:avLst/>
            </a:prstGeom>
          </p:spPr>
          <p:txBody>
            <a:bodyPr anchor="ctr" rtlCol="false" tIns="0" lIns="0" bIns="0" rIns="0"/>
            <a:lstStyle/>
            <a:p>
              <a:pPr algn="r">
                <a:lnSpc>
                  <a:spcPts val="1800"/>
                </a:lnSpc>
              </a:pPr>
              <a:r>
                <a:rPr lang="en-US" sz="1500">
                  <a:solidFill>
                    <a:srgbClr val="5B6770"/>
                  </a:solidFill>
                  <a:latin typeface="IBM Plex Sans"/>
                  <a:ea typeface="IBM Plex Sans"/>
                  <a:cs typeface="IBM Plex Sans"/>
                  <a:sym typeface="IBM Plex Sans"/>
                </a:rPr>
                <a:t>15</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EAF0EE"/>
        </a:solidFill>
      </p:bgPr>
    </p:bg>
    <p:spTree>
      <p:nvGrpSpPr>
        <p:cNvPr id="1" name=""/>
        <p:cNvGrpSpPr/>
        <p:nvPr/>
      </p:nvGrpSpPr>
      <p:grpSpPr>
        <a:xfrm>
          <a:off x="0" y="0"/>
          <a:ext cx="0" cy="0"/>
          <a:chOff x="0" y="0"/>
          <a:chExt cx="0" cy="0"/>
        </a:xfrm>
      </p:grpSpPr>
      <p:grpSp>
        <p:nvGrpSpPr>
          <p:cNvPr name="Group 2" id="2"/>
          <p:cNvGrpSpPr/>
          <p:nvPr/>
        </p:nvGrpSpPr>
        <p:grpSpPr>
          <a:xfrm rot="0">
            <a:off x="1220724" y="1124712"/>
            <a:ext cx="15846095" cy="384048"/>
            <a:chOff x="0" y="0"/>
            <a:chExt cx="21128126" cy="512064"/>
          </a:xfrm>
        </p:grpSpPr>
        <p:sp>
          <p:nvSpPr>
            <p:cNvPr name="Freeform 3" id="3"/>
            <p:cNvSpPr/>
            <p:nvPr/>
          </p:nvSpPr>
          <p:spPr>
            <a:xfrm flipH="false" flipV="false" rot="0">
              <a:off x="0" y="0"/>
              <a:ext cx="21128126" cy="512064"/>
            </a:xfrm>
            <a:custGeom>
              <a:avLst/>
              <a:gdLst/>
              <a:ahLst/>
              <a:cxnLst/>
              <a:rect r="r" b="b" t="t" l="l"/>
              <a:pathLst>
                <a:path h="512064" w="21128126">
                  <a:moveTo>
                    <a:pt x="0" y="0"/>
                  </a:moveTo>
                  <a:lnTo>
                    <a:pt x="21128126" y="0"/>
                  </a:lnTo>
                  <a:lnTo>
                    <a:pt x="21128126" y="512064"/>
                  </a:lnTo>
                  <a:lnTo>
                    <a:pt x="0" y="512064"/>
                  </a:lnTo>
                  <a:close/>
                </a:path>
              </a:pathLst>
            </a:custGeom>
            <a:blipFill>
              <a:blip r:embed="rId3">
                <a:alphaModFix amt="0"/>
              </a:blip>
              <a:stretch>
                <a:fillRect l="0" t="-753966" r="0" b="-753966"/>
              </a:stretch>
            </a:blipFill>
          </p:spPr>
        </p:sp>
        <p:sp>
          <p:nvSpPr>
            <p:cNvPr name="TextBox 4" id="4"/>
            <p:cNvSpPr txBox="true"/>
            <p:nvPr/>
          </p:nvSpPr>
          <p:spPr>
            <a:xfrm>
              <a:off x="0" y="0"/>
              <a:ext cx="21128126" cy="512064"/>
            </a:xfrm>
            <a:prstGeom prst="rect">
              <a:avLst/>
            </a:prstGeom>
          </p:spPr>
          <p:txBody>
            <a:bodyPr anchor="ctr" rtlCol="false" tIns="0" lIns="0" bIns="0" rIns="0"/>
            <a:lstStyle/>
            <a:p>
              <a:pPr algn="l">
                <a:lnSpc>
                  <a:spcPts val="1980"/>
                </a:lnSpc>
              </a:pPr>
              <a:r>
                <a:rPr lang="en-US" b="true" sz="1650" spc="299">
                  <a:solidFill>
                    <a:srgbClr val="0B6E60"/>
                  </a:solidFill>
                  <a:latin typeface="IBM Plex Sans Bold"/>
                  <a:ea typeface="IBM Plex Sans Bold"/>
                  <a:cs typeface="IBM Plex Sans Bold"/>
                  <a:sym typeface="IBM Plex Sans Bold"/>
                </a:rPr>
                <a:t>12 · SURVEY RESULTS: PRACTICE</a:t>
              </a:r>
            </a:p>
          </p:txBody>
        </p:sp>
      </p:grpSp>
      <p:grpSp>
        <p:nvGrpSpPr>
          <p:cNvPr name="Group 5" id="5"/>
          <p:cNvGrpSpPr/>
          <p:nvPr/>
        </p:nvGrpSpPr>
        <p:grpSpPr>
          <a:xfrm rot="0">
            <a:off x="1220724" y="1536192"/>
            <a:ext cx="15846095" cy="850392"/>
            <a:chOff x="0" y="0"/>
            <a:chExt cx="21128126" cy="1133856"/>
          </a:xfrm>
        </p:grpSpPr>
        <p:sp>
          <p:nvSpPr>
            <p:cNvPr name="Freeform 6" id="6"/>
            <p:cNvSpPr/>
            <p:nvPr/>
          </p:nvSpPr>
          <p:spPr>
            <a:xfrm flipH="false" flipV="false" rot="0">
              <a:off x="0" y="0"/>
              <a:ext cx="21128126" cy="1133856"/>
            </a:xfrm>
            <a:custGeom>
              <a:avLst/>
              <a:gdLst/>
              <a:ahLst/>
              <a:cxnLst/>
              <a:rect r="r" b="b" t="t" l="l"/>
              <a:pathLst>
                <a:path h="1133856" w="21128126">
                  <a:moveTo>
                    <a:pt x="0" y="0"/>
                  </a:moveTo>
                  <a:lnTo>
                    <a:pt x="21128126" y="0"/>
                  </a:lnTo>
                  <a:lnTo>
                    <a:pt x="21128126" y="1133856"/>
                  </a:lnTo>
                  <a:lnTo>
                    <a:pt x="0" y="1133856"/>
                  </a:lnTo>
                  <a:close/>
                </a:path>
              </a:pathLst>
            </a:custGeom>
            <a:blipFill>
              <a:blip r:embed="rId3">
                <a:alphaModFix amt="0"/>
              </a:blip>
              <a:stretch>
                <a:fillRect l="0" t="-313081" r="0" b="-313081"/>
              </a:stretch>
            </a:blipFill>
          </p:spPr>
        </p:sp>
        <p:sp>
          <p:nvSpPr>
            <p:cNvPr name="TextBox 7" id="7"/>
            <p:cNvSpPr txBox="true"/>
            <p:nvPr/>
          </p:nvSpPr>
          <p:spPr>
            <a:xfrm>
              <a:off x="0" y="0"/>
              <a:ext cx="21128126" cy="1133856"/>
            </a:xfrm>
            <a:prstGeom prst="rect">
              <a:avLst/>
            </a:prstGeom>
          </p:spPr>
          <p:txBody>
            <a:bodyPr anchor="ctr" rtlCol="false" tIns="0" lIns="0" bIns="0" rIns="0"/>
            <a:lstStyle/>
            <a:p>
              <a:pPr algn="l">
                <a:lnSpc>
                  <a:spcPts val="5400"/>
                </a:lnSpc>
              </a:pPr>
              <a:r>
                <a:rPr lang="en-US" sz="4500" b="true">
                  <a:solidFill>
                    <a:srgbClr val="14304A"/>
                  </a:solidFill>
                  <a:latin typeface="Source Serif Pro Bold"/>
                  <a:ea typeface="Source Serif Pro Bold"/>
                  <a:cs typeface="Source Serif Pro Bold"/>
                  <a:sym typeface="Source Serif Pro Bold"/>
                </a:rPr>
                <a:t>Risky antibiotic practices fell by half within eight weeks</a:t>
              </a:r>
            </a:p>
          </p:txBody>
        </p:sp>
      </p:grpSp>
      <p:pic>
        <p:nvPicPr>
          <p:cNvPr name="Picture 8" id="8"/>
          <p:cNvPicPr>
            <a:picLocks noChangeAspect="true"/>
          </p:cNvPicPr>
          <p:nvPr/>
        </p:nvPicPr>
        <p:blipFill>
          <a:blip r:embed="rId4"/>
          <a:stretch>
            <a:fillRect/>
          </a:stretch>
        </p:blipFill>
        <p:spPr>
          <a:xfrm rot="0">
            <a:off x="178308" y="1700784"/>
            <a:ext cx="12508992" cy="7845552"/>
          </a:xfrm>
          <a:prstGeom prst="rect">
            <a:avLst/>
          </a:prstGeom>
        </p:spPr>
      </p:pic>
      <p:grpSp>
        <p:nvGrpSpPr>
          <p:cNvPr name="Group 9" id="9"/>
          <p:cNvGrpSpPr/>
          <p:nvPr/>
        </p:nvGrpSpPr>
        <p:grpSpPr>
          <a:xfrm rot="0">
            <a:off x="12131516" y="2736056"/>
            <a:ext cx="4952047" cy="1728788"/>
            <a:chOff x="0" y="0"/>
            <a:chExt cx="6602730" cy="2305050"/>
          </a:xfrm>
        </p:grpSpPr>
        <p:sp>
          <p:nvSpPr>
            <p:cNvPr name="Freeform 10" id="10"/>
            <p:cNvSpPr/>
            <p:nvPr/>
          </p:nvSpPr>
          <p:spPr>
            <a:xfrm flipH="false" flipV="false" rot="0">
              <a:off x="0" y="0"/>
              <a:ext cx="6602730" cy="2305050"/>
            </a:xfrm>
            <a:custGeom>
              <a:avLst/>
              <a:gdLst/>
              <a:ahLst/>
              <a:cxnLst/>
              <a:rect r="r" b="b" t="t" l="l"/>
              <a:pathLst>
                <a:path h="2305050" w="6602730">
                  <a:moveTo>
                    <a:pt x="0" y="147574"/>
                  </a:moveTo>
                  <a:cubicBezTo>
                    <a:pt x="0" y="66040"/>
                    <a:pt x="66040" y="0"/>
                    <a:pt x="147574" y="0"/>
                  </a:cubicBezTo>
                  <a:lnTo>
                    <a:pt x="6455156" y="0"/>
                  </a:lnTo>
                  <a:cubicBezTo>
                    <a:pt x="6536690" y="0"/>
                    <a:pt x="6602730" y="66040"/>
                    <a:pt x="6602730" y="147574"/>
                  </a:cubicBezTo>
                  <a:lnTo>
                    <a:pt x="6602730" y="2157476"/>
                  </a:lnTo>
                  <a:cubicBezTo>
                    <a:pt x="6602730" y="2239010"/>
                    <a:pt x="6536690" y="2305050"/>
                    <a:pt x="6455156" y="2305050"/>
                  </a:cubicBezTo>
                  <a:lnTo>
                    <a:pt x="147574" y="2305050"/>
                  </a:lnTo>
                  <a:cubicBezTo>
                    <a:pt x="66040" y="2305050"/>
                    <a:pt x="0" y="2239010"/>
                    <a:pt x="0" y="2157476"/>
                  </a:cubicBezTo>
                  <a:close/>
                </a:path>
              </a:pathLst>
            </a:custGeom>
            <a:solidFill>
              <a:srgbClr val="FDFDFB"/>
            </a:solidFill>
            <a:ln w="14288" cap="sq">
              <a:solidFill>
                <a:srgbClr val="D3DCD9"/>
              </a:solidFill>
              <a:prstDash val="solid"/>
              <a:miter/>
            </a:ln>
          </p:spPr>
        </p:sp>
      </p:grpSp>
      <p:sp>
        <p:nvSpPr>
          <p:cNvPr name="TextBox 11" id="11"/>
          <p:cNvSpPr txBox="true"/>
          <p:nvPr/>
        </p:nvSpPr>
        <p:spPr>
          <a:xfrm rot="0">
            <a:off x="12481560" y="2999613"/>
            <a:ext cx="4251960" cy="676275"/>
          </a:xfrm>
          <a:prstGeom prst="rect">
            <a:avLst/>
          </a:prstGeom>
        </p:spPr>
        <p:txBody>
          <a:bodyPr anchor="t" rtlCol="false" tIns="0" lIns="0" bIns="0" rIns="0">
            <a:spAutoFit/>
          </a:bodyPr>
          <a:lstStyle/>
          <a:p>
            <a:pPr algn="l">
              <a:lnSpc>
                <a:spcPts val="4320"/>
              </a:lnSpc>
            </a:pPr>
            <a:r>
              <a:rPr lang="en-US" sz="3600" b="true">
                <a:solidFill>
                  <a:srgbClr val="0B6E60"/>
                </a:solidFill>
                <a:latin typeface="Source Serif Pro Bold"/>
                <a:ea typeface="Source Serif Pro Bold"/>
                <a:cs typeface="Source Serif Pro Bold"/>
                <a:sym typeface="Source Serif Pro Bold"/>
              </a:rPr>
              <a:t>67% → 39%</a:t>
            </a:r>
          </a:p>
        </p:txBody>
      </p:sp>
      <p:sp>
        <p:nvSpPr>
          <p:cNvPr name="TextBox 12" id="12"/>
          <p:cNvSpPr txBox="true"/>
          <p:nvPr/>
        </p:nvSpPr>
        <p:spPr>
          <a:xfrm rot="0">
            <a:off x="12481560" y="3712845"/>
            <a:ext cx="4320540" cy="676275"/>
          </a:xfrm>
          <a:prstGeom prst="rect">
            <a:avLst/>
          </a:prstGeom>
        </p:spPr>
        <p:txBody>
          <a:bodyPr anchor="t" rtlCol="false" tIns="0" lIns="0" bIns="0" rIns="0">
            <a:spAutoFit/>
          </a:bodyPr>
          <a:lstStyle/>
          <a:p>
            <a:pPr algn="l">
              <a:lnSpc>
                <a:spcPts val="1889"/>
              </a:lnSpc>
            </a:pPr>
            <a:r>
              <a:rPr lang="en-US" sz="1575">
                <a:solidFill>
                  <a:srgbClr val="3F4B57"/>
                </a:solidFill>
                <a:latin typeface="IBM Plex Sans"/>
                <a:ea typeface="IBM Plex Sans"/>
                <a:cs typeface="IBM Plex Sans"/>
                <a:sym typeface="IBM Plex Sans"/>
              </a:rPr>
              <a:t>bought antibiotics without a prescription (–43% relative)</a:t>
            </a:r>
          </a:p>
        </p:txBody>
      </p:sp>
      <p:grpSp>
        <p:nvGrpSpPr>
          <p:cNvPr name="Group 13" id="13"/>
          <p:cNvGrpSpPr/>
          <p:nvPr/>
        </p:nvGrpSpPr>
        <p:grpSpPr>
          <a:xfrm rot="0">
            <a:off x="12131516" y="4683728"/>
            <a:ext cx="4952047" cy="1728788"/>
            <a:chOff x="0" y="0"/>
            <a:chExt cx="6602730" cy="2305050"/>
          </a:xfrm>
        </p:grpSpPr>
        <p:sp>
          <p:nvSpPr>
            <p:cNvPr name="Freeform 14" id="14"/>
            <p:cNvSpPr/>
            <p:nvPr/>
          </p:nvSpPr>
          <p:spPr>
            <a:xfrm flipH="false" flipV="false" rot="0">
              <a:off x="0" y="0"/>
              <a:ext cx="6602730" cy="2305050"/>
            </a:xfrm>
            <a:custGeom>
              <a:avLst/>
              <a:gdLst/>
              <a:ahLst/>
              <a:cxnLst/>
              <a:rect r="r" b="b" t="t" l="l"/>
              <a:pathLst>
                <a:path h="2305050" w="6602730">
                  <a:moveTo>
                    <a:pt x="0" y="147574"/>
                  </a:moveTo>
                  <a:cubicBezTo>
                    <a:pt x="0" y="66040"/>
                    <a:pt x="66040" y="0"/>
                    <a:pt x="147574" y="0"/>
                  </a:cubicBezTo>
                  <a:lnTo>
                    <a:pt x="6455156" y="0"/>
                  </a:lnTo>
                  <a:cubicBezTo>
                    <a:pt x="6536690" y="0"/>
                    <a:pt x="6602730" y="66040"/>
                    <a:pt x="6602730" y="147574"/>
                  </a:cubicBezTo>
                  <a:lnTo>
                    <a:pt x="6602730" y="2157476"/>
                  </a:lnTo>
                  <a:cubicBezTo>
                    <a:pt x="6602730" y="2239010"/>
                    <a:pt x="6536690" y="2305050"/>
                    <a:pt x="6455156" y="2305050"/>
                  </a:cubicBezTo>
                  <a:lnTo>
                    <a:pt x="147574" y="2305050"/>
                  </a:lnTo>
                  <a:cubicBezTo>
                    <a:pt x="66040" y="2305050"/>
                    <a:pt x="0" y="2239010"/>
                    <a:pt x="0" y="2157476"/>
                  </a:cubicBezTo>
                  <a:close/>
                </a:path>
              </a:pathLst>
            </a:custGeom>
            <a:solidFill>
              <a:srgbClr val="FDFDFB"/>
            </a:solidFill>
            <a:ln w="14288" cap="sq">
              <a:solidFill>
                <a:srgbClr val="D3DCD9"/>
              </a:solidFill>
              <a:prstDash val="solid"/>
              <a:miter/>
            </a:ln>
          </p:spPr>
        </p:sp>
      </p:grpSp>
      <p:sp>
        <p:nvSpPr>
          <p:cNvPr name="TextBox 15" id="15"/>
          <p:cNvSpPr txBox="true"/>
          <p:nvPr/>
        </p:nvSpPr>
        <p:spPr>
          <a:xfrm rot="0">
            <a:off x="12481560" y="4947285"/>
            <a:ext cx="4251960" cy="676275"/>
          </a:xfrm>
          <a:prstGeom prst="rect">
            <a:avLst/>
          </a:prstGeom>
        </p:spPr>
        <p:txBody>
          <a:bodyPr anchor="t" rtlCol="false" tIns="0" lIns="0" bIns="0" rIns="0">
            <a:spAutoFit/>
          </a:bodyPr>
          <a:lstStyle/>
          <a:p>
            <a:pPr algn="l">
              <a:lnSpc>
                <a:spcPts val="4320"/>
              </a:lnSpc>
            </a:pPr>
            <a:r>
              <a:rPr lang="en-US" sz="3600" b="true">
                <a:solidFill>
                  <a:srgbClr val="0B6E60"/>
                </a:solidFill>
                <a:latin typeface="Source Serif Pro Bold"/>
                <a:ea typeface="Source Serif Pro Bold"/>
                <a:cs typeface="Source Serif Pro Bold"/>
                <a:sym typeface="Source Serif Pro Bold"/>
              </a:rPr>
              <a:t>98% → 72%</a:t>
            </a:r>
          </a:p>
        </p:txBody>
      </p:sp>
      <p:sp>
        <p:nvSpPr>
          <p:cNvPr name="TextBox 16" id="16"/>
          <p:cNvSpPr txBox="true"/>
          <p:nvPr/>
        </p:nvSpPr>
        <p:spPr>
          <a:xfrm rot="0">
            <a:off x="12481560" y="5660517"/>
            <a:ext cx="4320540" cy="676275"/>
          </a:xfrm>
          <a:prstGeom prst="rect">
            <a:avLst/>
          </a:prstGeom>
        </p:spPr>
        <p:txBody>
          <a:bodyPr anchor="t" rtlCol="false" tIns="0" lIns="0" bIns="0" rIns="0">
            <a:spAutoFit/>
          </a:bodyPr>
          <a:lstStyle/>
          <a:p>
            <a:pPr algn="l">
              <a:lnSpc>
                <a:spcPts val="1889"/>
              </a:lnSpc>
            </a:pPr>
            <a:r>
              <a:rPr lang="en-US" sz="1575">
                <a:solidFill>
                  <a:srgbClr val="3F4B57"/>
                </a:solidFill>
                <a:latin typeface="IBM Plex Sans"/>
                <a:ea typeface="IBM Plex Sans"/>
                <a:cs typeface="IBM Plex Sans"/>
                <a:sym typeface="IBM Plex Sans"/>
              </a:rPr>
              <a:t>reported at least one risky practice</a:t>
            </a:r>
          </a:p>
        </p:txBody>
      </p:sp>
      <p:grpSp>
        <p:nvGrpSpPr>
          <p:cNvPr name="Group 17" id="17"/>
          <p:cNvGrpSpPr/>
          <p:nvPr/>
        </p:nvGrpSpPr>
        <p:grpSpPr>
          <a:xfrm rot="0">
            <a:off x="12131516" y="6631400"/>
            <a:ext cx="4952047" cy="1728788"/>
            <a:chOff x="0" y="0"/>
            <a:chExt cx="6602730" cy="2305050"/>
          </a:xfrm>
        </p:grpSpPr>
        <p:sp>
          <p:nvSpPr>
            <p:cNvPr name="Freeform 18" id="18"/>
            <p:cNvSpPr/>
            <p:nvPr/>
          </p:nvSpPr>
          <p:spPr>
            <a:xfrm flipH="false" flipV="false" rot="0">
              <a:off x="0" y="0"/>
              <a:ext cx="6602730" cy="2305050"/>
            </a:xfrm>
            <a:custGeom>
              <a:avLst/>
              <a:gdLst/>
              <a:ahLst/>
              <a:cxnLst/>
              <a:rect r="r" b="b" t="t" l="l"/>
              <a:pathLst>
                <a:path h="2305050" w="6602730">
                  <a:moveTo>
                    <a:pt x="0" y="147574"/>
                  </a:moveTo>
                  <a:cubicBezTo>
                    <a:pt x="0" y="66040"/>
                    <a:pt x="66040" y="0"/>
                    <a:pt x="147574" y="0"/>
                  </a:cubicBezTo>
                  <a:lnTo>
                    <a:pt x="6455156" y="0"/>
                  </a:lnTo>
                  <a:cubicBezTo>
                    <a:pt x="6536690" y="0"/>
                    <a:pt x="6602730" y="66040"/>
                    <a:pt x="6602730" y="147574"/>
                  </a:cubicBezTo>
                  <a:lnTo>
                    <a:pt x="6602730" y="2157476"/>
                  </a:lnTo>
                  <a:cubicBezTo>
                    <a:pt x="6602730" y="2239010"/>
                    <a:pt x="6536690" y="2305050"/>
                    <a:pt x="6455156" y="2305050"/>
                  </a:cubicBezTo>
                  <a:lnTo>
                    <a:pt x="147574" y="2305050"/>
                  </a:lnTo>
                  <a:cubicBezTo>
                    <a:pt x="66040" y="2305050"/>
                    <a:pt x="0" y="2239010"/>
                    <a:pt x="0" y="2157476"/>
                  </a:cubicBezTo>
                  <a:close/>
                </a:path>
              </a:pathLst>
            </a:custGeom>
            <a:solidFill>
              <a:srgbClr val="FDFDFB"/>
            </a:solidFill>
            <a:ln w="14288" cap="sq">
              <a:solidFill>
                <a:srgbClr val="D3DCD9"/>
              </a:solidFill>
              <a:prstDash val="solid"/>
              <a:miter/>
            </a:ln>
          </p:spPr>
        </p:sp>
      </p:grpSp>
      <p:sp>
        <p:nvSpPr>
          <p:cNvPr name="TextBox 19" id="19"/>
          <p:cNvSpPr txBox="true"/>
          <p:nvPr/>
        </p:nvSpPr>
        <p:spPr>
          <a:xfrm rot="0">
            <a:off x="12481560" y="6894957"/>
            <a:ext cx="4251960" cy="676275"/>
          </a:xfrm>
          <a:prstGeom prst="rect">
            <a:avLst/>
          </a:prstGeom>
        </p:spPr>
        <p:txBody>
          <a:bodyPr anchor="t" rtlCol="false" tIns="0" lIns="0" bIns="0" rIns="0">
            <a:spAutoFit/>
          </a:bodyPr>
          <a:lstStyle/>
          <a:p>
            <a:pPr algn="l">
              <a:lnSpc>
                <a:spcPts val="4320"/>
              </a:lnSpc>
            </a:pPr>
            <a:r>
              <a:rPr lang="en-US" sz="3600" b="true">
                <a:solidFill>
                  <a:srgbClr val="0B6E60"/>
                </a:solidFill>
                <a:latin typeface="Source Serif Pro Bold"/>
                <a:ea typeface="Source Serif Pro Bold"/>
                <a:cs typeface="Source Serif Pro Bold"/>
                <a:sym typeface="Source Serif Pro Bold"/>
              </a:rPr>
              <a:t>40% → 13%</a:t>
            </a:r>
          </a:p>
        </p:txBody>
      </p:sp>
      <p:sp>
        <p:nvSpPr>
          <p:cNvPr name="TextBox 20" id="20"/>
          <p:cNvSpPr txBox="true"/>
          <p:nvPr/>
        </p:nvSpPr>
        <p:spPr>
          <a:xfrm rot="0">
            <a:off x="12481560" y="7608189"/>
            <a:ext cx="4320540" cy="676275"/>
          </a:xfrm>
          <a:prstGeom prst="rect">
            <a:avLst/>
          </a:prstGeom>
        </p:spPr>
        <p:txBody>
          <a:bodyPr anchor="t" rtlCol="false" tIns="0" lIns="0" bIns="0" rIns="0">
            <a:spAutoFit/>
          </a:bodyPr>
          <a:lstStyle/>
          <a:p>
            <a:pPr algn="l">
              <a:lnSpc>
                <a:spcPts val="1889"/>
              </a:lnSpc>
            </a:pPr>
            <a:r>
              <a:rPr lang="en-US" sz="1575">
                <a:solidFill>
                  <a:srgbClr val="3F4B57"/>
                </a:solidFill>
                <a:latin typeface="IBM Plex Sans"/>
                <a:ea typeface="IBM Plex Sans"/>
                <a:cs typeface="IBM Plex Sans"/>
                <a:sym typeface="IBM Plex Sans"/>
              </a:rPr>
              <a:t>shared leftover antibiotics with family (–68% relative)</a:t>
            </a:r>
          </a:p>
        </p:txBody>
      </p:sp>
      <p:sp>
        <p:nvSpPr>
          <p:cNvPr name="TextBox 21" id="21"/>
          <p:cNvSpPr txBox="true"/>
          <p:nvPr/>
        </p:nvSpPr>
        <p:spPr>
          <a:xfrm rot="0">
            <a:off x="12138660" y="8604123"/>
            <a:ext cx="4937760" cy="695325"/>
          </a:xfrm>
          <a:prstGeom prst="rect">
            <a:avLst/>
          </a:prstGeom>
        </p:spPr>
        <p:txBody>
          <a:bodyPr anchor="t" rtlCol="false" tIns="0" lIns="0" bIns="0" rIns="0">
            <a:spAutoFit/>
          </a:bodyPr>
          <a:lstStyle/>
          <a:p>
            <a:pPr algn="l">
              <a:lnSpc>
                <a:spcPts val="1620"/>
              </a:lnSpc>
            </a:pPr>
            <a:r>
              <a:rPr lang="en-US" sz="1350" i="true">
                <a:solidFill>
                  <a:srgbClr val="5B6770"/>
                </a:solidFill>
                <a:latin typeface="IBM Plex Sans Italics"/>
                <a:ea typeface="IBM Plex Sans Italics"/>
                <a:cs typeface="IBM Plex Sans Italics"/>
                <a:sym typeface="IBM Plex Sans Italics"/>
              </a:rPr>
              <a:t>Knowledge gains were similar for women (105) and men (95) and across all age groups and villages; over-the-counter buying remains the hardest habit to shift.</a:t>
            </a:r>
          </a:p>
        </p:txBody>
      </p:sp>
      <p:grpSp>
        <p:nvGrpSpPr>
          <p:cNvPr name="Group 22" id="22"/>
          <p:cNvGrpSpPr/>
          <p:nvPr/>
        </p:nvGrpSpPr>
        <p:grpSpPr>
          <a:xfrm rot="0">
            <a:off x="1220724" y="9354312"/>
            <a:ext cx="11658600" cy="356616"/>
            <a:chOff x="0" y="0"/>
            <a:chExt cx="15544800" cy="475488"/>
          </a:xfrm>
        </p:grpSpPr>
        <p:sp>
          <p:nvSpPr>
            <p:cNvPr name="Freeform 23" id="23"/>
            <p:cNvSpPr/>
            <p:nvPr/>
          </p:nvSpPr>
          <p:spPr>
            <a:xfrm flipH="false" flipV="false" rot="0">
              <a:off x="0" y="0"/>
              <a:ext cx="15544800" cy="475488"/>
            </a:xfrm>
            <a:custGeom>
              <a:avLst/>
              <a:gdLst/>
              <a:ahLst/>
              <a:cxnLst/>
              <a:rect r="r" b="b" t="t" l="l"/>
              <a:pathLst>
                <a:path h="475488" w="15544800">
                  <a:moveTo>
                    <a:pt x="0" y="0"/>
                  </a:moveTo>
                  <a:lnTo>
                    <a:pt x="15544800" y="0"/>
                  </a:lnTo>
                  <a:lnTo>
                    <a:pt x="15544800" y="475488"/>
                  </a:lnTo>
                  <a:lnTo>
                    <a:pt x="0" y="475488"/>
                  </a:lnTo>
                  <a:close/>
                </a:path>
              </a:pathLst>
            </a:custGeom>
            <a:blipFill>
              <a:blip r:embed="rId3">
                <a:alphaModFix amt="0"/>
              </a:blip>
              <a:stretch>
                <a:fillRect l="0" t="-587010" r="0" b="-587010"/>
              </a:stretch>
            </a:blipFill>
          </p:spPr>
        </p:sp>
        <p:sp>
          <p:nvSpPr>
            <p:cNvPr name="TextBox 24" id="24"/>
            <p:cNvSpPr txBox="true"/>
            <p:nvPr/>
          </p:nvSpPr>
          <p:spPr>
            <a:xfrm>
              <a:off x="0" y="0"/>
              <a:ext cx="15544800" cy="475488"/>
            </a:xfrm>
            <a:prstGeom prst="rect">
              <a:avLst/>
            </a:prstGeom>
          </p:spPr>
          <p:txBody>
            <a:bodyPr anchor="ctr" rtlCol="false" tIns="0" lIns="0" bIns="0" rIns="0"/>
            <a:lstStyle/>
            <a:p>
              <a:pPr algn="l">
                <a:lnSpc>
                  <a:spcPts val="1800"/>
                </a:lnSpc>
              </a:pPr>
              <a:r>
                <a:rPr lang="en-US" sz="1500">
                  <a:solidFill>
                    <a:srgbClr val="5B6770"/>
                  </a:solidFill>
                  <a:latin typeface="IBM Plex Sans"/>
                  <a:ea typeface="IBM Plex Sans"/>
                  <a:cs typeface="IBM Plex Sans"/>
                  <a:sym typeface="IBM Plex Sans"/>
                </a:rPr>
                <a:t>Preserving Our Medicines · Community Antibiotic Stewardship, Chakwal, Pakistan</a:t>
              </a:r>
            </a:p>
          </p:txBody>
        </p:sp>
      </p:grpSp>
      <p:grpSp>
        <p:nvGrpSpPr>
          <p:cNvPr name="Group 25" id="25"/>
          <p:cNvGrpSpPr/>
          <p:nvPr/>
        </p:nvGrpSpPr>
        <p:grpSpPr>
          <a:xfrm rot="0">
            <a:off x="15695219" y="9354312"/>
            <a:ext cx="1371600" cy="356616"/>
            <a:chOff x="0" y="0"/>
            <a:chExt cx="1828800" cy="475488"/>
          </a:xfrm>
        </p:grpSpPr>
        <p:sp>
          <p:nvSpPr>
            <p:cNvPr name="Freeform 26" id="26"/>
            <p:cNvSpPr/>
            <p:nvPr/>
          </p:nvSpPr>
          <p:spPr>
            <a:xfrm flipH="false" flipV="false" rot="0">
              <a:off x="0" y="0"/>
              <a:ext cx="1828800" cy="475488"/>
            </a:xfrm>
            <a:custGeom>
              <a:avLst/>
              <a:gdLst/>
              <a:ahLst/>
              <a:cxnLst/>
              <a:rect r="r" b="b" t="t" l="l"/>
              <a:pathLst>
                <a:path h="475488" w="1828800">
                  <a:moveTo>
                    <a:pt x="0" y="0"/>
                  </a:moveTo>
                  <a:lnTo>
                    <a:pt x="1828800" y="0"/>
                  </a:lnTo>
                  <a:lnTo>
                    <a:pt x="1828800" y="475488"/>
                  </a:lnTo>
                  <a:lnTo>
                    <a:pt x="0" y="475488"/>
                  </a:lnTo>
                  <a:close/>
                </a:path>
              </a:pathLst>
            </a:custGeom>
            <a:blipFill>
              <a:blip r:embed="rId3">
                <a:alphaModFix amt="0"/>
              </a:blip>
              <a:stretch>
                <a:fillRect l="0" t="-24942" r="0" b="-24942"/>
              </a:stretch>
            </a:blipFill>
          </p:spPr>
        </p:sp>
        <p:sp>
          <p:nvSpPr>
            <p:cNvPr name="TextBox 27" id="27"/>
            <p:cNvSpPr txBox="true"/>
            <p:nvPr/>
          </p:nvSpPr>
          <p:spPr>
            <a:xfrm>
              <a:off x="0" y="0"/>
              <a:ext cx="1828800" cy="475488"/>
            </a:xfrm>
            <a:prstGeom prst="rect">
              <a:avLst/>
            </a:prstGeom>
          </p:spPr>
          <p:txBody>
            <a:bodyPr anchor="ctr" rtlCol="false" tIns="0" lIns="0" bIns="0" rIns="0"/>
            <a:lstStyle/>
            <a:p>
              <a:pPr algn="r">
                <a:lnSpc>
                  <a:spcPts val="1800"/>
                </a:lnSpc>
              </a:pPr>
              <a:r>
                <a:rPr lang="en-US" sz="1500">
                  <a:solidFill>
                    <a:srgbClr val="5B6770"/>
                  </a:solidFill>
                  <a:latin typeface="IBM Plex Sans"/>
                  <a:ea typeface="IBM Plex Sans"/>
                  <a:cs typeface="IBM Plex Sans"/>
                  <a:sym typeface="IBM Plex Sans"/>
                </a:rPr>
                <a:t>16</a:t>
              </a: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7F6F2"/>
        </a:solidFill>
      </p:bgPr>
    </p:bg>
    <p:spTree>
      <p:nvGrpSpPr>
        <p:cNvPr id="1" name=""/>
        <p:cNvGrpSpPr/>
        <p:nvPr/>
      </p:nvGrpSpPr>
      <p:grpSpPr>
        <a:xfrm>
          <a:off x="0" y="0"/>
          <a:ext cx="0" cy="0"/>
          <a:chOff x="0" y="0"/>
          <a:chExt cx="0" cy="0"/>
        </a:xfrm>
      </p:grpSpPr>
      <p:grpSp>
        <p:nvGrpSpPr>
          <p:cNvPr name="Group 2" id="2"/>
          <p:cNvGrpSpPr/>
          <p:nvPr/>
        </p:nvGrpSpPr>
        <p:grpSpPr>
          <a:xfrm rot="0">
            <a:off x="1220724" y="1124712"/>
            <a:ext cx="15846095" cy="384048"/>
            <a:chOff x="0" y="0"/>
            <a:chExt cx="21128126" cy="512064"/>
          </a:xfrm>
        </p:grpSpPr>
        <p:sp>
          <p:nvSpPr>
            <p:cNvPr name="Freeform 3" id="3"/>
            <p:cNvSpPr/>
            <p:nvPr/>
          </p:nvSpPr>
          <p:spPr>
            <a:xfrm flipH="false" flipV="false" rot="0">
              <a:off x="0" y="0"/>
              <a:ext cx="21128126" cy="512064"/>
            </a:xfrm>
            <a:custGeom>
              <a:avLst/>
              <a:gdLst/>
              <a:ahLst/>
              <a:cxnLst/>
              <a:rect r="r" b="b" t="t" l="l"/>
              <a:pathLst>
                <a:path h="512064" w="21128126">
                  <a:moveTo>
                    <a:pt x="0" y="0"/>
                  </a:moveTo>
                  <a:lnTo>
                    <a:pt x="21128126" y="0"/>
                  </a:lnTo>
                  <a:lnTo>
                    <a:pt x="21128126" y="512064"/>
                  </a:lnTo>
                  <a:lnTo>
                    <a:pt x="0" y="512064"/>
                  </a:lnTo>
                  <a:close/>
                </a:path>
              </a:pathLst>
            </a:custGeom>
            <a:blipFill>
              <a:blip r:embed="rId3">
                <a:alphaModFix amt="0"/>
              </a:blip>
              <a:stretch>
                <a:fillRect l="0" t="-753966" r="0" b="-753966"/>
              </a:stretch>
            </a:blipFill>
          </p:spPr>
        </p:sp>
        <p:sp>
          <p:nvSpPr>
            <p:cNvPr name="TextBox 4" id="4"/>
            <p:cNvSpPr txBox="true"/>
            <p:nvPr/>
          </p:nvSpPr>
          <p:spPr>
            <a:xfrm>
              <a:off x="0" y="0"/>
              <a:ext cx="21128126" cy="512064"/>
            </a:xfrm>
            <a:prstGeom prst="rect">
              <a:avLst/>
            </a:prstGeom>
          </p:spPr>
          <p:txBody>
            <a:bodyPr anchor="ctr" rtlCol="false" tIns="0" lIns="0" bIns="0" rIns="0"/>
            <a:lstStyle/>
            <a:p>
              <a:pPr algn="l">
                <a:lnSpc>
                  <a:spcPts val="1980"/>
                </a:lnSpc>
              </a:pPr>
              <a:r>
                <a:rPr lang="en-US" b="true" sz="1650" spc="299">
                  <a:solidFill>
                    <a:srgbClr val="0B6E60"/>
                  </a:solidFill>
                  <a:latin typeface="IBM Plex Sans Bold"/>
                  <a:ea typeface="IBM Plex Sans Bold"/>
                  <a:cs typeface="IBM Plex Sans Bold"/>
                  <a:sym typeface="IBM Plex Sans Bold"/>
                </a:rPr>
                <a:t>13 · OUTCOMES ACHIEVED &amp; SUSTAINABILITY</a:t>
              </a:r>
            </a:p>
          </p:txBody>
        </p:sp>
      </p:grpSp>
      <p:grpSp>
        <p:nvGrpSpPr>
          <p:cNvPr name="Group 5" id="5"/>
          <p:cNvGrpSpPr/>
          <p:nvPr/>
        </p:nvGrpSpPr>
        <p:grpSpPr>
          <a:xfrm rot="0">
            <a:off x="1220724" y="1536192"/>
            <a:ext cx="15846095" cy="850392"/>
            <a:chOff x="0" y="0"/>
            <a:chExt cx="21128126" cy="1133856"/>
          </a:xfrm>
        </p:grpSpPr>
        <p:sp>
          <p:nvSpPr>
            <p:cNvPr name="Freeform 6" id="6"/>
            <p:cNvSpPr/>
            <p:nvPr/>
          </p:nvSpPr>
          <p:spPr>
            <a:xfrm flipH="false" flipV="false" rot="0">
              <a:off x="0" y="0"/>
              <a:ext cx="21128126" cy="1133856"/>
            </a:xfrm>
            <a:custGeom>
              <a:avLst/>
              <a:gdLst/>
              <a:ahLst/>
              <a:cxnLst/>
              <a:rect r="r" b="b" t="t" l="l"/>
              <a:pathLst>
                <a:path h="1133856" w="21128126">
                  <a:moveTo>
                    <a:pt x="0" y="0"/>
                  </a:moveTo>
                  <a:lnTo>
                    <a:pt x="21128126" y="0"/>
                  </a:lnTo>
                  <a:lnTo>
                    <a:pt x="21128126" y="1133856"/>
                  </a:lnTo>
                  <a:lnTo>
                    <a:pt x="0" y="1133856"/>
                  </a:lnTo>
                  <a:close/>
                </a:path>
              </a:pathLst>
            </a:custGeom>
            <a:blipFill>
              <a:blip r:embed="rId3">
                <a:alphaModFix amt="0"/>
              </a:blip>
              <a:stretch>
                <a:fillRect l="0" t="-313081" r="0" b="-313081"/>
              </a:stretch>
            </a:blipFill>
          </p:spPr>
        </p:sp>
        <p:sp>
          <p:nvSpPr>
            <p:cNvPr name="TextBox 7" id="7"/>
            <p:cNvSpPr txBox="true"/>
            <p:nvPr/>
          </p:nvSpPr>
          <p:spPr>
            <a:xfrm>
              <a:off x="0" y="0"/>
              <a:ext cx="21128126" cy="1133856"/>
            </a:xfrm>
            <a:prstGeom prst="rect">
              <a:avLst/>
            </a:prstGeom>
          </p:spPr>
          <p:txBody>
            <a:bodyPr anchor="ctr" rtlCol="false" tIns="0" lIns="0" bIns="0" rIns="0"/>
            <a:lstStyle/>
            <a:p>
              <a:pPr algn="l">
                <a:lnSpc>
                  <a:spcPts val="5400"/>
                </a:lnSpc>
              </a:pPr>
              <a:r>
                <a:rPr lang="en-US" sz="4500" b="true">
                  <a:solidFill>
                    <a:srgbClr val="14304A"/>
                  </a:solidFill>
                  <a:latin typeface="Source Serif Pro Bold"/>
                  <a:ea typeface="Source Serif Pro Bold"/>
                  <a:cs typeface="Source Serif Pro Bold"/>
                  <a:sym typeface="Source Serif Pro Bold"/>
                </a:rPr>
                <a:t>What changed, and what continues</a:t>
              </a:r>
            </a:p>
          </p:txBody>
        </p:sp>
      </p:grpSp>
      <p:grpSp>
        <p:nvGrpSpPr>
          <p:cNvPr name="Group 8" id="8"/>
          <p:cNvGrpSpPr/>
          <p:nvPr/>
        </p:nvGrpSpPr>
        <p:grpSpPr>
          <a:xfrm rot="0">
            <a:off x="1213580" y="2667476"/>
            <a:ext cx="3717608" cy="1728788"/>
            <a:chOff x="0" y="0"/>
            <a:chExt cx="4956810" cy="2305050"/>
          </a:xfrm>
        </p:grpSpPr>
        <p:sp>
          <p:nvSpPr>
            <p:cNvPr name="Freeform 9" id="9"/>
            <p:cNvSpPr/>
            <p:nvPr/>
          </p:nvSpPr>
          <p:spPr>
            <a:xfrm flipH="false" flipV="false" rot="0">
              <a:off x="0" y="0"/>
              <a:ext cx="4956810" cy="2305050"/>
            </a:xfrm>
            <a:custGeom>
              <a:avLst/>
              <a:gdLst/>
              <a:ahLst/>
              <a:cxnLst/>
              <a:rect r="r" b="b" t="t" l="l"/>
              <a:pathLst>
                <a:path h="2305050" w="4956810">
                  <a:moveTo>
                    <a:pt x="0" y="147574"/>
                  </a:moveTo>
                  <a:cubicBezTo>
                    <a:pt x="0" y="66040"/>
                    <a:pt x="66040" y="0"/>
                    <a:pt x="147574" y="0"/>
                  </a:cubicBezTo>
                  <a:lnTo>
                    <a:pt x="4809236" y="0"/>
                  </a:lnTo>
                  <a:cubicBezTo>
                    <a:pt x="4890770" y="0"/>
                    <a:pt x="4956810" y="66040"/>
                    <a:pt x="4956810" y="147574"/>
                  </a:cubicBezTo>
                  <a:lnTo>
                    <a:pt x="4956810" y="2157476"/>
                  </a:lnTo>
                  <a:cubicBezTo>
                    <a:pt x="4956810" y="2239010"/>
                    <a:pt x="4890770" y="2305050"/>
                    <a:pt x="4809236" y="2305050"/>
                  </a:cubicBezTo>
                  <a:lnTo>
                    <a:pt x="147574" y="2305050"/>
                  </a:lnTo>
                  <a:cubicBezTo>
                    <a:pt x="66040" y="2305050"/>
                    <a:pt x="0" y="2239010"/>
                    <a:pt x="0" y="2157476"/>
                  </a:cubicBezTo>
                  <a:close/>
                </a:path>
              </a:pathLst>
            </a:custGeom>
            <a:solidFill>
              <a:srgbClr val="FDFDFB"/>
            </a:solidFill>
            <a:ln w="14288" cap="sq">
              <a:solidFill>
                <a:srgbClr val="D3DCD9"/>
              </a:solidFill>
              <a:prstDash val="solid"/>
              <a:miter/>
            </a:ln>
          </p:spPr>
        </p:sp>
      </p:grpSp>
      <p:sp>
        <p:nvSpPr>
          <p:cNvPr name="TextBox 10" id="10"/>
          <p:cNvSpPr txBox="true"/>
          <p:nvPr/>
        </p:nvSpPr>
        <p:spPr>
          <a:xfrm rot="0">
            <a:off x="1563624" y="2889885"/>
            <a:ext cx="3154680" cy="676275"/>
          </a:xfrm>
          <a:prstGeom prst="rect">
            <a:avLst/>
          </a:prstGeom>
        </p:spPr>
        <p:txBody>
          <a:bodyPr anchor="t" rtlCol="false" tIns="0" lIns="0" bIns="0" rIns="0">
            <a:spAutoFit/>
          </a:bodyPr>
          <a:lstStyle/>
          <a:p>
            <a:pPr algn="l">
              <a:lnSpc>
                <a:spcPts val="3960"/>
              </a:lnSpc>
            </a:pPr>
            <a:r>
              <a:rPr lang="en-US" sz="3300" b="true">
                <a:solidFill>
                  <a:srgbClr val="0B6E60"/>
                </a:solidFill>
                <a:latin typeface="Source Serif Pro Bold"/>
                <a:ea typeface="Source Serif Pro Bold"/>
                <a:cs typeface="Source Serif Pro Bold"/>
                <a:sym typeface="Source Serif Pro Bold"/>
              </a:rPr>
              <a:t>200</a:t>
            </a:r>
          </a:p>
        </p:txBody>
      </p:sp>
      <p:sp>
        <p:nvSpPr>
          <p:cNvPr name="TextBox 11" id="11"/>
          <p:cNvSpPr txBox="true"/>
          <p:nvPr/>
        </p:nvSpPr>
        <p:spPr>
          <a:xfrm rot="0">
            <a:off x="1563624" y="3593592"/>
            <a:ext cx="3154680" cy="754380"/>
          </a:xfrm>
          <a:prstGeom prst="rect">
            <a:avLst/>
          </a:prstGeom>
        </p:spPr>
        <p:txBody>
          <a:bodyPr anchor="t" rtlCol="false" tIns="0" lIns="0" bIns="0" rIns="0">
            <a:spAutoFit/>
          </a:bodyPr>
          <a:lstStyle/>
          <a:p>
            <a:pPr algn="l">
              <a:lnSpc>
                <a:spcPts val="1800"/>
              </a:lnSpc>
            </a:pPr>
            <a:r>
              <a:rPr lang="en-US" sz="1500">
                <a:solidFill>
                  <a:srgbClr val="3F4B57"/>
                </a:solidFill>
                <a:latin typeface="IBM Plex Sans"/>
                <a:ea typeface="IBM Plex Sans"/>
                <a:cs typeface="IBM Plex Sans"/>
                <a:sym typeface="IBM Plex Sans"/>
              </a:rPr>
              <a:t>people educated and surveyed in 5 villages</a:t>
            </a:r>
          </a:p>
        </p:txBody>
      </p:sp>
      <p:grpSp>
        <p:nvGrpSpPr>
          <p:cNvPr name="Group 12" id="12"/>
          <p:cNvGrpSpPr/>
          <p:nvPr/>
        </p:nvGrpSpPr>
        <p:grpSpPr>
          <a:xfrm rot="0">
            <a:off x="5232368" y="2667476"/>
            <a:ext cx="3717608" cy="1728788"/>
            <a:chOff x="0" y="0"/>
            <a:chExt cx="4956810" cy="2305050"/>
          </a:xfrm>
        </p:grpSpPr>
        <p:sp>
          <p:nvSpPr>
            <p:cNvPr name="Freeform 13" id="13"/>
            <p:cNvSpPr/>
            <p:nvPr/>
          </p:nvSpPr>
          <p:spPr>
            <a:xfrm flipH="false" flipV="false" rot="0">
              <a:off x="0" y="0"/>
              <a:ext cx="4956810" cy="2305050"/>
            </a:xfrm>
            <a:custGeom>
              <a:avLst/>
              <a:gdLst/>
              <a:ahLst/>
              <a:cxnLst/>
              <a:rect r="r" b="b" t="t" l="l"/>
              <a:pathLst>
                <a:path h="2305050" w="4956810">
                  <a:moveTo>
                    <a:pt x="0" y="147574"/>
                  </a:moveTo>
                  <a:cubicBezTo>
                    <a:pt x="0" y="66040"/>
                    <a:pt x="66040" y="0"/>
                    <a:pt x="147574" y="0"/>
                  </a:cubicBezTo>
                  <a:lnTo>
                    <a:pt x="4809236" y="0"/>
                  </a:lnTo>
                  <a:cubicBezTo>
                    <a:pt x="4890770" y="0"/>
                    <a:pt x="4956810" y="66040"/>
                    <a:pt x="4956810" y="147574"/>
                  </a:cubicBezTo>
                  <a:lnTo>
                    <a:pt x="4956810" y="2157476"/>
                  </a:lnTo>
                  <a:cubicBezTo>
                    <a:pt x="4956810" y="2239010"/>
                    <a:pt x="4890770" y="2305050"/>
                    <a:pt x="4809236" y="2305050"/>
                  </a:cubicBezTo>
                  <a:lnTo>
                    <a:pt x="147574" y="2305050"/>
                  </a:lnTo>
                  <a:cubicBezTo>
                    <a:pt x="66040" y="2305050"/>
                    <a:pt x="0" y="2239010"/>
                    <a:pt x="0" y="2157476"/>
                  </a:cubicBezTo>
                  <a:close/>
                </a:path>
              </a:pathLst>
            </a:custGeom>
            <a:solidFill>
              <a:srgbClr val="FDFDFB"/>
            </a:solidFill>
            <a:ln w="14288" cap="sq">
              <a:solidFill>
                <a:srgbClr val="D3DCD9"/>
              </a:solidFill>
              <a:prstDash val="solid"/>
              <a:miter/>
            </a:ln>
          </p:spPr>
        </p:sp>
      </p:grpSp>
      <p:sp>
        <p:nvSpPr>
          <p:cNvPr name="TextBox 14" id="14"/>
          <p:cNvSpPr txBox="true"/>
          <p:nvPr/>
        </p:nvSpPr>
        <p:spPr>
          <a:xfrm rot="0">
            <a:off x="5582412" y="2889885"/>
            <a:ext cx="3154680" cy="676275"/>
          </a:xfrm>
          <a:prstGeom prst="rect">
            <a:avLst/>
          </a:prstGeom>
        </p:spPr>
        <p:txBody>
          <a:bodyPr anchor="t" rtlCol="false" tIns="0" lIns="0" bIns="0" rIns="0">
            <a:spAutoFit/>
          </a:bodyPr>
          <a:lstStyle/>
          <a:p>
            <a:pPr algn="l">
              <a:lnSpc>
                <a:spcPts val="3960"/>
              </a:lnSpc>
            </a:pPr>
            <a:r>
              <a:rPr lang="en-US" sz="3300" b="true">
                <a:solidFill>
                  <a:srgbClr val="0B6E60"/>
                </a:solidFill>
                <a:latin typeface="Source Serif Pro Bold"/>
                <a:ea typeface="Source Serif Pro Bold"/>
                <a:cs typeface="Source Serif Pro Bold"/>
                <a:sym typeface="Source Serif Pro Bold"/>
              </a:rPr>
              <a:t>39% → 89%</a:t>
            </a:r>
          </a:p>
        </p:txBody>
      </p:sp>
      <p:sp>
        <p:nvSpPr>
          <p:cNvPr name="TextBox 15" id="15"/>
          <p:cNvSpPr txBox="true"/>
          <p:nvPr/>
        </p:nvSpPr>
        <p:spPr>
          <a:xfrm rot="0">
            <a:off x="5582412" y="3593592"/>
            <a:ext cx="3154680" cy="754380"/>
          </a:xfrm>
          <a:prstGeom prst="rect">
            <a:avLst/>
          </a:prstGeom>
        </p:spPr>
        <p:txBody>
          <a:bodyPr anchor="t" rtlCol="false" tIns="0" lIns="0" bIns="0" rIns="0">
            <a:spAutoFit/>
          </a:bodyPr>
          <a:lstStyle/>
          <a:p>
            <a:pPr algn="l">
              <a:lnSpc>
                <a:spcPts val="1800"/>
              </a:lnSpc>
            </a:pPr>
            <a:r>
              <a:rPr lang="en-US" sz="1500">
                <a:solidFill>
                  <a:srgbClr val="3F4B57"/>
                </a:solidFill>
                <a:latin typeface="IBM Plex Sans"/>
                <a:ea typeface="IBM Plex Sans"/>
                <a:cs typeface="IBM Plex Sans"/>
                <a:sym typeface="IBM Plex Sans"/>
              </a:rPr>
              <a:t>correct answers on antibiotic knowledge (before → after)</a:t>
            </a:r>
          </a:p>
        </p:txBody>
      </p:sp>
      <p:grpSp>
        <p:nvGrpSpPr>
          <p:cNvPr name="Group 16" id="16"/>
          <p:cNvGrpSpPr/>
          <p:nvPr/>
        </p:nvGrpSpPr>
        <p:grpSpPr>
          <a:xfrm rot="0">
            <a:off x="9251156" y="2667476"/>
            <a:ext cx="3717608" cy="1728788"/>
            <a:chOff x="0" y="0"/>
            <a:chExt cx="4956810" cy="2305050"/>
          </a:xfrm>
        </p:grpSpPr>
        <p:sp>
          <p:nvSpPr>
            <p:cNvPr name="Freeform 17" id="17"/>
            <p:cNvSpPr/>
            <p:nvPr/>
          </p:nvSpPr>
          <p:spPr>
            <a:xfrm flipH="false" flipV="false" rot="0">
              <a:off x="0" y="0"/>
              <a:ext cx="4956810" cy="2305050"/>
            </a:xfrm>
            <a:custGeom>
              <a:avLst/>
              <a:gdLst/>
              <a:ahLst/>
              <a:cxnLst/>
              <a:rect r="r" b="b" t="t" l="l"/>
              <a:pathLst>
                <a:path h="2305050" w="4956810">
                  <a:moveTo>
                    <a:pt x="0" y="147574"/>
                  </a:moveTo>
                  <a:cubicBezTo>
                    <a:pt x="0" y="66040"/>
                    <a:pt x="66040" y="0"/>
                    <a:pt x="147574" y="0"/>
                  </a:cubicBezTo>
                  <a:lnTo>
                    <a:pt x="4809236" y="0"/>
                  </a:lnTo>
                  <a:cubicBezTo>
                    <a:pt x="4890770" y="0"/>
                    <a:pt x="4956810" y="66040"/>
                    <a:pt x="4956810" y="147574"/>
                  </a:cubicBezTo>
                  <a:lnTo>
                    <a:pt x="4956810" y="2157476"/>
                  </a:lnTo>
                  <a:cubicBezTo>
                    <a:pt x="4956810" y="2239010"/>
                    <a:pt x="4890770" y="2305050"/>
                    <a:pt x="4809236" y="2305050"/>
                  </a:cubicBezTo>
                  <a:lnTo>
                    <a:pt x="147574" y="2305050"/>
                  </a:lnTo>
                  <a:cubicBezTo>
                    <a:pt x="66040" y="2305050"/>
                    <a:pt x="0" y="2239010"/>
                    <a:pt x="0" y="2157476"/>
                  </a:cubicBezTo>
                  <a:close/>
                </a:path>
              </a:pathLst>
            </a:custGeom>
            <a:solidFill>
              <a:srgbClr val="FDFDFB"/>
            </a:solidFill>
            <a:ln w="14288" cap="sq">
              <a:solidFill>
                <a:srgbClr val="D3DCD9"/>
              </a:solidFill>
              <a:prstDash val="solid"/>
              <a:miter/>
            </a:ln>
          </p:spPr>
        </p:sp>
      </p:grpSp>
      <p:sp>
        <p:nvSpPr>
          <p:cNvPr name="TextBox 18" id="18"/>
          <p:cNvSpPr txBox="true"/>
          <p:nvPr/>
        </p:nvSpPr>
        <p:spPr>
          <a:xfrm rot="0">
            <a:off x="9601200" y="2889885"/>
            <a:ext cx="3154680" cy="676275"/>
          </a:xfrm>
          <a:prstGeom prst="rect">
            <a:avLst/>
          </a:prstGeom>
        </p:spPr>
        <p:txBody>
          <a:bodyPr anchor="t" rtlCol="false" tIns="0" lIns="0" bIns="0" rIns="0">
            <a:spAutoFit/>
          </a:bodyPr>
          <a:lstStyle/>
          <a:p>
            <a:pPr algn="l">
              <a:lnSpc>
                <a:spcPts val="3960"/>
              </a:lnSpc>
            </a:pPr>
            <a:r>
              <a:rPr lang="en-US" sz="3300" b="true">
                <a:solidFill>
                  <a:srgbClr val="0B6E60"/>
                </a:solidFill>
                <a:latin typeface="Source Serif Pro Bold"/>
                <a:ea typeface="Source Serif Pro Bold"/>
                <a:cs typeface="Source Serif Pro Bold"/>
                <a:sym typeface="Source Serif Pro Bold"/>
              </a:rPr>
              <a:t>67% → 39%</a:t>
            </a:r>
          </a:p>
        </p:txBody>
      </p:sp>
      <p:sp>
        <p:nvSpPr>
          <p:cNvPr name="TextBox 19" id="19"/>
          <p:cNvSpPr txBox="true"/>
          <p:nvPr/>
        </p:nvSpPr>
        <p:spPr>
          <a:xfrm rot="0">
            <a:off x="9601200" y="3593592"/>
            <a:ext cx="3154680" cy="754380"/>
          </a:xfrm>
          <a:prstGeom prst="rect">
            <a:avLst/>
          </a:prstGeom>
        </p:spPr>
        <p:txBody>
          <a:bodyPr anchor="t" rtlCol="false" tIns="0" lIns="0" bIns="0" rIns="0">
            <a:spAutoFit/>
          </a:bodyPr>
          <a:lstStyle/>
          <a:p>
            <a:pPr algn="l">
              <a:lnSpc>
                <a:spcPts val="1800"/>
              </a:lnSpc>
            </a:pPr>
            <a:r>
              <a:rPr lang="en-US" sz="1500">
                <a:solidFill>
                  <a:srgbClr val="3F4B57"/>
                </a:solidFill>
                <a:latin typeface="IBM Plex Sans"/>
                <a:ea typeface="IBM Plex Sans"/>
                <a:cs typeface="IBM Plex Sans"/>
                <a:sym typeface="IBM Plex Sans"/>
              </a:rPr>
              <a:t>buying antibiotics without a prescription (baseline → 8 weeks)</a:t>
            </a:r>
          </a:p>
        </p:txBody>
      </p:sp>
      <p:grpSp>
        <p:nvGrpSpPr>
          <p:cNvPr name="Group 20" id="20"/>
          <p:cNvGrpSpPr/>
          <p:nvPr/>
        </p:nvGrpSpPr>
        <p:grpSpPr>
          <a:xfrm rot="0">
            <a:off x="13269944" y="2667476"/>
            <a:ext cx="3717608" cy="1728788"/>
            <a:chOff x="0" y="0"/>
            <a:chExt cx="4956810" cy="2305050"/>
          </a:xfrm>
        </p:grpSpPr>
        <p:sp>
          <p:nvSpPr>
            <p:cNvPr name="Freeform 21" id="21"/>
            <p:cNvSpPr/>
            <p:nvPr/>
          </p:nvSpPr>
          <p:spPr>
            <a:xfrm flipH="false" flipV="false" rot="0">
              <a:off x="0" y="0"/>
              <a:ext cx="4956810" cy="2305050"/>
            </a:xfrm>
            <a:custGeom>
              <a:avLst/>
              <a:gdLst/>
              <a:ahLst/>
              <a:cxnLst/>
              <a:rect r="r" b="b" t="t" l="l"/>
              <a:pathLst>
                <a:path h="2305050" w="4956810">
                  <a:moveTo>
                    <a:pt x="0" y="147574"/>
                  </a:moveTo>
                  <a:cubicBezTo>
                    <a:pt x="0" y="66040"/>
                    <a:pt x="66040" y="0"/>
                    <a:pt x="147574" y="0"/>
                  </a:cubicBezTo>
                  <a:lnTo>
                    <a:pt x="4809236" y="0"/>
                  </a:lnTo>
                  <a:cubicBezTo>
                    <a:pt x="4890770" y="0"/>
                    <a:pt x="4956810" y="66040"/>
                    <a:pt x="4956810" y="147574"/>
                  </a:cubicBezTo>
                  <a:lnTo>
                    <a:pt x="4956810" y="2157476"/>
                  </a:lnTo>
                  <a:cubicBezTo>
                    <a:pt x="4956810" y="2239010"/>
                    <a:pt x="4890770" y="2305050"/>
                    <a:pt x="4809236" y="2305050"/>
                  </a:cubicBezTo>
                  <a:lnTo>
                    <a:pt x="147574" y="2305050"/>
                  </a:lnTo>
                  <a:cubicBezTo>
                    <a:pt x="66040" y="2305050"/>
                    <a:pt x="0" y="2239010"/>
                    <a:pt x="0" y="2157476"/>
                  </a:cubicBezTo>
                  <a:close/>
                </a:path>
              </a:pathLst>
            </a:custGeom>
            <a:solidFill>
              <a:srgbClr val="FDFDFB"/>
            </a:solidFill>
            <a:ln w="14288" cap="sq">
              <a:solidFill>
                <a:srgbClr val="D3DCD9"/>
              </a:solidFill>
              <a:prstDash val="solid"/>
              <a:miter/>
            </a:ln>
          </p:spPr>
        </p:sp>
      </p:grpSp>
      <p:sp>
        <p:nvSpPr>
          <p:cNvPr name="TextBox 22" id="22"/>
          <p:cNvSpPr txBox="true"/>
          <p:nvPr/>
        </p:nvSpPr>
        <p:spPr>
          <a:xfrm rot="0">
            <a:off x="13619988" y="2889885"/>
            <a:ext cx="3154680" cy="676275"/>
          </a:xfrm>
          <a:prstGeom prst="rect">
            <a:avLst/>
          </a:prstGeom>
        </p:spPr>
        <p:txBody>
          <a:bodyPr anchor="t" rtlCol="false" tIns="0" lIns="0" bIns="0" rIns="0">
            <a:spAutoFit/>
          </a:bodyPr>
          <a:lstStyle/>
          <a:p>
            <a:pPr algn="l">
              <a:lnSpc>
                <a:spcPts val="3960"/>
              </a:lnSpc>
            </a:pPr>
            <a:r>
              <a:rPr lang="en-US" sz="3300" b="true">
                <a:solidFill>
                  <a:srgbClr val="0B6E60"/>
                </a:solidFill>
                <a:latin typeface="Source Serif Pro Bold"/>
                <a:ea typeface="Source Serif Pro Bold"/>
                <a:cs typeface="Source Serif Pro Bold"/>
                <a:sym typeface="Source Serif Pro Bold"/>
              </a:rPr>
              <a:t>99%</a:t>
            </a:r>
          </a:p>
        </p:txBody>
      </p:sp>
      <p:sp>
        <p:nvSpPr>
          <p:cNvPr name="TextBox 23" id="23"/>
          <p:cNvSpPr txBox="true"/>
          <p:nvPr/>
        </p:nvSpPr>
        <p:spPr>
          <a:xfrm rot="0">
            <a:off x="13619988" y="3593592"/>
            <a:ext cx="3154680" cy="754380"/>
          </a:xfrm>
          <a:prstGeom prst="rect">
            <a:avLst/>
          </a:prstGeom>
        </p:spPr>
        <p:txBody>
          <a:bodyPr anchor="t" rtlCol="false" tIns="0" lIns="0" bIns="0" rIns="0">
            <a:spAutoFit/>
          </a:bodyPr>
          <a:lstStyle/>
          <a:p>
            <a:pPr algn="l">
              <a:lnSpc>
                <a:spcPts val="1800"/>
              </a:lnSpc>
            </a:pPr>
            <a:r>
              <a:rPr lang="en-US" sz="1500">
                <a:solidFill>
                  <a:srgbClr val="3F4B57"/>
                </a:solidFill>
                <a:latin typeface="IBM Plex Sans"/>
                <a:ea typeface="IBM Plex Sans"/>
                <a:cs typeface="IBM Plex Sans"/>
                <a:sym typeface="IBM Plex Sans"/>
              </a:rPr>
              <a:t>of respondents improved their knowledge score</a:t>
            </a:r>
          </a:p>
        </p:txBody>
      </p:sp>
      <p:sp>
        <p:nvSpPr>
          <p:cNvPr name="TextBox 24" id="24"/>
          <p:cNvSpPr txBox="true"/>
          <p:nvPr/>
        </p:nvSpPr>
        <p:spPr>
          <a:xfrm rot="0">
            <a:off x="1220724" y="4800600"/>
            <a:ext cx="7543800" cy="342900"/>
          </a:xfrm>
          <a:prstGeom prst="rect">
            <a:avLst/>
          </a:prstGeom>
        </p:spPr>
        <p:txBody>
          <a:bodyPr anchor="t" rtlCol="false" tIns="0" lIns="0" bIns="0" rIns="0">
            <a:spAutoFit/>
          </a:bodyPr>
          <a:lstStyle/>
          <a:p>
            <a:pPr algn="l">
              <a:lnSpc>
                <a:spcPts val="1800"/>
              </a:lnSpc>
            </a:pPr>
            <a:r>
              <a:rPr lang="en-US" b="true" sz="1500" spc="300">
                <a:solidFill>
                  <a:srgbClr val="0B6E60"/>
                </a:solidFill>
                <a:latin typeface="IBM Plex Sans Bold"/>
                <a:ea typeface="IBM Plex Sans Bold"/>
                <a:cs typeface="IBM Plex Sans Bold"/>
                <a:sym typeface="IBM Plex Sans Bold"/>
              </a:rPr>
              <a:t>OUTCOMES ACHIEVED</a:t>
            </a:r>
          </a:p>
        </p:txBody>
      </p:sp>
      <p:grpSp>
        <p:nvGrpSpPr>
          <p:cNvPr name="Group 25" id="25"/>
          <p:cNvGrpSpPr/>
          <p:nvPr/>
        </p:nvGrpSpPr>
        <p:grpSpPr>
          <a:xfrm rot="0">
            <a:off x="1220724" y="5321808"/>
            <a:ext cx="411480" cy="411480"/>
            <a:chOff x="0" y="0"/>
            <a:chExt cx="548640" cy="548640"/>
          </a:xfrm>
        </p:grpSpPr>
        <p:sp>
          <p:nvSpPr>
            <p:cNvPr name="Freeform 26" id="26" descr="preencoded.png"/>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4"/>
              <a:stretch>
                <a:fillRect l="0" t="0" r="0" b="0"/>
              </a:stretch>
            </a:blipFill>
          </p:spPr>
        </p:sp>
      </p:grpSp>
      <p:sp>
        <p:nvSpPr>
          <p:cNvPr name="TextBox 27" id="27"/>
          <p:cNvSpPr txBox="true"/>
          <p:nvPr/>
        </p:nvSpPr>
        <p:spPr>
          <a:xfrm rot="0">
            <a:off x="1837944" y="5280660"/>
            <a:ext cx="6995160" cy="795528"/>
          </a:xfrm>
          <a:prstGeom prst="rect">
            <a:avLst/>
          </a:prstGeom>
        </p:spPr>
        <p:txBody>
          <a:bodyPr anchor="t" rtlCol="false" tIns="0" lIns="0" bIns="0" rIns="0">
            <a:spAutoFit/>
          </a:bodyPr>
          <a:lstStyle/>
          <a:p>
            <a:pPr algn="l">
              <a:lnSpc>
                <a:spcPts val="2070"/>
              </a:lnSpc>
            </a:pPr>
            <a:r>
              <a:rPr lang="en-US" sz="1725">
                <a:solidFill>
                  <a:srgbClr val="3F4B57"/>
                </a:solidFill>
                <a:latin typeface="IBM Plex Sans"/>
                <a:ea typeface="IBM Plex Sans"/>
                <a:cs typeface="IBM Plex Sans"/>
                <a:sym typeface="IBM Plex Sans"/>
              </a:rPr>
              <a:t>Knowledge of every key message improved in all five villages and all three channels</a:t>
            </a:r>
          </a:p>
        </p:txBody>
      </p:sp>
      <p:grpSp>
        <p:nvGrpSpPr>
          <p:cNvPr name="Group 28" id="28"/>
          <p:cNvGrpSpPr/>
          <p:nvPr/>
        </p:nvGrpSpPr>
        <p:grpSpPr>
          <a:xfrm rot="0">
            <a:off x="1220724" y="6172200"/>
            <a:ext cx="411480" cy="411480"/>
            <a:chOff x="0" y="0"/>
            <a:chExt cx="548640" cy="548640"/>
          </a:xfrm>
        </p:grpSpPr>
        <p:sp>
          <p:nvSpPr>
            <p:cNvPr name="Freeform 29" id="29" descr="preencoded.png"/>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4"/>
              <a:stretch>
                <a:fillRect l="0" t="0" r="0" b="0"/>
              </a:stretch>
            </a:blipFill>
          </p:spPr>
        </p:sp>
      </p:grpSp>
      <p:sp>
        <p:nvSpPr>
          <p:cNvPr name="TextBox 30" id="30"/>
          <p:cNvSpPr txBox="true"/>
          <p:nvPr/>
        </p:nvSpPr>
        <p:spPr>
          <a:xfrm rot="0">
            <a:off x="1837944" y="6131052"/>
            <a:ext cx="6995160" cy="795528"/>
          </a:xfrm>
          <a:prstGeom prst="rect">
            <a:avLst/>
          </a:prstGeom>
        </p:spPr>
        <p:txBody>
          <a:bodyPr anchor="t" rtlCol="false" tIns="0" lIns="0" bIns="0" rIns="0">
            <a:spAutoFit/>
          </a:bodyPr>
          <a:lstStyle/>
          <a:p>
            <a:pPr algn="l">
              <a:lnSpc>
                <a:spcPts val="2070"/>
              </a:lnSpc>
            </a:pPr>
            <a:r>
              <a:rPr lang="en-US" sz="1725">
                <a:solidFill>
                  <a:srgbClr val="3F4B57"/>
                </a:solidFill>
                <a:latin typeface="IBM Plex Sans"/>
                <a:ea typeface="IBM Plex Sans"/>
                <a:cs typeface="IBM Plex Sans"/>
                <a:sym typeface="IBM Plex Sans"/>
              </a:rPr>
              <a:t>Non-prescription antibiotic sales refused at the programme pharmacy counter</a:t>
            </a:r>
          </a:p>
        </p:txBody>
      </p:sp>
      <p:grpSp>
        <p:nvGrpSpPr>
          <p:cNvPr name="Group 31" id="31"/>
          <p:cNvGrpSpPr/>
          <p:nvPr/>
        </p:nvGrpSpPr>
        <p:grpSpPr>
          <a:xfrm rot="0">
            <a:off x="1220724" y="7022592"/>
            <a:ext cx="411480" cy="411480"/>
            <a:chOff x="0" y="0"/>
            <a:chExt cx="548640" cy="548640"/>
          </a:xfrm>
        </p:grpSpPr>
        <p:sp>
          <p:nvSpPr>
            <p:cNvPr name="Freeform 32" id="32" descr="preencoded.png"/>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4"/>
              <a:stretch>
                <a:fillRect l="0" t="0" r="0" b="0"/>
              </a:stretch>
            </a:blipFill>
          </p:spPr>
        </p:sp>
      </p:grpSp>
      <p:sp>
        <p:nvSpPr>
          <p:cNvPr name="TextBox 33" id="33"/>
          <p:cNvSpPr txBox="true"/>
          <p:nvPr/>
        </p:nvSpPr>
        <p:spPr>
          <a:xfrm rot="0">
            <a:off x="1837944" y="6981444"/>
            <a:ext cx="6995160" cy="795528"/>
          </a:xfrm>
          <a:prstGeom prst="rect">
            <a:avLst/>
          </a:prstGeom>
        </p:spPr>
        <p:txBody>
          <a:bodyPr anchor="t" rtlCol="false" tIns="0" lIns="0" bIns="0" rIns="0">
            <a:spAutoFit/>
          </a:bodyPr>
          <a:lstStyle/>
          <a:p>
            <a:pPr algn="l">
              <a:lnSpc>
                <a:spcPts val="2070"/>
              </a:lnSpc>
            </a:pPr>
            <a:r>
              <a:rPr lang="en-US" sz="1725">
                <a:solidFill>
                  <a:srgbClr val="3F4B57"/>
                </a:solidFill>
                <a:latin typeface="IBM Plex Sans"/>
                <a:ea typeface="IBM Plex Sans"/>
                <a:cs typeface="IBM Plex Sans"/>
                <a:sym typeface="IBM Plex Sans"/>
              </a:rPr>
              <a:t>Families report finishing courses and disposing of leftovers instead of saving them</a:t>
            </a:r>
          </a:p>
        </p:txBody>
      </p:sp>
      <p:grpSp>
        <p:nvGrpSpPr>
          <p:cNvPr name="Group 34" id="34"/>
          <p:cNvGrpSpPr/>
          <p:nvPr/>
        </p:nvGrpSpPr>
        <p:grpSpPr>
          <a:xfrm rot="0">
            <a:off x="1220724" y="7872984"/>
            <a:ext cx="411480" cy="411480"/>
            <a:chOff x="0" y="0"/>
            <a:chExt cx="548640" cy="548640"/>
          </a:xfrm>
        </p:grpSpPr>
        <p:sp>
          <p:nvSpPr>
            <p:cNvPr name="Freeform 35" id="35" descr="preencoded.png"/>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4"/>
              <a:stretch>
                <a:fillRect l="0" t="0" r="0" b="0"/>
              </a:stretch>
            </a:blipFill>
          </p:spPr>
        </p:sp>
      </p:grpSp>
      <p:sp>
        <p:nvSpPr>
          <p:cNvPr name="TextBox 36" id="36"/>
          <p:cNvSpPr txBox="true"/>
          <p:nvPr/>
        </p:nvSpPr>
        <p:spPr>
          <a:xfrm rot="0">
            <a:off x="1837944" y="7831836"/>
            <a:ext cx="6995160" cy="795528"/>
          </a:xfrm>
          <a:prstGeom prst="rect">
            <a:avLst/>
          </a:prstGeom>
        </p:spPr>
        <p:txBody>
          <a:bodyPr anchor="t" rtlCol="false" tIns="0" lIns="0" bIns="0" rIns="0">
            <a:spAutoFit/>
          </a:bodyPr>
          <a:lstStyle/>
          <a:p>
            <a:pPr algn="l">
              <a:lnSpc>
                <a:spcPts val="2070"/>
              </a:lnSpc>
            </a:pPr>
            <a:r>
              <a:rPr lang="en-US" sz="1725">
                <a:solidFill>
                  <a:srgbClr val="3F4B57"/>
                </a:solidFill>
                <a:latin typeface="IBM Plex Sans"/>
                <a:ea typeface="IBM Plex Sans"/>
                <a:cs typeface="IBM Plex Sans"/>
                <a:sym typeface="IBM Plex Sans"/>
              </a:rPr>
              <a:t>Flyers and posters displayed in dispensaries, mosques and community hubs</a:t>
            </a:r>
          </a:p>
        </p:txBody>
      </p:sp>
      <p:grpSp>
        <p:nvGrpSpPr>
          <p:cNvPr name="Group 37" id="37"/>
          <p:cNvGrpSpPr/>
          <p:nvPr/>
        </p:nvGrpSpPr>
        <p:grpSpPr>
          <a:xfrm rot="0">
            <a:off x="9385935" y="4722495"/>
            <a:ext cx="7700010" cy="3928110"/>
            <a:chOff x="0" y="0"/>
            <a:chExt cx="10266680" cy="5237480"/>
          </a:xfrm>
        </p:grpSpPr>
        <p:sp>
          <p:nvSpPr>
            <p:cNvPr name="Freeform 38" id="38"/>
            <p:cNvSpPr/>
            <p:nvPr/>
          </p:nvSpPr>
          <p:spPr>
            <a:xfrm flipH="false" flipV="false" rot="0">
              <a:off x="0" y="0"/>
              <a:ext cx="10266680" cy="5237480"/>
            </a:xfrm>
            <a:custGeom>
              <a:avLst/>
              <a:gdLst/>
              <a:ahLst/>
              <a:cxnLst/>
              <a:rect r="r" b="b" t="t" l="l"/>
              <a:pathLst>
                <a:path h="5237480" w="10266680">
                  <a:moveTo>
                    <a:pt x="0" y="183769"/>
                  </a:moveTo>
                  <a:cubicBezTo>
                    <a:pt x="0" y="82296"/>
                    <a:pt x="82296" y="0"/>
                    <a:pt x="183769" y="0"/>
                  </a:cubicBezTo>
                  <a:lnTo>
                    <a:pt x="10082911" y="0"/>
                  </a:lnTo>
                  <a:cubicBezTo>
                    <a:pt x="10184384" y="0"/>
                    <a:pt x="10266680" y="82296"/>
                    <a:pt x="10266680" y="183769"/>
                  </a:cubicBezTo>
                  <a:lnTo>
                    <a:pt x="10266680" y="5053711"/>
                  </a:lnTo>
                  <a:cubicBezTo>
                    <a:pt x="10266680" y="5155184"/>
                    <a:pt x="10184384" y="5237480"/>
                    <a:pt x="10082911" y="5237480"/>
                  </a:cubicBezTo>
                  <a:lnTo>
                    <a:pt x="183769" y="5237480"/>
                  </a:lnTo>
                  <a:cubicBezTo>
                    <a:pt x="82296" y="5237480"/>
                    <a:pt x="0" y="5155184"/>
                    <a:pt x="0" y="5053711"/>
                  </a:cubicBezTo>
                  <a:close/>
                </a:path>
              </a:pathLst>
            </a:custGeom>
            <a:solidFill>
              <a:srgbClr val="14304A"/>
            </a:solidFill>
            <a:ln w="19050" cap="sq">
              <a:solidFill>
                <a:srgbClr val="14304A"/>
              </a:solidFill>
              <a:prstDash val="solid"/>
              <a:miter/>
            </a:ln>
          </p:spPr>
        </p:sp>
      </p:grpSp>
      <p:sp>
        <p:nvSpPr>
          <p:cNvPr name="TextBox 39" id="39"/>
          <p:cNvSpPr txBox="true"/>
          <p:nvPr/>
        </p:nvSpPr>
        <p:spPr>
          <a:xfrm rot="0">
            <a:off x="9875520" y="5006340"/>
            <a:ext cx="6858000" cy="342900"/>
          </a:xfrm>
          <a:prstGeom prst="rect">
            <a:avLst/>
          </a:prstGeom>
        </p:spPr>
        <p:txBody>
          <a:bodyPr anchor="t" rtlCol="false" tIns="0" lIns="0" bIns="0" rIns="0">
            <a:spAutoFit/>
          </a:bodyPr>
          <a:lstStyle/>
          <a:p>
            <a:pPr algn="l">
              <a:lnSpc>
                <a:spcPts val="1800"/>
              </a:lnSpc>
            </a:pPr>
            <a:r>
              <a:rPr lang="en-US" b="true" sz="1500" spc="300">
                <a:solidFill>
                  <a:srgbClr val="7FD1C0"/>
                </a:solidFill>
                <a:latin typeface="IBM Plex Sans Bold"/>
                <a:ea typeface="IBM Plex Sans Bold"/>
                <a:cs typeface="IBM Plex Sans Bold"/>
                <a:sym typeface="IBM Plex Sans Bold"/>
              </a:rPr>
              <a:t>HOW IT IS BEING SUSTAINED</a:t>
            </a:r>
          </a:p>
        </p:txBody>
      </p:sp>
      <p:sp>
        <p:nvSpPr>
          <p:cNvPr name="TextBox 40" id="40"/>
          <p:cNvSpPr txBox="true"/>
          <p:nvPr/>
        </p:nvSpPr>
        <p:spPr>
          <a:xfrm rot="0">
            <a:off x="9875520" y="5458968"/>
            <a:ext cx="6789420" cy="3017520"/>
          </a:xfrm>
          <a:prstGeom prst="rect">
            <a:avLst/>
          </a:prstGeom>
        </p:spPr>
        <p:txBody>
          <a:bodyPr anchor="t" rtlCol="false" tIns="0" lIns="0" bIns="0" rIns="0">
            <a:spAutoFit/>
          </a:bodyPr>
          <a:lstStyle/>
          <a:p>
            <a:pPr algn="l" marL="298609" indent="-149304" lvl="1">
              <a:lnSpc>
                <a:spcPts val="1980"/>
              </a:lnSpc>
              <a:buFont typeface="Arial"/>
              <a:buChar char="•"/>
            </a:pPr>
            <a:r>
              <a:rPr lang="en-US" sz="1650">
                <a:solidFill>
                  <a:srgbClr val="FFFFFF"/>
                </a:solidFill>
                <a:latin typeface="IBM Plex Sans"/>
                <a:ea typeface="IBM Plex Sans"/>
                <a:cs typeface="IBM Plex Sans"/>
                <a:sym typeface="IBM Plex Sans"/>
              </a:rPr>
              <a:t>Routine workshops: regular village awareness sessions and flyer distributions</a:t>
            </a:r>
          </a:p>
          <a:p>
            <a:pPr algn="l" marL="298609" indent="-149304" lvl="1">
              <a:lnSpc>
                <a:spcPts val="1980"/>
              </a:lnSpc>
              <a:buFont typeface="Arial"/>
              <a:buChar char="•"/>
            </a:pPr>
            <a:r>
              <a:rPr lang="en-US" sz="1650">
                <a:solidFill>
                  <a:srgbClr val="FFFFFF"/>
                </a:solidFill>
                <a:latin typeface="IBM Plex Sans"/>
                <a:ea typeface="IBM Plex Sans"/>
                <a:cs typeface="IBM Plex Sans"/>
                <a:sym typeface="IBM Plex Sans"/>
              </a:rPr>
              <a:t>Peer health advocates: local dispensers and community nurses trained as champions</a:t>
            </a:r>
          </a:p>
          <a:p>
            <a:pPr algn="l" marL="298609" indent="-149304" lvl="1">
              <a:lnSpc>
                <a:spcPts val="1980"/>
              </a:lnSpc>
              <a:buFont typeface="Arial"/>
              <a:buChar char="•"/>
            </a:pPr>
            <a:r>
              <a:rPr lang="en-US" sz="1650">
                <a:solidFill>
                  <a:srgbClr val="FFFFFF"/>
                </a:solidFill>
                <a:latin typeface="IBM Plex Sans"/>
                <a:ea typeface="IBM Plex Sans"/>
                <a:cs typeface="IBM Plex Sans"/>
                <a:sym typeface="IBM Plex Sans"/>
              </a:rPr>
              <a:t>Counter enforcement: refusing non-prescription sales at all pharmacy counters</a:t>
            </a:r>
          </a:p>
          <a:p>
            <a:pPr algn="l" marL="298609" indent="-149304" lvl="1">
              <a:lnSpc>
                <a:spcPts val="1980"/>
              </a:lnSpc>
              <a:buFont typeface="Arial"/>
              <a:buChar char="•"/>
            </a:pPr>
            <a:r>
              <a:rPr lang="en-US" sz="1650">
                <a:solidFill>
                  <a:srgbClr val="FFFFFF"/>
                </a:solidFill>
                <a:latin typeface="IBM Plex Sans"/>
                <a:ea typeface="IBM Plex Sans"/>
                <a:cs typeface="IBM Plex Sans"/>
                <a:sym typeface="IBM Plex Sans"/>
              </a:rPr>
              <a:t>Impact tracking: monitoring compliance and antibiotic utilisation trends</a:t>
            </a:r>
          </a:p>
        </p:txBody>
      </p:sp>
      <p:grpSp>
        <p:nvGrpSpPr>
          <p:cNvPr name="Group 41" id="41"/>
          <p:cNvGrpSpPr/>
          <p:nvPr/>
        </p:nvGrpSpPr>
        <p:grpSpPr>
          <a:xfrm rot="0">
            <a:off x="1220724" y="9354312"/>
            <a:ext cx="11658600" cy="356616"/>
            <a:chOff x="0" y="0"/>
            <a:chExt cx="15544800" cy="475488"/>
          </a:xfrm>
        </p:grpSpPr>
        <p:sp>
          <p:nvSpPr>
            <p:cNvPr name="Freeform 42" id="42"/>
            <p:cNvSpPr/>
            <p:nvPr/>
          </p:nvSpPr>
          <p:spPr>
            <a:xfrm flipH="false" flipV="false" rot="0">
              <a:off x="0" y="0"/>
              <a:ext cx="15544800" cy="475488"/>
            </a:xfrm>
            <a:custGeom>
              <a:avLst/>
              <a:gdLst/>
              <a:ahLst/>
              <a:cxnLst/>
              <a:rect r="r" b="b" t="t" l="l"/>
              <a:pathLst>
                <a:path h="475488" w="15544800">
                  <a:moveTo>
                    <a:pt x="0" y="0"/>
                  </a:moveTo>
                  <a:lnTo>
                    <a:pt x="15544800" y="0"/>
                  </a:lnTo>
                  <a:lnTo>
                    <a:pt x="15544800" y="475488"/>
                  </a:lnTo>
                  <a:lnTo>
                    <a:pt x="0" y="475488"/>
                  </a:lnTo>
                  <a:close/>
                </a:path>
              </a:pathLst>
            </a:custGeom>
            <a:blipFill>
              <a:blip r:embed="rId3">
                <a:alphaModFix amt="0"/>
              </a:blip>
              <a:stretch>
                <a:fillRect l="0" t="-587010" r="0" b="-587010"/>
              </a:stretch>
            </a:blipFill>
          </p:spPr>
        </p:sp>
        <p:sp>
          <p:nvSpPr>
            <p:cNvPr name="TextBox 43" id="43"/>
            <p:cNvSpPr txBox="true"/>
            <p:nvPr/>
          </p:nvSpPr>
          <p:spPr>
            <a:xfrm>
              <a:off x="0" y="0"/>
              <a:ext cx="15544800" cy="475488"/>
            </a:xfrm>
            <a:prstGeom prst="rect">
              <a:avLst/>
            </a:prstGeom>
          </p:spPr>
          <p:txBody>
            <a:bodyPr anchor="ctr" rtlCol="false" tIns="0" lIns="0" bIns="0" rIns="0"/>
            <a:lstStyle/>
            <a:p>
              <a:pPr algn="l">
                <a:lnSpc>
                  <a:spcPts val="1800"/>
                </a:lnSpc>
              </a:pPr>
              <a:r>
                <a:rPr lang="en-US" sz="1500">
                  <a:solidFill>
                    <a:srgbClr val="5B6770"/>
                  </a:solidFill>
                  <a:latin typeface="IBM Plex Sans"/>
                  <a:ea typeface="IBM Plex Sans"/>
                  <a:cs typeface="IBM Plex Sans"/>
                  <a:sym typeface="IBM Plex Sans"/>
                </a:rPr>
                <a:t>Preserving Our Medicines · Community Antibiotic Stewardship, Chakwal, Pakistan</a:t>
              </a:r>
            </a:p>
          </p:txBody>
        </p:sp>
      </p:grpSp>
      <p:grpSp>
        <p:nvGrpSpPr>
          <p:cNvPr name="Group 44" id="44"/>
          <p:cNvGrpSpPr/>
          <p:nvPr/>
        </p:nvGrpSpPr>
        <p:grpSpPr>
          <a:xfrm rot="0">
            <a:off x="15695219" y="9354312"/>
            <a:ext cx="1371600" cy="356616"/>
            <a:chOff x="0" y="0"/>
            <a:chExt cx="1828800" cy="475488"/>
          </a:xfrm>
        </p:grpSpPr>
        <p:sp>
          <p:nvSpPr>
            <p:cNvPr name="Freeform 45" id="45"/>
            <p:cNvSpPr/>
            <p:nvPr/>
          </p:nvSpPr>
          <p:spPr>
            <a:xfrm flipH="false" flipV="false" rot="0">
              <a:off x="0" y="0"/>
              <a:ext cx="1828800" cy="475488"/>
            </a:xfrm>
            <a:custGeom>
              <a:avLst/>
              <a:gdLst/>
              <a:ahLst/>
              <a:cxnLst/>
              <a:rect r="r" b="b" t="t" l="l"/>
              <a:pathLst>
                <a:path h="475488" w="1828800">
                  <a:moveTo>
                    <a:pt x="0" y="0"/>
                  </a:moveTo>
                  <a:lnTo>
                    <a:pt x="1828800" y="0"/>
                  </a:lnTo>
                  <a:lnTo>
                    <a:pt x="1828800" y="475488"/>
                  </a:lnTo>
                  <a:lnTo>
                    <a:pt x="0" y="475488"/>
                  </a:lnTo>
                  <a:close/>
                </a:path>
              </a:pathLst>
            </a:custGeom>
            <a:blipFill>
              <a:blip r:embed="rId3">
                <a:alphaModFix amt="0"/>
              </a:blip>
              <a:stretch>
                <a:fillRect l="0" t="-24942" r="0" b="-24942"/>
              </a:stretch>
            </a:blipFill>
          </p:spPr>
        </p:sp>
        <p:sp>
          <p:nvSpPr>
            <p:cNvPr name="TextBox 46" id="46"/>
            <p:cNvSpPr txBox="true"/>
            <p:nvPr/>
          </p:nvSpPr>
          <p:spPr>
            <a:xfrm>
              <a:off x="0" y="0"/>
              <a:ext cx="1828800" cy="475488"/>
            </a:xfrm>
            <a:prstGeom prst="rect">
              <a:avLst/>
            </a:prstGeom>
          </p:spPr>
          <p:txBody>
            <a:bodyPr anchor="ctr" rtlCol="false" tIns="0" lIns="0" bIns="0" rIns="0"/>
            <a:lstStyle/>
            <a:p>
              <a:pPr algn="r">
                <a:lnSpc>
                  <a:spcPts val="1800"/>
                </a:lnSpc>
              </a:pPr>
              <a:r>
                <a:rPr lang="en-US" sz="1500">
                  <a:solidFill>
                    <a:srgbClr val="5B6770"/>
                  </a:solidFill>
                  <a:latin typeface="IBM Plex Sans"/>
                  <a:ea typeface="IBM Plex Sans"/>
                  <a:cs typeface="IBM Plex Sans"/>
                  <a:sym typeface="IBM Plex Sans"/>
                </a:rPr>
                <a:t>17</a:t>
              </a: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14304A"/>
        </a:solidFill>
      </p:bgPr>
    </p:bg>
    <p:spTree>
      <p:nvGrpSpPr>
        <p:cNvPr id="1" name=""/>
        <p:cNvGrpSpPr/>
        <p:nvPr/>
      </p:nvGrpSpPr>
      <p:grpSpPr>
        <a:xfrm>
          <a:off x="0" y="0"/>
          <a:ext cx="0" cy="0"/>
          <a:chOff x="0" y="0"/>
          <a:chExt cx="0" cy="0"/>
        </a:xfrm>
      </p:grpSpPr>
      <p:grpSp>
        <p:nvGrpSpPr>
          <p:cNvPr name="Group 2" id="2"/>
          <p:cNvGrpSpPr/>
          <p:nvPr/>
        </p:nvGrpSpPr>
        <p:grpSpPr>
          <a:xfrm rot="0">
            <a:off x="1220724" y="1124712"/>
            <a:ext cx="15846095" cy="384048"/>
            <a:chOff x="0" y="0"/>
            <a:chExt cx="21128126" cy="512064"/>
          </a:xfrm>
        </p:grpSpPr>
        <p:sp>
          <p:nvSpPr>
            <p:cNvPr name="Freeform 3" id="3"/>
            <p:cNvSpPr/>
            <p:nvPr/>
          </p:nvSpPr>
          <p:spPr>
            <a:xfrm flipH="false" flipV="false" rot="0">
              <a:off x="0" y="0"/>
              <a:ext cx="21128126" cy="512064"/>
            </a:xfrm>
            <a:custGeom>
              <a:avLst/>
              <a:gdLst/>
              <a:ahLst/>
              <a:cxnLst/>
              <a:rect r="r" b="b" t="t" l="l"/>
              <a:pathLst>
                <a:path h="512064" w="21128126">
                  <a:moveTo>
                    <a:pt x="0" y="0"/>
                  </a:moveTo>
                  <a:lnTo>
                    <a:pt x="21128126" y="0"/>
                  </a:lnTo>
                  <a:lnTo>
                    <a:pt x="21128126" y="512064"/>
                  </a:lnTo>
                  <a:lnTo>
                    <a:pt x="0" y="512064"/>
                  </a:lnTo>
                  <a:close/>
                </a:path>
              </a:pathLst>
            </a:custGeom>
            <a:blipFill>
              <a:blip r:embed="rId3">
                <a:alphaModFix amt="0"/>
              </a:blip>
              <a:stretch>
                <a:fillRect l="0" t="-753966" r="0" b="-753966"/>
              </a:stretch>
            </a:blipFill>
          </p:spPr>
        </p:sp>
        <p:sp>
          <p:nvSpPr>
            <p:cNvPr name="TextBox 4" id="4"/>
            <p:cNvSpPr txBox="true"/>
            <p:nvPr/>
          </p:nvSpPr>
          <p:spPr>
            <a:xfrm>
              <a:off x="0" y="0"/>
              <a:ext cx="21128126" cy="512064"/>
            </a:xfrm>
            <a:prstGeom prst="rect">
              <a:avLst/>
            </a:prstGeom>
          </p:spPr>
          <p:txBody>
            <a:bodyPr anchor="ctr" rtlCol="false" tIns="0" lIns="0" bIns="0" rIns="0"/>
            <a:lstStyle/>
            <a:p>
              <a:pPr algn="l">
                <a:lnSpc>
                  <a:spcPts val="1980"/>
                </a:lnSpc>
              </a:pPr>
              <a:r>
                <a:rPr lang="en-US" b="true" sz="1650" spc="299">
                  <a:solidFill>
                    <a:srgbClr val="7FD1C0"/>
                  </a:solidFill>
                  <a:latin typeface="IBM Plex Sans Bold"/>
                  <a:ea typeface="IBM Plex Sans Bold"/>
                  <a:cs typeface="IBM Plex Sans Bold"/>
                  <a:sym typeface="IBM Plex Sans Bold"/>
                </a:rPr>
                <a:t>14 · CONCLUSION</a:t>
              </a:r>
            </a:p>
          </p:txBody>
        </p:sp>
      </p:grpSp>
      <p:grpSp>
        <p:nvGrpSpPr>
          <p:cNvPr name="Group 5" id="5"/>
          <p:cNvGrpSpPr/>
          <p:nvPr/>
        </p:nvGrpSpPr>
        <p:grpSpPr>
          <a:xfrm rot="0">
            <a:off x="1220724" y="1536192"/>
            <a:ext cx="15846095" cy="850392"/>
            <a:chOff x="0" y="0"/>
            <a:chExt cx="21128126" cy="1133856"/>
          </a:xfrm>
        </p:grpSpPr>
        <p:sp>
          <p:nvSpPr>
            <p:cNvPr name="Freeform 6" id="6"/>
            <p:cNvSpPr/>
            <p:nvPr/>
          </p:nvSpPr>
          <p:spPr>
            <a:xfrm flipH="false" flipV="false" rot="0">
              <a:off x="0" y="0"/>
              <a:ext cx="21128126" cy="1133856"/>
            </a:xfrm>
            <a:custGeom>
              <a:avLst/>
              <a:gdLst/>
              <a:ahLst/>
              <a:cxnLst/>
              <a:rect r="r" b="b" t="t" l="l"/>
              <a:pathLst>
                <a:path h="1133856" w="21128126">
                  <a:moveTo>
                    <a:pt x="0" y="0"/>
                  </a:moveTo>
                  <a:lnTo>
                    <a:pt x="21128126" y="0"/>
                  </a:lnTo>
                  <a:lnTo>
                    <a:pt x="21128126" y="1133856"/>
                  </a:lnTo>
                  <a:lnTo>
                    <a:pt x="0" y="1133856"/>
                  </a:lnTo>
                  <a:close/>
                </a:path>
              </a:pathLst>
            </a:custGeom>
            <a:blipFill>
              <a:blip r:embed="rId3">
                <a:alphaModFix amt="0"/>
              </a:blip>
              <a:stretch>
                <a:fillRect l="0" t="-313081" r="0" b="-313081"/>
              </a:stretch>
            </a:blipFill>
          </p:spPr>
        </p:sp>
        <p:sp>
          <p:nvSpPr>
            <p:cNvPr name="TextBox 7" id="7"/>
            <p:cNvSpPr txBox="true"/>
            <p:nvPr/>
          </p:nvSpPr>
          <p:spPr>
            <a:xfrm>
              <a:off x="0" y="0"/>
              <a:ext cx="21128126" cy="1133856"/>
            </a:xfrm>
            <a:prstGeom prst="rect">
              <a:avLst/>
            </a:prstGeom>
          </p:spPr>
          <p:txBody>
            <a:bodyPr anchor="ctr" rtlCol="false" tIns="0" lIns="0" bIns="0" rIns="0"/>
            <a:lstStyle/>
            <a:p>
              <a:pPr algn="l">
                <a:lnSpc>
                  <a:spcPts val="5400"/>
                </a:lnSpc>
              </a:pPr>
              <a:r>
                <a:rPr lang="en-US" sz="4500" b="true">
                  <a:solidFill>
                    <a:srgbClr val="FFFFFF"/>
                  </a:solidFill>
                  <a:latin typeface="Source Serif Pro Bold"/>
                  <a:ea typeface="Source Serif Pro Bold"/>
                  <a:cs typeface="Source Serif Pro Bold"/>
                  <a:sym typeface="Source Serif Pro Bold"/>
                </a:rPr>
                <a:t>Protect our medicines, protect our future</a:t>
              </a:r>
            </a:p>
          </p:txBody>
        </p:sp>
      </p:grpSp>
      <p:sp>
        <p:nvSpPr>
          <p:cNvPr name="TextBox 8" id="8"/>
          <p:cNvSpPr txBox="true"/>
          <p:nvPr/>
        </p:nvSpPr>
        <p:spPr>
          <a:xfrm rot="0">
            <a:off x="1220724" y="2880360"/>
            <a:ext cx="15087600" cy="2057400"/>
          </a:xfrm>
          <a:prstGeom prst="rect">
            <a:avLst/>
          </a:prstGeom>
        </p:spPr>
        <p:txBody>
          <a:bodyPr anchor="t" rtlCol="false" tIns="0" lIns="0" bIns="0" rIns="0">
            <a:spAutoFit/>
          </a:bodyPr>
          <a:lstStyle/>
          <a:p>
            <a:pPr algn="l">
              <a:lnSpc>
                <a:spcPts val="3240"/>
              </a:lnSpc>
            </a:pPr>
            <a:r>
              <a:rPr lang="en-US" sz="2700">
                <a:solidFill>
                  <a:srgbClr val="FFFFFF"/>
                </a:solidFill>
                <a:latin typeface="IBM Plex Sans"/>
                <a:ea typeface="IBM Plex Sans"/>
                <a:cs typeface="IBM Plex Sans"/>
                <a:sym typeface="IBM Plex Sans"/>
              </a:rPr>
              <a:t>Antibiotic resistance is preventable. When families understand the four golden rules and pharmacists refuse to sell without a prescription, first-line medicines keep working for the whole community.</a:t>
            </a:r>
          </a:p>
        </p:txBody>
      </p:sp>
      <p:grpSp>
        <p:nvGrpSpPr>
          <p:cNvPr name="Group 9" id="9"/>
          <p:cNvGrpSpPr/>
          <p:nvPr/>
        </p:nvGrpSpPr>
        <p:grpSpPr>
          <a:xfrm rot="0">
            <a:off x="1211199" y="5614035"/>
            <a:ext cx="73914" cy="1802130"/>
            <a:chOff x="0" y="0"/>
            <a:chExt cx="98552" cy="2402840"/>
          </a:xfrm>
        </p:grpSpPr>
        <p:sp>
          <p:nvSpPr>
            <p:cNvPr name="Freeform 10" id="10"/>
            <p:cNvSpPr/>
            <p:nvPr/>
          </p:nvSpPr>
          <p:spPr>
            <a:xfrm flipH="false" flipV="false" rot="0">
              <a:off x="0" y="0"/>
              <a:ext cx="98552" cy="2402840"/>
            </a:xfrm>
            <a:custGeom>
              <a:avLst/>
              <a:gdLst/>
              <a:ahLst/>
              <a:cxnLst/>
              <a:rect r="r" b="b" t="t" l="l"/>
              <a:pathLst>
                <a:path h="2402840" w="98552">
                  <a:moveTo>
                    <a:pt x="0" y="0"/>
                  </a:moveTo>
                  <a:lnTo>
                    <a:pt x="98552" y="0"/>
                  </a:lnTo>
                  <a:lnTo>
                    <a:pt x="98552" y="2402840"/>
                  </a:lnTo>
                  <a:lnTo>
                    <a:pt x="0" y="2402840"/>
                  </a:lnTo>
                  <a:close/>
                </a:path>
              </a:pathLst>
            </a:custGeom>
            <a:solidFill>
              <a:srgbClr val="7FD1C0"/>
            </a:solidFill>
            <a:ln w="19050" cap="sq">
              <a:solidFill>
                <a:srgbClr val="7FD1C0"/>
              </a:solidFill>
              <a:prstDash val="solid"/>
              <a:miter/>
            </a:ln>
          </p:spPr>
        </p:sp>
      </p:grpSp>
      <p:sp>
        <p:nvSpPr>
          <p:cNvPr name="TextBox 11" id="11"/>
          <p:cNvSpPr txBox="true"/>
          <p:nvPr/>
        </p:nvSpPr>
        <p:spPr>
          <a:xfrm rot="0">
            <a:off x="1563624" y="5623560"/>
            <a:ext cx="4526280" cy="342900"/>
          </a:xfrm>
          <a:prstGeom prst="rect">
            <a:avLst/>
          </a:prstGeom>
        </p:spPr>
        <p:txBody>
          <a:bodyPr anchor="t" rtlCol="false" tIns="0" lIns="0" bIns="0" rIns="0">
            <a:spAutoFit/>
          </a:bodyPr>
          <a:lstStyle/>
          <a:p>
            <a:pPr algn="l">
              <a:lnSpc>
                <a:spcPts val="1800"/>
              </a:lnSpc>
            </a:pPr>
            <a:r>
              <a:rPr lang="en-US" b="true" sz="1500" spc="300">
                <a:solidFill>
                  <a:srgbClr val="7FD1C0"/>
                </a:solidFill>
                <a:latin typeface="IBM Plex Sans Bold"/>
                <a:ea typeface="IBM Plex Sans Bold"/>
                <a:cs typeface="IBM Plex Sans Bold"/>
                <a:sym typeface="IBM Plex Sans Bold"/>
              </a:rPr>
              <a:t>EDUCATION</a:t>
            </a:r>
          </a:p>
        </p:txBody>
      </p:sp>
      <p:sp>
        <p:nvSpPr>
          <p:cNvPr name="TextBox 12" id="12"/>
          <p:cNvSpPr txBox="true"/>
          <p:nvPr/>
        </p:nvSpPr>
        <p:spPr>
          <a:xfrm rot="0">
            <a:off x="1563624" y="6062472"/>
            <a:ext cx="4526280" cy="1371600"/>
          </a:xfrm>
          <a:prstGeom prst="rect">
            <a:avLst/>
          </a:prstGeom>
        </p:spPr>
        <p:txBody>
          <a:bodyPr anchor="t" rtlCol="false" tIns="0" lIns="0" bIns="0" rIns="0">
            <a:spAutoFit/>
          </a:bodyPr>
          <a:lstStyle/>
          <a:p>
            <a:pPr algn="l">
              <a:lnSpc>
                <a:spcPts val="2160"/>
              </a:lnSpc>
            </a:pPr>
            <a:r>
              <a:rPr lang="en-US" sz="1800">
                <a:solidFill>
                  <a:srgbClr val="C5CACD"/>
                </a:solidFill>
                <a:latin typeface="IBM Plex Sans"/>
                <a:ea typeface="IBM Plex Sans"/>
                <a:cs typeface="IBM Plex Sans"/>
                <a:sym typeface="IBM Plex Sans"/>
              </a:rPr>
              <a:t>The dispensing moment is the best time to teach: 200 people, 39% → 89% correct.</a:t>
            </a:r>
          </a:p>
        </p:txBody>
      </p:sp>
      <p:grpSp>
        <p:nvGrpSpPr>
          <p:cNvPr name="Group 13" id="13"/>
          <p:cNvGrpSpPr/>
          <p:nvPr/>
        </p:nvGrpSpPr>
        <p:grpSpPr>
          <a:xfrm rot="0">
            <a:off x="6629019" y="5614035"/>
            <a:ext cx="73914" cy="1802130"/>
            <a:chOff x="0" y="0"/>
            <a:chExt cx="98552" cy="2402840"/>
          </a:xfrm>
        </p:grpSpPr>
        <p:sp>
          <p:nvSpPr>
            <p:cNvPr name="Freeform 14" id="14"/>
            <p:cNvSpPr/>
            <p:nvPr/>
          </p:nvSpPr>
          <p:spPr>
            <a:xfrm flipH="false" flipV="false" rot="0">
              <a:off x="0" y="0"/>
              <a:ext cx="98552" cy="2402840"/>
            </a:xfrm>
            <a:custGeom>
              <a:avLst/>
              <a:gdLst/>
              <a:ahLst/>
              <a:cxnLst/>
              <a:rect r="r" b="b" t="t" l="l"/>
              <a:pathLst>
                <a:path h="2402840" w="98552">
                  <a:moveTo>
                    <a:pt x="0" y="0"/>
                  </a:moveTo>
                  <a:lnTo>
                    <a:pt x="98552" y="0"/>
                  </a:lnTo>
                  <a:lnTo>
                    <a:pt x="98552" y="2402840"/>
                  </a:lnTo>
                  <a:lnTo>
                    <a:pt x="0" y="2402840"/>
                  </a:lnTo>
                  <a:close/>
                </a:path>
              </a:pathLst>
            </a:custGeom>
            <a:solidFill>
              <a:srgbClr val="7FD1C0"/>
            </a:solidFill>
            <a:ln w="19050" cap="sq">
              <a:solidFill>
                <a:srgbClr val="7FD1C0"/>
              </a:solidFill>
              <a:prstDash val="solid"/>
              <a:miter/>
            </a:ln>
          </p:spPr>
        </p:sp>
      </p:grpSp>
      <p:sp>
        <p:nvSpPr>
          <p:cNvPr name="TextBox 15" id="15"/>
          <p:cNvSpPr txBox="true"/>
          <p:nvPr/>
        </p:nvSpPr>
        <p:spPr>
          <a:xfrm rot="0">
            <a:off x="6981444" y="5623560"/>
            <a:ext cx="4526280" cy="342900"/>
          </a:xfrm>
          <a:prstGeom prst="rect">
            <a:avLst/>
          </a:prstGeom>
        </p:spPr>
        <p:txBody>
          <a:bodyPr anchor="t" rtlCol="false" tIns="0" lIns="0" bIns="0" rIns="0">
            <a:spAutoFit/>
          </a:bodyPr>
          <a:lstStyle/>
          <a:p>
            <a:pPr algn="l">
              <a:lnSpc>
                <a:spcPts val="1800"/>
              </a:lnSpc>
            </a:pPr>
            <a:r>
              <a:rPr lang="en-US" b="true" sz="1500" spc="300">
                <a:solidFill>
                  <a:srgbClr val="7FD1C0"/>
                </a:solidFill>
                <a:latin typeface="IBM Plex Sans Bold"/>
                <a:ea typeface="IBM Plex Sans Bold"/>
                <a:cs typeface="IBM Plex Sans Bold"/>
                <a:sym typeface="IBM Plex Sans Bold"/>
              </a:rPr>
              <a:t>ENFORCEMENT</a:t>
            </a:r>
          </a:p>
        </p:txBody>
      </p:sp>
      <p:sp>
        <p:nvSpPr>
          <p:cNvPr name="TextBox 16" id="16"/>
          <p:cNvSpPr txBox="true"/>
          <p:nvPr/>
        </p:nvSpPr>
        <p:spPr>
          <a:xfrm rot="0">
            <a:off x="6981444" y="6062472"/>
            <a:ext cx="4526280" cy="1371600"/>
          </a:xfrm>
          <a:prstGeom prst="rect">
            <a:avLst/>
          </a:prstGeom>
        </p:spPr>
        <p:txBody>
          <a:bodyPr anchor="t" rtlCol="false" tIns="0" lIns="0" bIns="0" rIns="0">
            <a:spAutoFit/>
          </a:bodyPr>
          <a:lstStyle/>
          <a:p>
            <a:pPr algn="l">
              <a:lnSpc>
                <a:spcPts val="2160"/>
              </a:lnSpc>
            </a:pPr>
            <a:r>
              <a:rPr lang="en-US" sz="1800">
                <a:solidFill>
                  <a:srgbClr val="C5CACD"/>
                </a:solidFill>
                <a:latin typeface="IBM Plex Sans"/>
                <a:ea typeface="IBM Plex Sans"/>
                <a:cs typeface="IBM Plex Sans"/>
                <a:sym typeface="IBM Plex Sans"/>
              </a:rPr>
              <a:t>Counter refusal of non-prescription sales cut OTC buying from 67% to 39%.</a:t>
            </a:r>
          </a:p>
        </p:txBody>
      </p:sp>
      <p:grpSp>
        <p:nvGrpSpPr>
          <p:cNvPr name="Group 17" id="17"/>
          <p:cNvGrpSpPr/>
          <p:nvPr/>
        </p:nvGrpSpPr>
        <p:grpSpPr>
          <a:xfrm rot="0">
            <a:off x="12046839" y="5614035"/>
            <a:ext cx="73914" cy="1802130"/>
            <a:chOff x="0" y="0"/>
            <a:chExt cx="98552" cy="2402840"/>
          </a:xfrm>
        </p:grpSpPr>
        <p:sp>
          <p:nvSpPr>
            <p:cNvPr name="Freeform 18" id="18"/>
            <p:cNvSpPr/>
            <p:nvPr/>
          </p:nvSpPr>
          <p:spPr>
            <a:xfrm flipH="false" flipV="false" rot="0">
              <a:off x="0" y="0"/>
              <a:ext cx="98552" cy="2402840"/>
            </a:xfrm>
            <a:custGeom>
              <a:avLst/>
              <a:gdLst/>
              <a:ahLst/>
              <a:cxnLst/>
              <a:rect r="r" b="b" t="t" l="l"/>
              <a:pathLst>
                <a:path h="2402840" w="98552">
                  <a:moveTo>
                    <a:pt x="0" y="0"/>
                  </a:moveTo>
                  <a:lnTo>
                    <a:pt x="98552" y="0"/>
                  </a:lnTo>
                  <a:lnTo>
                    <a:pt x="98552" y="2402840"/>
                  </a:lnTo>
                  <a:lnTo>
                    <a:pt x="0" y="2402840"/>
                  </a:lnTo>
                  <a:close/>
                </a:path>
              </a:pathLst>
            </a:custGeom>
            <a:solidFill>
              <a:srgbClr val="7FD1C0"/>
            </a:solidFill>
            <a:ln w="19050" cap="sq">
              <a:solidFill>
                <a:srgbClr val="7FD1C0"/>
              </a:solidFill>
              <a:prstDash val="solid"/>
              <a:miter/>
            </a:ln>
          </p:spPr>
        </p:sp>
      </p:grpSp>
      <p:sp>
        <p:nvSpPr>
          <p:cNvPr name="TextBox 19" id="19"/>
          <p:cNvSpPr txBox="true"/>
          <p:nvPr/>
        </p:nvSpPr>
        <p:spPr>
          <a:xfrm rot="0">
            <a:off x="12399264" y="5623560"/>
            <a:ext cx="4526280" cy="342900"/>
          </a:xfrm>
          <a:prstGeom prst="rect">
            <a:avLst/>
          </a:prstGeom>
        </p:spPr>
        <p:txBody>
          <a:bodyPr anchor="t" rtlCol="false" tIns="0" lIns="0" bIns="0" rIns="0">
            <a:spAutoFit/>
          </a:bodyPr>
          <a:lstStyle/>
          <a:p>
            <a:pPr algn="l">
              <a:lnSpc>
                <a:spcPts val="1800"/>
              </a:lnSpc>
            </a:pPr>
            <a:r>
              <a:rPr lang="en-US" b="true" sz="1500" spc="300">
                <a:solidFill>
                  <a:srgbClr val="7FD1C0"/>
                </a:solidFill>
                <a:latin typeface="IBM Plex Sans Bold"/>
                <a:ea typeface="IBM Plex Sans Bold"/>
                <a:cs typeface="IBM Plex Sans Bold"/>
                <a:sym typeface="IBM Plex Sans Bold"/>
              </a:rPr>
              <a:t>ONE HEALTH</a:t>
            </a:r>
          </a:p>
        </p:txBody>
      </p:sp>
      <p:sp>
        <p:nvSpPr>
          <p:cNvPr name="TextBox 20" id="20"/>
          <p:cNvSpPr txBox="true"/>
          <p:nvPr/>
        </p:nvSpPr>
        <p:spPr>
          <a:xfrm rot="0">
            <a:off x="12399264" y="6062472"/>
            <a:ext cx="4526280" cy="1371600"/>
          </a:xfrm>
          <a:prstGeom prst="rect">
            <a:avLst/>
          </a:prstGeom>
        </p:spPr>
        <p:txBody>
          <a:bodyPr anchor="t" rtlCol="false" tIns="0" lIns="0" bIns="0" rIns="0">
            <a:spAutoFit/>
          </a:bodyPr>
          <a:lstStyle/>
          <a:p>
            <a:pPr algn="l">
              <a:lnSpc>
                <a:spcPts val="2160"/>
              </a:lnSpc>
            </a:pPr>
            <a:r>
              <a:rPr lang="en-US" sz="1800">
                <a:solidFill>
                  <a:srgbClr val="C5CACD"/>
                </a:solidFill>
                <a:latin typeface="IBM Plex Sans"/>
                <a:ea typeface="IBM Plex Sans"/>
                <a:cs typeface="IBM Plex Sans"/>
                <a:sym typeface="IBM Plex Sans"/>
              </a:rPr>
              <a:t>Clean water, hygiene and veterinary supervision reduce the need for antibiotics at all.</a:t>
            </a:r>
          </a:p>
        </p:txBody>
      </p:sp>
      <p:sp>
        <p:nvSpPr>
          <p:cNvPr name="TextBox 21" id="21"/>
          <p:cNvSpPr txBox="true"/>
          <p:nvPr/>
        </p:nvSpPr>
        <p:spPr>
          <a:xfrm rot="0">
            <a:off x="1220724" y="7886700"/>
            <a:ext cx="15846095" cy="822960"/>
          </a:xfrm>
          <a:prstGeom prst="rect">
            <a:avLst/>
          </a:prstGeom>
        </p:spPr>
        <p:txBody>
          <a:bodyPr anchor="t" rtlCol="false" tIns="0" lIns="0" bIns="0" rIns="0">
            <a:spAutoFit/>
          </a:bodyPr>
          <a:lstStyle/>
          <a:p>
            <a:pPr algn="l">
              <a:lnSpc>
                <a:spcPts val="2070"/>
              </a:lnSpc>
            </a:pPr>
            <a:r>
              <a:rPr lang="en-US" sz="1725">
                <a:solidFill>
                  <a:srgbClr val="FFFFFF"/>
                </a:solidFill>
                <a:latin typeface="IBM Plex Sans"/>
                <a:ea typeface="IBM Plex Sans"/>
                <a:cs typeface="IBM Plex Sans"/>
                <a:sym typeface="IBM Plex Sans"/>
              </a:rPr>
              <a:t>NEXT STEP   Extend the programme from five villages to the whole of Chakwal District with the district health office, and train every dispenser as a stewardship champion.</a:t>
            </a:r>
          </a:p>
        </p:txBody>
      </p:sp>
      <p:grpSp>
        <p:nvGrpSpPr>
          <p:cNvPr name="Group 22" id="22"/>
          <p:cNvGrpSpPr/>
          <p:nvPr/>
        </p:nvGrpSpPr>
        <p:grpSpPr>
          <a:xfrm rot="0">
            <a:off x="1220724" y="9354312"/>
            <a:ext cx="11658600" cy="356616"/>
            <a:chOff x="0" y="0"/>
            <a:chExt cx="15544800" cy="475488"/>
          </a:xfrm>
        </p:grpSpPr>
        <p:sp>
          <p:nvSpPr>
            <p:cNvPr name="Freeform 23" id="23"/>
            <p:cNvSpPr/>
            <p:nvPr/>
          </p:nvSpPr>
          <p:spPr>
            <a:xfrm flipH="false" flipV="false" rot="0">
              <a:off x="0" y="0"/>
              <a:ext cx="15544800" cy="475488"/>
            </a:xfrm>
            <a:custGeom>
              <a:avLst/>
              <a:gdLst/>
              <a:ahLst/>
              <a:cxnLst/>
              <a:rect r="r" b="b" t="t" l="l"/>
              <a:pathLst>
                <a:path h="475488" w="15544800">
                  <a:moveTo>
                    <a:pt x="0" y="0"/>
                  </a:moveTo>
                  <a:lnTo>
                    <a:pt x="15544800" y="0"/>
                  </a:lnTo>
                  <a:lnTo>
                    <a:pt x="15544800" y="475488"/>
                  </a:lnTo>
                  <a:lnTo>
                    <a:pt x="0" y="475488"/>
                  </a:lnTo>
                  <a:close/>
                </a:path>
              </a:pathLst>
            </a:custGeom>
            <a:blipFill>
              <a:blip r:embed="rId3">
                <a:alphaModFix amt="0"/>
              </a:blip>
              <a:stretch>
                <a:fillRect l="0" t="-587010" r="0" b="-587010"/>
              </a:stretch>
            </a:blipFill>
          </p:spPr>
        </p:sp>
        <p:sp>
          <p:nvSpPr>
            <p:cNvPr name="TextBox 24" id="24"/>
            <p:cNvSpPr txBox="true"/>
            <p:nvPr/>
          </p:nvSpPr>
          <p:spPr>
            <a:xfrm>
              <a:off x="0" y="0"/>
              <a:ext cx="15544800" cy="475488"/>
            </a:xfrm>
            <a:prstGeom prst="rect">
              <a:avLst/>
            </a:prstGeom>
          </p:spPr>
          <p:txBody>
            <a:bodyPr anchor="ctr" rtlCol="false" tIns="0" lIns="0" bIns="0" rIns="0"/>
            <a:lstStyle/>
            <a:p>
              <a:pPr algn="l">
                <a:lnSpc>
                  <a:spcPts val="1800"/>
                </a:lnSpc>
              </a:pPr>
              <a:r>
                <a:rPr lang="en-US" sz="1500">
                  <a:solidFill>
                    <a:srgbClr val="A9C3C8"/>
                  </a:solidFill>
                  <a:latin typeface="IBM Plex Sans"/>
                  <a:ea typeface="IBM Plex Sans"/>
                  <a:cs typeface="IBM Plex Sans"/>
                  <a:sym typeface="IBM Plex Sans"/>
                </a:rPr>
                <a:t>Preserving Our Medicines · Community Antibiotic Stewardship, Chakwal, Pakistan</a:t>
              </a:r>
            </a:p>
          </p:txBody>
        </p:sp>
      </p:grpSp>
      <p:grpSp>
        <p:nvGrpSpPr>
          <p:cNvPr name="Group 25" id="25"/>
          <p:cNvGrpSpPr/>
          <p:nvPr/>
        </p:nvGrpSpPr>
        <p:grpSpPr>
          <a:xfrm rot="0">
            <a:off x="15695219" y="9354312"/>
            <a:ext cx="1371600" cy="356616"/>
            <a:chOff x="0" y="0"/>
            <a:chExt cx="1828800" cy="475488"/>
          </a:xfrm>
        </p:grpSpPr>
        <p:sp>
          <p:nvSpPr>
            <p:cNvPr name="Freeform 26" id="26"/>
            <p:cNvSpPr/>
            <p:nvPr/>
          </p:nvSpPr>
          <p:spPr>
            <a:xfrm flipH="false" flipV="false" rot="0">
              <a:off x="0" y="0"/>
              <a:ext cx="1828800" cy="475488"/>
            </a:xfrm>
            <a:custGeom>
              <a:avLst/>
              <a:gdLst/>
              <a:ahLst/>
              <a:cxnLst/>
              <a:rect r="r" b="b" t="t" l="l"/>
              <a:pathLst>
                <a:path h="475488" w="1828800">
                  <a:moveTo>
                    <a:pt x="0" y="0"/>
                  </a:moveTo>
                  <a:lnTo>
                    <a:pt x="1828800" y="0"/>
                  </a:lnTo>
                  <a:lnTo>
                    <a:pt x="1828800" y="475488"/>
                  </a:lnTo>
                  <a:lnTo>
                    <a:pt x="0" y="475488"/>
                  </a:lnTo>
                  <a:close/>
                </a:path>
              </a:pathLst>
            </a:custGeom>
            <a:blipFill>
              <a:blip r:embed="rId3">
                <a:alphaModFix amt="0"/>
              </a:blip>
              <a:stretch>
                <a:fillRect l="0" t="-24942" r="0" b="-24942"/>
              </a:stretch>
            </a:blipFill>
          </p:spPr>
        </p:sp>
        <p:sp>
          <p:nvSpPr>
            <p:cNvPr name="TextBox 27" id="27"/>
            <p:cNvSpPr txBox="true"/>
            <p:nvPr/>
          </p:nvSpPr>
          <p:spPr>
            <a:xfrm>
              <a:off x="0" y="0"/>
              <a:ext cx="1828800" cy="475488"/>
            </a:xfrm>
            <a:prstGeom prst="rect">
              <a:avLst/>
            </a:prstGeom>
          </p:spPr>
          <p:txBody>
            <a:bodyPr anchor="ctr" rtlCol="false" tIns="0" lIns="0" bIns="0" rIns="0"/>
            <a:lstStyle/>
            <a:p>
              <a:pPr algn="r">
                <a:lnSpc>
                  <a:spcPts val="1800"/>
                </a:lnSpc>
              </a:pPr>
              <a:r>
                <a:rPr lang="en-US" sz="1500">
                  <a:solidFill>
                    <a:srgbClr val="A9C3C8"/>
                  </a:solidFill>
                  <a:latin typeface="IBM Plex Sans"/>
                  <a:ea typeface="IBM Plex Sans"/>
                  <a:cs typeface="IBM Plex Sans"/>
                  <a:sym typeface="IBM Plex Sans"/>
                </a:rPr>
                <a:t>18</a:t>
              </a:r>
            </a:p>
          </p:txBody>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7F6F2"/>
        </a:solidFill>
      </p:bgPr>
    </p:bg>
    <p:spTree>
      <p:nvGrpSpPr>
        <p:cNvPr id="1" name=""/>
        <p:cNvGrpSpPr/>
        <p:nvPr/>
      </p:nvGrpSpPr>
      <p:grpSpPr>
        <a:xfrm>
          <a:off x="0" y="0"/>
          <a:ext cx="0" cy="0"/>
          <a:chOff x="0" y="0"/>
          <a:chExt cx="0" cy="0"/>
        </a:xfrm>
      </p:grpSpPr>
      <p:grpSp>
        <p:nvGrpSpPr>
          <p:cNvPr name="Group 2" id="2"/>
          <p:cNvGrpSpPr/>
          <p:nvPr/>
        </p:nvGrpSpPr>
        <p:grpSpPr>
          <a:xfrm rot="0">
            <a:off x="1220724" y="1124712"/>
            <a:ext cx="15846095" cy="384048"/>
            <a:chOff x="0" y="0"/>
            <a:chExt cx="21128126" cy="512064"/>
          </a:xfrm>
        </p:grpSpPr>
        <p:sp>
          <p:nvSpPr>
            <p:cNvPr name="Freeform 3" id="3"/>
            <p:cNvSpPr/>
            <p:nvPr/>
          </p:nvSpPr>
          <p:spPr>
            <a:xfrm flipH="false" flipV="false" rot="0">
              <a:off x="0" y="0"/>
              <a:ext cx="21128126" cy="512064"/>
            </a:xfrm>
            <a:custGeom>
              <a:avLst/>
              <a:gdLst/>
              <a:ahLst/>
              <a:cxnLst/>
              <a:rect r="r" b="b" t="t" l="l"/>
              <a:pathLst>
                <a:path h="512064" w="21128126">
                  <a:moveTo>
                    <a:pt x="0" y="0"/>
                  </a:moveTo>
                  <a:lnTo>
                    <a:pt x="21128126" y="0"/>
                  </a:lnTo>
                  <a:lnTo>
                    <a:pt x="21128126" y="512064"/>
                  </a:lnTo>
                  <a:lnTo>
                    <a:pt x="0" y="512064"/>
                  </a:lnTo>
                  <a:close/>
                </a:path>
              </a:pathLst>
            </a:custGeom>
            <a:blipFill>
              <a:blip r:embed="rId3">
                <a:alphaModFix amt="0"/>
              </a:blip>
              <a:stretch>
                <a:fillRect l="0" t="-753966" r="0" b="-753966"/>
              </a:stretch>
            </a:blipFill>
          </p:spPr>
        </p:sp>
        <p:sp>
          <p:nvSpPr>
            <p:cNvPr name="TextBox 4" id="4"/>
            <p:cNvSpPr txBox="true"/>
            <p:nvPr/>
          </p:nvSpPr>
          <p:spPr>
            <a:xfrm>
              <a:off x="0" y="0"/>
              <a:ext cx="21128126" cy="512064"/>
            </a:xfrm>
            <a:prstGeom prst="rect">
              <a:avLst/>
            </a:prstGeom>
          </p:spPr>
          <p:txBody>
            <a:bodyPr anchor="ctr" rtlCol="false" tIns="0" lIns="0" bIns="0" rIns="0"/>
            <a:lstStyle/>
            <a:p>
              <a:pPr algn="l">
                <a:lnSpc>
                  <a:spcPts val="1980"/>
                </a:lnSpc>
              </a:pPr>
              <a:r>
                <a:rPr lang="en-US" b="true" sz="1650" spc="299">
                  <a:solidFill>
                    <a:srgbClr val="0B6E60"/>
                  </a:solidFill>
                  <a:latin typeface="IBM Plex Sans Bold"/>
                  <a:ea typeface="IBM Plex Sans Bold"/>
                  <a:cs typeface="IBM Plex Sans Bold"/>
                  <a:sym typeface="IBM Plex Sans Bold"/>
                </a:rPr>
                <a:t>15 · REFERENCES</a:t>
              </a:r>
            </a:p>
          </p:txBody>
        </p:sp>
      </p:grpSp>
      <p:grpSp>
        <p:nvGrpSpPr>
          <p:cNvPr name="Group 5" id="5"/>
          <p:cNvGrpSpPr/>
          <p:nvPr/>
        </p:nvGrpSpPr>
        <p:grpSpPr>
          <a:xfrm rot="0">
            <a:off x="1220724" y="1536192"/>
            <a:ext cx="15846095" cy="850392"/>
            <a:chOff x="0" y="0"/>
            <a:chExt cx="21128126" cy="1133856"/>
          </a:xfrm>
        </p:grpSpPr>
        <p:sp>
          <p:nvSpPr>
            <p:cNvPr name="Freeform 6" id="6"/>
            <p:cNvSpPr/>
            <p:nvPr/>
          </p:nvSpPr>
          <p:spPr>
            <a:xfrm flipH="false" flipV="false" rot="0">
              <a:off x="0" y="0"/>
              <a:ext cx="21128126" cy="1133856"/>
            </a:xfrm>
            <a:custGeom>
              <a:avLst/>
              <a:gdLst/>
              <a:ahLst/>
              <a:cxnLst/>
              <a:rect r="r" b="b" t="t" l="l"/>
              <a:pathLst>
                <a:path h="1133856" w="21128126">
                  <a:moveTo>
                    <a:pt x="0" y="0"/>
                  </a:moveTo>
                  <a:lnTo>
                    <a:pt x="21128126" y="0"/>
                  </a:lnTo>
                  <a:lnTo>
                    <a:pt x="21128126" y="1133856"/>
                  </a:lnTo>
                  <a:lnTo>
                    <a:pt x="0" y="1133856"/>
                  </a:lnTo>
                  <a:close/>
                </a:path>
              </a:pathLst>
            </a:custGeom>
            <a:blipFill>
              <a:blip r:embed="rId3">
                <a:alphaModFix amt="0"/>
              </a:blip>
              <a:stretch>
                <a:fillRect l="0" t="-313081" r="0" b="-313081"/>
              </a:stretch>
            </a:blipFill>
          </p:spPr>
        </p:sp>
        <p:sp>
          <p:nvSpPr>
            <p:cNvPr name="TextBox 7" id="7"/>
            <p:cNvSpPr txBox="true"/>
            <p:nvPr/>
          </p:nvSpPr>
          <p:spPr>
            <a:xfrm>
              <a:off x="0" y="0"/>
              <a:ext cx="21128126" cy="1133856"/>
            </a:xfrm>
            <a:prstGeom prst="rect">
              <a:avLst/>
            </a:prstGeom>
          </p:spPr>
          <p:txBody>
            <a:bodyPr anchor="ctr" rtlCol="false" tIns="0" lIns="0" bIns="0" rIns="0"/>
            <a:lstStyle/>
            <a:p>
              <a:pPr algn="l">
                <a:lnSpc>
                  <a:spcPts val="5400"/>
                </a:lnSpc>
              </a:pPr>
              <a:r>
                <a:rPr lang="en-US" sz="4500" b="true">
                  <a:solidFill>
                    <a:srgbClr val="14304A"/>
                  </a:solidFill>
                  <a:latin typeface="Source Serif Pro Bold"/>
                  <a:ea typeface="Source Serif Pro Bold"/>
                  <a:cs typeface="Source Serif Pro Bold"/>
                  <a:sym typeface="Source Serif Pro Bold"/>
                </a:rPr>
                <a:t>Sources and guidance</a:t>
              </a:r>
            </a:p>
          </p:txBody>
        </p:sp>
      </p:grpSp>
      <p:sp>
        <p:nvSpPr>
          <p:cNvPr name="TextBox 8" id="8"/>
          <p:cNvSpPr txBox="true"/>
          <p:nvPr/>
        </p:nvSpPr>
        <p:spPr>
          <a:xfrm rot="0">
            <a:off x="1220724" y="2811780"/>
            <a:ext cx="685800" cy="822960"/>
          </a:xfrm>
          <a:prstGeom prst="rect">
            <a:avLst/>
          </a:prstGeom>
        </p:spPr>
        <p:txBody>
          <a:bodyPr anchor="t" rtlCol="false" tIns="0" lIns="0" bIns="0" rIns="0">
            <a:spAutoFit/>
          </a:bodyPr>
          <a:lstStyle/>
          <a:p>
            <a:pPr algn="l">
              <a:lnSpc>
                <a:spcPts val="1980"/>
              </a:lnSpc>
            </a:pPr>
            <a:r>
              <a:rPr lang="en-US" sz="1650" b="true">
                <a:solidFill>
                  <a:srgbClr val="0B6E60"/>
                </a:solidFill>
                <a:latin typeface="IBM Plex Sans Bold"/>
                <a:ea typeface="IBM Plex Sans Bold"/>
                <a:cs typeface="IBM Plex Sans Bold"/>
                <a:sym typeface="IBM Plex Sans Bold"/>
              </a:rPr>
              <a:t>[1]</a:t>
            </a:r>
          </a:p>
        </p:txBody>
      </p:sp>
      <p:sp>
        <p:nvSpPr>
          <p:cNvPr name="TextBox 9" id="9"/>
          <p:cNvSpPr txBox="true"/>
          <p:nvPr/>
        </p:nvSpPr>
        <p:spPr>
          <a:xfrm rot="0">
            <a:off x="1975104" y="2811780"/>
            <a:ext cx="15091715" cy="822960"/>
          </a:xfrm>
          <a:prstGeom prst="rect">
            <a:avLst/>
          </a:prstGeom>
        </p:spPr>
        <p:txBody>
          <a:bodyPr anchor="t" rtlCol="false" tIns="0" lIns="0" bIns="0" rIns="0">
            <a:spAutoFit/>
          </a:bodyPr>
          <a:lstStyle/>
          <a:p>
            <a:pPr algn="l">
              <a:lnSpc>
                <a:spcPts val="1980"/>
              </a:lnSpc>
            </a:pPr>
            <a:r>
              <a:rPr lang="en-US" sz="1650">
                <a:solidFill>
                  <a:srgbClr val="3F4B57"/>
                </a:solidFill>
                <a:latin typeface="IBM Plex Sans"/>
                <a:ea typeface="IBM Plex Sans"/>
                <a:cs typeface="IBM Plex Sans"/>
                <a:sym typeface="IBM Plex Sans"/>
              </a:rPr>
              <a:t>Murray CJL, et al. (2022). Global burden of bacterial antimicrobial resistance in 2019: a systematic analysis. The Lancet, 399(10325), 629–655.</a:t>
            </a:r>
          </a:p>
        </p:txBody>
      </p:sp>
      <p:sp>
        <p:nvSpPr>
          <p:cNvPr name="TextBox 10" id="10"/>
          <p:cNvSpPr txBox="true"/>
          <p:nvPr/>
        </p:nvSpPr>
        <p:spPr>
          <a:xfrm rot="0">
            <a:off x="1220724" y="3771900"/>
            <a:ext cx="685800" cy="822960"/>
          </a:xfrm>
          <a:prstGeom prst="rect">
            <a:avLst/>
          </a:prstGeom>
        </p:spPr>
        <p:txBody>
          <a:bodyPr anchor="t" rtlCol="false" tIns="0" lIns="0" bIns="0" rIns="0">
            <a:spAutoFit/>
          </a:bodyPr>
          <a:lstStyle/>
          <a:p>
            <a:pPr algn="l">
              <a:lnSpc>
                <a:spcPts val="1980"/>
              </a:lnSpc>
            </a:pPr>
            <a:r>
              <a:rPr lang="en-US" sz="1650" b="true">
                <a:solidFill>
                  <a:srgbClr val="0B6E60"/>
                </a:solidFill>
                <a:latin typeface="IBM Plex Sans Bold"/>
                <a:ea typeface="IBM Plex Sans Bold"/>
                <a:cs typeface="IBM Plex Sans Bold"/>
                <a:sym typeface="IBM Plex Sans Bold"/>
              </a:rPr>
              <a:t>[2]</a:t>
            </a:r>
          </a:p>
        </p:txBody>
      </p:sp>
      <p:sp>
        <p:nvSpPr>
          <p:cNvPr name="TextBox 11" id="11"/>
          <p:cNvSpPr txBox="true"/>
          <p:nvPr/>
        </p:nvSpPr>
        <p:spPr>
          <a:xfrm rot="0">
            <a:off x="1975104" y="3771900"/>
            <a:ext cx="15091715" cy="822960"/>
          </a:xfrm>
          <a:prstGeom prst="rect">
            <a:avLst/>
          </a:prstGeom>
        </p:spPr>
        <p:txBody>
          <a:bodyPr anchor="t" rtlCol="false" tIns="0" lIns="0" bIns="0" rIns="0">
            <a:spAutoFit/>
          </a:bodyPr>
          <a:lstStyle/>
          <a:p>
            <a:pPr algn="l">
              <a:lnSpc>
                <a:spcPts val="1980"/>
              </a:lnSpc>
            </a:pPr>
            <a:r>
              <a:rPr lang="en-US" sz="1650">
                <a:solidFill>
                  <a:srgbClr val="3F4B57"/>
                </a:solidFill>
                <a:latin typeface="IBM Plex Sans"/>
                <a:ea typeface="IBM Plex Sans"/>
                <a:cs typeface="IBM Plex Sans"/>
                <a:sym typeface="IBM Plex Sans"/>
              </a:rPr>
              <a:t>World Health Organization (2023). Antimicrobial resistance: fact sheet. who.int [accessed 24.09.2026]</a:t>
            </a:r>
          </a:p>
        </p:txBody>
      </p:sp>
      <p:sp>
        <p:nvSpPr>
          <p:cNvPr name="TextBox 12" id="12"/>
          <p:cNvSpPr txBox="true"/>
          <p:nvPr/>
        </p:nvSpPr>
        <p:spPr>
          <a:xfrm rot="0">
            <a:off x="1220724" y="4732020"/>
            <a:ext cx="685800" cy="822960"/>
          </a:xfrm>
          <a:prstGeom prst="rect">
            <a:avLst/>
          </a:prstGeom>
        </p:spPr>
        <p:txBody>
          <a:bodyPr anchor="t" rtlCol="false" tIns="0" lIns="0" bIns="0" rIns="0">
            <a:spAutoFit/>
          </a:bodyPr>
          <a:lstStyle/>
          <a:p>
            <a:pPr algn="l">
              <a:lnSpc>
                <a:spcPts val="1980"/>
              </a:lnSpc>
            </a:pPr>
            <a:r>
              <a:rPr lang="en-US" sz="1650" b="true">
                <a:solidFill>
                  <a:srgbClr val="0B6E60"/>
                </a:solidFill>
                <a:latin typeface="IBM Plex Sans Bold"/>
                <a:ea typeface="IBM Plex Sans Bold"/>
                <a:cs typeface="IBM Plex Sans Bold"/>
                <a:sym typeface="IBM Plex Sans Bold"/>
              </a:rPr>
              <a:t>[3]</a:t>
            </a:r>
          </a:p>
        </p:txBody>
      </p:sp>
      <p:sp>
        <p:nvSpPr>
          <p:cNvPr name="TextBox 13" id="13"/>
          <p:cNvSpPr txBox="true"/>
          <p:nvPr/>
        </p:nvSpPr>
        <p:spPr>
          <a:xfrm rot="0">
            <a:off x="1975104" y="4732020"/>
            <a:ext cx="15091715" cy="822960"/>
          </a:xfrm>
          <a:prstGeom prst="rect">
            <a:avLst/>
          </a:prstGeom>
        </p:spPr>
        <p:txBody>
          <a:bodyPr anchor="t" rtlCol="false" tIns="0" lIns="0" bIns="0" rIns="0">
            <a:spAutoFit/>
          </a:bodyPr>
          <a:lstStyle/>
          <a:p>
            <a:pPr algn="l">
              <a:lnSpc>
                <a:spcPts val="1980"/>
              </a:lnSpc>
            </a:pPr>
            <a:r>
              <a:rPr lang="en-US" sz="1650">
                <a:solidFill>
                  <a:srgbClr val="3F4B57"/>
                </a:solidFill>
                <a:latin typeface="IBM Plex Sans"/>
                <a:ea typeface="IBM Plex Sans"/>
                <a:cs typeface="IBM Plex Sans"/>
                <a:sym typeface="IBM Plex Sans"/>
              </a:rPr>
              <a:t>World Health Organization (2023). The WHO AWaRe (Access, Watch, Reserve) antibiotic book. Geneva: WHO.</a:t>
            </a:r>
          </a:p>
        </p:txBody>
      </p:sp>
      <p:sp>
        <p:nvSpPr>
          <p:cNvPr name="TextBox 14" id="14"/>
          <p:cNvSpPr txBox="true"/>
          <p:nvPr/>
        </p:nvSpPr>
        <p:spPr>
          <a:xfrm rot="0">
            <a:off x="1220724" y="5692140"/>
            <a:ext cx="685800" cy="822960"/>
          </a:xfrm>
          <a:prstGeom prst="rect">
            <a:avLst/>
          </a:prstGeom>
        </p:spPr>
        <p:txBody>
          <a:bodyPr anchor="t" rtlCol="false" tIns="0" lIns="0" bIns="0" rIns="0">
            <a:spAutoFit/>
          </a:bodyPr>
          <a:lstStyle/>
          <a:p>
            <a:pPr algn="l">
              <a:lnSpc>
                <a:spcPts val="1980"/>
              </a:lnSpc>
            </a:pPr>
            <a:r>
              <a:rPr lang="en-US" sz="1650" b="true">
                <a:solidFill>
                  <a:srgbClr val="0B6E60"/>
                </a:solidFill>
                <a:latin typeface="IBM Plex Sans Bold"/>
                <a:ea typeface="IBM Plex Sans Bold"/>
                <a:cs typeface="IBM Plex Sans Bold"/>
                <a:sym typeface="IBM Plex Sans Bold"/>
              </a:rPr>
              <a:t>[4]</a:t>
            </a:r>
          </a:p>
        </p:txBody>
      </p:sp>
      <p:sp>
        <p:nvSpPr>
          <p:cNvPr name="TextBox 15" id="15"/>
          <p:cNvSpPr txBox="true"/>
          <p:nvPr/>
        </p:nvSpPr>
        <p:spPr>
          <a:xfrm rot="0">
            <a:off x="1975104" y="5692140"/>
            <a:ext cx="15091715" cy="822960"/>
          </a:xfrm>
          <a:prstGeom prst="rect">
            <a:avLst/>
          </a:prstGeom>
        </p:spPr>
        <p:txBody>
          <a:bodyPr anchor="t" rtlCol="false" tIns="0" lIns="0" bIns="0" rIns="0">
            <a:spAutoFit/>
          </a:bodyPr>
          <a:lstStyle/>
          <a:p>
            <a:pPr algn="l">
              <a:lnSpc>
                <a:spcPts val="1980"/>
              </a:lnSpc>
            </a:pPr>
            <a:r>
              <a:rPr lang="en-US" sz="1650">
                <a:solidFill>
                  <a:srgbClr val="3F4B57"/>
                </a:solidFill>
                <a:latin typeface="IBM Plex Sans"/>
                <a:ea typeface="IBM Plex Sans"/>
                <a:cs typeface="IBM Plex Sans"/>
                <a:sym typeface="IBM Plex Sans"/>
              </a:rPr>
              <a:t>Government of Pakistan, Ministry of National Health Services, Regulations &amp; Coordination (2017). National Action Plan for Antimicrobial Resistance, Pakistan. Islamabad.</a:t>
            </a:r>
          </a:p>
        </p:txBody>
      </p:sp>
      <p:sp>
        <p:nvSpPr>
          <p:cNvPr name="TextBox 16" id="16"/>
          <p:cNvSpPr txBox="true"/>
          <p:nvPr/>
        </p:nvSpPr>
        <p:spPr>
          <a:xfrm rot="0">
            <a:off x="1220724" y="6652260"/>
            <a:ext cx="685800" cy="822960"/>
          </a:xfrm>
          <a:prstGeom prst="rect">
            <a:avLst/>
          </a:prstGeom>
        </p:spPr>
        <p:txBody>
          <a:bodyPr anchor="t" rtlCol="false" tIns="0" lIns="0" bIns="0" rIns="0">
            <a:spAutoFit/>
          </a:bodyPr>
          <a:lstStyle/>
          <a:p>
            <a:pPr algn="l">
              <a:lnSpc>
                <a:spcPts val="1980"/>
              </a:lnSpc>
            </a:pPr>
            <a:r>
              <a:rPr lang="en-US" sz="1650" b="true">
                <a:solidFill>
                  <a:srgbClr val="0B6E60"/>
                </a:solidFill>
                <a:latin typeface="IBM Plex Sans Bold"/>
                <a:ea typeface="IBM Plex Sans Bold"/>
                <a:cs typeface="IBM Plex Sans Bold"/>
                <a:sym typeface="IBM Plex Sans Bold"/>
              </a:rPr>
              <a:t>[5]</a:t>
            </a:r>
          </a:p>
        </p:txBody>
      </p:sp>
      <p:sp>
        <p:nvSpPr>
          <p:cNvPr name="TextBox 17" id="17"/>
          <p:cNvSpPr txBox="true"/>
          <p:nvPr/>
        </p:nvSpPr>
        <p:spPr>
          <a:xfrm rot="0">
            <a:off x="1975104" y="6652260"/>
            <a:ext cx="15091715" cy="822960"/>
          </a:xfrm>
          <a:prstGeom prst="rect">
            <a:avLst/>
          </a:prstGeom>
        </p:spPr>
        <p:txBody>
          <a:bodyPr anchor="t" rtlCol="false" tIns="0" lIns="0" bIns="0" rIns="0">
            <a:spAutoFit/>
          </a:bodyPr>
          <a:lstStyle/>
          <a:p>
            <a:pPr algn="l">
              <a:lnSpc>
                <a:spcPts val="1980"/>
              </a:lnSpc>
            </a:pPr>
            <a:r>
              <a:rPr lang="en-US" sz="1650">
                <a:solidFill>
                  <a:srgbClr val="3F4B57"/>
                </a:solidFill>
                <a:latin typeface="IBM Plex Sans"/>
                <a:ea typeface="IBM Plex Sans"/>
                <a:cs typeface="IBM Plex Sans"/>
                <a:sym typeface="IBM Plex Sans"/>
              </a:rPr>
              <a:t>WHO / FAO / WOAH / UNEP (2022). One Health Joint Plan of Action 2022–2026. Geneva.</a:t>
            </a:r>
          </a:p>
        </p:txBody>
      </p:sp>
      <p:sp>
        <p:nvSpPr>
          <p:cNvPr name="TextBox 18" id="18"/>
          <p:cNvSpPr txBox="true"/>
          <p:nvPr/>
        </p:nvSpPr>
        <p:spPr>
          <a:xfrm rot="0">
            <a:off x="1220724" y="7612380"/>
            <a:ext cx="685800" cy="822960"/>
          </a:xfrm>
          <a:prstGeom prst="rect">
            <a:avLst/>
          </a:prstGeom>
        </p:spPr>
        <p:txBody>
          <a:bodyPr anchor="t" rtlCol="false" tIns="0" lIns="0" bIns="0" rIns="0">
            <a:spAutoFit/>
          </a:bodyPr>
          <a:lstStyle/>
          <a:p>
            <a:pPr algn="l">
              <a:lnSpc>
                <a:spcPts val="1980"/>
              </a:lnSpc>
            </a:pPr>
            <a:r>
              <a:rPr lang="en-US" sz="1650" b="true">
                <a:solidFill>
                  <a:srgbClr val="0B6E60"/>
                </a:solidFill>
                <a:latin typeface="IBM Plex Sans Bold"/>
                <a:ea typeface="IBM Plex Sans Bold"/>
                <a:cs typeface="IBM Plex Sans Bold"/>
                <a:sym typeface="IBM Plex Sans Bold"/>
              </a:rPr>
              <a:t>[6]</a:t>
            </a:r>
          </a:p>
        </p:txBody>
      </p:sp>
      <p:sp>
        <p:nvSpPr>
          <p:cNvPr name="TextBox 19" id="19"/>
          <p:cNvSpPr txBox="true"/>
          <p:nvPr/>
        </p:nvSpPr>
        <p:spPr>
          <a:xfrm rot="0">
            <a:off x="1975104" y="7612380"/>
            <a:ext cx="15091715" cy="822960"/>
          </a:xfrm>
          <a:prstGeom prst="rect">
            <a:avLst/>
          </a:prstGeom>
        </p:spPr>
        <p:txBody>
          <a:bodyPr anchor="t" rtlCol="false" tIns="0" lIns="0" bIns="0" rIns="0">
            <a:spAutoFit/>
          </a:bodyPr>
          <a:lstStyle/>
          <a:p>
            <a:pPr algn="l">
              <a:lnSpc>
                <a:spcPts val="1980"/>
              </a:lnSpc>
            </a:pPr>
            <a:r>
              <a:rPr lang="en-US" sz="1650">
                <a:solidFill>
                  <a:srgbClr val="3F4B57"/>
                </a:solidFill>
                <a:latin typeface="IBM Plex Sans"/>
                <a:ea typeface="IBM Plex Sans"/>
                <a:cs typeface="IBM Plex Sans"/>
                <a:sym typeface="IBM Plex Sans"/>
              </a:rPr>
              <a:t>Programme records: dispensing log, flyer distribution register, camp attendance and the 200-respondent survey (Antibiotic_Stewardship_Community_Survey_Data.xlsx).</a:t>
            </a:r>
          </a:p>
        </p:txBody>
      </p:sp>
      <p:grpSp>
        <p:nvGrpSpPr>
          <p:cNvPr name="Group 20" id="20"/>
          <p:cNvGrpSpPr/>
          <p:nvPr/>
        </p:nvGrpSpPr>
        <p:grpSpPr>
          <a:xfrm rot="0">
            <a:off x="1220724" y="9354312"/>
            <a:ext cx="11658600" cy="356616"/>
            <a:chOff x="0" y="0"/>
            <a:chExt cx="15544800" cy="475488"/>
          </a:xfrm>
        </p:grpSpPr>
        <p:sp>
          <p:nvSpPr>
            <p:cNvPr name="Freeform 21" id="21"/>
            <p:cNvSpPr/>
            <p:nvPr/>
          </p:nvSpPr>
          <p:spPr>
            <a:xfrm flipH="false" flipV="false" rot="0">
              <a:off x="0" y="0"/>
              <a:ext cx="15544800" cy="475488"/>
            </a:xfrm>
            <a:custGeom>
              <a:avLst/>
              <a:gdLst/>
              <a:ahLst/>
              <a:cxnLst/>
              <a:rect r="r" b="b" t="t" l="l"/>
              <a:pathLst>
                <a:path h="475488" w="15544800">
                  <a:moveTo>
                    <a:pt x="0" y="0"/>
                  </a:moveTo>
                  <a:lnTo>
                    <a:pt x="15544800" y="0"/>
                  </a:lnTo>
                  <a:lnTo>
                    <a:pt x="15544800" y="475488"/>
                  </a:lnTo>
                  <a:lnTo>
                    <a:pt x="0" y="475488"/>
                  </a:lnTo>
                  <a:close/>
                </a:path>
              </a:pathLst>
            </a:custGeom>
            <a:blipFill>
              <a:blip r:embed="rId3">
                <a:alphaModFix amt="0"/>
              </a:blip>
              <a:stretch>
                <a:fillRect l="0" t="-587010" r="0" b="-587010"/>
              </a:stretch>
            </a:blipFill>
          </p:spPr>
        </p:sp>
        <p:sp>
          <p:nvSpPr>
            <p:cNvPr name="TextBox 22" id="22"/>
            <p:cNvSpPr txBox="true"/>
            <p:nvPr/>
          </p:nvSpPr>
          <p:spPr>
            <a:xfrm>
              <a:off x="0" y="0"/>
              <a:ext cx="15544800" cy="475488"/>
            </a:xfrm>
            <a:prstGeom prst="rect">
              <a:avLst/>
            </a:prstGeom>
          </p:spPr>
          <p:txBody>
            <a:bodyPr anchor="ctr" rtlCol="false" tIns="0" lIns="0" bIns="0" rIns="0"/>
            <a:lstStyle/>
            <a:p>
              <a:pPr algn="l">
                <a:lnSpc>
                  <a:spcPts val="1800"/>
                </a:lnSpc>
              </a:pPr>
              <a:r>
                <a:rPr lang="en-US" sz="1500">
                  <a:solidFill>
                    <a:srgbClr val="5B6770"/>
                  </a:solidFill>
                  <a:latin typeface="IBM Plex Sans"/>
                  <a:ea typeface="IBM Plex Sans"/>
                  <a:cs typeface="IBM Plex Sans"/>
                  <a:sym typeface="IBM Plex Sans"/>
                </a:rPr>
                <a:t>Preserving Our Medicines · Community Antibiotic Stewardship, Chakwal, Pakistan</a:t>
              </a:r>
            </a:p>
          </p:txBody>
        </p:sp>
      </p:grpSp>
      <p:grpSp>
        <p:nvGrpSpPr>
          <p:cNvPr name="Group 23" id="23"/>
          <p:cNvGrpSpPr/>
          <p:nvPr/>
        </p:nvGrpSpPr>
        <p:grpSpPr>
          <a:xfrm rot="0">
            <a:off x="15695219" y="9354312"/>
            <a:ext cx="1371600" cy="356616"/>
            <a:chOff x="0" y="0"/>
            <a:chExt cx="1828800" cy="475488"/>
          </a:xfrm>
        </p:grpSpPr>
        <p:sp>
          <p:nvSpPr>
            <p:cNvPr name="Freeform 24" id="24"/>
            <p:cNvSpPr/>
            <p:nvPr/>
          </p:nvSpPr>
          <p:spPr>
            <a:xfrm flipH="false" flipV="false" rot="0">
              <a:off x="0" y="0"/>
              <a:ext cx="1828800" cy="475488"/>
            </a:xfrm>
            <a:custGeom>
              <a:avLst/>
              <a:gdLst/>
              <a:ahLst/>
              <a:cxnLst/>
              <a:rect r="r" b="b" t="t" l="l"/>
              <a:pathLst>
                <a:path h="475488" w="1828800">
                  <a:moveTo>
                    <a:pt x="0" y="0"/>
                  </a:moveTo>
                  <a:lnTo>
                    <a:pt x="1828800" y="0"/>
                  </a:lnTo>
                  <a:lnTo>
                    <a:pt x="1828800" y="475488"/>
                  </a:lnTo>
                  <a:lnTo>
                    <a:pt x="0" y="475488"/>
                  </a:lnTo>
                  <a:close/>
                </a:path>
              </a:pathLst>
            </a:custGeom>
            <a:blipFill>
              <a:blip r:embed="rId3">
                <a:alphaModFix amt="0"/>
              </a:blip>
              <a:stretch>
                <a:fillRect l="0" t="-24942" r="0" b="-24942"/>
              </a:stretch>
            </a:blipFill>
          </p:spPr>
        </p:sp>
        <p:sp>
          <p:nvSpPr>
            <p:cNvPr name="TextBox 25" id="25"/>
            <p:cNvSpPr txBox="true"/>
            <p:nvPr/>
          </p:nvSpPr>
          <p:spPr>
            <a:xfrm>
              <a:off x="0" y="0"/>
              <a:ext cx="1828800" cy="475488"/>
            </a:xfrm>
            <a:prstGeom prst="rect">
              <a:avLst/>
            </a:prstGeom>
          </p:spPr>
          <p:txBody>
            <a:bodyPr anchor="ctr" rtlCol="false" tIns="0" lIns="0" bIns="0" rIns="0"/>
            <a:lstStyle/>
            <a:p>
              <a:pPr algn="r">
                <a:lnSpc>
                  <a:spcPts val="1800"/>
                </a:lnSpc>
              </a:pPr>
              <a:r>
                <a:rPr lang="en-US" sz="1500">
                  <a:solidFill>
                    <a:srgbClr val="5B6770"/>
                  </a:solidFill>
                  <a:latin typeface="IBM Plex Sans"/>
                  <a:ea typeface="IBM Plex Sans"/>
                  <a:cs typeface="IBM Plex Sans"/>
                  <a:sym typeface="IBM Plex Sans"/>
                </a:rPr>
                <a:t>19</a:t>
              </a:r>
            </a:p>
          </p:txBody>
        </p:sp>
      </p:grpSp>
    </p:spTree>
  </p:cSld>
  <p:clrMapOvr>
    <a:masterClrMapping/>
  </p:clrMapOvr>
</p:sld>
</file>

<file path=ppt/slides/slide20.xml><?xml version="1.0" encoding="utf-8"?>
<p:sld xmlns:p="http://schemas.openxmlformats.org/presentationml/2006/main" xmlns:a="http://schemas.openxmlformats.org/drawingml/2006/main">
  <p:cSld>
    <p:bg>
      <p:bgPr>
        <a:solidFill>
          <a:srgbClr val="EAF0EE"/>
        </a:solidFill>
      </p:bgPr>
    </p:bg>
    <p:spTree>
      <p:nvGrpSpPr>
        <p:cNvPr id="1" name=""/>
        <p:cNvGrpSpPr/>
        <p:nvPr/>
      </p:nvGrpSpPr>
      <p:grpSpPr>
        <a:xfrm>
          <a:off x="0" y="0"/>
          <a:ext cx="0" cy="0"/>
          <a:chOff x="0" y="0"/>
          <a:chExt cx="0" cy="0"/>
        </a:xfrm>
      </p:grpSpPr>
      <p:sp>
        <p:nvSpPr>
          <p:cNvPr name="TextBox 2" id="2"/>
          <p:cNvSpPr txBox="true"/>
          <p:nvPr/>
        </p:nvSpPr>
        <p:spPr>
          <a:xfrm rot="0">
            <a:off x="1220724" y="3154680"/>
            <a:ext cx="15846095" cy="411480"/>
          </a:xfrm>
          <a:prstGeom prst="rect">
            <a:avLst/>
          </a:prstGeom>
        </p:spPr>
        <p:txBody>
          <a:bodyPr anchor="t" rtlCol="false" tIns="0" lIns="0" bIns="0" rIns="0">
            <a:spAutoFit/>
          </a:bodyPr>
          <a:lstStyle/>
          <a:p>
            <a:pPr algn="l">
              <a:lnSpc>
                <a:spcPts val="1980"/>
              </a:lnSpc>
            </a:pPr>
            <a:r>
              <a:rPr lang="en-US" b="true" sz="1650" spc="299">
                <a:solidFill>
                  <a:srgbClr val="0B6E60"/>
                </a:solidFill>
                <a:latin typeface="IBM Plex Sans Bold"/>
                <a:ea typeface="IBM Plex Sans Bold"/>
                <a:cs typeface="IBM Plex Sans Bold"/>
                <a:sym typeface="IBM Plex Sans Bold"/>
              </a:rPr>
              <a:t>THANK YOU FOR YOUR ATTENTION</a:t>
            </a:r>
          </a:p>
        </p:txBody>
      </p:sp>
      <p:sp>
        <p:nvSpPr>
          <p:cNvPr name="TextBox 3" id="3"/>
          <p:cNvSpPr txBox="true"/>
          <p:nvPr/>
        </p:nvSpPr>
        <p:spPr>
          <a:xfrm rot="0">
            <a:off x="1220724" y="3712845"/>
            <a:ext cx="15846095" cy="1224915"/>
          </a:xfrm>
          <a:prstGeom prst="rect">
            <a:avLst/>
          </a:prstGeom>
        </p:spPr>
        <p:txBody>
          <a:bodyPr anchor="t" rtlCol="false" tIns="0" lIns="0" bIns="0" rIns="0">
            <a:spAutoFit/>
          </a:bodyPr>
          <a:lstStyle/>
          <a:p>
            <a:pPr algn="l">
              <a:lnSpc>
                <a:spcPts val="6480"/>
              </a:lnSpc>
            </a:pPr>
            <a:r>
              <a:rPr lang="en-US" sz="5400" b="true">
                <a:solidFill>
                  <a:srgbClr val="14304A"/>
                </a:solidFill>
                <a:latin typeface="Source Serif Pro Bold"/>
                <a:ea typeface="Source Serif Pro Bold"/>
                <a:cs typeface="Source Serif Pro Bold"/>
                <a:sym typeface="Source Serif Pro Bold"/>
              </a:rPr>
              <a:t>Questions &amp; open community discussion</a:t>
            </a:r>
          </a:p>
        </p:txBody>
      </p:sp>
      <p:sp>
        <p:nvSpPr>
          <p:cNvPr name="TextBox 4" id="4"/>
          <p:cNvSpPr txBox="true"/>
          <p:nvPr/>
        </p:nvSpPr>
        <p:spPr>
          <a:xfrm rot="0">
            <a:off x="1220724" y="5006340"/>
            <a:ext cx="15846095" cy="548640"/>
          </a:xfrm>
          <a:prstGeom prst="rect">
            <a:avLst/>
          </a:prstGeom>
        </p:spPr>
        <p:txBody>
          <a:bodyPr anchor="t" rtlCol="false" tIns="0" lIns="0" bIns="0" rIns="0">
            <a:spAutoFit/>
          </a:bodyPr>
          <a:lstStyle/>
          <a:p>
            <a:pPr algn="l">
              <a:lnSpc>
                <a:spcPts val="2879"/>
              </a:lnSpc>
            </a:pPr>
            <a:r>
              <a:rPr lang="en-US" sz="2400">
                <a:solidFill>
                  <a:srgbClr val="3F4B57"/>
                </a:solidFill>
                <a:latin typeface="IBM Plex Sans"/>
                <a:ea typeface="IBM Plex Sans"/>
                <a:cs typeface="IBM Plex Sans"/>
                <a:sym typeface="IBM Plex Sans"/>
              </a:rPr>
              <a:t>Protect our medicines, protect our future</a:t>
            </a:r>
          </a:p>
        </p:txBody>
      </p:sp>
      <p:grpSp>
        <p:nvGrpSpPr>
          <p:cNvPr name="Group 5" id="5"/>
          <p:cNvGrpSpPr/>
          <p:nvPr/>
        </p:nvGrpSpPr>
        <p:grpSpPr>
          <a:xfrm rot="0">
            <a:off x="1211199" y="7122795"/>
            <a:ext cx="87630" cy="1322070"/>
            <a:chOff x="0" y="0"/>
            <a:chExt cx="116840" cy="1762760"/>
          </a:xfrm>
        </p:grpSpPr>
        <p:sp>
          <p:nvSpPr>
            <p:cNvPr name="Freeform 6" id="6"/>
            <p:cNvSpPr/>
            <p:nvPr/>
          </p:nvSpPr>
          <p:spPr>
            <a:xfrm flipH="false" flipV="false" rot="0">
              <a:off x="0" y="0"/>
              <a:ext cx="116840" cy="1762760"/>
            </a:xfrm>
            <a:custGeom>
              <a:avLst/>
              <a:gdLst/>
              <a:ahLst/>
              <a:cxnLst/>
              <a:rect r="r" b="b" t="t" l="l"/>
              <a:pathLst>
                <a:path h="1762760" w="116840">
                  <a:moveTo>
                    <a:pt x="0" y="0"/>
                  </a:moveTo>
                  <a:lnTo>
                    <a:pt x="116840" y="0"/>
                  </a:lnTo>
                  <a:lnTo>
                    <a:pt x="116840" y="1762760"/>
                  </a:lnTo>
                  <a:lnTo>
                    <a:pt x="0" y="1762760"/>
                  </a:lnTo>
                  <a:close/>
                </a:path>
              </a:pathLst>
            </a:custGeom>
            <a:solidFill>
              <a:srgbClr val="0B6E60"/>
            </a:solidFill>
            <a:ln w="19050" cap="sq">
              <a:solidFill>
                <a:srgbClr val="0B6E60"/>
              </a:solidFill>
              <a:prstDash val="solid"/>
              <a:miter/>
            </a:ln>
          </p:spPr>
        </p:sp>
      </p:grpSp>
      <p:sp>
        <p:nvSpPr>
          <p:cNvPr name="TextBox 7" id="7"/>
          <p:cNvSpPr txBox="true"/>
          <p:nvPr/>
        </p:nvSpPr>
        <p:spPr>
          <a:xfrm rot="0">
            <a:off x="1522476" y="7122795"/>
            <a:ext cx="8229600" cy="448437"/>
          </a:xfrm>
          <a:prstGeom prst="rect">
            <a:avLst/>
          </a:prstGeom>
        </p:spPr>
        <p:txBody>
          <a:bodyPr anchor="t" rtlCol="false" tIns="0" lIns="0" bIns="0" rIns="0">
            <a:spAutoFit/>
          </a:bodyPr>
          <a:lstStyle/>
          <a:p>
            <a:pPr algn="l">
              <a:lnSpc>
                <a:spcPts val="2520"/>
              </a:lnSpc>
            </a:pPr>
            <a:r>
              <a:rPr lang="en-US" sz="2100" b="true">
                <a:solidFill>
                  <a:srgbClr val="14304A"/>
                </a:solidFill>
                <a:latin typeface="IBM Plex Sans Bold"/>
                <a:ea typeface="IBM Plex Sans Bold"/>
                <a:cs typeface="IBM Plex Sans Bold"/>
                <a:sym typeface="IBM Plex Sans Bold"/>
              </a:rPr>
              <a:t>Anila Munir</a:t>
            </a:r>
          </a:p>
        </p:txBody>
      </p:sp>
      <p:sp>
        <p:nvSpPr>
          <p:cNvPr name="TextBox 8" id="8"/>
          <p:cNvSpPr txBox="true"/>
          <p:nvPr/>
        </p:nvSpPr>
        <p:spPr>
          <a:xfrm rot="0">
            <a:off x="1522476" y="7612380"/>
            <a:ext cx="10972800" cy="384048"/>
          </a:xfrm>
          <a:prstGeom prst="rect">
            <a:avLst/>
          </a:prstGeom>
        </p:spPr>
        <p:txBody>
          <a:bodyPr anchor="t" rtlCol="false" tIns="0" lIns="0" bIns="0" rIns="0">
            <a:spAutoFit/>
          </a:bodyPr>
          <a:lstStyle/>
          <a:p>
            <a:pPr algn="l">
              <a:lnSpc>
                <a:spcPts val="1980"/>
              </a:lnSpc>
            </a:pPr>
            <a:r>
              <a:rPr lang="en-US" sz="1650">
                <a:solidFill>
                  <a:srgbClr val="5B6770"/>
                </a:solidFill>
                <a:latin typeface="IBM Plex Sans"/>
                <a:ea typeface="IBM Plex Sans"/>
                <a:cs typeface="IBM Plex Sans"/>
                <a:sym typeface="IBM Plex Sans"/>
              </a:rPr>
              <a:t>anilamunir15@gmail.com · Choa Saidan Shah, Chakwal, Pakistan · March – August 2026</a:t>
            </a:r>
          </a:p>
        </p:txBody>
      </p:sp>
      <p:sp>
        <p:nvSpPr>
          <p:cNvPr name="TextBox 9" id="9"/>
          <p:cNvSpPr txBox="true"/>
          <p:nvPr/>
        </p:nvSpPr>
        <p:spPr>
          <a:xfrm rot="0">
            <a:off x="1522476" y="7996428"/>
            <a:ext cx="10972800" cy="384048"/>
          </a:xfrm>
          <a:prstGeom prst="rect">
            <a:avLst/>
          </a:prstGeom>
        </p:spPr>
        <p:txBody>
          <a:bodyPr anchor="t" rtlCol="false" tIns="0" lIns="0" bIns="0" rIns="0">
            <a:spAutoFit/>
          </a:bodyPr>
          <a:lstStyle/>
          <a:p>
            <a:pPr algn="l">
              <a:lnSpc>
                <a:spcPts val="1980"/>
              </a:lnSpc>
            </a:pPr>
            <a:r>
              <a:rPr lang="en-US" sz="1650">
                <a:solidFill>
                  <a:srgbClr val="5B6770"/>
                </a:solidFill>
                <a:latin typeface="IBM Plex Sans"/>
                <a:ea typeface="IBM Plex Sans"/>
                <a:cs typeface="IBM Plex Sans"/>
                <a:sym typeface="IBM Plex Sans"/>
              </a:rPr>
              <a:t>Clinical &amp; Community Pharmacist · DAAD EPOS Public Health Initiative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DAHWmPUNOqo</dc:identifier>
  <dcterms:modified xsi:type="dcterms:W3CDTF">2011-08-01T06:04:30Z</dcterms:modified>
  <cp:revision>1</cp:revision>
  <dc:title>Persevering our medicines.pptx</dc:title>
</cp:coreProperties>
</file>