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IBM Plex Sans Bold" charset="1" panose="020B0803050203000203"/>
      <p:regular r:id="rId23"/>
    </p:embeddedFont>
    <p:embeddedFont>
      <p:font typeface="IBM Plex Sans" charset="1" panose="020B0503050203000203"/>
      <p:regular r:id="rId24"/>
    </p:embeddedFont>
    <p:embeddedFont>
      <p:font typeface="IBM Plex Sans Italics" charset="1" panose="020B0503050203000203"/>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notesSlides/notesSlide2.xml" Type="http://schemas.openxmlformats.org/officeDocument/2006/relationships/notesSlide"/><Relationship Id="rId26" Target="notesSlides/notesSlide3.xml" Type="http://schemas.openxmlformats.org/officeDocument/2006/relationships/notesSlide"/><Relationship Id="rId27" Target="notesSlides/notesSlide4.xml" Type="http://schemas.openxmlformats.org/officeDocument/2006/relationships/notesSlide"/><Relationship Id="rId28" Target="fonts/font28.fntdata" Type="http://schemas.openxmlformats.org/officeDocument/2006/relationships/font"/><Relationship Id="rId29" Target="notesSlides/notesSlide5.xml" Type="http://schemas.openxmlformats.org/officeDocument/2006/relationships/notesSlide"/><Relationship Id="rId3" Target="viewProps.xml" Type="http://schemas.openxmlformats.org/officeDocument/2006/relationships/viewProps"/><Relationship Id="rId30" Target="notesSlides/notesSlide6.xml" Type="http://schemas.openxmlformats.org/officeDocument/2006/relationships/notesSlide"/><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notesSlides/notesSlide12.xml" Type="http://schemas.openxmlformats.org/officeDocument/2006/relationships/notesSlide"/><Relationship Id="rId37" Target="notesSlides/notesSlide13.xml" Type="http://schemas.openxmlformats.org/officeDocument/2006/relationships/notesSlide"/><Relationship Id="rId38" Target="notesSlides/notesSlide14.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Introduce yourself and the project: a community health triage app with digital referral, developed and piloted in Chakwal District, prepared as part of my DAAD EPOS application for an MSc in Global / International Health.</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The presentation follows the logic of a digital public-health intervention: problem and setting, diseases targeted, objectives, the app itself, how it turns symptoms into a referral, the community field work, pilot results, ethics, sustainability, and how DAAD EPOS will help me take this further.</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Explain the local setting: Chakwal is a rural district with long distances to facilities, limited health literacy in Urdu-only households and frequent seasonal outbreaks. The 72-hour figure is the average delay we observed between first symptoms and a physician visit during household sessions.</a:t>
            </a:r>
          </a:p>
          <a:p>
            <a:r>
              <a:rPr lang="en-US"/>
              <a:t>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These four conditions were chosen from district outbreak patterns and from what I see at the pharmacy counter. Each has a recognisable early symptom pattern that a rule-based tool can pick up, and each has a clear next step: vaccination, isolation, urgent physician review or a rapid test.</a:t>
            </a:r>
          </a:p>
          <a:p>
            <a:r>
              <a:rPr lang="en-US"/>
              <a:t>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Objectives cover recognition (knowing when a fever is not ordinary), navigation (where to go), timing (going earlier) and prevention (vaccine follow-up, avoiding unnecessary antibiotics).</a:t>
            </a:r>
          </a:p>
          <a:p>
            <a:r>
              <a:rPr lang="en-US"/>
              <a:t>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Walk through one example live: a mother reports high fever, cough and red eyes in a 3-year-old. The engine flags possible measles, marks it high risk, shows the nearest Basic Health Unit with an MR vaccine stock, and later schedules the vaccine reminder for the siblings.</a:t>
            </a:r>
          </a:p>
          <a:p>
            <a:r>
              <a:rPr lang="en-US"/>
              <a:t>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Show the interface: the user selects or speaks symptoms, the status card gives the likely illness and a risk level, and the bottom card names the nearest suitable clinic with distance. Everything shown works without internet. The link is a placeholder for the pilot build.</a:t>
            </a:r>
          </a:p>
          <a:p>
            <a:r>
              <a:rPr lang="en-US"/>
              <a:t>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These are simplified examples of the decision rules. The rules were written from WHO IMCI danger signs and local clinical practice, then reviewed with two physicians at DHQ Hospital Chakwal before the pilot.</a:t>
            </a:r>
          </a:p>
          <a:p>
            <a:r>
              <a:rPr lang="en-US"/>
              <a:t>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Household sessions were the core of the pilot. Many families had a smartphone but no idea that it could guide a health decision. In each session I installed the app, entered a real or recent symptom episode together with the family, and showed where the referral would send them.</a:t>
            </a:r>
          </a:p>
          <a:p>
            <a:r>
              <a:rPr lang="en-US"/>
              <a:t>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Pilot figures come from the household sessions and follow-up calls. Numbers are from a small, non-randomised pilot; a properly designed evaluation is exactly what the EPOS training will make possible.</a:t>
            </a:r>
          </a:p>
          <a:p>
            <a:r>
              <a:rPr lang="en-US"/>
              <a:t>10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Safety is the main ethical risk of any triage tool: false reassurance. The rules are deliberately conservative, danger signs override all other logic, and every screen tells the user to see a doctor.</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Sustainability depends on the app living inside existing structures: the LHW programme, the district health information system and basic phones. The pharmacist's role becomes training, rule maintenance and data quality rather than door-to-door delivery.</a:t>
            </a:r>
          </a:p>
          <a:p>
            <a:r>
              <a:rPr lang="en-US"/>
              <a:t>12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Close with the personal goal: every family in Chakwal District should be able to recognise a dangerous fever and know where to go, in their own language, without needing internet. The DAAD EPOS MSc gives me the methods to evaluate and scale this responsibly.</a:t>
            </a:r>
          </a:p>
          <a:p>
            <a:r>
              <a:rPr lang="en-US"/>
              <a:t>13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2" Target="../notesSlides/notesSlide4.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2.png" Type="http://schemas.openxmlformats.org/officeDocument/2006/relationships/image"/><Relationship Id="rId4"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png" Type="http://schemas.openxmlformats.org/officeDocument/2006/relationships/image"/><Relationship Id="rId12" Target="../media/image23.svg" Type="http://schemas.openxmlformats.org/officeDocument/2006/relationships/image"/><Relationship Id="rId13" Target="../media/image24.jpeg" Type="http://schemas.openxmlformats.org/officeDocument/2006/relationships/image"/><Relationship Id="rId14" Target="../media/image25.jpeg" Type="http://schemas.openxmlformats.org/officeDocument/2006/relationships/image"/><Relationship Id="rId2" Target="../notesSlides/notesSlide6.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 Id="rId9" Target="../media/image2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11" Target="../media/image32.png" Type="http://schemas.openxmlformats.org/officeDocument/2006/relationships/image"/><Relationship Id="rId12" Target="../media/image33.svg" Type="http://schemas.openxmlformats.org/officeDocument/2006/relationships/image"/><Relationship Id="rId13" Target="../media/image34.png" Type="http://schemas.openxmlformats.org/officeDocument/2006/relationships/image"/><Relationship Id="rId14" Target="../media/image35.png" Type="http://schemas.openxmlformats.org/officeDocument/2006/relationships/image"/><Relationship Id="rId15" Target="../media/image36.svg" Type="http://schemas.openxmlformats.org/officeDocument/2006/relationships/image"/><Relationship Id="rId16" Target="../media/image37.png" Type="http://schemas.openxmlformats.org/officeDocument/2006/relationships/image"/><Relationship Id="rId17" Target="../media/image38.png" Type="http://schemas.openxmlformats.org/officeDocument/2006/relationships/image"/><Relationship Id="rId18" Target="../media/image20.png" Type="http://schemas.openxmlformats.org/officeDocument/2006/relationships/image"/><Relationship Id="rId19" Target="../media/image39.png" Type="http://schemas.openxmlformats.org/officeDocument/2006/relationships/image"/><Relationship Id="rId2" Target="../notesSlides/notesSlide7.xml" Type="http://schemas.openxmlformats.org/officeDocument/2006/relationships/notesSlid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24.jpeg" Type="http://schemas.openxmlformats.org/officeDocument/2006/relationships/image"/><Relationship Id="rId8" Target="../media/image25.jpeg" Type="http://schemas.openxmlformats.org/officeDocument/2006/relationships/image"/><Relationship Id="rId9" Target="../media/image3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2" Target="../notesSlides/notesSlide9.xml" Type="http://schemas.openxmlformats.org/officeDocument/2006/relationships/notesSlide"/><Relationship Id="rId3" Target="../media/image40.jpe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media/image45.png" Type="http://schemas.openxmlformats.org/officeDocument/2006/relationships/image"/><Relationship Id="rId9" Target="../media/image4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48.png" Type="http://schemas.openxmlformats.org/officeDocument/2006/relationships/image"/><Relationship Id="rId4" Target="../media/image49.svg" Type="http://schemas.openxmlformats.org/officeDocument/2006/relationships/image"/><Relationship Id="rId5" Target="../media/image24.jpeg" Type="http://schemas.openxmlformats.org/officeDocument/2006/relationships/image"/><Relationship Id="rId6" Target="../media/image25.jpeg" Type="http://schemas.openxmlformats.org/officeDocument/2006/relationships/image"/><Relationship Id="rId7" Target="../media/image50.png" Type="http://schemas.openxmlformats.org/officeDocument/2006/relationships/image"/><Relationship Id="rId8" Target="../media/image51.png" Type="http://schemas.openxmlformats.org/officeDocument/2006/relationships/image"/><Relationship Id="rId9" Target="../media/image5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png" Type="http://schemas.openxmlformats.org/officeDocument/2006/relationships/image"/><Relationship Id="rId11" Target="../media/image47.png" Type="http://schemas.openxmlformats.org/officeDocument/2006/relationships/image"/><Relationship Id="rId12" Target="../media/image58.png" Type="http://schemas.openxmlformats.org/officeDocument/2006/relationships/image"/><Relationship Id="rId2" Target="../notesSlides/notesSlide11.xml" Type="http://schemas.openxmlformats.org/officeDocument/2006/relationships/notesSlide"/><Relationship Id="rId3" Target="../media/image53.png" Type="http://schemas.openxmlformats.org/officeDocument/2006/relationships/image"/><Relationship Id="rId4" Target="../media/image54.svg" Type="http://schemas.openxmlformats.org/officeDocument/2006/relationships/image"/><Relationship Id="rId5" Target="../media/image43.png" Type="http://schemas.openxmlformats.org/officeDocument/2006/relationships/image"/><Relationship Id="rId6" Target="../media/image44.svg" Type="http://schemas.openxmlformats.org/officeDocument/2006/relationships/image"/><Relationship Id="rId7" Target="../media/image45.png" Type="http://schemas.openxmlformats.org/officeDocument/2006/relationships/image"/><Relationship Id="rId8" Target="../media/image55.png" Type="http://schemas.openxmlformats.org/officeDocument/2006/relationships/image"/><Relationship Id="rId9" Target="../media/image5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6.png" Type="http://schemas.openxmlformats.org/officeDocument/2006/relationships/image"/><Relationship Id="rId11" Target="../media/image67.svg" Type="http://schemas.openxmlformats.org/officeDocument/2006/relationships/image"/><Relationship Id="rId2" Target="../notesSlides/notesSlide12.xml" Type="http://schemas.openxmlformats.org/officeDocument/2006/relationships/notesSlide"/><Relationship Id="rId3" Target="../media/image59.png" Type="http://schemas.openxmlformats.org/officeDocument/2006/relationships/image"/><Relationship Id="rId4" Target="../media/image60.svg" Type="http://schemas.openxmlformats.org/officeDocument/2006/relationships/image"/><Relationship Id="rId5" Target="../media/image61.png" Type="http://schemas.openxmlformats.org/officeDocument/2006/relationships/image"/><Relationship Id="rId6" Target="../media/image62.svg" Type="http://schemas.openxmlformats.org/officeDocument/2006/relationships/image"/><Relationship Id="rId7" Target="../media/image63.png" Type="http://schemas.openxmlformats.org/officeDocument/2006/relationships/image"/><Relationship Id="rId8" Target="../media/image64.png" Type="http://schemas.openxmlformats.org/officeDocument/2006/relationships/image"/><Relationship Id="rId9" Target="../media/image6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304A"/>
        </a:solidFill>
      </p:bgPr>
    </p:bg>
    <p:spTree>
      <p:nvGrpSpPr>
        <p:cNvPr id="1" name=""/>
        <p:cNvGrpSpPr/>
        <p:nvPr/>
      </p:nvGrpSpPr>
      <p:grpSpPr>
        <a:xfrm>
          <a:off x="0" y="0"/>
          <a:ext cx="0" cy="0"/>
          <a:chOff x="0" y="0"/>
          <a:chExt cx="0" cy="0"/>
        </a:xfrm>
      </p:grpSpPr>
      <p:sp>
        <p:nvSpPr>
          <p:cNvPr name="TextBox 2" id="2"/>
          <p:cNvSpPr txBox="true"/>
          <p:nvPr/>
        </p:nvSpPr>
        <p:spPr>
          <a:xfrm rot="0">
            <a:off x="1220724" y="2071116"/>
            <a:ext cx="9107424" cy="266700"/>
          </a:xfrm>
          <a:prstGeom prst="rect">
            <a:avLst/>
          </a:prstGeom>
        </p:spPr>
        <p:txBody>
          <a:bodyPr anchor="t" rtlCol="false" tIns="0" lIns="0" bIns="0" rIns="0">
            <a:spAutoFit/>
          </a:bodyPr>
          <a:lstStyle/>
          <a:p>
            <a:pPr algn="l">
              <a:lnSpc>
                <a:spcPts val="2160"/>
              </a:lnSpc>
            </a:pPr>
            <a:r>
              <a:rPr lang="en-US" b="true" sz="1800" spc="225">
                <a:solidFill>
                  <a:srgbClr val="7FD1C0"/>
                </a:solidFill>
                <a:latin typeface="IBM Plex Sans Bold"/>
                <a:ea typeface="IBM Plex Sans Bold"/>
                <a:cs typeface="IBM Plex Sans Bold"/>
                <a:sym typeface="IBM Plex Sans Bold"/>
              </a:rPr>
              <a:t>DAAD EPOS · MS Public Health</a:t>
            </a:r>
          </a:p>
        </p:txBody>
      </p:sp>
      <p:sp>
        <p:nvSpPr>
          <p:cNvPr name="TextBox 3" id="3"/>
          <p:cNvSpPr txBox="true"/>
          <p:nvPr/>
        </p:nvSpPr>
        <p:spPr>
          <a:xfrm rot="0">
            <a:off x="1220724" y="2770632"/>
            <a:ext cx="9107424" cy="3058668"/>
          </a:xfrm>
          <a:prstGeom prst="rect">
            <a:avLst/>
          </a:prstGeom>
        </p:spPr>
        <p:txBody>
          <a:bodyPr anchor="t" rtlCol="false" tIns="0" lIns="0" bIns="0" rIns="0">
            <a:spAutoFit/>
          </a:bodyPr>
          <a:lstStyle/>
          <a:p>
            <a:pPr algn="l">
              <a:lnSpc>
                <a:spcPts val="7920"/>
              </a:lnSpc>
            </a:pPr>
            <a:r>
              <a:rPr lang="en-US" sz="6600" b="true">
                <a:solidFill>
                  <a:srgbClr val="F7F6F2"/>
                </a:solidFill>
                <a:latin typeface="IBM Plex Sans Bold"/>
                <a:ea typeface="IBM Plex Sans Bold"/>
                <a:cs typeface="IBM Plex Sans Bold"/>
                <a:sym typeface="IBM Plex Sans Bold"/>
              </a:rPr>
              <a:t>Community Health Triage &amp; Digital Disease Referral</a:t>
            </a:r>
          </a:p>
        </p:txBody>
      </p:sp>
      <p:sp>
        <p:nvSpPr>
          <p:cNvPr name="TextBox 4" id="4"/>
          <p:cNvSpPr txBox="true"/>
          <p:nvPr/>
        </p:nvSpPr>
        <p:spPr>
          <a:xfrm rot="0">
            <a:off x="1220724" y="6035040"/>
            <a:ext cx="9107424" cy="1097280"/>
          </a:xfrm>
          <a:prstGeom prst="rect">
            <a:avLst/>
          </a:prstGeom>
        </p:spPr>
        <p:txBody>
          <a:bodyPr anchor="t" rtlCol="false" tIns="0" lIns="0" bIns="0" rIns="0">
            <a:spAutoFit/>
          </a:bodyPr>
          <a:lstStyle/>
          <a:p>
            <a:pPr algn="l">
              <a:lnSpc>
                <a:spcPts val="2700"/>
              </a:lnSpc>
            </a:pPr>
            <a:r>
              <a:rPr lang="en-US" sz="2250">
                <a:solidFill>
                  <a:srgbClr val="BFD8D5"/>
                </a:solidFill>
                <a:latin typeface="IBM Plex Sans"/>
                <a:ea typeface="IBM Plex Sans"/>
                <a:cs typeface="IBM Plex Sans"/>
                <a:sym typeface="IBM Plex Sans"/>
              </a:rPr>
              <a:t>A bilingual (English–Urdu) mobile app that helps families in rural Chakwal recognise symptoms early, understand the likely illness and reach the right clinic in time.</a:t>
            </a:r>
          </a:p>
        </p:txBody>
      </p:sp>
      <p:sp>
        <p:nvSpPr>
          <p:cNvPr name="AutoShape 5" id="5"/>
          <p:cNvSpPr/>
          <p:nvPr/>
        </p:nvSpPr>
        <p:spPr>
          <a:xfrm rot="49980">
            <a:off x="579463" y="7963662"/>
            <a:ext cx="1309954" cy="0"/>
          </a:xfrm>
          <a:prstGeom prst="line">
            <a:avLst/>
          </a:prstGeom>
          <a:ln cap="rnd" w="19050">
            <a:solidFill>
              <a:srgbClr val="7FD1C0"/>
            </a:solidFill>
            <a:prstDash val="solid"/>
            <a:headEnd type="none" len="sm" w="sm"/>
            <a:tailEnd type="none" len="sm" w="sm"/>
          </a:ln>
        </p:spPr>
      </p:sp>
      <p:sp>
        <p:nvSpPr>
          <p:cNvPr name="TextBox 6" id="6"/>
          <p:cNvSpPr txBox="true"/>
          <p:nvPr/>
        </p:nvSpPr>
        <p:spPr>
          <a:xfrm rot="0">
            <a:off x="1481328" y="7379208"/>
            <a:ext cx="8833104" cy="438912"/>
          </a:xfrm>
          <a:prstGeom prst="rect">
            <a:avLst/>
          </a:prstGeom>
        </p:spPr>
        <p:txBody>
          <a:bodyPr anchor="t" rtlCol="false" tIns="0" lIns="0" bIns="0" rIns="0">
            <a:spAutoFit/>
          </a:bodyPr>
          <a:lstStyle/>
          <a:p>
            <a:pPr algn="l">
              <a:lnSpc>
                <a:spcPts val="2700"/>
              </a:lnSpc>
            </a:pPr>
            <a:r>
              <a:rPr lang="en-US" sz="2250" b="true">
                <a:solidFill>
                  <a:srgbClr val="F7F6F2"/>
                </a:solidFill>
                <a:latin typeface="IBM Plex Sans Bold"/>
                <a:ea typeface="IBM Plex Sans Bold"/>
                <a:cs typeface="IBM Plex Sans Bold"/>
                <a:sym typeface="IBM Plex Sans Bold"/>
              </a:rPr>
              <a:t>Anila Munir, PharmD</a:t>
            </a:r>
          </a:p>
        </p:txBody>
      </p:sp>
      <p:sp>
        <p:nvSpPr>
          <p:cNvPr name="TextBox 7" id="7"/>
          <p:cNvSpPr txBox="true"/>
          <p:nvPr/>
        </p:nvSpPr>
        <p:spPr>
          <a:xfrm rot="0">
            <a:off x="1481328" y="7859268"/>
            <a:ext cx="8833104" cy="754380"/>
          </a:xfrm>
          <a:prstGeom prst="rect">
            <a:avLst/>
          </a:prstGeom>
        </p:spPr>
        <p:txBody>
          <a:bodyPr anchor="t" rtlCol="false" tIns="0" lIns="0" bIns="0" rIns="0">
            <a:spAutoFit/>
          </a:bodyPr>
          <a:lstStyle/>
          <a:p>
            <a:pPr algn="l">
              <a:lnSpc>
                <a:spcPts val="2160"/>
              </a:lnSpc>
            </a:pPr>
            <a:r>
              <a:rPr lang="en-US" sz="1800">
                <a:solidFill>
                  <a:srgbClr val="BFD8D5"/>
                </a:solidFill>
                <a:latin typeface="IBM Plex Sans"/>
                <a:ea typeface="IBM Plex Sans"/>
                <a:cs typeface="IBM Plex Sans"/>
                <a:sym typeface="IBM Plex Sans"/>
              </a:rPr>
              <a:t>Hospital &amp; Community Pharmacist · Chakwal, Punjab, Pakistan</a:t>
            </a:r>
          </a:p>
          <a:p>
            <a:pPr algn="l">
              <a:lnSpc>
                <a:spcPts val="2160"/>
              </a:lnSpc>
            </a:pPr>
            <a:r>
              <a:rPr lang="en-US" sz="1800">
                <a:solidFill>
                  <a:srgbClr val="BFD8D5"/>
                </a:solidFill>
                <a:latin typeface="IBM Plex Sans"/>
                <a:ea typeface="IBM Plex Sans"/>
                <a:cs typeface="IBM Plex Sans"/>
                <a:sym typeface="IBM Plex Sans"/>
              </a:rPr>
              <a:t>anilamunir15@gmail.com</a:t>
            </a:r>
          </a:p>
        </p:txBody>
      </p:sp>
      <p:grpSp>
        <p:nvGrpSpPr>
          <p:cNvPr name="Group 8" id="8"/>
          <p:cNvGrpSpPr/>
          <p:nvPr/>
        </p:nvGrpSpPr>
        <p:grpSpPr>
          <a:xfrm rot="0">
            <a:off x="10972800" y="3113532"/>
            <a:ext cx="6089904" cy="4073652"/>
            <a:chOff x="0" y="0"/>
            <a:chExt cx="8119872" cy="5431536"/>
          </a:xfrm>
        </p:grpSpPr>
        <p:sp>
          <p:nvSpPr>
            <p:cNvPr name="Freeform 9" id="9"/>
            <p:cNvSpPr/>
            <p:nvPr/>
          </p:nvSpPr>
          <p:spPr>
            <a:xfrm flipH="false" flipV="false" rot="0">
              <a:off x="0" y="0"/>
              <a:ext cx="8119872" cy="5431536"/>
            </a:xfrm>
            <a:custGeom>
              <a:avLst/>
              <a:gdLst/>
              <a:ahLst/>
              <a:cxnLst/>
              <a:rect r="r" b="b" t="t" l="l"/>
              <a:pathLst>
                <a:path h="5431536" w="8119872">
                  <a:moveTo>
                    <a:pt x="0" y="0"/>
                  </a:moveTo>
                  <a:lnTo>
                    <a:pt x="8119872" y="0"/>
                  </a:lnTo>
                  <a:lnTo>
                    <a:pt x="8119872" y="5431536"/>
                  </a:lnTo>
                  <a:lnTo>
                    <a:pt x="0" y="5431536"/>
                  </a:lnTo>
                  <a:lnTo>
                    <a:pt x="0" y="0"/>
                  </a:lnTo>
                  <a:close/>
                </a:path>
              </a:pathLst>
            </a:custGeom>
            <a:blipFill>
              <a:blip r:embed="rId3"/>
              <a:stretch>
                <a:fillRect l="-336" t="0" r="-336" b="0"/>
              </a:stretch>
            </a:blipFill>
          </p:spPr>
        </p:sp>
      </p:grpSp>
      <p:sp>
        <p:nvSpPr>
          <p:cNvPr name="TextBox 10" id="10"/>
          <p:cNvSpPr txBox="true"/>
          <p:nvPr/>
        </p:nvSpPr>
        <p:spPr>
          <a:xfrm rot="0">
            <a:off x="11169396" y="7351014"/>
            <a:ext cx="6089904" cy="247650"/>
          </a:xfrm>
          <a:prstGeom prst="rect">
            <a:avLst/>
          </a:prstGeom>
        </p:spPr>
        <p:txBody>
          <a:bodyPr anchor="t" rtlCol="false" tIns="0" lIns="0" bIns="0" rIns="0">
            <a:spAutoFit/>
          </a:bodyPr>
          <a:lstStyle/>
          <a:p>
            <a:pPr algn="l">
              <a:lnSpc>
                <a:spcPts val="1980"/>
              </a:lnSpc>
            </a:pPr>
            <a:r>
              <a:rPr lang="en-US" sz="1650">
                <a:solidFill>
                  <a:srgbClr val="A9C3C8"/>
                </a:solidFill>
                <a:latin typeface="IBM Plex Sans"/>
                <a:ea typeface="IBM Plex Sans"/>
                <a:cs typeface="IBM Plex Sans"/>
                <a:sym typeface="IBM Plex Sans"/>
              </a:rPr>
              <a:t>Marking the door after educating the family about the app</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20724" y="1220724"/>
            <a:ext cx="15841980" cy="356616"/>
          </a:xfrm>
          <a:prstGeom prst="rect">
            <a:avLst/>
          </a:prstGeom>
        </p:spPr>
        <p:txBody>
          <a:bodyPr anchor="t" rtlCol="false" tIns="0" lIns="0" bIns="0" rIns="0">
            <a:spAutoFit/>
          </a:bodyPr>
          <a:lstStyle/>
          <a:p>
            <a:pPr algn="l">
              <a:lnSpc>
                <a:spcPts val="2160"/>
              </a:lnSpc>
            </a:pPr>
            <a:r>
              <a:rPr lang="en-US" b="true" sz="1800" spc="225">
                <a:solidFill>
                  <a:srgbClr val="0B6E60"/>
                </a:solidFill>
                <a:latin typeface="IBM Plex Sans Bold"/>
                <a:ea typeface="IBM Plex Sans Bold"/>
                <a:cs typeface="IBM Plex Sans Bold"/>
                <a:sym typeface="IBM Plex Sans Bold"/>
              </a:rPr>
              <a:t>OUTLINE</a:t>
            </a:r>
          </a:p>
        </p:txBody>
      </p:sp>
      <p:sp>
        <p:nvSpPr>
          <p:cNvPr name="TextBox 3" id="3"/>
          <p:cNvSpPr txBox="true"/>
          <p:nvPr/>
        </p:nvSpPr>
        <p:spPr>
          <a:xfrm rot="0">
            <a:off x="1220724" y="1678686"/>
            <a:ext cx="15841980" cy="721614"/>
          </a:xfrm>
          <a:prstGeom prst="rect">
            <a:avLst/>
          </a:prstGeom>
        </p:spPr>
        <p:txBody>
          <a:bodyPr anchor="t" rtlCol="false" tIns="0" lIns="0" bIns="0" rIns="0">
            <a:spAutoFit/>
          </a:bodyPr>
          <a:lstStyle/>
          <a:p>
            <a:pPr algn="l">
              <a:lnSpc>
                <a:spcPts val="5758"/>
              </a:lnSpc>
            </a:pPr>
            <a:r>
              <a:rPr lang="en-US" sz="4800" b="true">
                <a:solidFill>
                  <a:srgbClr val="14304A"/>
                </a:solidFill>
                <a:latin typeface="IBM Plex Sans Bold"/>
                <a:ea typeface="IBM Plex Sans Bold"/>
                <a:cs typeface="IBM Plex Sans Bold"/>
                <a:sym typeface="IBM Plex Sans Bold"/>
              </a:rPr>
              <a:t>Structure of the presentation</a:t>
            </a:r>
          </a:p>
        </p:txBody>
      </p:sp>
      <p:sp>
        <p:nvSpPr>
          <p:cNvPr name="TextBox 4" id="4"/>
          <p:cNvSpPr txBox="true"/>
          <p:nvPr/>
        </p:nvSpPr>
        <p:spPr>
          <a:xfrm rot="0">
            <a:off x="1220724" y="2880360"/>
            <a:ext cx="7680960" cy="438912"/>
          </a:xfrm>
          <a:prstGeom prst="rect">
            <a:avLst/>
          </a:prstGeom>
        </p:spPr>
        <p:txBody>
          <a:bodyPr anchor="t" rtlCol="false" tIns="0" lIns="0" bIns="0" rIns="0">
            <a:spAutoFit/>
          </a:bodyPr>
          <a:lstStyle/>
          <a:p>
            <a:pPr algn="l">
              <a:lnSpc>
                <a:spcPts val="2700"/>
              </a:lnSpc>
            </a:pPr>
            <a:r>
              <a:rPr lang="en-US" sz="2250" b="true">
                <a:solidFill>
                  <a:srgbClr val="0B6E60"/>
                </a:solidFill>
                <a:latin typeface="IBM Plex Sans Bold"/>
                <a:ea typeface="IBM Plex Sans Bold"/>
                <a:cs typeface="IBM Plex Sans Bold"/>
                <a:sym typeface="IBM Plex Sans Bold"/>
              </a:rPr>
              <a:t>01   </a:t>
            </a:r>
            <a:r>
              <a:rPr lang="en-US" sz="2250">
                <a:solidFill>
                  <a:srgbClr val="14304A"/>
                </a:solidFill>
                <a:latin typeface="IBM Plex Sans"/>
                <a:ea typeface="IBM Plex Sans"/>
                <a:cs typeface="IBM Plex Sans"/>
                <a:sym typeface="IBM Plex Sans"/>
              </a:rPr>
              <a:t>Introduction: the local health challenge</a:t>
            </a:r>
          </a:p>
        </p:txBody>
      </p:sp>
      <p:sp>
        <p:nvSpPr>
          <p:cNvPr name="AutoShape 5" id="5"/>
          <p:cNvSpPr/>
          <p:nvPr/>
        </p:nvSpPr>
        <p:spPr>
          <a:xfrm rot="4380">
            <a:off x="1208808" y="3419475"/>
            <a:ext cx="7485336" cy="0"/>
          </a:xfrm>
          <a:prstGeom prst="line">
            <a:avLst/>
          </a:prstGeom>
          <a:ln cap="rnd" w="9525">
            <a:solidFill>
              <a:srgbClr val="D3DCD9"/>
            </a:solidFill>
            <a:prstDash val="solid"/>
            <a:headEnd type="none" len="sm" w="sm"/>
            <a:tailEnd type="none" len="sm" w="sm"/>
          </a:ln>
        </p:spPr>
      </p:sp>
      <p:sp>
        <p:nvSpPr>
          <p:cNvPr name="TextBox 6" id="6"/>
          <p:cNvSpPr txBox="true"/>
          <p:nvPr/>
        </p:nvSpPr>
        <p:spPr>
          <a:xfrm rot="0">
            <a:off x="1220724" y="3703320"/>
            <a:ext cx="7680960" cy="438912"/>
          </a:xfrm>
          <a:prstGeom prst="rect">
            <a:avLst/>
          </a:prstGeom>
        </p:spPr>
        <p:txBody>
          <a:bodyPr anchor="t" rtlCol="false" tIns="0" lIns="0" bIns="0" rIns="0">
            <a:spAutoFit/>
          </a:bodyPr>
          <a:lstStyle/>
          <a:p>
            <a:pPr algn="l">
              <a:lnSpc>
                <a:spcPts val="2700"/>
              </a:lnSpc>
            </a:pPr>
            <a:r>
              <a:rPr lang="en-US" sz="2250" b="true">
                <a:solidFill>
                  <a:srgbClr val="0B6E60"/>
                </a:solidFill>
                <a:latin typeface="IBM Plex Sans Bold"/>
                <a:ea typeface="IBM Plex Sans Bold"/>
                <a:cs typeface="IBM Plex Sans Bold"/>
                <a:sym typeface="IBM Plex Sans Bold"/>
              </a:rPr>
              <a:t>02   </a:t>
            </a:r>
            <a:r>
              <a:rPr lang="en-US" sz="2250">
                <a:solidFill>
                  <a:srgbClr val="14304A"/>
                </a:solidFill>
                <a:latin typeface="IBM Plex Sans"/>
                <a:ea typeface="IBM Plex Sans"/>
                <a:cs typeface="IBM Plex Sans"/>
                <a:sym typeface="IBM Plex Sans"/>
              </a:rPr>
              <a:t>Target diseases</a:t>
            </a:r>
          </a:p>
        </p:txBody>
      </p:sp>
      <p:sp>
        <p:nvSpPr>
          <p:cNvPr name="AutoShape 7" id="7"/>
          <p:cNvSpPr/>
          <p:nvPr/>
        </p:nvSpPr>
        <p:spPr>
          <a:xfrm rot="4380">
            <a:off x="1208808" y="4242435"/>
            <a:ext cx="7485336" cy="0"/>
          </a:xfrm>
          <a:prstGeom prst="line">
            <a:avLst/>
          </a:prstGeom>
          <a:ln cap="rnd" w="9525">
            <a:solidFill>
              <a:srgbClr val="D3DCD9"/>
            </a:solidFill>
            <a:prstDash val="solid"/>
            <a:headEnd type="none" len="sm" w="sm"/>
            <a:tailEnd type="none" len="sm" w="sm"/>
          </a:ln>
        </p:spPr>
      </p:sp>
      <p:sp>
        <p:nvSpPr>
          <p:cNvPr name="TextBox 8" id="8"/>
          <p:cNvSpPr txBox="true"/>
          <p:nvPr/>
        </p:nvSpPr>
        <p:spPr>
          <a:xfrm rot="0">
            <a:off x="1220724" y="4526280"/>
            <a:ext cx="7680960" cy="438912"/>
          </a:xfrm>
          <a:prstGeom prst="rect">
            <a:avLst/>
          </a:prstGeom>
        </p:spPr>
        <p:txBody>
          <a:bodyPr anchor="t" rtlCol="false" tIns="0" lIns="0" bIns="0" rIns="0">
            <a:spAutoFit/>
          </a:bodyPr>
          <a:lstStyle/>
          <a:p>
            <a:pPr algn="l">
              <a:lnSpc>
                <a:spcPts val="2700"/>
              </a:lnSpc>
            </a:pPr>
            <a:r>
              <a:rPr lang="en-US" sz="2250" b="true">
                <a:solidFill>
                  <a:srgbClr val="0B6E60"/>
                </a:solidFill>
                <a:latin typeface="IBM Plex Sans Bold"/>
                <a:ea typeface="IBM Plex Sans Bold"/>
                <a:cs typeface="IBM Plex Sans Bold"/>
                <a:sym typeface="IBM Plex Sans Bold"/>
              </a:rPr>
              <a:t>03   </a:t>
            </a:r>
            <a:r>
              <a:rPr lang="en-US" sz="2250">
                <a:solidFill>
                  <a:srgbClr val="14304A"/>
                </a:solidFill>
                <a:latin typeface="IBM Plex Sans"/>
                <a:ea typeface="IBM Plex Sans"/>
                <a:cs typeface="IBM Plex Sans"/>
                <a:sym typeface="IBM Plex Sans"/>
              </a:rPr>
              <a:t>Programme objectives</a:t>
            </a:r>
          </a:p>
        </p:txBody>
      </p:sp>
      <p:sp>
        <p:nvSpPr>
          <p:cNvPr name="AutoShape 9" id="9"/>
          <p:cNvSpPr/>
          <p:nvPr/>
        </p:nvSpPr>
        <p:spPr>
          <a:xfrm rot="4380">
            <a:off x="1208808" y="5065395"/>
            <a:ext cx="7485336" cy="0"/>
          </a:xfrm>
          <a:prstGeom prst="line">
            <a:avLst/>
          </a:prstGeom>
          <a:ln cap="rnd" w="9525">
            <a:solidFill>
              <a:srgbClr val="D3DCD9"/>
            </a:solidFill>
            <a:prstDash val="solid"/>
            <a:headEnd type="none" len="sm" w="sm"/>
            <a:tailEnd type="none" len="sm" w="sm"/>
          </a:ln>
        </p:spPr>
      </p:sp>
      <p:sp>
        <p:nvSpPr>
          <p:cNvPr name="TextBox 10" id="10"/>
          <p:cNvSpPr txBox="true"/>
          <p:nvPr/>
        </p:nvSpPr>
        <p:spPr>
          <a:xfrm rot="0">
            <a:off x="1220724" y="5349240"/>
            <a:ext cx="7680960" cy="438912"/>
          </a:xfrm>
          <a:prstGeom prst="rect">
            <a:avLst/>
          </a:prstGeom>
        </p:spPr>
        <p:txBody>
          <a:bodyPr anchor="t" rtlCol="false" tIns="0" lIns="0" bIns="0" rIns="0">
            <a:spAutoFit/>
          </a:bodyPr>
          <a:lstStyle/>
          <a:p>
            <a:pPr algn="l">
              <a:lnSpc>
                <a:spcPts val="2700"/>
              </a:lnSpc>
            </a:pPr>
            <a:r>
              <a:rPr lang="en-US" sz="2250" b="true">
                <a:solidFill>
                  <a:srgbClr val="0B6E60"/>
                </a:solidFill>
                <a:latin typeface="IBM Plex Sans Bold"/>
                <a:ea typeface="IBM Plex Sans Bold"/>
                <a:cs typeface="IBM Plex Sans Bold"/>
                <a:sym typeface="IBM Plex Sans Bold"/>
              </a:rPr>
              <a:t>04   </a:t>
            </a:r>
            <a:r>
              <a:rPr lang="en-US" sz="2250">
                <a:solidFill>
                  <a:srgbClr val="14304A"/>
                </a:solidFill>
                <a:latin typeface="IBM Plex Sans"/>
                <a:ea typeface="IBM Plex Sans"/>
                <a:cs typeface="IBM Plex Sans"/>
                <a:sym typeface="IBM Plex Sans"/>
              </a:rPr>
              <a:t>How the app works</a:t>
            </a:r>
          </a:p>
        </p:txBody>
      </p:sp>
      <p:sp>
        <p:nvSpPr>
          <p:cNvPr name="AutoShape 11" id="11"/>
          <p:cNvSpPr/>
          <p:nvPr/>
        </p:nvSpPr>
        <p:spPr>
          <a:xfrm rot="4380">
            <a:off x="1208808" y="5888355"/>
            <a:ext cx="7485336" cy="0"/>
          </a:xfrm>
          <a:prstGeom prst="line">
            <a:avLst/>
          </a:prstGeom>
          <a:ln cap="rnd" w="9525">
            <a:solidFill>
              <a:srgbClr val="D3DCD9"/>
            </a:solidFill>
            <a:prstDash val="solid"/>
            <a:headEnd type="none" len="sm" w="sm"/>
            <a:tailEnd type="none" len="sm" w="sm"/>
          </a:ln>
        </p:spPr>
      </p:sp>
      <p:sp>
        <p:nvSpPr>
          <p:cNvPr name="TextBox 12" id="12"/>
          <p:cNvSpPr txBox="true"/>
          <p:nvPr/>
        </p:nvSpPr>
        <p:spPr>
          <a:xfrm rot="0">
            <a:off x="1220724" y="6172200"/>
            <a:ext cx="7680960" cy="438912"/>
          </a:xfrm>
          <a:prstGeom prst="rect">
            <a:avLst/>
          </a:prstGeom>
        </p:spPr>
        <p:txBody>
          <a:bodyPr anchor="t" rtlCol="false" tIns="0" lIns="0" bIns="0" rIns="0">
            <a:spAutoFit/>
          </a:bodyPr>
          <a:lstStyle/>
          <a:p>
            <a:pPr algn="l">
              <a:lnSpc>
                <a:spcPts val="2700"/>
              </a:lnSpc>
            </a:pPr>
            <a:r>
              <a:rPr lang="en-US" sz="2250" b="true">
                <a:solidFill>
                  <a:srgbClr val="0B6E60"/>
                </a:solidFill>
                <a:latin typeface="IBM Plex Sans Bold"/>
                <a:ea typeface="IBM Plex Sans Bold"/>
                <a:cs typeface="IBM Plex Sans Bold"/>
                <a:sym typeface="IBM Plex Sans Bold"/>
              </a:rPr>
              <a:t>05   </a:t>
            </a:r>
            <a:r>
              <a:rPr lang="en-US" sz="2250">
                <a:solidFill>
                  <a:srgbClr val="14304A"/>
                </a:solidFill>
                <a:latin typeface="IBM Plex Sans"/>
                <a:ea typeface="IBM Plex Sans"/>
                <a:cs typeface="IBM Plex Sans"/>
                <a:sym typeface="IBM Plex Sans"/>
              </a:rPr>
              <a:t>Chakwal Health Connect: the app</a:t>
            </a:r>
          </a:p>
        </p:txBody>
      </p:sp>
      <p:sp>
        <p:nvSpPr>
          <p:cNvPr name="AutoShape 13" id="13"/>
          <p:cNvSpPr/>
          <p:nvPr/>
        </p:nvSpPr>
        <p:spPr>
          <a:xfrm rot="4380">
            <a:off x="1208808" y="6711315"/>
            <a:ext cx="7485336" cy="0"/>
          </a:xfrm>
          <a:prstGeom prst="line">
            <a:avLst/>
          </a:prstGeom>
          <a:ln cap="rnd" w="9525">
            <a:solidFill>
              <a:srgbClr val="D3DCD9"/>
            </a:solidFill>
            <a:prstDash val="solid"/>
            <a:headEnd type="none" len="sm" w="sm"/>
            <a:tailEnd type="none" len="sm" w="sm"/>
          </a:ln>
        </p:spPr>
      </p:sp>
      <p:sp>
        <p:nvSpPr>
          <p:cNvPr name="TextBox 14" id="14"/>
          <p:cNvSpPr txBox="true"/>
          <p:nvPr/>
        </p:nvSpPr>
        <p:spPr>
          <a:xfrm rot="0">
            <a:off x="1220724" y="6995160"/>
            <a:ext cx="7680960" cy="438912"/>
          </a:xfrm>
          <a:prstGeom prst="rect">
            <a:avLst/>
          </a:prstGeom>
        </p:spPr>
        <p:txBody>
          <a:bodyPr anchor="t" rtlCol="false" tIns="0" lIns="0" bIns="0" rIns="0">
            <a:spAutoFit/>
          </a:bodyPr>
          <a:lstStyle/>
          <a:p>
            <a:pPr algn="l">
              <a:lnSpc>
                <a:spcPts val="2700"/>
              </a:lnSpc>
            </a:pPr>
            <a:r>
              <a:rPr lang="en-US" sz="2250" b="true">
                <a:solidFill>
                  <a:srgbClr val="0B6E60"/>
                </a:solidFill>
                <a:latin typeface="IBM Plex Sans Bold"/>
                <a:ea typeface="IBM Plex Sans Bold"/>
                <a:cs typeface="IBM Plex Sans Bold"/>
                <a:sym typeface="IBM Plex Sans Bold"/>
              </a:rPr>
              <a:t>06   </a:t>
            </a:r>
            <a:r>
              <a:rPr lang="en-US" sz="2250">
                <a:solidFill>
                  <a:srgbClr val="14304A"/>
                </a:solidFill>
                <a:latin typeface="IBM Plex Sans"/>
                <a:ea typeface="IBM Plex Sans"/>
                <a:cs typeface="IBM Plex Sans"/>
                <a:sym typeface="IBM Plex Sans"/>
              </a:rPr>
              <a:t>From symptoms to referral</a:t>
            </a:r>
          </a:p>
        </p:txBody>
      </p:sp>
      <p:sp>
        <p:nvSpPr>
          <p:cNvPr name="AutoShape 15" id="15"/>
          <p:cNvSpPr/>
          <p:nvPr/>
        </p:nvSpPr>
        <p:spPr>
          <a:xfrm rot="4380">
            <a:off x="1208808" y="7534275"/>
            <a:ext cx="7485336" cy="0"/>
          </a:xfrm>
          <a:prstGeom prst="line">
            <a:avLst/>
          </a:prstGeom>
          <a:ln cap="rnd" w="9525">
            <a:solidFill>
              <a:srgbClr val="D3DCD9"/>
            </a:solidFill>
            <a:prstDash val="solid"/>
            <a:headEnd type="none" len="sm" w="sm"/>
            <a:tailEnd type="none" len="sm" w="sm"/>
          </a:ln>
        </p:spPr>
      </p:sp>
      <p:sp>
        <p:nvSpPr>
          <p:cNvPr name="TextBox 16" id="16"/>
          <p:cNvSpPr txBox="true"/>
          <p:nvPr/>
        </p:nvSpPr>
        <p:spPr>
          <a:xfrm rot="0">
            <a:off x="9601200" y="2880360"/>
            <a:ext cx="7680960" cy="438912"/>
          </a:xfrm>
          <a:prstGeom prst="rect">
            <a:avLst/>
          </a:prstGeom>
        </p:spPr>
        <p:txBody>
          <a:bodyPr anchor="t" rtlCol="false" tIns="0" lIns="0" bIns="0" rIns="0">
            <a:spAutoFit/>
          </a:bodyPr>
          <a:lstStyle/>
          <a:p>
            <a:pPr algn="l">
              <a:lnSpc>
                <a:spcPts val="2700"/>
              </a:lnSpc>
            </a:pPr>
            <a:r>
              <a:rPr lang="en-US" sz="2250" b="true">
                <a:solidFill>
                  <a:srgbClr val="0B6E60"/>
                </a:solidFill>
                <a:latin typeface="IBM Plex Sans Bold"/>
                <a:ea typeface="IBM Plex Sans Bold"/>
                <a:cs typeface="IBM Plex Sans Bold"/>
                <a:sym typeface="IBM Plex Sans Bold"/>
              </a:rPr>
              <a:t>07   </a:t>
            </a:r>
            <a:r>
              <a:rPr lang="en-US" sz="2250">
                <a:solidFill>
                  <a:srgbClr val="14304A"/>
                </a:solidFill>
                <a:latin typeface="IBM Plex Sans"/>
                <a:ea typeface="IBM Plex Sans"/>
                <a:cs typeface="IBM Plex Sans"/>
                <a:sym typeface="IBM Plex Sans"/>
              </a:rPr>
              <a:t>Community field work</a:t>
            </a:r>
          </a:p>
        </p:txBody>
      </p:sp>
      <p:sp>
        <p:nvSpPr>
          <p:cNvPr name="AutoShape 17" id="17"/>
          <p:cNvSpPr/>
          <p:nvPr/>
        </p:nvSpPr>
        <p:spPr>
          <a:xfrm rot="4380">
            <a:off x="9589284" y="3419475"/>
            <a:ext cx="7485336" cy="0"/>
          </a:xfrm>
          <a:prstGeom prst="line">
            <a:avLst/>
          </a:prstGeom>
          <a:ln cap="rnd" w="9525">
            <a:solidFill>
              <a:srgbClr val="D3DCD9"/>
            </a:solidFill>
            <a:prstDash val="solid"/>
            <a:headEnd type="none" len="sm" w="sm"/>
            <a:tailEnd type="none" len="sm" w="sm"/>
          </a:ln>
        </p:spPr>
      </p:sp>
      <p:sp>
        <p:nvSpPr>
          <p:cNvPr name="TextBox 18" id="18"/>
          <p:cNvSpPr txBox="true"/>
          <p:nvPr/>
        </p:nvSpPr>
        <p:spPr>
          <a:xfrm rot="0">
            <a:off x="9601200" y="3703320"/>
            <a:ext cx="7680960" cy="438912"/>
          </a:xfrm>
          <a:prstGeom prst="rect">
            <a:avLst/>
          </a:prstGeom>
        </p:spPr>
        <p:txBody>
          <a:bodyPr anchor="t" rtlCol="false" tIns="0" lIns="0" bIns="0" rIns="0">
            <a:spAutoFit/>
          </a:bodyPr>
          <a:lstStyle/>
          <a:p>
            <a:pPr algn="l">
              <a:lnSpc>
                <a:spcPts val="2700"/>
              </a:lnSpc>
            </a:pPr>
            <a:r>
              <a:rPr lang="en-US" sz="2250" b="true">
                <a:solidFill>
                  <a:srgbClr val="0B6E60"/>
                </a:solidFill>
                <a:latin typeface="IBM Plex Sans Bold"/>
                <a:ea typeface="IBM Plex Sans Bold"/>
                <a:cs typeface="IBM Plex Sans Bold"/>
                <a:sym typeface="IBM Plex Sans Bold"/>
              </a:rPr>
              <a:t>08   </a:t>
            </a:r>
            <a:r>
              <a:rPr lang="en-US" sz="2250">
                <a:solidFill>
                  <a:srgbClr val="14304A"/>
                </a:solidFill>
                <a:latin typeface="IBM Plex Sans"/>
                <a:ea typeface="IBM Plex Sans"/>
                <a:cs typeface="IBM Plex Sans"/>
                <a:sym typeface="IBM Plex Sans"/>
              </a:rPr>
              <a:t>Field pilot outcomes</a:t>
            </a:r>
          </a:p>
        </p:txBody>
      </p:sp>
      <p:sp>
        <p:nvSpPr>
          <p:cNvPr name="AutoShape 19" id="19"/>
          <p:cNvSpPr/>
          <p:nvPr/>
        </p:nvSpPr>
        <p:spPr>
          <a:xfrm rot="4380">
            <a:off x="9589284" y="4242435"/>
            <a:ext cx="7485336" cy="0"/>
          </a:xfrm>
          <a:prstGeom prst="line">
            <a:avLst/>
          </a:prstGeom>
          <a:ln cap="rnd" w="9525">
            <a:solidFill>
              <a:srgbClr val="D3DCD9"/>
            </a:solidFill>
            <a:prstDash val="solid"/>
            <a:headEnd type="none" len="sm" w="sm"/>
            <a:tailEnd type="none" len="sm" w="sm"/>
          </a:ln>
        </p:spPr>
      </p:sp>
      <p:sp>
        <p:nvSpPr>
          <p:cNvPr name="TextBox 20" id="20"/>
          <p:cNvSpPr txBox="true"/>
          <p:nvPr/>
        </p:nvSpPr>
        <p:spPr>
          <a:xfrm rot="0">
            <a:off x="9601200" y="4526280"/>
            <a:ext cx="7680960" cy="438912"/>
          </a:xfrm>
          <a:prstGeom prst="rect">
            <a:avLst/>
          </a:prstGeom>
        </p:spPr>
        <p:txBody>
          <a:bodyPr anchor="t" rtlCol="false" tIns="0" lIns="0" bIns="0" rIns="0">
            <a:spAutoFit/>
          </a:bodyPr>
          <a:lstStyle/>
          <a:p>
            <a:pPr algn="l">
              <a:lnSpc>
                <a:spcPts val="2700"/>
              </a:lnSpc>
            </a:pPr>
            <a:r>
              <a:rPr lang="en-US" sz="2250" b="true">
                <a:solidFill>
                  <a:srgbClr val="0B6E60"/>
                </a:solidFill>
                <a:latin typeface="IBM Plex Sans Bold"/>
                <a:ea typeface="IBM Plex Sans Bold"/>
                <a:cs typeface="IBM Plex Sans Bold"/>
                <a:sym typeface="IBM Plex Sans Bold"/>
              </a:rPr>
              <a:t>09   </a:t>
            </a:r>
            <a:r>
              <a:rPr lang="en-US" sz="2250">
                <a:solidFill>
                  <a:srgbClr val="14304A"/>
                </a:solidFill>
                <a:latin typeface="IBM Plex Sans"/>
                <a:ea typeface="IBM Plex Sans"/>
                <a:cs typeface="IBM Plex Sans"/>
                <a:sym typeface="IBM Plex Sans"/>
              </a:rPr>
              <a:t>Ethics, safety &amp; data protection</a:t>
            </a:r>
          </a:p>
        </p:txBody>
      </p:sp>
      <p:sp>
        <p:nvSpPr>
          <p:cNvPr name="AutoShape 21" id="21"/>
          <p:cNvSpPr/>
          <p:nvPr/>
        </p:nvSpPr>
        <p:spPr>
          <a:xfrm rot="4380">
            <a:off x="9589284" y="5065395"/>
            <a:ext cx="7485336" cy="0"/>
          </a:xfrm>
          <a:prstGeom prst="line">
            <a:avLst/>
          </a:prstGeom>
          <a:ln cap="rnd" w="9525">
            <a:solidFill>
              <a:srgbClr val="D3DCD9"/>
            </a:solidFill>
            <a:prstDash val="solid"/>
            <a:headEnd type="none" len="sm" w="sm"/>
            <a:tailEnd type="none" len="sm" w="sm"/>
          </a:ln>
        </p:spPr>
      </p:sp>
      <p:sp>
        <p:nvSpPr>
          <p:cNvPr name="TextBox 22" id="22"/>
          <p:cNvSpPr txBox="true"/>
          <p:nvPr/>
        </p:nvSpPr>
        <p:spPr>
          <a:xfrm rot="0">
            <a:off x="9601200" y="5349240"/>
            <a:ext cx="7680960" cy="438912"/>
          </a:xfrm>
          <a:prstGeom prst="rect">
            <a:avLst/>
          </a:prstGeom>
        </p:spPr>
        <p:txBody>
          <a:bodyPr anchor="t" rtlCol="false" tIns="0" lIns="0" bIns="0" rIns="0">
            <a:spAutoFit/>
          </a:bodyPr>
          <a:lstStyle/>
          <a:p>
            <a:pPr algn="l">
              <a:lnSpc>
                <a:spcPts val="2700"/>
              </a:lnSpc>
            </a:pPr>
            <a:r>
              <a:rPr lang="en-US" sz="2250" b="true">
                <a:solidFill>
                  <a:srgbClr val="0B6E60"/>
                </a:solidFill>
                <a:latin typeface="IBM Plex Sans Bold"/>
                <a:ea typeface="IBM Plex Sans Bold"/>
                <a:cs typeface="IBM Plex Sans Bold"/>
                <a:sym typeface="IBM Plex Sans Bold"/>
              </a:rPr>
              <a:t>10   </a:t>
            </a:r>
            <a:r>
              <a:rPr lang="en-US" sz="2250">
                <a:solidFill>
                  <a:srgbClr val="14304A"/>
                </a:solidFill>
                <a:latin typeface="IBM Plex Sans"/>
                <a:ea typeface="IBM Plex Sans"/>
                <a:cs typeface="IBM Plex Sans"/>
                <a:sym typeface="IBM Plex Sans"/>
              </a:rPr>
              <a:t>Sustainability &amp; health-system integration</a:t>
            </a:r>
          </a:p>
        </p:txBody>
      </p:sp>
      <p:sp>
        <p:nvSpPr>
          <p:cNvPr name="AutoShape 23" id="23"/>
          <p:cNvSpPr/>
          <p:nvPr/>
        </p:nvSpPr>
        <p:spPr>
          <a:xfrm rot="4380">
            <a:off x="9589284" y="5888355"/>
            <a:ext cx="7485336" cy="0"/>
          </a:xfrm>
          <a:prstGeom prst="line">
            <a:avLst/>
          </a:prstGeom>
          <a:ln cap="rnd" w="9525">
            <a:solidFill>
              <a:srgbClr val="D3DCD9"/>
            </a:solidFill>
            <a:prstDash val="solid"/>
            <a:headEnd type="none" len="sm" w="sm"/>
            <a:tailEnd type="none" len="sm" w="sm"/>
          </a:ln>
        </p:spPr>
      </p:sp>
      <p:sp>
        <p:nvSpPr>
          <p:cNvPr name="TextBox 24" id="24"/>
          <p:cNvSpPr txBox="true"/>
          <p:nvPr/>
        </p:nvSpPr>
        <p:spPr>
          <a:xfrm rot="0">
            <a:off x="9601200" y="6172200"/>
            <a:ext cx="7680960" cy="438912"/>
          </a:xfrm>
          <a:prstGeom prst="rect">
            <a:avLst/>
          </a:prstGeom>
        </p:spPr>
        <p:txBody>
          <a:bodyPr anchor="t" rtlCol="false" tIns="0" lIns="0" bIns="0" rIns="0">
            <a:spAutoFit/>
          </a:bodyPr>
          <a:lstStyle/>
          <a:p>
            <a:pPr algn="l">
              <a:lnSpc>
                <a:spcPts val="2700"/>
              </a:lnSpc>
            </a:pPr>
            <a:r>
              <a:rPr lang="en-US" sz="2250" b="true">
                <a:solidFill>
                  <a:srgbClr val="0B6E60"/>
                </a:solidFill>
                <a:latin typeface="IBM Plex Sans Bold"/>
                <a:ea typeface="IBM Plex Sans Bold"/>
                <a:cs typeface="IBM Plex Sans Bold"/>
                <a:sym typeface="IBM Plex Sans Bold"/>
              </a:rPr>
              <a:t>11   </a:t>
            </a:r>
            <a:r>
              <a:rPr lang="en-US" sz="2250">
                <a:solidFill>
                  <a:srgbClr val="14304A"/>
                </a:solidFill>
                <a:latin typeface="IBM Plex Sans"/>
                <a:ea typeface="IBM Plex Sans"/>
                <a:cs typeface="IBM Plex Sans"/>
                <a:sym typeface="IBM Plex Sans"/>
              </a:rPr>
              <a:t>Conclusion &amp; DAAD EPOS way forward</a:t>
            </a:r>
          </a:p>
        </p:txBody>
      </p:sp>
      <p:sp>
        <p:nvSpPr>
          <p:cNvPr name="AutoShape 25" id="25"/>
          <p:cNvSpPr/>
          <p:nvPr/>
        </p:nvSpPr>
        <p:spPr>
          <a:xfrm rot="4380">
            <a:off x="9589284" y="6711315"/>
            <a:ext cx="7485336" cy="0"/>
          </a:xfrm>
          <a:prstGeom prst="line">
            <a:avLst/>
          </a:prstGeom>
          <a:ln cap="rnd" w="9525">
            <a:solidFill>
              <a:srgbClr val="D3DCD9"/>
            </a:solidFill>
            <a:prstDash val="solid"/>
            <a:headEnd type="none" len="sm" w="sm"/>
            <a:tailEnd type="none" len="sm" w="sm"/>
          </a:ln>
        </p:spPr>
      </p:sp>
      <p:sp>
        <p:nvSpPr>
          <p:cNvPr name="TextBox 26" id="26"/>
          <p:cNvSpPr txBox="true"/>
          <p:nvPr/>
        </p:nvSpPr>
        <p:spPr>
          <a:xfrm rot="0">
            <a:off x="9601200" y="6995160"/>
            <a:ext cx="7680960" cy="438912"/>
          </a:xfrm>
          <a:prstGeom prst="rect">
            <a:avLst/>
          </a:prstGeom>
        </p:spPr>
        <p:txBody>
          <a:bodyPr anchor="t" rtlCol="false" tIns="0" lIns="0" bIns="0" rIns="0">
            <a:spAutoFit/>
          </a:bodyPr>
          <a:lstStyle/>
          <a:p>
            <a:pPr algn="l">
              <a:lnSpc>
                <a:spcPts val="2700"/>
              </a:lnSpc>
            </a:pPr>
            <a:r>
              <a:rPr lang="en-US" sz="2250" b="true">
                <a:solidFill>
                  <a:srgbClr val="0B6E60"/>
                </a:solidFill>
                <a:latin typeface="IBM Plex Sans Bold"/>
                <a:ea typeface="IBM Plex Sans Bold"/>
                <a:cs typeface="IBM Plex Sans Bold"/>
                <a:sym typeface="IBM Plex Sans Bold"/>
              </a:rPr>
              <a:t>12   </a:t>
            </a:r>
            <a:r>
              <a:rPr lang="en-US" sz="2250">
                <a:solidFill>
                  <a:srgbClr val="14304A"/>
                </a:solidFill>
                <a:latin typeface="IBM Plex Sans"/>
                <a:ea typeface="IBM Plex Sans"/>
                <a:cs typeface="IBM Plex Sans"/>
                <a:sym typeface="IBM Plex Sans"/>
              </a:rPr>
              <a:t>References</a:t>
            </a:r>
          </a:p>
        </p:txBody>
      </p:sp>
      <p:sp>
        <p:nvSpPr>
          <p:cNvPr name="AutoShape 27" id="27"/>
          <p:cNvSpPr/>
          <p:nvPr/>
        </p:nvSpPr>
        <p:spPr>
          <a:xfrm rot="4380">
            <a:off x="9589284" y="7534275"/>
            <a:ext cx="7485336" cy="0"/>
          </a:xfrm>
          <a:prstGeom prst="line">
            <a:avLst/>
          </a:prstGeom>
          <a:ln cap="rnd" w="9525">
            <a:solidFill>
              <a:srgbClr val="D3DCD9"/>
            </a:solidFill>
            <a:prstDash val="solid"/>
            <a:headEnd type="none" len="sm" w="sm"/>
            <a:tailEnd type="none" len="sm" w="sm"/>
          </a:ln>
        </p:spPr>
      </p:sp>
      <p:sp>
        <p:nvSpPr>
          <p:cNvPr name="TextBox 28" id="28"/>
          <p:cNvSpPr txBox="true"/>
          <p:nvPr/>
        </p:nvSpPr>
        <p:spPr>
          <a:xfrm rot="0">
            <a:off x="1220724" y="9354312"/>
            <a:ext cx="11658600" cy="356616"/>
          </a:xfrm>
          <a:prstGeom prst="rect">
            <a:avLst/>
          </a:prstGeom>
        </p:spPr>
        <p:txBody>
          <a:bodyPr anchor="t" rtlCol="false" tIns="0" lIns="0" bIns="0" rIns="0">
            <a:spAutoFit/>
          </a:bodyPr>
          <a:lstStyle/>
          <a:p>
            <a:pPr algn="l">
              <a:lnSpc>
                <a:spcPts val="2160"/>
              </a:lnSpc>
            </a:pPr>
            <a:r>
              <a:rPr lang="en-US" sz="1800">
                <a:solidFill>
                  <a:srgbClr val="5B6770"/>
                </a:solidFill>
                <a:latin typeface="IBM Plex Sans"/>
                <a:ea typeface="IBM Plex Sans"/>
                <a:cs typeface="IBM Plex Sans"/>
                <a:sym typeface="IBM Plex Sans"/>
              </a:rPr>
              <a:t>Community Health Triage &amp; Digital Disease Referral · Chakwal, Pakistan</a:t>
            </a:r>
          </a:p>
        </p:txBody>
      </p:sp>
      <p:sp>
        <p:nvSpPr>
          <p:cNvPr name="TextBox 29" id="29"/>
          <p:cNvSpPr txBox="true"/>
          <p:nvPr/>
        </p:nvSpPr>
        <p:spPr>
          <a:xfrm rot="0">
            <a:off x="15691104" y="9354312"/>
            <a:ext cx="1371600" cy="356616"/>
          </a:xfrm>
          <a:prstGeom prst="rect">
            <a:avLst/>
          </a:prstGeom>
        </p:spPr>
        <p:txBody>
          <a:bodyPr anchor="t" rtlCol="false" tIns="0" lIns="0" bIns="0" rIns="0">
            <a:spAutoFit/>
          </a:bodyPr>
          <a:lstStyle/>
          <a:p>
            <a:pPr algn="r">
              <a:lnSpc>
                <a:spcPts val="2160"/>
              </a:lnSpc>
            </a:pPr>
            <a:r>
              <a:rPr lang="en-US" sz="1800">
                <a:solidFill>
                  <a:srgbClr val="5B6770"/>
                </a:solidFill>
                <a:latin typeface="IBM Plex Sans"/>
                <a:ea typeface="IBM Plex Sans"/>
                <a:cs typeface="IBM Plex Sans"/>
                <a:sym typeface="IBM Plex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20724" y="1220724"/>
            <a:ext cx="15841980" cy="356616"/>
          </a:xfrm>
          <a:prstGeom prst="rect">
            <a:avLst/>
          </a:prstGeom>
        </p:spPr>
        <p:txBody>
          <a:bodyPr anchor="t" rtlCol="false" tIns="0" lIns="0" bIns="0" rIns="0">
            <a:spAutoFit/>
          </a:bodyPr>
          <a:lstStyle/>
          <a:p>
            <a:pPr algn="l">
              <a:lnSpc>
                <a:spcPts val="2160"/>
              </a:lnSpc>
            </a:pPr>
            <a:r>
              <a:rPr lang="en-US" b="true" sz="1800" spc="225">
                <a:solidFill>
                  <a:srgbClr val="0B6E60"/>
                </a:solidFill>
                <a:latin typeface="IBM Plex Sans Bold"/>
                <a:ea typeface="IBM Plex Sans Bold"/>
                <a:cs typeface="IBM Plex Sans Bold"/>
                <a:sym typeface="IBM Plex Sans Bold"/>
              </a:rPr>
              <a:t>01 · INTRODUCTION</a:t>
            </a:r>
          </a:p>
        </p:txBody>
      </p:sp>
      <p:sp>
        <p:nvSpPr>
          <p:cNvPr name="TextBox 3" id="3"/>
          <p:cNvSpPr txBox="true"/>
          <p:nvPr/>
        </p:nvSpPr>
        <p:spPr>
          <a:xfrm rot="0">
            <a:off x="1220724" y="1678686"/>
            <a:ext cx="15841980" cy="721614"/>
          </a:xfrm>
          <a:prstGeom prst="rect">
            <a:avLst/>
          </a:prstGeom>
        </p:spPr>
        <p:txBody>
          <a:bodyPr anchor="t" rtlCol="false" tIns="0" lIns="0" bIns="0" rIns="0">
            <a:spAutoFit/>
          </a:bodyPr>
          <a:lstStyle/>
          <a:p>
            <a:pPr algn="l">
              <a:lnSpc>
                <a:spcPts val="5758"/>
              </a:lnSpc>
            </a:pPr>
            <a:r>
              <a:rPr lang="en-US" sz="4800" b="true">
                <a:solidFill>
                  <a:srgbClr val="14304A"/>
                </a:solidFill>
                <a:latin typeface="IBM Plex Sans Bold"/>
                <a:ea typeface="IBM Plex Sans Bold"/>
                <a:cs typeface="IBM Plex Sans Bold"/>
                <a:sym typeface="IBM Plex Sans Bold"/>
              </a:rPr>
              <a:t>Rural families reach care too late</a:t>
            </a:r>
          </a:p>
        </p:txBody>
      </p:sp>
      <p:sp>
        <p:nvSpPr>
          <p:cNvPr name="TextBox 4" id="4"/>
          <p:cNvSpPr txBox="true"/>
          <p:nvPr/>
        </p:nvSpPr>
        <p:spPr>
          <a:xfrm rot="0">
            <a:off x="1220724" y="2880360"/>
            <a:ext cx="7461504" cy="2194560"/>
          </a:xfrm>
          <a:prstGeom prst="rect">
            <a:avLst/>
          </a:prstGeom>
        </p:spPr>
        <p:txBody>
          <a:bodyPr anchor="t" rtlCol="false" tIns="0" lIns="0" bIns="0" rIns="0">
            <a:spAutoFit/>
          </a:bodyPr>
          <a:lstStyle/>
          <a:p>
            <a:pPr algn="l">
              <a:lnSpc>
                <a:spcPts val="3600"/>
              </a:lnSpc>
            </a:pPr>
            <a:r>
              <a:rPr lang="en-US" sz="3000">
                <a:solidFill>
                  <a:srgbClr val="14304A"/>
                </a:solidFill>
                <a:latin typeface="IBM Plex Sans"/>
                <a:ea typeface="IBM Plex Sans"/>
                <a:cs typeface="IBM Plex Sans"/>
                <a:sym typeface="IBM Plex Sans"/>
              </a:rPr>
              <a:t>In rural Chakwal, early viral symptoms are often mistaken for routine illness. Families wait, self-medicate, and reach a physician only when complications appear.</a:t>
            </a:r>
          </a:p>
        </p:txBody>
      </p:sp>
      <p:sp>
        <p:nvSpPr>
          <p:cNvPr name="Freeform 5" id="5"/>
          <p:cNvSpPr/>
          <p:nvPr/>
        </p:nvSpPr>
        <p:spPr>
          <a:xfrm flipH="false" flipV="false" rot="0">
            <a:off x="1208218" y="5405314"/>
            <a:ext cx="7486507" cy="2356723"/>
          </a:xfrm>
          <a:custGeom>
            <a:avLst/>
            <a:gdLst/>
            <a:ahLst/>
            <a:cxnLst/>
            <a:rect r="r" b="b" t="t" l="l"/>
            <a:pathLst>
              <a:path h="2356723" w="7486507">
                <a:moveTo>
                  <a:pt x="0" y="0"/>
                </a:moveTo>
                <a:lnTo>
                  <a:pt x="7486507" y="0"/>
                </a:lnTo>
                <a:lnTo>
                  <a:pt x="7486507" y="2356723"/>
                </a:lnTo>
                <a:lnTo>
                  <a:pt x="0" y="23567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577340" y="5650992"/>
            <a:ext cx="6858000" cy="1234440"/>
          </a:xfrm>
          <a:prstGeom prst="rect">
            <a:avLst/>
          </a:prstGeom>
        </p:spPr>
        <p:txBody>
          <a:bodyPr anchor="t" rtlCol="false" tIns="0" lIns="0" bIns="0" rIns="0">
            <a:spAutoFit/>
          </a:bodyPr>
          <a:lstStyle/>
          <a:p>
            <a:pPr algn="l">
              <a:lnSpc>
                <a:spcPts val="9720"/>
              </a:lnSpc>
            </a:pPr>
            <a:r>
              <a:rPr lang="en-US" sz="8100" b="true">
                <a:solidFill>
                  <a:srgbClr val="0B6E60"/>
                </a:solidFill>
                <a:latin typeface="IBM Plex Sans Bold"/>
                <a:ea typeface="IBM Plex Sans Bold"/>
                <a:cs typeface="IBM Plex Sans Bold"/>
                <a:sym typeface="IBM Plex Sans Bold"/>
              </a:rPr>
              <a:t>72 hrs</a:t>
            </a:r>
          </a:p>
        </p:txBody>
      </p:sp>
      <p:sp>
        <p:nvSpPr>
          <p:cNvPr name="TextBox 7" id="7"/>
          <p:cNvSpPr txBox="true"/>
          <p:nvPr/>
        </p:nvSpPr>
        <p:spPr>
          <a:xfrm rot="0">
            <a:off x="1577340" y="6858000"/>
            <a:ext cx="6789420" cy="754380"/>
          </a:xfrm>
          <a:prstGeom prst="rect">
            <a:avLst/>
          </a:prstGeom>
        </p:spPr>
        <p:txBody>
          <a:bodyPr anchor="t" rtlCol="false" tIns="0" lIns="0" bIns="0" rIns="0">
            <a:spAutoFit/>
          </a:bodyPr>
          <a:lstStyle/>
          <a:p>
            <a:pPr algn="l">
              <a:lnSpc>
                <a:spcPts val="2160"/>
              </a:lnSpc>
            </a:pPr>
            <a:r>
              <a:rPr lang="en-US" sz="1800">
                <a:solidFill>
                  <a:srgbClr val="3F4B57"/>
                </a:solidFill>
                <a:latin typeface="IBM Plex Sans"/>
                <a:ea typeface="IBM Plex Sans"/>
                <a:cs typeface="IBM Plex Sans"/>
                <a:sym typeface="IBM Plex Sans"/>
              </a:rPr>
              <a:t>Average treatment delay in rural Punjab, driven by symptom misinterpretation and no localised triage assistance.</a:t>
            </a:r>
          </a:p>
        </p:txBody>
      </p:sp>
      <p:sp>
        <p:nvSpPr>
          <p:cNvPr name="AutoShape 8" id="8"/>
          <p:cNvSpPr/>
          <p:nvPr/>
        </p:nvSpPr>
        <p:spPr>
          <a:xfrm rot="52740">
            <a:off x="8774754" y="4184904"/>
            <a:ext cx="1241393" cy="0"/>
          </a:xfrm>
          <a:prstGeom prst="line">
            <a:avLst/>
          </a:prstGeom>
          <a:ln cap="rnd" w="19050">
            <a:solidFill>
              <a:srgbClr val="0B6E60"/>
            </a:solidFill>
            <a:prstDash val="solid"/>
            <a:headEnd type="none" len="sm" w="sm"/>
            <a:tailEnd type="none" len="sm" w="sm"/>
          </a:ln>
        </p:spPr>
      </p:sp>
      <p:sp>
        <p:nvSpPr>
          <p:cNvPr name="TextBox 9" id="9"/>
          <p:cNvSpPr txBox="true"/>
          <p:nvPr/>
        </p:nvSpPr>
        <p:spPr>
          <a:xfrm rot="0">
            <a:off x="9710928" y="3607308"/>
            <a:ext cx="7571232" cy="356616"/>
          </a:xfrm>
          <a:prstGeom prst="rect">
            <a:avLst/>
          </a:prstGeom>
        </p:spPr>
        <p:txBody>
          <a:bodyPr anchor="t" rtlCol="false" tIns="0" lIns="0" bIns="0" rIns="0">
            <a:spAutoFit/>
          </a:bodyPr>
          <a:lstStyle/>
          <a:p>
            <a:pPr algn="l">
              <a:lnSpc>
                <a:spcPts val="2160"/>
              </a:lnSpc>
            </a:pPr>
            <a:r>
              <a:rPr lang="en-US" b="true" sz="1800" spc="225">
                <a:solidFill>
                  <a:srgbClr val="0B6E60"/>
                </a:solidFill>
                <a:latin typeface="IBM Plex Sans Bold"/>
                <a:ea typeface="IBM Plex Sans Bold"/>
                <a:cs typeface="IBM Plex Sans Bold"/>
                <a:sym typeface="IBM Plex Sans Bold"/>
              </a:rPr>
              <a:t>THE PROBLEM</a:t>
            </a:r>
          </a:p>
        </p:txBody>
      </p:sp>
      <p:sp>
        <p:nvSpPr>
          <p:cNvPr name="TextBox 10" id="10"/>
          <p:cNvSpPr txBox="true"/>
          <p:nvPr/>
        </p:nvSpPr>
        <p:spPr>
          <a:xfrm rot="0">
            <a:off x="9710928" y="3986022"/>
            <a:ext cx="7406640" cy="1047750"/>
          </a:xfrm>
          <a:prstGeom prst="rect">
            <a:avLst/>
          </a:prstGeom>
        </p:spPr>
        <p:txBody>
          <a:bodyPr anchor="t" rtlCol="false" tIns="0" lIns="0" bIns="0" rIns="0">
            <a:spAutoFit/>
          </a:bodyPr>
          <a:lstStyle/>
          <a:p>
            <a:pPr algn="l">
              <a:lnSpc>
                <a:spcPts val="2520"/>
              </a:lnSpc>
            </a:pPr>
            <a:r>
              <a:rPr lang="en-US" sz="2100">
                <a:solidFill>
                  <a:srgbClr val="3F4B57"/>
                </a:solidFill>
                <a:latin typeface="IBM Plex Sans"/>
                <a:ea typeface="IBM Plex Sans"/>
                <a:cs typeface="IBM Plex Sans"/>
                <a:sym typeface="IBM Plex Sans"/>
              </a:rPr>
              <a:t>Late care-seeking: families misidentify critical prodromal symptoms of measles, dengue and malaria as ordinary fever.</a:t>
            </a:r>
          </a:p>
        </p:txBody>
      </p:sp>
      <p:sp>
        <p:nvSpPr>
          <p:cNvPr name="AutoShape 11" id="11"/>
          <p:cNvSpPr/>
          <p:nvPr/>
        </p:nvSpPr>
        <p:spPr>
          <a:xfrm rot="52740">
            <a:off x="8774754" y="5762244"/>
            <a:ext cx="1241393" cy="0"/>
          </a:xfrm>
          <a:prstGeom prst="line">
            <a:avLst/>
          </a:prstGeom>
          <a:ln cap="rnd" w="19050">
            <a:solidFill>
              <a:srgbClr val="0B6E60"/>
            </a:solidFill>
            <a:prstDash val="solid"/>
            <a:headEnd type="none" len="sm" w="sm"/>
            <a:tailEnd type="none" len="sm" w="sm"/>
          </a:ln>
        </p:spPr>
      </p:sp>
      <p:sp>
        <p:nvSpPr>
          <p:cNvPr name="TextBox 12" id="12"/>
          <p:cNvSpPr txBox="true"/>
          <p:nvPr/>
        </p:nvSpPr>
        <p:spPr>
          <a:xfrm rot="0">
            <a:off x="9710928" y="5184648"/>
            <a:ext cx="7571232" cy="356616"/>
          </a:xfrm>
          <a:prstGeom prst="rect">
            <a:avLst/>
          </a:prstGeom>
        </p:spPr>
        <p:txBody>
          <a:bodyPr anchor="t" rtlCol="false" tIns="0" lIns="0" bIns="0" rIns="0">
            <a:spAutoFit/>
          </a:bodyPr>
          <a:lstStyle/>
          <a:p>
            <a:pPr algn="l">
              <a:lnSpc>
                <a:spcPts val="2160"/>
              </a:lnSpc>
            </a:pPr>
            <a:r>
              <a:rPr lang="en-US" b="true" sz="1800" spc="225">
                <a:solidFill>
                  <a:srgbClr val="0B6E60"/>
                </a:solidFill>
                <a:latin typeface="IBM Plex Sans Bold"/>
                <a:ea typeface="IBM Plex Sans Bold"/>
                <a:cs typeface="IBM Plex Sans Bold"/>
                <a:sym typeface="IBM Plex Sans Bold"/>
              </a:rPr>
              <a:t>THE GAP</a:t>
            </a:r>
          </a:p>
        </p:txBody>
      </p:sp>
      <p:sp>
        <p:nvSpPr>
          <p:cNvPr name="TextBox 13" id="13"/>
          <p:cNvSpPr txBox="true"/>
          <p:nvPr/>
        </p:nvSpPr>
        <p:spPr>
          <a:xfrm rot="0">
            <a:off x="9710928" y="5563362"/>
            <a:ext cx="7406640" cy="1047750"/>
          </a:xfrm>
          <a:prstGeom prst="rect">
            <a:avLst/>
          </a:prstGeom>
        </p:spPr>
        <p:txBody>
          <a:bodyPr anchor="t" rtlCol="false" tIns="0" lIns="0" bIns="0" rIns="0">
            <a:spAutoFit/>
          </a:bodyPr>
          <a:lstStyle/>
          <a:p>
            <a:pPr algn="l">
              <a:lnSpc>
                <a:spcPts val="2520"/>
              </a:lnSpc>
            </a:pPr>
            <a:r>
              <a:rPr lang="en-US" sz="2100">
                <a:solidFill>
                  <a:srgbClr val="3F4B57"/>
                </a:solidFill>
                <a:latin typeface="IBM Plex Sans"/>
                <a:ea typeface="IBM Plex Sans"/>
                <a:cs typeface="IBM Plex Sans"/>
                <a:sym typeface="IBM Plex Sans"/>
              </a:rPr>
              <a:t>Existing digital health tools have no Urdu localisation and give no structured guidance on vaccine availability or facility locations.</a:t>
            </a:r>
          </a:p>
        </p:txBody>
      </p:sp>
      <p:sp>
        <p:nvSpPr>
          <p:cNvPr name="AutoShape 14" id="14"/>
          <p:cNvSpPr/>
          <p:nvPr/>
        </p:nvSpPr>
        <p:spPr>
          <a:xfrm rot="52740">
            <a:off x="8774754" y="7339584"/>
            <a:ext cx="1241393" cy="0"/>
          </a:xfrm>
          <a:prstGeom prst="line">
            <a:avLst/>
          </a:prstGeom>
          <a:ln cap="rnd" w="19050">
            <a:solidFill>
              <a:srgbClr val="0B6E60"/>
            </a:solidFill>
            <a:prstDash val="solid"/>
            <a:headEnd type="none" len="sm" w="sm"/>
            <a:tailEnd type="none" len="sm" w="sm"/>
          </a:ln>
        </p:spPr>
      </p:sp>
      <p:sp>
        <p:nvSpPr>
          <p:cNvPr name="TextBox 15" id="15"/>
          <p:cNvSpPr txBox="true"/>
          <p:nvPr/>
        </p:nvSpPr>
        <p:spPr>
          <a:xfrm rot="0">
            <a:off x="9710928" y="6761988"/>
            <a:ext cx="7571232" cy="356616"/>
          </a:xfrm>
          <a:prstGeom prst="rect">
            <a:avLst/>
          </a:prstGeom>
        </p:spPr>
        <p:txBody>
          <a:bodyPr anchor="t" rtlCol="false" tIns="0" lIns="0" bIns="0" rIns="0">
            <a:spAutoFit/>
          </a:bodyPr>
          <a:lstStyle/>
          <a:p>
            <a:pPr algn="l">
              <a:lnSpc>
                <a:spcPts val="2160"/>
              </a:lnSpc>
            </a:pPr>
            <a:r>
              <a:rPr lang="en-US" b="true" sz="1800" spc="225">
                <a:solidFill>
                  <a:srgbClr val="0B6E60"/>
                </a:solidFill>
                <a:latin typeface="IBM Plex Sans Bold"/>
                <a:ea typeface="IBM Plex Sans Bold"/>
                <a:cs typeface="IBM Plex Sans Bold"/>
                <a:sym typeface="IBM Plex Sans Bold"/>
              </a:rPr>
              <a:t>THE APPROACH</a:t>
            </a:r>
          </a:p>
        </p:txBody>
      </p:sp>
      <p:sp>
        <p:nvSpPr>
          <p:cNvPr name="TextBox 16" id="16"/>
          <p:cNvSpPr txBox="true"/>
          <p:nvPr/>
        </p:nvSpPr>
        <p:spPr>
          <a:xfrm rot="0">
            <a:off x="9710928" y="7140702"/>
            <a:ext cx="7406640" cy="1047750"/>
          </a:xfrm>
          <a:prstGeom prst="rect">
            <a:avLst/>
          </a:prstGeom>
        </p:spPr>
        <p:txBody>
          <a:bodyPr anchor="t" rtlCol="false" tIns="0" lIns="0" bIns="0" rIns="0">
            <a:spAutoFit/>
          </a:bodyPr>
          <a:lstStyle/>
          <a:p>
            <a:pPr algn="l">
              <a:lnSpc>
                <a:spcPts val="2520"/>
              </a:lnSpc>
            </a:pPr>
            <a:r>
              <a:rPr lang="en-US" sz="2100">
                <a:solidFill>
                  <a:srgbClr val="3F4B57"/>
                </a:solidFill>
                <a:latin typeface="IBM Plex Sans"/>
                <a:ea typeface="IBM Plex Sans"/>
                <a:cs typeface="IBM Plex Sans"/>
                <a:sym typeface="IBM Plex Sans"/>
              </a:rPr>
              <a:t>An offline, bilingual app where people enter their symptoms, learn the likely illness and are referred to the nearest suitable clinic.</a:t>
            </a:r>
          </a:p>
        </p:txBody>
      </p:sp>
      <p:sp>
        <p:nvSpPr>
          <p:cNvPr name="TextBox 17" id="17"/>
          <p:cNvSpPr txBox="true"/>
          <p:nvPr/>
        </p:nvSpPr>
        <p:spPr>
          <a:xfrm rot="0">
            <a:off x="1220724" y="9354312"/>
            <a:ext cx="11658600" cy="356616"/>
          </a:xfrm>
          <a:prstGeom prst="rect">
            <a:avLst/>
          </a:prstGeom>
        </p:spPr>
        <p:txBody>
          <a:bodyPr anchor="t" rtlCol="false" tIns="0" lIns="0" bIns="0" rIns="0">
            <a:spAutoFit/>
          </a:bodyPr>
          <a:lstStyle/>
          <a:p>
            <a:pPr algn="l">
              <a:lnSpc>
                <a:spcPts val="2160"/>
              </a:lnSpc>
            </a:pPr>
            <a:r>
              <a:rPr lang="en-US" sz="1800">
                <a:solidFill>
                  <a:srgbClr val="5B6770"/>
                </a:solidFill>
                <a:latin typeface="IBM Plex Sans"/>
                <a:ea typeface="IBM Plex Sans"/>
                <a:cs typeface="IBM Plex Sans"/>
                <a:sym typeface="IBM Plex Sans"/>
              </a:rPr>
              <a:t>Community Health Triage &amp; Digital Disease Referral · Chakwal, Pakistan</a:t>
            </a:r>
          </a:p>
        </p:txBody>
      </p:sp>
      <p:sp>
        <p:nvSpPr>
          <p:cNvPr name="TextBox 18" id="18"/>
          <p:cNvSpPr txBox="true"/>
          <p:nvPr/>
        </p:nvSpPr>
        <p:spPr>
          <a:xfrm rot="0">
            <a:off x="15691104" y="9354312"/>
            <a:ext cx="1371600" cy="356616"/>
          </a:xfrm>
          <a:prstGeom prst="rect">
            <a:avLst/>
          </a:prstGeom>
        </p:spPr>
        <p:txBody>
          <a:bodyPr anchor="t" rtlCol="false" tIns="0" lIns="0" bIns="0" rIns="0">
            <a:spAutoFit/>
          </a:bodyPr>
          <a:lstStyle/>
          <a:p>
            <a:pPr algn="r">
              <a:lnSpc>
                <a:spcPts val="2160"/>
              </a:lnSpc>
            </a:pPr>
            <a:r>
              <a:rPr lang="en-US" sz="1800">
                <a:solidFill>
                  <a:srgbClr val="5B6770"/>
                </a:solidFill>
                <a:latin typeface="IBM Plex Sans"/>
                <a:ea typeface="IBM Plex Sans"/>
                <a:cs typeface="IBM Plex Sans"/>
                <a:sym typeface="IBM Plex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AF0EE"/>
        </a:solidFill>
      </p:bgPr>
    </p:bg>
    <p:spTree>
      <p:nvGrpSpPr>
        <p:cNvPr id="1" name=""/>
        <p:cNvGrpSpPr/>
        <p:nvPr/>
      </p:nvGrpSpPr>
      <p:grpSpPr>
        <a:xfrm>
          <a:off x="0" y="0"/>
          <a:ext cx="0" cy="0"/>
          <a:chOff x="0" y="0"/>
          <a:chExt cx="0" cy="0"/>
        </a:xfrm>
      </p:grpSpPr>
      <p:sp>
        <p:nvSpPr>
          <p:cNvPr name="TextBox 2" id="2"/>
          <p:cNvSpPr txBox="true"/>
          <p:nvPr/>
        </p:nvSpPr>
        <p:spPr>
          <a:xfrm rot="0">
            <a:off x="1220724" y="1220724"/>
            <a:ext cx="15841980" cy="356616"/>
          </a:xfrm>
          <a:prstGeom prst="rect">
            <a:avLst/>
          </a:prstGeom>
        </p:spPr>
        <p:txBody>
          <a:bodyPr anchor="t" rtlCol="false" tIns="0" lIns="0" bIns="0" rIns="0">
            <a:spAutoFit/>
          </a:bodyPr>
          <a:lstStyle/>
          <a:p>
            <a:pPr algn="l">
              <a:lnSpc>
                <a:spcPts val="2160"/>
              </a:lnSpc>
            </a:pPr>
            <a:r>
              <a:rPr lang="en-US" b="true" sz="1800" spc="225">
                <a:solidFill>
                  <a:srgbClr val="0B6E60"/>
                </a:solidFill>
                <a:latin typeface="IBM Plex Sans Bold"/>
                <a:ea typeface="IBM Plex Sans Bold"/>
                <a:cs typeface="IBM Plex Sans Bold"/>
                <a:sym typeface="IBM Plex Sans Bold"/>
              </a:rPr>
              <a:t>02 · TARGET DISEASES</a:t>
            </a:r>
          </a:p>
        </p:txBody>
      </p:sp>
      <p:sp>
        <p:nvSpPr>
          <p:cNvPr name="TextBox 3" id="3"/>
          <p:cNvSpPr txBox="true"/>
          <p:nvPr/>
        </p:nvSpPr>
        <p:spPr>
          <a:xfrm rot="0">
            <a:off x="1220724" y="1678686"/>
            <a:ext cx="15841980" cy="721614"/>
          </a:xfrm>
          <a:prstGeom prst="rect">
            <a:avLst/>
          </a:prstGeom>
        </p:spPr>
        <p:txBody>
          <a:bodyPr anchor="t" rtlCol="false" tIns="0" lIns="0" bIns="0" rIns="0">
            <a:spAutoFit/>
          </a:bodyPr>
          <a:lstStyle/>
          <a:p>
            <a:pPr algn="l">
              <a:lnSpc>
                <a:spcPts val="5758"/>
              </a:lnSpc>
            </a:pPr>
            <a:r>
              <a:rPr lang="en-US" sz="4800" b="true">
                <a:solidFill>
                  <a:srgbClr val="14304A"/>
                </a:solidFill>
                <a:latin typeface="IBM Plex Sans Bold"/>
                <a:ea typeface="IBM Plex Sans Bold"/>
                <a:cs typeface="IBM Plex Sans Bold"/>
                <a:sym typeface="IBM Plex Sans Bold"/>
              </a:rPr>
              <a:t>Four high-burden endemic diseases</a:t>
            </a:r>
          </a:p>
        </p:txBody>
      </p:sp>
      <p:sp>
        <p:nvSpPr>
          <p:cNvPr name="Freeform 4" id="4"/>
          <p:cNvSpPr/>
          <p:nvPr/>
        </p:nvSpPr>
        <p:spPr>
          <a:xfrm flipH="false" flipV="false" rot="0">
            <a:off x="1208218" y="2936434"/>
            <a:ext cx="3728323" cy="4825603"/>
          </a:xfrm>
          <a:custGeom>
            <a:avLst/>
            <a:gdLst/>
            <a:ahLst/>
            <a:cxnLst/>
            <a:rect r="r" b="b" t="t" l="l"/>
            <a:pathLst>
              <a:path h="4825603" w="3728323">
                <a:moveTo>
                  <a:pt x="0" y="0"/>
                </a:moveTo>
                <a:lnTo>
                  <a:pt x="3728323" y="0"/>
                </a:lnTo>
                <a:lnTo>
                  <a:pt x="3728323" y="4825603"/>
                </a:lnTo>
                <a:lnTo>
                  <a:pt x="0" y="48256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46955" y="3316319"/>
            <a:ext cx="911162" cy="911162"/>
          </a:xfrm>
          <a:custGeom>
            <a:avLst/>
            <a:gdLst/>
            <a:ahLst/>
            <a:cxnLst/>
            <a:rect r="r" b="b" t="t" l="l"/>
            <a:pathLst>
              <a:path h="911162" w="911162">
                <a:moveTo>
                  <a:pt x="0" y="0"/>
                </a:moveTo>
                <a:lnTo>
                  <a:pt x="911162" y="0"/>
                </a:lnTo>
                <a:lnTo>
                  <a:pt x="911162" y="911162"/>
                </a:lnTo>
                <a:lnTo>
                  <a:pt x="0" y="9111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783080" y="3552444"/>
            <a:ext cx="438912" cy="438912"/>
            <a:chOff x="0" y="0"/>
            <a:chExt cx="585216" cy="585216"/>
          </a:xfrm>
        </p:grpSpPr>
        <p:sp>
          <p:nvSpPr>
            <p:cNvPr name="Freeform 7" id="7" descr="preencoded.png"/>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lnTo>
                    <a:pt x="0" y="0"/>
                  </a:lnTo>
                  <a:close/>
                </a:path>
              </a:pathLst>
            </a:custGeom>
            <a:blipFill>
              <a:blip r:embed="rId7"/>
              <a:stretch>
                <a:fillRect l="0" t="0" r="0" b="0"/>
              </a:stretch>
            </a:blipFill>
          </p:spPr>
        </p:sp>
      </p:grpSp>
      <p:sp>
        <p:nvSpPr>
          <p:cNvPr name="TextBox 8" id="8"/>
          <p:cNvSpPr txBox="true"/>
          <p:nvPr/>
        </p:nvSpPr>
        <p:spPr>
          <a:xfrm rot="0">
            <a:off x="1563624" y="4430268"/>
            <a:ext cx="3017520" cy="548640"/>
          </a:xfrm>
          <a:prstGeom prst="rect">
            <a:avLst/>
          </a:prstGeom>
        </p:spPr>
        <p:txBody>
          <a:bodyPr anchor="t" rtlCol="false" tIns="0" lIns="0" bIns="0" rIns="0">
            <a:spAutoFit/>
          </a:bodyPr>
          <a:lstStyle/>
          <a:p>
            <a:pPr algn="l">
              <a:lnSpc>
                <a:spcPts val="3600"/>
              </a:lnSpc>
            </a:pPr>
            <a:r>
              <a:rPr lang="en-US" sz="3000" b="true">
                <a:solidFill>
                  <a:srgbClr val="14304A"/>
                </a:solidFill>
                <a:latin typeface="IBM Plex Sans Bold"/>
                <a:ea typeface="IBM Plex Sans Bold"/>
                <a:cs typeface="IBM Plex Sans Bold"/>
                <a:sym typeface="IBM Plex Sans Bold"/>
              </a:rPr>
              <a:t>Measles</a:t>
            </a:r>
          </a:p>
        </p:txBody>
      </p:sp>
      <p:sp>
        <p:nvSpPr>
          <p:cNvPr name="TextBox 9" id="9"/>
          <p:cNvSpPr txBox="true"/>
          <p:nvPr/>
        </p:nvSpPr>
        <p:spPr>
          <a:xfrm rot="0">
            <a:off x="1563624" y="5093970"/>
            <a:ext cx="3017520" cy="1421130"/>
          </a:xfrm>
          <a:prstGeom prst="rect">
            <a:avLst/>
          </a:prstGeom>
        </p:spPr>
        <p:txBody>
          <a:bodyPr anchor="t" rtlCol="false" tIns="0" lIns="0" bIns="0" rIns="0">
            <a:spAutoFit/>
          </a:bodyPr>
          <a:lstStyle/>
          <a:p>
            <a:pPr algn="l">
              <a:lnSpc>
                <a:spcPts val="2250"/>
              </a:lnSpc>
            </a:pPr>
            <a:r>
              <a:rPr lang="en-US" sz="1875">
                <a:solidFill>
                  <a:srgbClr val="3F4B57"/>
                </a:solidFill>
                <a:latin typeface="IBM Plex Sans"/>
                <a:ea typeface="IBM Plex Sans"/>
                <a:cs typeface="IBM Plex Sans"/>
                <a:sym typeface="IBM Plex Sans"/>
              </a:rPr>
              <a:t>High fever, cough, red eyes and Koplik spots, followed by a spreading rash.</a:t>
            </a:r>
          </a:p>
        </p:txBody>
      </p:sp>
      <p:sp>
        <p:nvSpPr>
          <p:cNvPr name="AutoShape 10" id="10"/>
          <p:cNvSpPr/>
          <p:nvPr/>
        </p:nvSpPr>
        <p:spPr>
          <a:xfrm rot="10740">
            <a:off x="1551689" y="6642735"/>
            <a:ext cx="3041390" cy="0"/>
          </a:xfrm>
          <a:prstGeom prst="line">
            <a:avLst/>
          </a:prstGeom>
          <a:ln cap="rnd" w="9525">
            <a:solidFill>
              <a:srgbClr val="D3DCD9"/>
            </a:solidFill>
            <a:prstDash val="solid"/>
            <a:headEnd type="none" len="sm" w="sm"/>
            <a:tailEnd type="none" len="sm" w="sm"/>
          </a:ln>
        </p:spPr>
      </p:sp>
      <p:sp>
        <p:nvSpPr>
          <p:cNvPr name="TextBox 11" id="11"/>
          <p:cNvSpPr txBox="true"/>
          <p:nvPr/>
        </p:nvSpPr>
        <p:spPr>
          <a:xfrm rot="0">
            <a:off x="1563624" y="6858000"/>
            <a:ext cx="3017520" cy="685800"/>
          </a:xfrm>
          <a:prstGeom prst="rect">
            <a:avLst/>
          </a:prstGeom>
        </p:spPr>
        <p:txBody>
          <a:bodyPr anchor="t" rtlCol="false" tIns="0" lIns="0" bIns="0" rIns="0">
            <a:spAutoFit/>
          </a:bodyPr>
          <a:lstStyle/>
          <a:p>
            <a:pPr algn="l">
              <a:lnSpc>
                <a:spcPts val="2160"/>
              </a:lnSpc>
            </a:pPr>
            <a:r>
              <a:rPr lang="en-US" sz="1800" b="true">
                <a:solidFill>
                  <a:srgbClr val="A63A2F"/>
                </a:solidFill>
                <a:latin typeface="IBM Plex Sans Bold"/>
                <a:ea typeface="IBM Plex Sans Bold"/>
                <a:cs typeface="IBM Plex Sans Bold"/>
                <a:sym typeface="IBM Plex Sans Bold"/>
              </a:rPr>
              <a:t>MR / MMR vaccine follow-up</a:t>
            </a:r>
          </a:p>
        </p:txBody>
      </p:sp>
      <p:sp>
        <p:nvSpPr>
          <p:cNvPr name="Freeform 12" id="12"/>
          <p:cNvSpPr/>
          <p:nvPr/>
        </p:nvSpPr>
        <p:spPr>
          <a:xfrm flipH="false" flipV="false" rot="0">
            <a:off x="5254438" y="2936434"/>
            <a:ext cx="3728323" cy="4825603"/>
          </a:xfrm>
          <a:custGeom>
            <a:avLst/>
            <a:gdLst/>
            <a:ahLst/>
            <a:cxnLst/>
            <a:rect r="r" b="b" t="t" l="l"/>
            <a:pathLst>
              <a:path h="4825603" w="3728323">
                <a:moveTo>
                  <a:pt x="0" y="0"/>
                </a:moveTo>
                <a:lnTo>
                  <a:pt x="3728323" y="0"/>
                </a:lnTo>
                <a:lnTo>
                  <a:pt x="3728323" y="4825603"/>
                </a:lnTo>
                <a:lnTo>
                  <a:pt x="0" y="48256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5593175" y="3316319"/>
            <a:ext cx="911162" cy="911162"/>
          </a:xfrm>
          <a:custGeom>
            <a:avLst/>
            <a:gdLst/>
            <a:ahLst/>
            <a:cxnLst/>
            <a:rect r="r" b="b" t="t" l="l"/>
            <a:pathLst>
              <a:path h="911162" w="911162">
                <a:moveTo>
                  <a:pt x="0" y="0"/>
                </a:moveTo>
                <a:lnTo>
                  <a:pt x="911162" y="0"/>
                </a:lnTo>
                <a:lnTo>
                  <a:pt x="911162" y="911162"/>
                </a:lnTo>
                <a:lnTo>
                  <a:pt x="0" y="9111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5829300" y="3552444"/>
            <a:ext cx="438912" cy="438912"/>
            <a:chOff x="0" y="0"/>
            <a:chExt cx="585216" cy="585216"/>
          </a:xfrm>
        </p:grpSpPr>
        <p:sp>
          <p:nvSpPr>
            <p:cNvPr name="Freeform 15" id="15" descr="preencoded.png"/>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lnTo>
                    <a:pt x="0" y="0"/>
                  </a:lnTo>
                  <a:close/>
                </a:path>
              </a:pathLst>
            </a:custGeom>
            <a:blipFill>
              <a:blip r:embed="rId8"/>
              <a:stretch>
                <a:fillRect l="0" t="0" r="0" b="0"/>
              </a:stretch>
            </a:blipFill>
          </p:spPr>
        </p:sp>
      </p:grpSp>
      <p:sp>
        <p:nvSpPr>
          <p:cNvPr name="TextBox 16" id="16"/>
          <p:cNvSpPr txBox="true"/>
          <p:nvPr/>
        </p:nvSpPr>
        <p:spPr>
          <a:xfrm rot="0">
            <a:off x="5609844" y="4430268"/>
            <a:ext cx="3017520" cy="548640"/>
          </a:xfrm>
          <a:prstGeom prst="rect">
            <a:avLst/>
          </a:prstGeom>
        </p:spPr>
        <p:txBody>
          <a:bodyPr anchor="t" rtlCol="false" tIns="0" lIns="0" bIns="0" rIns="0">
            <a:spAutoFit/>
          </a:bodyPr>
          <a:lstStyle/>
          <a:p>
            <a:pPr algn="l">
              <a:lnSpc>
                <a:spcPts val="3600"/>
              </a:lnSpc>
            </a:pPr>
            <a:r>
              <a:rPr lang="en-US" sz="3000" b="true">
                <a:solidFill>
                  <a:srgbClr val="14304A"/>
                </a:solidFill>
                <a:latin typeface="IBM Plex Sans Bold"/>
                <a:ea typeface="IBM Plex Sans Bold"/>
                <a:cs typeface="IBM Plex Sans Bold"/>
                <a:sym typeface="IBM Plex Sans Bold"/>
              </a:rPr>
              <a:t>Chickenpox</a:t>
            </a:r>
          </a:p>
        </p:txBody>
      </p:sp>
      <p:sp>
        <p:nvSpPr>
          <p:cNvPr name="TextBox 17" id="17"/>
          <p:cNvSpPr txBox="true"/>
          <p:nvPr/>
        </p:nvSpPr>
        <p:spPr>
          <a:xfrm rot="0">
            <a:off x="5609844" y="5093970"/>
            <a:ext cx="3017520" cy="1421130"/>
          </a:xfrm>
          <a:prstGeom prst="rect">
            <a:avLst/>
          </a:prstGeom>
        </p:spPr>
        <p:txBody>
          <a:bodyPr anchor="t" rtlCol="false" tIns="0" lIns="0" bIns="0" rIns="0">
            <a:spAutoFit/>
          </a:bodyPr>
          <a:lstStyle/>
          <a:p>
            <a:pPr algn="l">
              <a:lnSpc>
                <a:spcPts val="2250"/>
              </a:lnSpc>
            </a:pPr>
            <a:r>
              <a:rPr lang="en-US" sz="1875">
                <a:solidFill>
                  <a:srgbClr val="3F4B57"/>
                </a:solidFill>
                <a:latin typeface="IBM Plex Sans"/>
                <a:ea typeface="IBM Plex Sans"/>
                <a:cs typeface="IBM Plex Sans"/>
                <a:sym typeface="IBM Plex Sans"/>
              </a:rPr>
              <a:t>Itchy fluid-filled blisters, malaise and low-grade fever.</a:t>
            </a:r>
          </a:p>
        </p:txBody>
      </p:sp>
      <p:sp>
        <p:nvSpPr>
          <p:cNvPr name="AutoShape 18" id="18"/>
          <p:cNvSpPr/>
          <p:nvPr/>
        </p:nvSpPr>
        <p:spPr>
          <a:xfrm rot="10740">
            <a:off x="5597909" y="6642735"/>
            <a:ext cx="3041390" cy="0"/>
          </a:xfrm>
          <a:prstGeom prst="line">
            <a:avLst/>
          </a:prstGeom>
          <a:ln cap="rnd" w="9525">
            <a:solidFill>
              <a:srgbClr val="D3DCD9"/>
            </a:solidFill>
            <a:prstDash val="solid"/>
            <a:headEnd type="none" len="sm" w="sm"/>
            <a:tailEnd type="none" len="sm" w="sm"/>
          </a:ln>
        </p:spPr>
      </p:sp>
      <p:sp>
        <p:nvSpPr>
          <p:cNvPr name="TextBox 19" id="19"/>
          <p:cNvSpPr txBox="true"/>
          <p:nvPr/>
        </p:nvSpPr>
        <p:spPr>
          <a:xfrm rot="0">
            <a:off x="5609844" y="6858000"/>
            <a:ext cx="3017520" cy="685800"/>
          </a:xfrm>
          <a:prstGeom prst="rect">
            <a:avLst/>
          </a:prstGeom>
        </p:spPr>
        <p:txBody>
          <a:bodyPr anchor="t" rtlCol="false" tIns="0" lIns="0" bIns="0" rIns="0">
            <a:spAutoFit/>
          </a:bodyPr>
          <a:lstStyle/>
          <a:p>
            <a:pPr algn="l">
              <a:lnSpc>
                <a:spcPts val="2160"/>
              </a:lnSpc>
            </a:pPr>
            <a:r>
              <a:rPr lang="en-US" sz="1800" b="true">
                <a:solidFill>
                  <a:srgbClr val="B4620A"/>
                </a:solidFill>
                <a:latin typeface="IBM Plex Sans Bold"/>
                <a:ea typeface="IBM Plex Sans Bold"/>
                <a:cs typeface="IBM Plex Sans Bold"/>
                <a:sym typeface="IBM Plex Sans Bold"/>
              </a:rPr>
              <a:t>Isolation &amp; home-care guidance</a:t>
            </a:r>
          </a:p>
        </p:txBody>
      </p:sp>
      <p:sp>
        <p:nvSpPr>
          <p:cNvPr name="Freeform 20" id="20"/>
          <p:cNvSpPr/>
          <p:nvPr/>
        </p:nvSpPr>
        <p:spPr>
          <a:xfrm flipH="false" flipV="false" rot="0">
            <a:off x="9300658" y="2936434"/>
            <a:ext cx="3728323" cy="4825603"/>
          </a:xfrm>
          <a:custGeom>
            <a:avLst/>
            <a:gdLst/>
            <a:ahLst/>
            <a:cxnLst/>
            <a:rect r="r" b="b" t="t" l="l"/>
            <a:pathLst>
              <a:path h="4825603" w="3728323">
                <a:moveTo>
                  <a:pt x="0" y="0"/>
                </a:moveTo>
                <a:lnTo>
                  <a:pt x="3728323" y="0"/>
                </a:lnTo>
                <a:lnTo>
                  <a:pt x="3728323" y="4825603"/>
                </a:lnTo>
                <a:lnTo>
                  <a:pt x="0" y="48256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1" id="21"/>
          <p:cNvSpPr/>
          <p:nvPr/>
        </p:nvSpPr>
        <p:spPr>
          <a:xfrm flipH="false" flipV="false" rot="0">
            <a:off x="9639395" y="3316319"/>
            <a:ext cx="911162" cy="911162"/>
          </a:xfrm>
          <a:custGeom>
            <a:avLst/>
            <a:gdLst/>
            <a:ahLst/>
            <a:cxnLst/>
            <a:rect r="r" b="b" t="t" l="l"/>
            <a:pathLst>
              <a:path h="911162" w="911162">
                <a:moveTo>
                  <a:pt x="0" y="0"/>
                </a:moveTo>
                <a:lnTo>
                  <a:pt x="911162" y="0"/>
                </a:lnTo>
                <a:lnTo>
                  <a:pt x="911162" y="911162"/>
                </a:lnTo>
                <a:lnTo>
                  <a:pt x="0" y="9111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2" id="22"/>
          <p:cNvGrpSpPr/>
          <p:nvPr/>
        </p:nvGrpSpPr>
        <p:grpSpPr>
          <a:xfrm rot="0">
            <a:off x="9875520" y="3552444"/>
            <a:ext cx="438912" cy="438912"/>
            <a:chOff x="0" y="0"/>
            <a:chExt cx="585216" cy="585216"/>
          </a:xfrm>
        </p:grpSpPr>
        <p:sp>
          <p:nvSpPr>
            <p:cNvPr name="Freeform 23" id="23" descr="preencoded.png"/>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lnTo>
                    <a:pt x="0" y="0"/>
                  </a:lnTo>
                  <a:close/>
                </a:path>
              </a:pathLst>
            </a:custGeom>
            <a:blipFill>
              <a:blip r:embed="rId9"/>
              <a:stretch>
                <a:fillRect l="0" t="0" r="0" b="0"/>
              </a:stretch>
            </a:blipFill>
          </p:spPr>
        </p:sp>
      </p:grpSp>
      <p:sp>
        <p:nvSpPr>
          <p:cNvPr name="TextBox 24" id="24"/>
          <p:cNvSpPr txBox="true"/>
          <p:nvPr/>
        </p:nvSpPr>
        <p:spPr>
          <a:xfrm rot="0">
            <a:off x="9656064" y="4430268"/>
            <a:ext cx="3017520" cy="548640"/>
          </a:xfrm>
          <a:prstGeom prst="rect">
            <a:avLst/>
          </a:prstGeom>
        </p:spPr>
        <p:txBody>
          <a:bodyPr anchor="t" rtlCol="false" tIns="0" lIns="0" bIns="0" rIns="0">
            <a:spAutoFit/>
          </a:bodyPr>
          <a:lstStyle/>
          <a:p>
            <a:pPr algn="l">
              <a:lnSpc>
                <a:spcPts val="3600"/>
              </a:lnSpc>
            </a:pPr>
            <a:r>
              <a:rPr lang="en-US" sz="3000" b="true">
                <a:solidFill>
                  <a:srgbClr val="14304A"/>
                </a:solidFill>
                <a:latin typeface="IBM Plex Sans Bold"/>
                <a:ea typeface="IBM Plex Sans Bold"/>
                <a:cs typeface="IBM Plex Sans Bold"/>
                <a:sym typeface="IBM Plex Sans Bold"/>
              </a:rPr>
              <a:t>Dengue</a:t>
            </a:r>
          </a:p>
        </p:txBody>
      </p:sp>
      <p:sp>
        <p:nvSpPr>
          <p:cNvPr name="TextBox 25" id="25"/>
          <p:cNvSpPr txBox="true"/>
          <p:nvPr/>
        </p:nvSpPr>
        <p:spPr>
          <a:xfrm rot="0">
            <a:off x="9656064" y="5093970"/>
            <a:ext cx="3017520" cy="1421130"/>
          </a:xfrm>
          <a:prstGeom prst="rect">
            <a:avLst/>
          </a:prstGeom>
        </p:spPr>
        <p:txBody>
          <a:bodyPr anchor="t" rtlCol="false" tIns="0" lIns="0" bIns="0" rIns="0">
            <a:spAutoFit/>
          </a:bodyPr>
          <a:lstStyle/>
          <a:p>
            <a:pPr algn="l">
              <a:lnSpc>
                <a:spcPts val="2250"/>
              </a:lnSpc>
            </a:pPr>
            <a:r>
              <a:rPr lang="en-US" sz="1875">
                <a:solidFill>
                  <a:srgbClr val="3F4B57"/>
                </a:solidFill>
                <a:latin typeface="IBM Plex Sans"/>
                <a:ea typeface="IBM Plex Sans"/>
                <a:cs typeface="IBM Plex Sans"/>
                <a:sym typeface="IBM Plex Sans"/>
              </a:rPr>
              <a:t>Sudden high fever, retro-orbital pain, muscle pain, bleeding warning signs.</a:t>
            </a:r>
          </a:p>
        </p:txBody>
      </p:sp>
      <p:sp>
        <p:nvSpPr>
          <p:cNvPr name="AutoShape 26" id="26"/>
          <p:cNvSpPr/>
          <p:nvPr/>
        </p:nvSpPr>
        <p:spPr>
          <a:xfrm rot="10740">
            <a:off x="9644129" y="6642735"/>
            <a:ext cx="3041390" cy="0"/>
          </a:xfrm>
          <a:prstGeom prst="line">
            <a:avLst/>
          </a:prstGeom>
          <a:ln cap="rnd" w="9525">
            <a:solidFill>
              <a:srgbClr val="D3DCD9"/>
            </a:solidFill>
            <a:prstDash val="solid"/>
            <a:headEnd type="none" len="sm" w="sm"/>
            <a:tailEnd type="none" len="sm" w="sm"/>
          </a:ln>
        </p:spPr>
      </p:sp>
      <p:sp>
        <p:nvSpPr>
          <p:cNvPr name="TextBox 27" id="27"/>
          <p:cNvSpPr txBox="true"/>
          <p:nvPr/>
        </p:nvSpPr>
        <p:spPr>
          <a:xfrm rot="0">
            <a:off x="9656064" y="6858000"/>
            <a:ext cx="3017520" cy="685800"/>
          </a:xfrm>
          <a:prstGeom prst="rect">
            <a:avLst/>
          </a:prstGeom>
        </p:spPr>
        <p:txBody>
          <a:bodyPr anchor="t" rtlCol="false" tIns="0" lIns="0" bIns="0" rIns="0">
            <a:spAutoFit/>
          </a:bodyPr>
          <a:lstStyle/>
          <a:p>
            <a:pPr algn="l">
              <a:lnSpc>
                <a:spcPts val="2160"/>
              </a:lnSpc>
            </a:pPr>
            <a:r>
              <a:rPr lang="en-US" sz="1800" b="true">
                <a:solidFill>
                  <a:srgbClr val="1D5C8C"/>
                </a:solidFill>
                <a:latin typeface="IBM Plex Sans Bold"/>
                <a:ea typeface="IBM Plex Sans Bold"/>
                <a:cs typeface="IBM Plex Sans Bold"/>
                <a:sym typeface="IBM Plex Sans Bold"/>
              </a:rPr>
              <a:t>Urgent platelet warning triage</a:t>
            </a:r>
          </a:p>
        </p:txBody>
      </p:sp>
      <p:sp>
        <p:nvSpPr>
          <p:cNvPr name="Freeform 28" id="28"/>
          <p:cNvSpPr/>
          <p:nvPr/>
        </p:nvSpPr>
        <p:spPr>
          <a:xfrm flipH="false" flipV="false" rot="0">
            <a:off x="13346878" y="2936434"/>
            <a:ext cx="3728323" cy="4825603"/>
          </a:xfrm>
          <a:custGeom>
            <a:avLst/>
            <a:gdLst/>
            <a:ahLst/>
            <a:cxnLst/>
            <a:rect r="r" b="b" t="t" l="l"/>
            <a:pathLst>
              <a:path h="4825603" w="3728323">
                <a:moveTo>
                  <a:pt x="0" y="0"/>
                </a:moveTo>
                <a:lnTo>
                  <a:pt x="3728323" y="0"/>
                </a:lnTo>
                <a:lnTo>
                  <a:pt x="3728323" y="4825603"/>
                </a:lnTo>
                <a:lnTo>
                  <a:pt x="0" y="48256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9" id="29"/>
          <p:cNvSpPr/>
          <p:nvPr/>
        </p:nvSpPr>
        <p:spPr>
          <a:xfrm flipH="false" flipV="false" rot="0">
            <a:off x="13685615" y="3316319"/>
            <a:ext cx="911161" cy="911162"/>
          </a:xfrm>
          <a:custGeom>
            <a:avLst/>
            <a:gdLst/>
            <a:ahLst/>
            <a:cxnLst/>
            <a:rect r="r" b="b" t="t" l="l"/>
            <a:pathLst>
              <a:path h="911162" w="911161">
                <a:moveTo>
                  <a:pt x="0" y="0"/>
                </a:moveTo>
                <a:lnTo>
                  <a:pt x="911162" y="0"/>
                </a:lnTo>
                <a:lnTo>
                  <a:pt x="911162" y="911162"/>
                </a:lnTo>
                <a:lnTo>
                  <a:pt x="0" y="9111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0" id="30"/>
          <p:cNvGrpSpPr/>
          <p:nvPr/>
        </p:nvGrpSpPr>
        <p:grpSpPr>
          <a:xfrm rot="0">
            <a:off x="13921740" y="3552444"/>
            <a:ext cx="438912" cy="438912"/>
            <a:chOff x="0" y="0"/>
            <a:chExt cx="585216" cy="585216"/>
          </a:xfrm>
        </p:grpSpPr>
        <p:sp>
          <p:nvSpPr>
            <p:cNvPr name="Freeform 31" id="31" descr="preencoded.png"/>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lnTo>
                    <a:pt x="0" y="0"/>
                  </a:lnTo>
                  <a:close/>
                </a:path>
              </a:pathLst>
            </a:custGeom>
            <a:blipFill>
              <a:blip r:embed="rId10"/>
              <a:stretch>
                <a:fillRect l="0" t="0" r="0" b="0"/>
              </a:stretch>
            </a:blipFill>
          </p:spPr>
        </p:sp>
      </p:grpSp>
      <p:sp>
        <p:nvSpPr>
          <p:cNvPr name="TextBox 32" id="32"/>
          <p:cNvSpPr txBox="true"/>
          <p:nvPr/>
        </p:nvSpPr>
        <p:spPr>
          <a:xfrm rot="0">
            <a:off x="13702284" y="4430268"/>
            <a:ext cx="3017520" cy="548640"/>
          </a:xfrm>
          <a:prstGeom prst="rect">
            <a:avLst/>
          </a:prstGeom>
        </p:spPr>
        <p:txBody>
          <a:bodyPr anchor="t" rtlCol="false" tIns="0" lIns="0" bIns="0" rIns="0">
            <a:spAutoFit/>
          </a:bodyPr>
          <a:lstStyle/>
          <a:p>
            <a:pPr algn="l">
              <a:lnSpc>
                <a:spcPts val="3600"/>
              </a:lnSpc>
            </a:pPr>
            <a:r>
              <a:rPr lang="en-US" sz="3000" b="true">
                <a:solidFill>
                  <a:srgbClr val="14304A"/>
                </a:solidFill>
                <a:latin typeface="IBM Plex Sans Bold"/>
                <a:ea typeface="IBM Plex Sans Bold"/>
                <a:cs typeface="IBM Plex Sans Bold"/>
                <a:sym typeface="IBM Plex Sans Bold"/>
              </a:rPr>
              <a:t>Malaria</a:t>
            </a:r>
          </a:p>
        </p:txBody>
      </p:sp>
      <p:sp>
        <p:nvSpPr>
          <p:cNvPr name="TextBox 33" id="33"/>
          <p:cNvSpPr txBox="true"/>
          <p:nvPr/>
        </p:nvSpPr>
        <p:spPr>
          <a:xfrm rot="0">
            <a:off x="13702284" y="5093970"/>
            <a:ext cx="3017520" cy="1421130"/>
          </a:xfrm>
          <a:prstGeom prst="rect">
            <a:avLst/>
          </a:prstGeom>
        </p:spPr>
        <p:txBody>
          <a:bodyPr anchor="t" rtlCol="false" tIns="0" lIns="0" bIns="0" rIns="0">
            <a:spAutoFit/>
          </a:bodyPr>
          <a:lstStyle/>
          <a:p>
            <a:pPr algn="l">
              <a:lnSpc>
                <a:spcPts val="2250"/>
              </a:lnSpc>
            </a:pPr>
            <a:r>
              <a:rPr lang="en-US" sz="1875">
                <a:solidFill>
                  <a:srgbClr val="3F4B57"/>
                </a:solidFill>
                <a:latin typeface="IBM Plex Sans"/>
                <a:ea typeface="IBM Plex Sans"/>
                <a:cs typeface="IBM Plex Sans"/>
                <a:sym typeface="IBM Plex Sans"/>
              </a:rPr>
              <a:t>Cyclical chills, sweating and fever after mosquito exposure.</a:t>
            </a:r>
          </a:p>
        </p:txBody>
      </p:sp>
      <p:sp>
        <p:nvSpPr>
          <p:cNvPr name="AutoShape 34" id="34"/>
          <p:cNvSpPr/>
          <p:nvPr/>
        </p:nvSpPr>
        <p:spPr>
          <a:xfrm rot="10740">
            <a:off x="13690349" y="6642735"/>
            <a:ext cx="3041390" cy="0"/>
          </a:xfrm>
          <a:prstGeom prst="line">
            <a:avLst/>
          </a:prstGeom>
          <a:ln cap="rnd" w="9525">
            <a:solidFill>
              <a:srgbClr val="D3DCD9"/>
            </a:solidFill>
            <a:prstDash val="solid"/>
            <a:headEnd type="none" len="sm" w="sm"/>
            <a:tailEnd type="none" len="sm" w="sm"/>
          </a:ln>
        </p:spPr>
      </p:sp>
      <p:sp>
        <p:nvSpPr>
          <p:cNvPr name="TextBox 35" id="35"/>
          <p:cNvSpPr txBox="true"/>
          <p:nvPr/>
        </p:nvSpPr>
        <p:spPr>
          <a:xfrm rot="0">
            <a:off x="13702284" y="6858000"/>
            <a:ext cx="3017520" cy="685800"/>
          </a:xfrm>
          <a:prstGeom prst="rect">
            <a:avLst/>
          </a:prstGeom>
        </p:spPr>
        <p:txBody>
          <a:bodyPr anchor="t" rtlCol="false" tIns="0" lIns="0" bIns="0" rIns="0">
            <a:spAutoFit/>
          </a:bodyPr>
          <a:lstStyle/>
          <a:p>
            <a:pPr algn="l">
              <a:lnSpc>
                <a:spcPts val="2160"/>
              </a:lnSpc>
            </a:pPr>
            <a:r>
              <a:rPr lang="en-US" sz="1800" b="true">
                <a:solidFill>
                  <a:srgbClr val="0B6E60"/>
                </a:solidFill>
                <a:latin typeface="IBM Plex Sans Bold"/>
                <a:ea typeface="IBM Plex Sans Bold"/>
                <a:cs typeface="IBM Plex Sans Bold"/>
                <a:sym typeface="IBM Plex Sans Bold"/>
              </a:rPr>
              <a:t>Rapid diagnostic test referral</a:t>
            </a:r>
          </a:p>
        </p:txBody>
      </p:sp>
      <p:sp>
        <p:nvSpPr>
          <p:cNvPr name="TextBox 36" id="36"/>
          <p:cNvSpPr txBox="true"/>
          <p:nvPr/>
        </p:nvSpPr>
        <p:spPr>
          <a:xfrm rot="0">
            <a:off x="1220724" y="8161020"/>
            <a:ext cx="15841980" cy="548640"/>
          </a:xfrm>
          <a:prstGeom prst="rect">
            <a:avLst/>
          </a:prstGeom>
        </p:spPr>
        <p:txBody>
          <a:bodyPr anchor="t" rtlCol="false" tIns="0" lIns="0" bIns="0" rIns="0">
            <a:spAutoFit/>
          </a:bodyPr>
          <a:lstStyle/>
          <a:p>
            <a:pPr algn="l">
              <a:lnSpc>
                <a:spcPts val="2160"/>
              </a:lnSpc>
            </a:pPr>
            <a:r>
              <a:rPr lang="en-US" sz="1800" i="true">
                <a:solidFill>
                  <a:srgbClr val="5B6770"/>
                </a:solidFill>
                <a:latin typeface="IBM Plex Sans Italics"/>
                <a:ea typeface="IBM Plex Sans Italics"/>
                <a:cs typeface="IBM Plex Sans Italics"/>
                <a:sym typeface="IBM Plex Sans Italics"/>
              </a:rPr>
              <a:t>Selected because they are seasonal, highly transmissible and frequently misread as 'ordinary fever' in the first 48 hours.</a:t>
            </a:r>
          </a:p>
        </p:txBody>
      </p:sp>
      <p:sp>
        <p:nvSpPr>
          <p:cNvPr name="TextBox 37" id="37"/>
          <p:cNvSpPr txBox="true"/>
          <p:nvPr/>
        </p:nvSpPr>
        <p:spPr>
          <a:xfrm rot="0">
            <a:off x="1220724" y="9354312"/>
            <a:ext cx="11658600" cy="356616"/>
          </a:xfrm>
          <a:prstGeom prst="rect">
            <a:avLst/>
          </a:prstGeom>
        </p:spPr>
        <p:txBody>
          <a:bodyPr anchor="t" rtlCol="false" tIns="0" lIns="0" bIns="0" rIns="0">
            <a:spAutoFit/>
          </a:bodyPr>
          <a:lstStyle/>
          <a:p>
            <a:pPr algn="l">
              <a:lnSpc>
                <a:spcPts val="2160"/>
              </a:lnSpc>
            </a:pPr>
            <a:r>
              <a:rPr lang="en-US" sz="1800">
                <a:solidFill>
                  <a:srgbClr val="5B6770"/>
                </a:solidFill>
                <a:latin typeface="IBM Plex Sans"/>
                <a:ea typeface="IBM Plex Sans"/>
                <a:cs typeface="IBM Plex Sans"/>
                <a:sym typeface="IBM Plex Sans"/>
              </a:rPr>
              <a:t>Community Health Triage &amp; Digital Disease Referral · Chakwal, Pakistan</a:t>
            </a:r>
          </a:p>
        </p:txBody>
      </p:sp>
      <p:sp>
        <p:nvSpPr>
          <p:cNvPr name="TextBox 38" id="38"/>
          <p:cNvSpPr txBox="true"/>
          <p:nvPr/>
        </p:nvSpPr>
        <p:spPr>
          <a:xfrm rot="0">
            <a:off x="15691104" y="9354312"/>
            <a:ext cx="1371600" cy="356616"/>
          </a:xfrm>
          <a:prstGeom prst="rect">
            <a:avLst/>
          </a:prstGeom>
        </p:spPr>
        <p:txBody>
          <a:bodyPr anchor="t" rtlCol="false" tIns="0" lIns="0" bIns="0" rIns="0">
            <a:spAutoFit/>
          </a:bodyPr>
          <a:lstStyle/>
          <a:p>
            <a:pPr algn="r">
              <a:lnSpc>
                <a:spcPts val="2160"/>
              </a:lnSpc>
            </a:pPr>
            <a:r>
              <a:rPr lang="en-US" sz="1800">
                <a:solidFill>
                  <a:srgbClr val="5B6770"/>
                </a:solidFill>
                <a:latin typeface="IBM Plex Sans"/>
                <a:ea typeface="IBM Plex Sans"/>
                <a:cs typeface="IBM Plex Sans"/>
                <a:sym typeface="IBM Plex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20724" y="1220724"/>
            <a:ext cx="15841980" cy="356616"/>
          </a:xfrm>
          <a:prstGeom prst="rect">
            <a:avLst/>
          </a:prstGeom>
        </p:spPr>
        <p:txBody>
          <a:bodyPr anchor="t" rtlCol="false" tIns="0" lIns="0" bIns="0" rIns="0">
            <a:spAutoFit/>
          </a:bodyPr>
          <a:lstStyle/>
          <a:p>
            <a:pPr algn="l">
              <a:lnSpc>
                <a:spcPts val="2160"/>
              </a:lnSpc>
            </a:pPr>
            <a:r>
              <a:rPr lang="en-US" b="true" sz="1800" spc="225">
                <a:solidFill>
                  <a:srgbClr val="0B6E60"/>
                </a:solidFill>
                <a:latin typeface="IBM Plex Sans Bold"/>
                <a:ea typeface="IBM Plex Sans Bold"/>
                <a:cs typeface="IBM Plex Sans Bold"/>
                <a:sym typeface="IBM Plex Sans Bold"/>
              </a:rPr>
              <a:t>03 · PROGRAMME OBJECTIVES</a:t>
            </a:r>
          </a:p>
        </p:txBody>
      </p:sp>
      <p:sp>
        <p:nvSpPr>
          <p:cNvPr name="TextBox 3" id="3"/>
          <p:cNvSpPr txBox="true"/>
          <p:nvPr/>
        </p:nvSpPr>
        <p:spPr>
          <a:xfrm rot="0">
            <a:off x="1220724" y="1678686"/>
            <a:ext cx="15841980" cy="721614"/>
          </a:xfrm>
          <a:prstGeom prst="rect">
            <a:avLst/>
          </a:prstGeom>
        </p:spPr>
        <p:txBody>
          <a:bodyPr anchor="t" rtlCol="false" tIns="0" lIns="0" bIns="0" rIns="0">
            <a:spAutoFit/>
          </a:bodyPr>
          <a:lstStyle/>
          <a:p>
            <a:pPr algn="l">
              <a:lnSpc>
                <a:spcPts val="5758"/>
              </a:lnSpc>
            </a:pPr>
            <a:r>
              <a:rPr lang="en-US" sz="4800" b="true">
                <a:solidFill>
                  <a:srgbClr val="14304A"/>
                </a:solidFill>
                <a:latin typeface="IBM Plex Sans Bold"/>
                <a:ea typeface="IBM Plex Sans Bold"/>
                <a:cs typeface="IBM Plex Sans Bold"/>
                <a:sym typeface="IBM Plex Sans Bold"/>
              </a:rPr>
              <a:t>Six objectives guide the programme</a:t>
            </a:r>
          </a:p>
        </p:txBody>
      </p:sp>
      <p:sp>
        <p:nvSpPr>
          <p:cNvPr name="Freeform 4" id="4"/>
          <p:cNvSpPr/>
          <p:nvPr/>
        </p:nvSpPr>
        <p:spPr>
          <a:xfrm flipH="false" flipV="false" rot="0">
            <a:off x="1208218" y="2936434"/>
            <a:ext cx="5072491" cy="2493883"/>
          </a:xfrm>
          <a:custGeom>
            <a:avLst/>
            <a:gdLst/>
            <a:ahLst/>
            <a:cxnLst/>
            <a:rect r="r" b="b" t="t" l="l"/>
            <a:pathLst>
              <a:path h="2493883" w="5072491">
                <a:moveTo>
                  <a:pt x="0" y="0"/>
                </a:moveTo>
                <a:lnTo>
                  <a:pt x="5072491" y="0"/>
                </a:lnTo>
                <a:lnTo>
                  <a:pt x="5072491" y="2493883"/>
                </a:lnTo>
                <a:lnTo>
                  <a:pt x="0" y="24938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604772" y="3291840"/>
            <a:ext cx="1371600" cy="548640"/>
          </a:xfrm>
          <a:prstGeom prst="rect">
            <a:avLst/>
          </a:prstGeom>
        </p:spPr>
        <p:txBody>
          <a:bodyPr anchor="t" rtlCol="false" tIns="0" lIns="0" bIns="0" rIns="0">
            <a:spAutoFit/>
          </a:bodyPr>
          <a:lstStyle/>
          <a:p>
            <a:pPr algn="l">
              <a:lnSpc>
                <a:spcPts val="3600"/>
              </a:lnSpc>
            </a:pPr>
            <a:r>
              <a:rPr lang="en-US" sz="3000" b="true">
                <a:solidFill>
                  <a:srgbClr val="0B6E60"/>
                </a:solidFill>
                <a:latin typeface="IBM Plex Sans Bold"/>
                <a:ea typeface="IBM Plex Sans Bold"/>
                <a:cs typeface="IBM Plex Sans Bold"/>
                <a:sym typeface="IBM Plex Sans Bold"/>
              </a:rPr>
              <a:t>01</a:t>
            </a:r>
          </a:p>
        </p:txBody>
      </p:sp>
      <p:sp>
        <p:nvSpPr>
          <p:cNvPr name="TextBox 6" id="6"/>
          <p:cNvSpPr txBox="true"/>
          <p:nvPr/>
        </p:nvSpPr>
        <p:spPr>
          <a:xfrm rot="0">
            <a:off x="1604772" y="3958590"/>
            <a:ext cx="4279392" cy="1322070"/>
          </a:xfrm>
          <a:prstGeom prst="rect">
            <a:avLst/>
          </a:prstGeom>
        </p:spPr>
        <p:txBody>
          <a:bodyPr anchor="t" rtlCol="false" tIns="0" lIns="0" bIns="0" rIns="0">
            <a:spAutoFit/>
          </a:bodyPr>
          <a:lstStyle/>
          <a:p>
            <a:pPr algn="l">
              <a:lnSpc>
                <a:spcPts val="2520"/>
              </a:lnSpc>
            </a:pPr>
            <a:r>
              <a:rPr lang="en-US" sz="2100">
                <a:solidFill>
                  <a:srgbClr val="14304A"/>
                </a:solidFill>
                <a:latin typeface="IBM Plex Sans"/>
                <a:ea typeface="IBM Plex Sans"/>
                <a:cs typeface="IBM Plex Sans"/>
                <a:sym typeface="IBM Plex Sans"/>
              </a:rPr>
              <a:t>Enable early recognition of measles, chickenpox, dengue and malaria symptoms at household level</a:t>
            </a:r>
          </a:p>
        </p:txBody>
      </p:sp>
      <p:sp>
        <p:nvSpPr>
          <p:cNvPr name="Freeform 7" id="7"/>
          <p:cNvSpPr/>
          <p:nvPr/>
        </p:nvSpPr>
        <p:spPr>
          <a:xfrm flipH="false" flipV="false" rot="0">
            <a:off x="6598606" y="2936434"/>
            <a:ext cx="5072491" cy="2493883"/>
          </a:xfrm>
          <a:custGeom>
            <a:avLst/>
            <a:gdLst/>
            <a:ahLst/>
            <a:cxnLst/>
            <a:rect r="r" b="b" t="t" l="l"/>
            <a:pathLst>
              <a:path h="2493883" w="5072491">
                <a:moveTo>
                  <a:pt x="0" y="0"/>
                </a:moveTo>
                <a:lnTo>
                  <a:pt x="5072491" y="0"/>
                </a:lnTo>
                <a:lnTo>
                  <a:pt x="5072491" y="2493883"/>
                </a:lnTo>
                <a:lnTo>
                  <a:pt x="0" y="24938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6995160" y="3291840"/>
            <a:ext cx="1371600" cy="548640"/>
          </a:xfrm>
          <a:prstGeom prst="rect">
            <a:avLst/>
          </a:prstGeom>
        </p:spPr>
        <p:txBody>
          <a:bodyPr anchor="t" rtlCol="false" tIns="0" lIns="0" bIns="0" rIns="0">
            <a:spAutoFit/>
          </a:bodyPr>
          <a:lstStyle/>
          <a:p>
            <a:pPr algn="l">
              <a:lnSpc>
                <a:spcPts val="3600"/>
              </a:lnSpc>
            </a:pPr>
            <a:r>
              <a:rPr lang="en-US" sz="3000" b="true">
                <a:solidFill>
                  <a:srgbClr val="0B6E60"/>
                </a:solidFill>
                <a:latin typeface="IBM Plex Sans Bold"/>
                <a:ea typeface="IBM Plex Sans Bold"/>
                <a:cs typeface="IBM Plex Sans Bold"/>
                <a:sym typeface="IBM Plex Sans Bold"/>
              </a:rPr>
              <a:t>02</a:t>
            </a:r>
          </a:p>
        </p:txBody>
      </p:sp>
      <p:sp>
        <p:nvSpPr>
          <p:cNvPr name="TextBox 9" id="9"/>
          <p:cNvSpPr txBox="true"/>
          <p:nvPr/>
        </p:nvSpPr>
        <p:spPr>
          <a:xfrm rot="0">
            <a:off x="6995160" y="3958590"/>
            <a:ext cx="4279392" cy="1322070"/>
          </a:xfrm>
          <a:prstGeom prst="rect">
            <a:avLst/>
          </a:prstGeom>
        </p:spPr>
        <p:txBody>
          <a:bodyPr anchor="t" rtlCol="false" tIns="0" lIns="0" bIns="0" rIns="0">
            <a:spAutoFit/>
          </a:bodyPr>
          <a:lstStyle/>
          <a:p>
            <a:pPr algn="l">
              <a:lnSpc>
                <a:spcPts val="2520"/>
              </a:lnSpc>
            </a:pPr>
            <a:r>
              <a:rPr lang="en-US" sz="2100">
                <a:solidFill>
                  <a:srgbClr val="14304A"/>
                </a:solidFill>
                <a:latin typeface="IBM Plex Sans"/>
                <a:ea typeface="IBM Plex Sans"/>
                <a:cs typeface="IBM Plex Sans"/>
                <a:sym typeface="IBM Plex Sans"/>
              </a:rPr>
              <a:t>Provide clear, bilingual guidance on the likely illness and its severity</a:t>
            </a:r>
          </a:p>
        </p:txBody>
      </p:sp>
      <p:sp>
        <p:nvSpPr>
          <p:cNvPr name="Freeform 10" id="10"/>
          <p:cNvSpPr/>
          <p:nvPr/>
        </p:nvSpPr>
        <p:spPr>
          <a:xfrm flipH="false" flipV="false" rot="0">
            <a:off x="11988994" y="2936434"/>
            <a:ext cx="5072491" cy="2493883"/>
          </a:xfrm>
          <a:custGeom>
            <a:avLst/>
            <a:gdLst/>
            <a:ahLst/>
            <a:cxnLst/>
            <a:rect r="r" b="b" t="t" l="l"/>
            <a:pathLst>
              <a:path h="2493883" w="5072491">
                <a:moveTo>
                  <a:pt x="0" y="0"/>
                </a:moveTo>
                <a:lnTo>
                  <a:pt x="5072491" y="0"/>
                </a:lnTo>
                <a:lnTo>
                  <a:pt x="5072491" y="2493883"/>
                </a:lnTo>
                <a:lnTo>
                  <a:pt x="0" y="24938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2385548" y="3291840"/>
            <a:ext cx="1371600" cy="548640"/>
          </a:xfrm>
          <a:prstGeom prst="rect">
            <a:avLst/>
          </a:prstGeom>
        </p:spPr>
        <p:txBody>
          <a:bodyPr anchor="t" rtlCol="false" tIns="0" lIns="0" bIns="0" rIns="0">
            <a:spAutoFit/>
          </a:bodyPr>
          <a:lstStyle/>
          <a:p>
            <a:pPr algn="l">
              <a:lnSpc>
                <a:spcPts val="3600"/>
              </a:lnSpc>
            </a:pPr>
            <a:r>
              <a:rPr lang="en-US" sz="3000" b="true">
                <a:solidFill>
                  <a:srgbClr val="0B6E60"/>
                </a:solidFill>
                <a:latin typeface="IBM Plex Sans Bold"/>
                <a:ea typeface="IBM Plex Sans Bold"/>
                <a:cs typeface="IBM Plex Sans Bold"/>
                <a:sym typeface="IBM Plex Sans Bold"/>
              </a:rPr>
              <a:t>03</a:t>
            </a:r>
          </a:p>
        </p:txBody>
      </p:sp>
      <p:sp>
        <p:nvSpPr>
          <p:cNvPr name="TextBox 12" id="12"/>
          <p:cNvSpPr txBox="true"/>
          <p:nvPr/>
        </p:nvSpPr>
        <p:spPr>
          <a:xfrm rot="0">
            <a:off x="12385548" y="3958590"/>
            <a:ext cx="4279392" cy="1322070"/>
          </a:xfrm>
          <a:prstGeom prst="rect">
            <a:avLst/>
          </a:prstGeom>
        </p:spPr>
        <p:txBody>
          <a:bodyPr anchor="t" rtlCol="false" tIns="0" lIns="0" bIns="0" rIns="0">
            <a:spAutoFit/>
          </a:bodyPr>
          <a:lstStyle/>
          <a:p>
            <a:pPr algn="l">
              <a:lnSpc>
                <a:spcPts val="2520"/>
              </a:lnSpc>
            </a:pPr>
            <a:r>
              <a:rPr lang="en-US" sz="2100">
                <a:solidFill>
                  <a:srgbClr val="14304A"/>
                </a:solidFill>
                <a:latin typeface="IBM Plex Sans"/>
                <a:ea typeface="IBM Plex Sans"/>
                <a:cs typeface="IBM Plex Sans"/>
                <a:sym typeface="IBM Plex Sans"/>
              </a:rPr>
              <a:t>Refer every user to the nearest suitable clinic, with a map, even without internet</a:t>
            </a:r>
          </a:p>
        </p:txBody>
      </p:sp>
      <p:sp>
        <p:nvSpPr>
          <p:cNvPr name="Freeform 13" id="13"/>
          <p:cNvSpPr/>
          <p:nvPr/>
        </p:nvSpPr>
        <p:spPr>
          <a:xfrm flipH="false" flipV="false" rot="0">
            <a:off x="1208218" y="5748214"/>
            <a:ext cx="5072491" cy="2493883"/>
          </a:xfrm>
          <a:custGeom>
            <a:avLst/>
            <a:gdLst/>
            <a:ahLst/>
            <a:cxnLst/>
            <a:rect r="r" b="b" t="t" l="l"/>
            <a:pathLst>
              <a:path h="2493883" w="5072491">
                <a:moveTo>
                  <a:pt x="0" y="0"/>
                </a:moveTo>
                <a:lnTo>
                  <a:pt x="5072491" y="0"/>
                </a:lnTo>
                <a:lnTo>
                  <a:pt x="5072491" y="2493883"/>
                </a:lnTo>
                <a:lnTo>
                  <a:pt x="0" y="24938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604772" y="6103620"/>
            <a:ext cx="1371600" cy="548640"/>
          </a:xfrm>
          <a:prstGeom prst="rect">
            <a:avLst/>
          </a:prstGeom>
        </p:spPr>
        <p:txBody>
          <a:bodyPr anchor="t" rtlCol="false" tIns="0" lIns="0" bIns="0" rIns="0">
            <a:spAutoFit/>
          </a:bodyPr>
          <a:lstStyle/>
          <a:p>
            <a:pPr algn="l">
              <a:lnSpc>
                <a:spcPts val="3600"/>
              </a:lnSpc>
            </a:pPr>
            <a:r>
              <a:rPr lang="en-US" sz="3000" b="true">
                <a:solidFill>
                  <a:srgbClr val="0B6E60"/>
                </a:solidFill>
                <a:latin typeface="IBM Plex Sans Bold"/>
                <a:ea typeface="IBM Plex Sans Bold"/>
                <a:cs typeface="IBM Plex Sans Bold"/>
                <a:sym typeface="IBM Plex Sans Bold"/>
              </a:rPr>
              <a:t>04</a:t>
            </a:r>
          </a:p>
        </p:txBody>
      </p:sp>
      <p:sp>
        <p:nvSpPr>
          <p:cNvPr name="TextBox 15" id="15"/>
          <p:cNvSpPr txBox="true"/>
          <p:nvPr/>
        </p:nvSpPr>
        <p:spPr>
          <a:xfrm rot="0">
            <a:off x="1604772" y="6770370"/>
            <a:ext cx="4279392" cy="1322070"/>
          </a:xfrm>
          <a:prstGeom prst="rect">
            <a:avLst/>
          </a:prstGeom>
        </p:spPr>
        <p:txBody>
          <a:bodyPr anchor="t" rtlCol="false" tIns="0" lIns="0" bIns="0" rIns="0">
            <a:spAutoFit/>
          </a:bodyPr>
          <a:lstStyle/>
          <a:p>
            <a:pPr algn="l">
              <a:lnSpc>
                <a:spcPts val="2520"/>
              </a:lnSpc>
            </a:pPr>
            <a:r>
              <a:rPr lang="en-US" sz="2100">
                <a:solidFill>
                  <a:srgbClr val="14304A"/>
                </a:solidFill>
                <a:latin typeface="IBM Plex Sans"/>
                <a:ea typeface="IBM Plex Sans"/>
                <a:cs typeface="IBM Plex Sans"/>
                <a:sym typeface="IBM Plex Sans"/>
              </a:rPr>
              <a:t>Reduce the average delay between first symptoms and a physician visit</a:t>
            </a:r>
          </a:p>
        </p:txBody>
      </p:sp>
      <p:sp>
        <p:nvSpPr>
          <p:cNvPr name="Freeform 16" id="16"/>
          <p:cNvSpPr/>
          <p:nvPr/>
        </p:nvSpPr>
        <p:spPr>
          <a:xfrm flipH="false" flipV="false" rot="0">
            <a:off x="6598606" y="5748214"/>
            <a:ext cx="5072491" cy="2493883"/>
          </a:xfrm>
          <a:custGeom>
            <a:avLst/>
            <a:gdLst/>
            <a:ahLst/>
            <a:cxnLst/>
            <a:rect r="r" b="b" t="t" l="l"/>
            <a:pathLst>
              <a:path h="2493883" w="5072491">
                <a:moveTo>
                  <a:pt x="0" y="0"/>
                </a:moveTo>
                <a:lnTo>
                  <a:pt x="5072491" y="0"/>
                </a:lnTo>
                <a:lnTo>
                  <a:pt x="5072491" y="2493883"/>
                </a:lnTo>
                <a:lnTo>
                  <a:pt x="0" y="24938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6995160" y="6103620"/>
            <a:ext cx="1371600" cy="548640"/>
          </a:xfrm>
          <a:prstGeom prst="rect">
            <a:avLst/>
          </a:prstGeom>
        </p:spPr>
        <p:txBody>
          <a:bodyPr anchor="t" rtlCol="false" tIns="0" lIns="0" bIns="0" rIns="0">
            <a:spAutoFit/>
          </a:bodyPr>
          <a:lstStyle/>
          <a:p>
            <a:pPr algn="l">
              <a:lnSpc>
                <a:spcPts val="3600"/>
              </a:lnSpc>
            </a:pPr>
            <a:r>
              <a:rPr lang="en-US" sz="3000" b="true">
                <a:solidFill>
                  <a:srgbClr val="0B6E60"/>
                </a:solidFill>
                <a:latin typeface="IBM Plex Sans Bold"/>
                <a:ea typeface="IBM Plex Sans Bold"/>
                <a:cs typeface="IBM Plex Sans Bold"/>
                <a:sym typeface="IBM Plex Sans Bold"/>
              </a:rPr>
              <a:t>05</a:t>
            </a:r>
          </a:p>
        </p:txBody>
      </p:sp>
      <p:sp>
        <p:nvSpPr>
          <p:cNvPr name="TextBox 18" id="18"/>
          <p:cNvSpPr txBox="true"/>
          <p:nvPr/>
        </p:nvSpPr>
        <p:spPr>
          <a:xfrm rot="0">
            <a:off x="6995160" y="6770370"/>
            <a:ext cx="4279392" cy="1322070"/>
          </a:xfrm>
          <a:prstGeom prst="rect">
            <a:avLst/>
          </a:prstGeom>
        </p:spPr>
        <p:txBody>
          <a:bodyPr anchor="t" rtlCol="false" tIns="0" lIns="0" bIns="0" rIns="0">
            <a:spAutoFit/>
          </a:bodyPr>
          <a:lstStyle/>
          <a:p>
            <a:pPr algn="l">
              <a:lnSpc>
                <a:spcPts val="2520"/>
              </a:lnSpc>
            </a:pPr>
            <a:r>
              <a:rPr lang="en-US" sz="2100">
                <a:solidFill>
                  <a:srgbClr val="14304A"/>
                </a:solidFill>
                <a:latin typeface="IBM Plex Sans"/>
                <a:ea typeface="IBM Plex Sans"/>
                <a:cs typeface="IBM Plex Sans"/>
                <a:sym typeface="IBM Plex Sans"/>
              </a:rPr>
              <a:t>Improve vaccine follow-up through automated, localised reminders</a:t>
            </a:r>
          </a:p>
        </p:txBody>
      </p:sp>
      <p:sp>
        <p:nvSpPr>
          <p:cNvPr name="Freeform 19" id="19"/>
          <p:cNvSpPr/>
          <p:nvPr/>
        </p:nvSpPr>
        <p:spPr>
          <a:xfrm flipH="false" flipV="false" rot="0">
            <a:off x="11988994" y="5748214"/>
            <a:ext cx="5072491" cy="2493883"/>
          </a:xfrm>
          <a:custGeom>
            <a:avLst/>
            <a:gdLst/>
            <a:ahLst/>
            <a:cxnLst/>
            <a:rect r="r" b="b" t="t" l="l"/>
            <a:pathLst>
              <a:path h="2493883" w="5072491">
                <a:moveTo>
                  <a:pt x="0" y="0"/>
                </a:moveTo>
                <a:lnTo>
                  <a:pt x="5072491" y="0"/>
                </a:lnTo>
                <a:lnTo>
                  <a:pt x="5072491" y="2493883"/>
                </a:lnTo>
                <a:lnTo>
                  <a:pt x="0" y="24938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0" id="20"/>
          <p:cNvSpPr txBox="true"/>
          <p:nvPr/>
        </p:nvSpPr>
        <p:spPr>
          <a:xfrm rot="0">
            <a:off x="12385548" y="6103620"/>
            <a:ext cx="1371600" cy="548640"/>
          </a:xfrm>
          <a:prstGeom prst="rect">
            <a:avLst/>
          </a:prstGeom>
        </p:spPr>
        <p:txBody>
          <a:bodyPr anchor="t" rtlCol="false" tIns="0" lIns="0" bIns="0" rIns="0">
            <a:spAutoFit/>
          </a:bodyPr>
          <a:lstStyle/>
          <a:p>
            <a:pPr algn="l">
              <a:lnSpc>
                <a:spcPts val="3600"/>
              </a:lnSpc>
            </a:pPr>
            <a:r>
              <a:rPr lang="en-US" sz="3000" b="true">
                <a:solidFill>
                  <a:srgbClr val="0B6E60"/>
                </a:solidFill>
                <a:latin typeface="IBM Plex Sans Bold"/>
                <a:ea typeface="IBM Plex Sans Bold"/>
                <a:cs typeface="IBM Plex Sans Bold"/>
                <a:sym typeface="IBM Plex Sans Bold"/>
              </a:rPr>
              <a:t>06</a:t>
            </a:r>
          </a:p>
        </p:txBody>
      </p:sp>
      <p:sp>
        <p:nvSpPr>
          <p:cNvPr name="TextBox 21" id="21"/>
          <p:cNvSpPr txBox="true"/>
          <p:nvPr/>
        </p:nvSpPr>
        <p:spPr>
          <a:xfrm rot="0">
            <a:off x="12385548" y="6770370"/>
            <a:ext cx="4279392" cy="1322070"/>
          </a:xfrm>
          <a:prstGeom prst="rect">
            <a:avLst/>
          </a:prstGeom>
        </p:spPr>
        <p:txBody>
          <a:bodyPr anchor="t" rtlCol="false" tIns="0" lIns="0" bIns="0" rIns="0">
            <a:spAutoFit/>
          </a:bodyPr>
          <a:lstStyle/>
          <a:p>
            <a:pPr algn="l">
              <a:lnSpc>
                <a:spcPts val="2520"/>
              </a:lnSpc>
            </a:pPr>
            <a:r>
              <a:rPr lang="en-US" sz="2100">
                <a:solidFill>
                  <a:srgbClr val="14304A"/>
                </a:solidFill>
                <a:latin typeface="IBM Plex Sans"/>
                <a:ea typeface="IBM Plex Sans"/>
                <a:cs typeface="IBM Plex Sans"/>
                <a:sym typeface="IBM Plex Sans"/>
              </a:rPr>
              <a:t>Reduce irrational antibiotic and self-medication use in viral illness</a:t>
            </a:r>
          </a:p>
        </p:txBody>
      </p:sp>
      <p:sp>
        <p:nvSpPr>
          <p:cNvPr name="TextBox 22" id="22"/>
          <p:cNvSpPr txBox="true"/>
          <p:nvPr/>
        </p:nvSpPr>
        <p:spPr>
          <a:xfrm rot="0">
            <a:off x="1220724" y="9354312"/>
            <a:ext cx="11658600" cy="356616"/>
          </a:xfrm>
          <a:prstGeom prst="rect">
            <a:avLst/>
          </a:prstGeom>
        </p:spPr>
        <p:txBody>
          <a:bodyPr anchor="t" rtlCol="false" tIns="0" lIns="0" bIns="0" rIns="0">
            <a:spAutoFit/>
          </a:bodyPr>
          <a:lstStyle/>
          <a:p>
            <a:pPr algn="l">
              <a:lnSpc>
                <a:spcPts val="2160"/>
              </a:lnSpc>
            </a:pPr>
            <a:r>
              <a:rPr lang="en-US" sz="1800">
                <a:solidFill>
                  <a:srgbClr val="5B6770"/>
                </a:solidFill>
                <a:latin typeface="IBM Plex Sans"/>
                <a:ea typeface="IBM Plex Sans"/>
                <a:cs typeface="IBM Plex Sans"/>
                <a:sym typeface="IBM Plex Sans"/>
              </a:rPr>
              <a:t>Community Health Triage &amp; Digital Disease Referral · Chakwal, Pakistan</a:t>
            </a:r>
          </a:p>
        </p:txBody>
      </p:sp>
      <p:sp>
        <p:nvSpPr>
          <p:cNvPr name="TextBox 23" id="23"/>
          <p:cNvSpPr txBox="true"/>
          <p:nvPr/>
        </p:nvSpPr>
        <p:spPr>
          <a:xfrm rot="0">
            <a:off x="15691104" y="9354312"/>
            <a:ext cx="1371600" cy="356616"/>
          </a:xfrm>
          <a:prstGeom prst="rect">
            <a:avLst/>
          </a:prstGeom>
        </p:spPr>
        <p:txBody>
          <a:bodyPr anchor="t" rtlCol="false" tIns="0" lIns="0" bIns="0" rIns="0">
            <a:spAutoFit/>
          </a:bodyPr>
          <a:lstStyle/>
          <a:p>
            <a:pPr algn="r">
              <a:lnSpc>
                <a:spcPts val="2160"/>
              </a:lnSpc>
            </a:pPr>
            <a:r>
              <a:rPr lang="en-US" sz="1800">
                <a:solidFill>
                  <a:srgbClr val="5B6770"/>
                </a:solidFill>
                <a:latin typeface="IBM Plex Sans"/>
                <a:ea typeface="IBM Plex Sans"/>
                <a:cs typeface="IBM Plex Sans"/>
                <a:sym typeface="IBM Plex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AF0EE"/>
        </a:solidFill>
      </p:bgPr>
    </p:bg>
    <p:spTree>
      <p:nvGrpSpPr>
        <p:cNvPr id="1" name=""/>
        <p:cNvGrpSpPr/>
        <p:nvPr/>
      </p:nvGrpSpPr>
      <p:grpSpPr>
        <a:xfrm>
          <a:off x="0" y="0"/>
          <a:ext cx="0" cy="0"/>
          <a:chOff x="0" y="0"/>
          <a:chExt cx="0" cy="0"/>
        </a:xfrm>
      </p:grpSpPr>
      <p:sp>
        <p:nvSpPr>
          <p:cNvPr name="TextBox 2" id="2"/>
          <p:cNvSpPr txBox="true"/>
          <p:nvPr/>
        </p:nvSpPr>
        <p:spPr>
          <a:xfrm rot="0">
            <a:off x="1220724" y="1220724"/>
            <a:ext cx="15841980" cy="356616"/>
          </a:xfrm>
          <a:prstGeom prst="rect">
            <a:avLst/>
          </a:prstGeom>
        </p:spPr>
        <p:txBody>
          <a:bodyPr anchor="t" rtlCol="false" tIns="0" lIns="0" bIns="0" rIns="0">
            <a:spAutoFit/>
          </a:bodyPr>
          <a:lstStyle/>
          <a:p>
            <a:pPr algn="l">
              <a:lnSpc>
                <a:spcPts val="2160"/>
              </a:lnSpc>
            </a:pPr>
            <a:r>
              <a:rPr lang="en-US" b="true" sz="1800" spc="225">
                <a:solidFill>
                  <a:srgbClr val="0B6E60"/>
                </a:solidFill>
                <a:latin typeface="IBM Plex Sans Bold"/>
                <a:ea typeface="IBM Plex Sans Bold"/>
                <a:cs typeface="IBM Plex Sans Bold"/>
                <a:sym typeface="IBM Plex Sans Bold"/>
              </a:rPr>
              <a:t>04 · HOW THE APP WORKS</a:t>
            </a:r>
          </a:p>
        </p:txBody>
      </p:sp>
      <p:sp>
        <p:nvSpPr>
          <p:cNvPr name="TextBox 3" id="3"/>
          <p:cNvSpPr txBox="true"/>
          <p:nvPr/>
        </p:nvSpPr>
        <p:spPr>
          <a:xfrm rot="0">
            <a:off x="1220724" y="1678686"/>
            <a:ext cx="15841980" cy="721614"/>
          </a:xfrm>
          <a:prstGeom prst="rect">
            <a:avLst/>
          </a:prstGeom>
        </p:spPr>
        <p:txBody>
          <a:bodyPr anchor="t" rtlCol="false" tIns="0" lIns="0" bIns="0" rIns="0">
            <a:spAutoFit/>
          </a:bodyPr>
          <a:lstStyle/>
          <a:p>
            <a:pPr algn="l">
              <a:lnSpc>
                <a:spcPts val="5758"/>
              </a:lnSpc>
            </a:pPr>
            <a:r>
              <a:rPr lang="en-US" sz="4800" b="true">
                <a:solidFill>
                  <a:srgbClr val="14304A"/>
                </a:solidFill>
                <a:latin typeface="IBM Plex Sans Bold"/>
                <a:ea typeface="IBM Plex Sans Bold"/>
                <a:cs typeface="IBM Plex Sans Bold"/>
                <a:sym typeface="IBM Plex Sans Bold"/>
              </a:rPr>
              <a:t>From symptoms to a clinic in four steps</a:t>
            </a:r>
          </a:p>
        </p:txBody>
      </p:sp>
      <p:sp>
        <p:nvSpPr>
          <p:cNvPr name="Freeform 4" id="4"/>
          <p:cNvSpPr/>
          <p:nvPr/>
        </p:nvSpPr>
        <p:spPr>
          <a:xfrm flipH="false" flipV="false" rot="0">
            <a:off x="1208218" y="3210754"/>
            <a:ext cx="3728323" cy="4071223"/>
          </a:xfrm>
          <a:custGeom>
            <a:avLst/>
            <a:gdLst/>
            <a:ahLst/>
            <a:cxnLst/>
            <a:rect r="r" b="b" t="t" l="l"/>
            <a:pathLst>
              <a:path h="4071223" w="3728323">
                <a:moveTo>
                  <a:pt x="0" y="0"/>
                </a:moveTo>
                <a:lnTo>
                  <a:pt x="3728323" y="0"/>
                </a:lnTo>
                <a:lnTo>
                  <a:pt x="3728323" y="4071223"/>
                </a:lnTo>
                <a:lnTo>
                  <a:pt x="0" y="40712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46955" y="3590639"/>
            <a:ext cx="856298" cy="856298"/>
          </a:xfrm>
          <a:custGeom>
            <a:avLst/>
            <a:gdLst/>
            <a:ahLst/>
            <a:cxnLst/>
            <a:rect r="r" b="b" t="t" l="l"/>
            <a:pathLst>
              <a:path h="856298" w="856298">
                <a:moveTo>
                  <a:pt x="0" y="0"/>
                </a:moveTo>
                <a:lnTo>
                  <a:pt x="856298" y="0"/>
                </a:lnTo>
                <a:lnTo>
                  <a:pt x="856298" y="856298"/>
                </a:lnTo>
                <a:lnTo>
                  <a:pt x="0" y="8562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769364" y="3813048"/>
            <a:ext cx="411480" cy="411480"/>
            <a:chOff x="0" y="0"/>
            <a:chExt cx="548640" cy="548640"/>
          </a:xfrm>
        </p:grpSpPr>
        <p:sp>
          <p:nvSpPr>
            <p:cNvPr name="Freeform 7" id="7"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7"/>
              <a:stretch>
                <a:fillRect l="0" t="0" r="0" b="0"/>
              </a:stretch>
            </a:blipFill>
          </p:spPr>
        </p:sp>
      </p:grpSp>
      <p:sp>
        <p:nvSpPr>
          <p:cNvPr name="TextBox 8" id="8"/>
          <p:cNvSpPr txBox="true"/>
          <p:nvPr/>
        </p:nvSpPr>
        <p:spPr>
          <a:xfrm rot="0">
            <a:off x="3895344" y="3588258"/>
            <a:ext cx="685800" cy="842010"/>
          </a:xfrm>
          <a:prstGeom prst="rect">
            <a:avLst/>
          </a:prstGeom>
        </p:spPr>
        <p:txBody>
          <a:bodyPr anchor="t" rtlCol="false" tIns="0" lIns="0" bIns="0" rIns="0">
            <a:spAutoFit/>
          </a:bodyPr>
          <a:lstStyle/>
          <a:p>
            <a:pPr algn="r">
              <a:lnSpc>
                <a:spcPts val="4320"/>
              </a:lnSpc>
            </a:pPr>
            <a:r>
              <a:rPr lang="en-US" sz="3600" b="true">
                <a:solidFill>
                  <a:srgbClr val="D3DCD9"/>
                </a:solidFill>
                <a:latin typeface="IBM Plex Sans Bold"/>
                <a:ea typeface="IBM Plex Sans Bold"/>
                <a:cs typeface="IBM Plex Sans Bold"/>
                <a:sym typeface="IBM Plex Sans Bold"/>
              </a:rPr>
              <a:t>1</a:t>
            </a:r>
          </a:p>
        </p:txBody>
      </p:sp>
      <p:sp>
        <p:nvSpPr>
          <p:cNvPr name="TextBox 9" id="9"/>
          <p:cNvSpPr txBox="true"/>
          <p:nvPr/>
        </p:nvSpPr>
        <p:spPr>
          <a:xfrm rot="0">
            <a:off x="1563624" y="4663440"/>
            <a:ext cx="3017520" cy="548640"/>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Symptom input</a:t>
            </a:r>
          </a:p>
        </p:txBody>
      </p:sp>
      <p:sp>
        <p:nvSpPr>
          <p:cNvPr name="TextBox 10" id="10"/>
          <p:cNvSpPr txBox="true"/>
          <p:nvPr/>
        </p:nvSpPr>
        <p:spPr>
          <a:xfrm rot="0">
            <a:off x="1563624" y="5299710"/>
            <a:ext cx="3017520" cy="1832610"/>
          </a:xfrm>
          <a:prstGeom prst="rect">
            <a:avLst/>
          </a:prstGeom>
        </p:spPr>
        <p:txBody>
          <a:bodyPr anchor="t" rtlCol="false" tIns="0" lIns="0" bIns="0" rIns="0">
            <a:spAutoFit/>
          </a:bodyPr>
          <a:lstStyle/>
          <a:p>
            <a:pPr algn="l">
              <a:lnSpc>
                <a:spcPts val="2250"/>
              </a:lnSpc>
            </a:pPr>
            <a:r>
              <a:rPr lang="en-US" sz="1875">
                <a:solidFill>
                  <a:srgbClr val="3F4B57"/>
                </a:solidFill>
                <a:latin typeface="IBM Plex Sans"/>
                <a:ea typeface="IBM Plex Sans"/>
                <a:cs typeface="IBM Plex Sans"/>
                <a:sym typeface="IBM Plex Sans"/>
              </a:rPr>
              <a:t>The user enters symptoms by tapping pictures, typing, or speaking in Urdu or English.</a:t>
            </a:r>
          </a:p>
        </p:txBody>
      </p:sp>
      <p:sp>
        <p:nvSpPr>
          <p:cNvPr name="TextBox 11" id="11"/>
          <p:cNvSpPr txBox="true"/>
          <p:nvPr/>
        </p:nvSpPr>
        <p:spPr>
          <a:xfrm rot="0">
            <a:off x="4951476" y="4850130"/>
            <a:ext cx="342900" cy="704850"/>
          </a:xfrm>
          <a:prstGeom prst="rect">
            <a:avLst/>
          </a:prstGeom>
        </p:spPr>
        <p:txBody>
          <a:bodyPr anchor="t" rtlCol="false" tIns="0" lIns="0" bIns="0" rIns="0">
            <a:spAutoFit/>
          </a:bodyPr>
          <a:lstStyle/>
          <a:p>
            <a:pPr algn="ctr">
              <a:lnSpc>
                <a:spcPts val="4320"/>
              </a:lnSpc>
            </a:pPr>
            <a:r>
              <a:rPr lang="en-US" sz="3600">
                <a:solidFill>
                  <a:srgbClr val="0B6E60"/>
                </a:solidFill>
                <a:latin typeface="IBM Plex Sans"/>
                <a:ea typeface="IBM Plex Sans"/>
                <a:cs typeface="IBM Plex Sans"/>
                <a:sym typeface="IBM Plex Sans"/>
              </a:rPr>
              <a:t>›</a:t>
            </a:r>
          </a:p>
        </p:txBody>
      </p:sp>
      <p:sp>
        <p:nvSpPr>
          <p:cNvPr name="Freeform 12" id="12"/>
          <p:cNvSpPr/>
          <p:nvPr/>
        </p:nvSpPr>
        <p:spPr>
          <a:xfrm flipH="false" flipV="false" rot="0">
            <a:off x="5254438" y="3210754"/>
            <a:ext cx="3728323" cy="4071223"/>
          </a:xfrm>
          <a:custGeom>
            <a:avLst/>
            <a:gdLst/>
            <a:ahLst/>
            <a:cxnLst/>
            <a:rect r="r" b="b" t="t" l="l"/>
            <a:pathLst>
              <a:path h="4071223" w="3728323">
                <a:moveTo>
                  <a:pt x="0" y="0"/>
                </a:moveTo>
                <a:lnTo>
                  <a:pt x="3728323" y="0"/>
                </a:lnTo>
                <a:lnTo>
                  <a:pt x="3728323" y="4071223"/>
                </a:lnTo>
                <a:lnTo>
                  <a:pt x="0" y="40712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5593175" y="3590639"/>
            <a:ext cx="856298" cy="856298"/>
          </a:xfrm>
          <a:custGeom>
            <a:avLst/>
            <a:gdLst/>
            <a:ahLst/>
            <a:cxnLst/>
            <a:rect r="r" b="b" t="t" l="l"/>
            <a:pathLst>
              <a:path h="856298" w="856298">
                <a:moveTo>
                  <a:pt x="0" y="0"/>
                </a:moveTo>
                <a:lnTo>
                  <a:pt x="856298" y="0"/>
                </a:lnTo>
                <a:lnTo>
                  <a:pt x="856298" y="856298"/>
                </a:lnTo>
                <a:lnTo>
                  <a:pt x="0" y="8562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5815584" y="3813048"/>
            <a:ext cx="411480" cy="411480"/>
            <a:chOff x="0" y="0"/>
            <a:chExt cx="548640" cy="548640"/>
          </a:xfrm>
        </p:grpSpPr>
        <p:sp>
          <p:nvSpPr>
            <p:cNvPr name="Freeform 15" id="15"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8"/>
              <a:stretch>
                <a:fillRect l="0" t="0" r="0" b="0"/>
              </a:stretch>
            </a:blipFill>
          </p:spPr>
        </p:sp>
      </p:grpSp>
      <p:sp>
        <p:nvSpPr>
          <p:cNvPr name="TextBox 16" id="16"/>
          <p:cNvSpPr txBox="true"/>
          <p:nvPr/>
        </p:nvSpPr>
        <p:spPr>
          <a:xfrm rot="0">
            <a:off x="7941564" y="3588258"/>
            <a:ext cx="685800" cy="842010"/>
          </a:xfrm>
          <a:prstGeom prst="rect">
            <a:avLst/>
          </a:prstGeom>
        </p:spPr>
        <p:txBody>
          <a:bodyPr anchor="t" rtlCol="false" tIns="0" lIns="0" bIns="0" rIns="0">
            <a:spAutoFit/>
          </a:bodyPr>
          <a:lstStyle/>
          <a:p>
            <a:pPr algn="r">
              <a:lnSpc>
                <a:spcPts val="4320"/>
              </a:lnSpc>
            </a:pPr>
            <a:r>
              <a:rPr lang="en-US" sz="3600" b="true">
                <a:solidFill>
                  <a:srgbClr val="D3DCD9"/>
                </a:solidFill>
                <a:latin typeface="IBM Plex Sans Bold"/>
                <a:ea typeface="IBM Plex Sans Bold"/>
                <a:cs typeface="IBM Plex Sans Bold"/>
                <a:sym typeface="IBM Plex Sans Bold"/>
              </a:rPr>
              <a:t>2</a:t>
            </a:r>
          </a:p>
        </p:txBody>
      </p:sp>
      <p:sp>
        <p:nvSpPr>
          <p:cNvPr name="TextBox 17" id="17"/>
          <p:cNvSpPr txBox="true"/>
          <p:nvPr/>
        </p:nvSpPr>
        <p:spPr>
          <a:xfrm rot="0">
            <a:off x="5609844" y="4663440"/>
            <a:ext cx="3017520" cy="548640"/>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Offline engine</a:t>
            </a:r>
          </a:p>
        </p:txBody>
      </p:sp>
      <p:sp>
        <p:nvSpPr>
          <p:cNvPr name="TextBox 18" id="18"/>
          <p:cNvSpPr txBox="true"/>
          <p:nvPr/>
        </p:nvSpPr>
        <p:spPr>
          <a:xfrm rot="0">
            <a:off x="5609844" y="5299710"/>
            <a:ext cx="3017520" cy="1832610"/>
          </a:xfrm>
          <a:prstGeom prst="rect">
            <a:avLst/>
          </a:prstGeom>
        </p:spPr>
        <p:txBody>
          <a:bodyPr anchor="t" rtlCol="false" tIns="0" lIns="0" bIns="0" rIns="0">
            <a:spAutoFit/>
          </a:bodyPr>
          <a:lstStyle/>
          <a:p>
            <a:pPr algn="l">
              <a:lnSpc>
                <a:spcPts val="2250"/>
              </a:lnSpc>
            </a:pPr>
            <a:r>
              <a:rPr lang="en-US" sz="1875">
                <a:solidFill>
                  <a:srgbClr val="3F4B57"/>
                </a:solidFill>
                <a:latin typeface="IBM Plex Sans"/>
                <a:ea typeface="IBM Plex Sans"/>
                <a:cs typeface="IBM Plex Sans"/>
                <a:sym typeface="IBM Plex Sans"/>
              </a:rPr>
              <a:t>A rule-based decision tree matches the symptom pattern to the most likely illness without any internet.</a:t>
            </a:r>
          </a:p>
        </p:txBody>
      </p:sp>
      <p:sp>
        <p:nvSpPr>
          <p:cNvPr name="TextBox 19" id="19"/>
          <p:cNvSpPr txBox="true"/>
          <p:nvPr/>
        </p:nvSpPr>
        <p:spPr>
          <a:xfrm rot="0">
            <a:off x="8997696" y="4850130"/>
            <a:ext cx="342900" cy="704850"/>
          </a:xfrm>
          <a:prstGeom prst="rect">
            <a:avLst/>
          </a:prstGeom>
        </p:spPr>
        <p:txBody>
          <a:bodyPr anchor="t" rtlCol="false" tIns="0" lIns="0" bIns="0" rIns="0">
            <a:spAutoFit/>
          </a:bodyPr>
          <a:lstStyle/>
          <a:p>
            <a:pPr algn="ctr">
              <a:lnSpc>
                <a:spcPts val="4320"/>
              </a:lnSpc>
            </a:pPr>
            <a:r>
              <a:rPr lang="en-US" sz="3600">
                <a:solidFill>
                  <a:srgbClr val="0B6E60"/>
                </a:solidFill>
                <a:latin typeface="IBM Plex Sans"/>
                <a:ea typeface="IBM Plex Sans"/>
                <a:cs typeface="IBM Plex Sans"/>
                <a:sym typeface="IBM Plex Sans"/>
              </a:rPr>
              <a:t>›</a:t>
            </a:r>
          </a:p>
        </p:txBody>
      </p:sp>
      <p:sp>
        <p:nvSpPr>
          <p:cNvPr name="Freeform 20" id="20"/>
          <p:cNvSpPr/>
          <p:nvPr/>
        </p:nvSpPr>
        <p:spPr>
          <a:xfrm flipH="false" flipV="false" rot="0">
            <a:off x="9300658" y="3210754"/>
            <a:ext cx="3728323" cy="4071223"/>
          </a:xfrm>
          <a:custGeom>
            <a:avLst/>
            <a:gdLst/>
            <a:ahLst/>
            <a:cxnLst/>
            <a:rect r="r" b="b" t="t" l="l"/>
            <a:pathLst>
              <a:path h="4071223" w="3728323">
                <a:moveTo>
                  <a:pt x="0" y="0"/>
                </a:moveTo>
                <a:lnTo>
                  <a:pt x="3728323" y="0"/>
                </a:lnTo>
                <a:lnTo>
                  <a:pt x="3728323" y="4071223"/>
                </a:lnTo>
                <a:lnTo>
                  <a:pt x="0" y="40712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1" id="21"/>
          <p:cNvSpPr/>
          <p:nvPr/>
        </p:nvSpPr>
        <p:spPr>
          <a:xfrm flipH="false" flipV="false" rot="0">
            <a:off x="9639395" y="3590639"/>
            <a:ext cx="856297" cy="856298"/>
          </a:xfrm>
          <a:custGeom>
            <a:avLst/>
            <a:gdLst/>
            <a:ahLst/>
            <a:cxnLst/>
            <a:rect r="r" b="b" t="t" l="l"/>
            <a:pathLst>
              <a:path h="856298" w="856297">
                <a:moveTo>
                  <a:pt x="0" y="0"/>
                </a:moveTo>
                <a:lnTo>
                  <a:pt x="856298" y="0"/>
                </a:lnTo>
                <a:lnTo>
                  <a:pt x="856298" y="856298"/>
                </a:lnTo>
                <a:lnTo>
                  <a:pt x="0" y="8562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2" id="22"/>
          <p:cNvGrpSpPr/>
          <p:nvPr/>
        </p:nvGrpSpPr>
        <p:grpSpPr>
          <a:xfrm rot="0">
            <a:off x="9861804" y="3813048"/>
            <a:ext cx="411480" cy="411480"/>
            <a:chOff x="0" y="0"/>
            <a:chExt cx="548640" cy="548640"/>
          </a:xfrm>
        </p:grpSpPr>
        <p:sp>
          <p:nvSpPr>
            <p:cNvPr name="Freeform 23" id="23"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9"/>
              <a:stretch>
                <a:fillRect l="0" t="0" r="0" b="0"/>
              </a:stretch>
            </a:blipFill>
          </p:spPr>
        </p:sp>
      </p:grpSp>
      <p:sp>
        <p:nvSpPr>
          <p:cNvPr name="TextBox 24" id="24"/>
          <p:cNvSpPr txBox="true"/>
          <p:nvPr/>
        </p:nvSpPr>
        <p:spPr>
          <a:xfrm rot="0">
            <a:off x="11987784" y="3588258"/>
            <a:ext cx="685800" cy="842010"/>
          </a:xfrm>
          <a:prstGeom prst="rect">
            <a:avLst/>
          </a:prstGeom>
        </p:spPr>
        <p:txBody>
          <a:bodyPr anchor="t" rtlCol="false" tIns="0" lIns="0" bIns="0" rIns="0">
            <a:spAutoFit/>
          </a:bodyPr>
          <a:lstStyle/>
          <a:p>
            <a:pPr algn="r">
              <a:lnSpc>
                <a:spcPts val="4320"/>
              </a:lnSpc>
            </a:pPr>
            <a:r>
              <a:rPr lang="en-US" sz="3600" b="true">
                <a:solidFill>
                  <a:srgbClr val="D3DCD9"/>
                </a:solidFill>
                <a:latin typeface="IBM Plex Sans Bold"/>
                <a:ea typeface="IBM Plex Sans Bold"/>
                <a:cs typeface="IBM Plex Sans Bold"/>
                <a:sym typeface="IBM Plex Sans Bold"/>
              </a:rPr>
              <a:t>3</a:t>
            </a:r>
          </a:p>
        </p:txBody>
      </p:sp>
      <p:sp>
        <p:nvSpPr>
          <p:cNvPr name="TextBox 25" id="25"/>
          <p:cNvSpPr txBox="true"/>
          <p:nvPr/>
        </p:nvSpPr>
        <p:spPr>
          <a:xfrm rot="0">
            <a:off x="9656064" y="4663440"/>
            <a:ext cx="3017520" cy="548640"/>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Severity &amp; referral</a:t>
            </a:r>
          </a:p>
        </p:txBody>
      </p:sp>
      <p:sp>
        <p:nvSpPr>
          <p:cNvPr name="TextBox 26" id="26"/>
          <p:cNvSpPr txBox="true"/>
          <p:nvPr/>
        </p:nvSpPr>
        <p:spPr>
          <a:xfrm rot="0">
            <a:off x="9656064" y="5299710"/>
            <a:ext cx="3017520" cy="1832610"/>
          </a:xfrm>
          <a:prstGeom prst="rect">
            <a:avLst/>
          </a:prstGeom>
        </p:spPr>
        <p:txBody>
          <a:bodyPr anchor="t" rtlCol="false" tIns="0" lIns="0" bIns="0" rIns="0">
            <a:spAutoFit/>
          </a:bodyPr>
          <a:lstStyle/>
          <a:p>
            <a:pPr algn="l">
              <a:lnSpc>
                <a:spcPts val="2250"/>
              </a:lnSpc>
            </a:pPr>
            <a:r>
              <a:rPr lang="en-US" sz="1875">
                <a:solidFill>
                  <a:srgbClr val="3F4B57"/>
                </a:solidFill>
                <a:latin typeface="IBM Plex Sans"/>
                <a:ea typeface="IBM Plex Sans"/>
                <a:cs typeface="IBM Plex Sans"/>
                <a:sym typeface="IBM Plex Sans"/>
              </a:rPr>
              <a:t>The app shows the likely disease, a risk level, and the nearest clinic that handles it, with a GPS map.</a:t>
            </a:r>
          </a:p>
        </p:txBody>
      </p:sp>
      <p:sp>
        <p:nvSpPr>
          <p:cNvPr name="TextBox 27" id="27"/>
          <p:cNvSpPr txBox="true"/>
          <p:nvPr/>
        </p:nvSpPr>
        <p:spPr>
          <a:xfrm rot="0">
            <a:off x="13043916" y="4850130"/>
            <a:ext cx="342900" cy="704850"/>
          </a:xfrm>
          <a:prstGeom prst="rect">
            <a:avLst/>
          </a:prstGeom>
        </p:spPr>
        <p:txBody>
          <a:bodyPr anchor="t" rtlCol="false" tIns="0" lIns="0" bIns="0" rIns="0">
            <a:spAutoFit/>
          </a:bodyPr>
          <a:lstStyle/>
          <a:p>
            <a:pPr algn="ctr">
              <a:lnSpc>
                <a:spcPts val="4320"/>
              </a:lnSpc>
            </a:pPr>
            <a:r>
              <a:rPr lang="en-US" sz="3600">
                <a:solidFill>
                  <a:srgbClr val="0B6E60"/>
                </a:solidFill>
                <a:latin typeface="IBM Plex Sans"/>
                <a:ea typeface="IBM Plex Sans"/>
                <a:cs typeface="IBM Plex Sans"/>
                <a:sym typeface="IBM Plex Sans"/>
              </a:rPr>
              <a:t>›</a:t>
            </a:r>
          </a:p>
        </p:txBody>
      </p:sp>
      <p:sp>
        <p:nvSpPr>
          <p:cNvPr name="Freeform 28" id="28"/>
          <p:cNvSpPr/>
          <p:nvPr/>
        </p:nvSpPr>
        <p:spPr>
          <a:xfrm flipH="false" flipV="false" rot="0">
            <a:off x="13346878" y="3210754"/>
            <a:ext cx="3728323" cy="4071223"/>
          </a:xfrm>
          <a:custGeom>
            <a:avLst/>
            <a:gdLst/>
            <a:ahLst/>
            <a:cxnLst/>
            <a:rect r="r" b="b" t="t" l="l"/>
            <a:pathLst>
              <a:path h="4071223" w="3728323">
                <a:moveTo>
                  <a:pt x="0" y="0"/>
                </a:moveTo>
                <a:lnTo>
                  <a:pt x="3728323" y="0"/>
                </a:lnTo>
                <a:lnTo>
                  <a:pt x="3728323" y="4071223"/>
                </a:lnTo>
                <a:lnTo>
                  <a:pt x="0" y="40712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9" id="29"/>
          <p:cNvSpPr/>
          <p:nvPr/>
        </p:nvSpPr>
        <p:spPr>
          <a:xfrm flipH="false" flipV="false" rot="0">
            <a:off x="13685615" y="3590639"/>
            <a:ext cx="856297" cy="856298"/>
          </a:xfrm>
          <a:custGeom>
            <a:avLst/>
            <a:gdLst/>
            <a:ahLst/>
            <a:cxnLst/>
            <a:rect r="r" b="b" t="t" l="l"/>
            <a:pathLst>
              <a:path h="856298" w="856297">
                <a:moveTo>
                  <a:pt x="0" y="0"/>
                </a:moveTo>
                <a:lnTo>
                  <a:pt x="856298" y="0"/>
                </a:lnTo>
                <a:lnTo>
                  <a:pt x="856298" y="856298"/>
                </a:lnTo>
                <a:lnTo>
                  <a:pt x="0" y="8562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0" id="30"/>
          <p:cNvGrpSpPr/>
          <p:nvPr/>
        </p:nvGrpSpPr>
        <p:grpSpPr>
          <a:xfrm rot="0">
            <a:off x="13908024" y="3813048"/>
            <a:ext cx="411480" cy="411480"/>
            <a:chOff x="0" y="0"/>
            <a:chExt cx="548640" cy="548640"/>
          </a:xfrm>
        </p:grpSpPr>
        <p:sp>
          <p:nvSpPr>
            <p:cNvPr name="Freeform 31" id="31"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10"/>
              <a:stretch>
                <a:fillRect l="0" t="0" r="0" b="0"/>
              </a:stretch>
            </a:blipFill>
          </p:spPr>
        </p:sp>
      </p:grpSp>
      <p:sp>
        <p:nvSpPr>
          <p:cNvPr name="TextBox 32" id="32"/>
          <p:cNvSpPr txBox="true"/>
          <p:nvPr/>
        </p:nvSpPr>
        <p:spPr>
          <a:xfrm rot="0">
            <a:off x="16034004" y="3588258"/>
            <a:ext cx="685800" cy="842010"/>
          </a:xfrm>
          <a:prstGeom prst="rect">
            <a:avLst/>
          </a:prstGeom>
        </p:spPr>
        <p:txBody>
          <a:bodyPr anchor="t" rtlCol="false" tIns="0" lIns="0" bIns="0" rIns="0">
            <a:spAutoFit/>
          </a:bodyPr>
          <a:lstStyle/>
          <a:p>
            <a:pPr algn="r">
              <a:lnSpc>
                <a:spcPts val="4320"/>
              </a:lnSpc>
            </a:pPr>
            <a:r>
              <a:rPr lang="en-US" sz="3600" b="true">
                <a:solidFill>
                  <a:srgbClr val="D3DCD9"/>
                </a:solidFill>
                <a:latin typeface="IBM Plex Sans Bold"/>
                <a:ea typeface="IBM Plex Sans Bold"/>
                <a:cs typeface="IBM Plex Sans Bold"/>
                <a:sym typeface="IBM Plex Sans Bold"/>
              </a:rPr>
              <a:t>4</a:t>
            </a:r>
          </a:p>
        </p:txBody>
      </p:sp>
      <p:sp>
        <p:nvSpPr>
          <p:cNvPr name="TextBox 33" id="33"/>
          <p:cNvSpPr txBox="true"/>
          <p:nvPr/>
        </p:nvSpPr>
        <p:spPr>
          <a:xfrm rot="0">
            <a:off x="13702284" y="4663440"/>
            <a:ext cx="3017520" cy="548640"/>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Vaccine sync</a:t>
            </a:r>
          </a:p>
        </p:txBody>
      </p:sp>
      <p:sp>
        <p:nvSpPr>
          <p:cNvPr name="TextBox 34" id="34"/>
          <p:cNvSpPr txBox="true"/>
          <p:nvPr/>
        </p:nvSpPr>
        <p:spPr>
          <a:xfrm rot="0">
            <a:off x="13702284" y="5299710"/>
            <a:ext cx="3017520" cy="1832610"/>
          </a:xfrm>
          <a:prstGeom prst="rect">
            <a:avLst/>
          </a:prstGeom>
        </p:spPr>
        <p:txBody>
          <a:bodyPr anchor="t" rtlCol="false" tIns="0" lIns="0" bIns="0" rIns="0">
            <a:spAutoFit/>
          </a:bodyPr>
          <a:lstStyle/>
          <a:p>
            <a:pPr algn="l">
              <a:lnSpc>
                <a:spcPts val="2250"/>
              </a:lnSpc>
            </a:pPr>
            <a:r>
              <a:rPr lang="en-US" sz="1875">
                <a:solidFill>
                  <a:srgbClr val="3F4B57"/>
                </a:solidFill>
                <a:latin typeface="IBM Plex Sans"/>
                <a:ea typeface="IBM Plex Sans"/>
                <a:cs typeface="IBM Plex Sans"/>
                <a:sym typeface="IBM Plex Sans"/>
              </a:rPr>
              <a:t>Automated reminders for MR/MMR and other due vaccines, localised to the family's union council.</a:t>
            </a:r>
          </a:p>
        </p:txBody>
      </p:sp>
      <p:sp>
        <p:nvSpPr>
          <p:cNvPr name="Freeform 35" id="35"/>
          <p:cNvSpPr/>
          <p:nvPr/>
        </p:nvSpPr>
        <p:spPr>
          <a:xfrm flipH="false" flipV="false" rot="0">
            <a:off x="1208218" y="7668454"/>
            <a:ext cx="15866983" cy="1012555"/>
          </a:xfrm>
          <a:custGeom>
            <a:avLst/>
            <a:gdLst/>
            <a:ahLst/>
            <a:cxnLst/>
            <a:rect r="r" b="b" t="t" l="l"/>
            <a:pathLst>
              <a:path h="1012555" w="15866983">
                <a:moveTo>
                  <a:pt x="0" y="0"/>
                </a:moveTo>
                <a:lnTo>
                  <a:pt x="15866983" y="0"/>
                </a:lnTo>
                <a:lnTo>
                  <a:pt x="15866983" y="1012555"/>
                </a:lnTo>
                <a:lnTo>
                  <a:pt x="0" y="101255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6" id="36"/>
          <p:cNvGrpSpPr/>
          <p:nvPr/>
        </p:nvGrpSpPr>
        <p:grpSpPr>
          <a:xfrm rot="0">
            <a:off x="1632204" y="7680960"/>
            <a:ext cx="15032736" cy="987552"/>
            <a:chOff x="0" y="0"/>
            <a:chExt cx="20043648" cy="1316736"/>
          </a:xfrm>
        </p:grpSpPr>
        <p:sp>
          <p:nvSpPr>
            <p:cNvPr name="Freeform 37" id="37"/>
            <p:cNvSpPr/>
            <p:nvPr/>
          </p:nvSpPr>
          <p:spPr>
            <a:xfrm flipH="false" flipV="false" rot="0">
              <a:off x="0" y="0"/>
              <a:ext cx="20043648" cy="1316736"/>
            </a:xfrm>
            <a:custGeom>
              <a:avLst/>
              <a:gdLst/>
              <a:ahLst/>
              <a:cxnLst/>
              <a:rect r="r" b="b" t="t" l="l"/>
              <a:pathLst>
                <a:path h="1316736" w="20043648">
                  <a:moveTo>
                    <a:pt x="0" y="0"/>
                  </a:moveTo>
                  <a:lnTo>
                    <a:pt x="20043648" y="0"/>
                  </a:lnTo>
                  <a:lnTo>
                    <a:pt x="20043648" y="1316736"/>
                  </a:lnTo>
                  <a:lnTo>
                    <a:pt x="0" y="1316736"/>
                  </a:lnTo>
                  <a:close/>
                </a:path>
              </a:pathLst>
            </a:custGeom>
            <a:blipFill>
              <a:blip r:embed="rId13">
                <a:alphaModFix amt="0"/>
              </a:blip>
              <a:stretch>
                <a:fillRect l="0" t="-246399" r="0" b="-246399"/>
              </a:stretch>
            </a:blipFill>
          </p:spPr>
        </p:sp>
      </p:grpSp>
      <p:grpSp>
        <p:nvGrpSpPr>
          <p:cNvPr name="Group 38" id="38"/>
          <p:cNvGrpSpPr/>
          <p:nvPr/>
        </p:nvGrpSpPr>
        <p:grpSpPr>
          <a:xfrm rot="0">
            <a:off x="1632204" y="7680960"/>
            <a:ext cx="15032736" cy="987552"/>
            <a:chOff x="0" y="0"/>
            <a:chExt cx="20043648" cy="1316736"/>
          </a:xfrm>
        </p:grpSpPr>
        <p:sp>
          <p:nvSpPr>
            <p:cNvPr name="Freeform 39" id="39"/>
            <p:cNvSpPr/>
            <p:nvPr/>
          </p:nvSpPr>
          <p:spPr>
            <a:xfrm flipH="false" flipV="false" rot="0">
              <a:off x="0" y="0"/>
              <a:ext cx="20043648" cy="1316736"/>
            </a:xfrm>
            <a:custGeom>
              <a:avLst/>
              <a:gdLst/>
              <a:ahLst/>
              <a:cxnLst/>
              <a:rect r="r" b="b" t="t" l="l"/>
              <a:pathLst>
                <a:path h="1316736" w="20043648">
                  <a:moveTo>
                    <a:pt x="0" y="0"/>
                  </a:moveTo>
                  <a:lnTo>
                    <a:pt x="20043648" y="0"/>
                  </a:lnTo>
                  <a:lnTo>
                    <a:pt x="20043648" y="1316736"/>
                  </a:lnTo>
                  <a:lnTo>
                    <a:pt x="0" y="1316736"/>
                  </a:lnTo>
                  <a:close/>
                </a:path>
              </a:pathLst>
            </a:custGeom>
            <a:blipFill>
              <a:blip r:embed="rId14">
                <a:alphaModFix amt="0"/>
              </a:blip>
              <a:stretch>
                <a:fillRect l="0" t="-246605" r="0" b="-246605"/>
              </a:stretch>
            </a:blipFill>
          </p:spPr>
        </p:sp>
        <p:sp>
          <p:nvSpPr>
            <p:cNvPr name="TextBox 40" id="40"/>
            <p:cNvSpPr txBox="true"/>
            <p:nvPr/>
          </p:nvSpPr>
          <p:spPr>
            <a:xfrm>
              <a:off x="0" y="0"/>
              <a:ext cx="20043648" cy="1316736"/>
            </a:xfrm>
            <a:prstGeom prst="rect">
              <a:avLst/>
            </a:prstGeom>
          </p:spPr>
          <p:txBody>
            <a:bodyPr anchor="ctr" rtlCol="false" tIns="0" lIns="0" bIns="0" rIns="0"/>
            <a:lstStyle/>
            <a:p>
              <a:pPr algn="l">
                <a:lnSpc>
                  <a:spcPts val="2340"/>
                </a:lnSpc>
              </a:pPr>
              <a:r>
                <a:rPr lang="en-US" sz="1950" b="true">
                  <a:solidFill>
                    <a:srgbClr val="7FD1C0"/>
                  </a:solidFill>
                  <a:latin typeface="IBM Plex Sans Bold"/>
                  <a:ea typeface="IBM Plex Sans Bold"/>
                  <a:cs typeface="IBM Plex Sans Bold"/>
                  <a:sym typeface="IBM Plex Sans Bold"/>
                </a:rPr>
                <a:t>KEY PRINCIPLE    </a:t>
              </a:r>
              <a:r>
                <a:rPr lang="en-US" sz="1950">
                  <a:solidFill>
                    <a:srgbClr val="F7F6F2"/>
                  </a:solidFill>
                  <a:latin typeface="IBM Plex Sans"/>
                  <a:ea typeface="IBM Plex Sans"/>
                  <a:cs typeface="IBM Plex Sans"/>
                  <a:sym typeface="IBM Plex Sans"/>
                </a:rPr>
                <a:t>The app does not replace a doctor. It recognises warning patterns early and sends the person to the right physician faster.</a:t>
              </a:r>
            </a:p>
          </p:txBody>
        </p:sp>
      </p:grpSp>
      <p:sp>
        <p:nvSpPr>
          <p:cNvPr name="TextBox 41" id="41"/>
          <p:cNvSpPr txBox="true"/>
          <p:nvPr/>
        </p:nvSpPr>
        <p:spPr>
          <a:xfrm rot="0">
            <a:off x="1220724" y="9354312"/>
            <a:ext cx="11658600" cy="356616"/>
          </a:xfrm>
          <a:prstGeom prst="rect">
            <a:avLst/>
          </a:prstGeom>
        </p:spPr>
        <p:txBody>
          <a:bodyPr anchor="t" rtlCol="false" tIns="0" lIns="0" bIns="0" rIns="0">
            <a:spAutoFit/>
          </a:bodyPr>
          <a:lstStyle/>
          <a:p>
            <a:pPr algn="l">
              <a:lnSpc>
                <a:spcPts val="2160"/>
              </a:lnSpc>
            </a:pPr>
            <a:r>
              <a:rPr lang="en-US" sz="1800">
                <a:solidFill>
                  <a:srgbClr val="5B6770"/>
                </a:solidFill>
                <a:latin typeface="IBM Plex Sans"/>
                <a:ea typeface="IBM Plex Sans"/>
                <a:cs typeface="IBM Plex Sans"/>
                <a:sym typeface="IBM Plex Sans"/>
              </a:rPr>
              <a:t>Community Health Triage &amp; Digital Disease Referral · Chakwal, Pakistan</a:t>
            </a:r>
          </a:p>
        </p:txBody>
      </p:sp>
      <p:sp>
        <p:nvSpPr>
          <p:cNvPr name="TextBox 42" id="42"/>
          <p:cNvSpPr txBox="true"/>
          <p:nvPr/>
        </p:nvSpPr>
        <p:spPr>
          <a:xfrm rot="0">
            <a:off x="15691104" y="9354312"/>
            <a:ext cx="1371600" cy="356616"/>
          </a:xfrm>
          <a:prstGeom prst="rect">
            <a:avLst/>
          </a:prstGeom>
        </p:spPr>
        <p:txBody>
          <a:bodyPr anchor="t" rtlCol="false" tIns="0" lIns="0" bIns="0" rIns="0">
            <a:spAutoFit/>
          </a:bodyPr>
          <a:lstStyle/>
          <a:p>
            <a:pPr algn="r">
              <a:lnSpc>
                <a:spcPts val="2160"/>
              </a:lnSpc>
            </a:pPr>
            <a:r>
              <a:rPr lang="en-US" sz="1800">
                <a:solidFill>
                  <a:srgbClr val="5B6770"/>
                </a:solidFill>
                <a:latin typeface="IBM Plex Sans"/>
                <a:ea typeface="IBM Plex Sans"/>
                <a:cs typeface="IBM Plex Sans"/>
                <a:sym typeface="IBM Plex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20724" y="1220724"/>
            <a:ext cx="15841980" cy="356616"/>
          </a:xfrm>
          <a:prstGeom prst="rect">
            <a:avLst/>
          </a:prstGeom>
        </p:spPr>
        <p:txBody>
          <a:bodyPr anchor="t" rtlCol="false" tIns="0" lIns="0" bIns="0" rIns="0">
            <a:spAutoFit/>
          </a:bodyPr>
          <a:lstStyle/>
          <a:p>
            <a:pPr algn="l">
              <a:lnSpc>
                <a:spcPts val="2160"/>
              </a:lnSpc>
            </a:pPr>
            <a:r>
              <a:rPr lang="en-US" b="true" sz="1800" spc="225">
                <a:solidFill>
                  <a:srgbClr val="0B6E60"/>
                </a:solidFill>
                <a:latin typeface="IBM Plex Sans Bold"/>
                <a:ea typeface="IBM Plex Sans Bold"/>
                <a:cs typeface="IBM Plex Sans Bold"/>
                <a:sym typeface="IBM Plex Sans Bold"/>
              </a:rPr>
              <a:t>05 · THE APP</a:t>
            </a:r>
          </a:p>
        </p:txBody>
      </p:sp>
      <p:sp>
        <p:nvSpPr>
          <p:cNvPr name="TextBox 3" id="3"/>
          <p:cNvSpPr txBox="true"/>
          <p:nvPr/>
        </p:nvSpPr>
        <p:spPr>
          <a:xfrm rot="0">
            <a:off x="1220724" y="1678686"/>
            <a:ext cx="15841980" cy="721614"/>
          </a:xfrm>
          <a:prstGeom prst="rect">
            <a:avLst/>
          </a:prstGeom>
        </p:spPr>
        <p:txBody>
          <a:bodyPr anchor="t" rtlCol="false" tIns="0" lIns="0" bIns="0" rIns="0">
            <a:spAutoFit/>
          </a:bodyPr>
          <a:lstStyle/>
          <a:p>
            <a:pPr algn="l">
              <a:lnSpc>
                <a:spcPts val="5758"/>
              </a:lnSpc>
            </a:pPr>
            <a:r>
              <a:rPr lang="en-US" sz="4800" b="true">
                <a:solidFill>
                  <a:srgbClr val="14304A"/>
                </a:solidFill>
                <a:latin typeface="IBM Plex Sans Bold"/>
                <a:ea typeface="IBM Plex Sans Bold"/>
                <a:cs typeface="IBM Plex Sans Bold"/>
                <a:sym typeface="IBM Plex Sans Bold"/>
              </a:rPr>
              <a:t>Chakwal Health Connect: the app</a:t>
            </a:r>
          </a:p>
        </p:txBody>
      </p:sp>
      <p:sp>
        <p:nvSpPr>
          <p:cNvPr name="Freeform 4" id="4"/>
          <p:cNvSpPr/>
          <p:nvPr/>
        </p:nvSpPr>
        <p:spPr>
          <a:xfrm flipH="false" flipV="false" rot="0">
            <a:off x="1204055" y="2863691"/>
            <a:ext cx="7165657" cy="5862638"/>
          </a:xfrm>
          <a:custGeom>
            <a:avLst/>
            <a:gdLst/>
            <a:ahLst/>
            <a:cxnLst/>
            <a:rect r="r" b="b" t="t" l="l"/>
            <a:pathLst>
              <a:path h="5862638" w="7165657">
                <a:moveTo>
                  <a:pt x="0" y="0"/>
                </a:moveTo>
                <a:lnTo>
                  <a:pt x="7165658" y="0"/>
                </a:lnTo>
                <a:lnTo>
                  <a:pt x="7165658" y="5862638"/>
                </a:lnTo>
                <a:lnTo>
                  <a:pt x="0" y="58626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632204" y="3291840"/>
            <a:ext cx="4389120" cy="356616"/>
          </a:xfrm>
          <a:prstGeom prst="rect">
            <a:avLst/>
          </a:prstGeom>
        </p:spPr>
        <p:txBody>
          <a:bodyPr anchor="t" rtlCol="false" tIns="0" lIns="0" bIns="0" rIns="0">
            <a:spAutoFit/>
          </a:bodyPr>
          <a:lstStyle/>
          <a:p>
            <a:pPr algn="l">
              <a:lnSpc>
                <a:spcPts val="1980"/>
              </a:lnSpc>
            </a:pPr>
            <a:r>
              <a:rPr lang="en-US" b="true" sz="1650" spc="225">
                <a:solidFill>
                  <a:srgbClr val="7FD1C0"/>
                </a:solidFill>
                <a:latin typeface="IBM Plex Sans Bold"/>
                <a:ea typeface="IBM Plex Sans Bold"/>
                <a:cs typeface="IBM Plex Sans Bold"/>
                <a:sym typeface="IBM Plex Sans Bold"/>
              </a:rPr>
              <a:t>CHAKWAL HEALTH CONNECT</a:t>
            </a:r>
          </a:p>
        </p:txBody>
      </p:sp>
      <p:sp>
        <p:nvSpPr>
          <p:cNvPr name="Freeform 6" id="6"/>
          <p:cNvSpPr/>
          <p:nvPr/>
        </p:nvSpPr>
        <p:spPr>
          <a:xfrm flipH="false" flipV="false" rot="0">
            <a:off x="6621875" y="3165443"/>
            <a:ext cx="1336358" cy="527114"/>
          </a:xfrm>
          <a:custGeom>
            <a:avLst/>
            <a:gdLst/>
            <a:ahLst/>
            <a:cxnLst/>
            <a:rect r="r" b="b" t="t" l="l"/>
            <a:pathLst>
              <a:path h="527114" w="1336358">
                <a:moveTo>
                  <a:pt x="0" y="0"/>
                </a:moveTo>
                <a:lnTo>
                  <a:pt x="1336358" y="0"/>
                </a:lnTo>
                <a:lnTo>
                  <a:pt x="1336358" y="527114"/>
                </a:lnTo>
                <a:lnTo>
                  <a:pt x="0" y="5271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6638544" y="3182112"/>
            <a:ext cx="1303020" cy="493776"/>
            <a:chOff x="0" y="0"/>
            <a:chExt cx="1737360" cy="658368"/>
          </a:xfrm>
        </p:grpSpPr>
        <p:sp>
          <p:nvSpPr>
            <p:cNvPr name="Freeform 8" id="8"/>
            <p:cNvSpPr/>
            <p:nvPr/>
          </p:nvSpPr>
          <p:spPr>
            <a:xfrm flipH="false" flipV="false" rot="0">
              <a:off x="0" y="0"/>
              <a:ext cx="1737360" cy="658368"/>
            </a:xfrm>
            <a:custGeom>
              <a:avLst/>
              <a:gdLst/>
              <a:ahLst/>
              <a:cxnLst/>
              <a:rect r="r" b="b" t="t" l="l"/>
              <a:pathLst>
                <a:path h="658368" w="1737360">
                  <a:moveTo>
                    <a:pt x="0" y="0"/>
                  </a:moveTo>
                  <a:lnTo>
                    <a:pt x="1737360" y="0"/>
                  </a:lnTo>
                  <a:lnTo>
                    <a:pt x="1737360" y="658368"/>
                  </a:lnTo>
                  <a:lnTo>
                    <a:pt x="0" y="658368"/>
                  </a:lnTo>
                  <a:close/>
                </a:path>
              </a:pathLst>
            </a:custGeom>
            <a:blipFill>
              <a:blip r:embed="rId7">
                <a:alphaModFix amt="0"/>
              </a:blip>
              <a:stretch>
                <a:fillRect l="0" t="-1383" r="0" b="-1383"/>
              </a:stretch>
            </a:blipFill>
          </p:spPr>
        </p:sp>
      </p:grpSp>
      <p:grpSp>
        <p:nvGrpSpPr>
          <p:cNvPr name="Group 9" id="9"/>
          <p:cNvGrpSpPr/>
          <p:nvPr/>
        </p:nvGrpSpPr>
        <p:grpSpPr>
          <a:xfrm rot="0">
            <a:off x="6638544" y="3182112"/>
            <a:ext cx="1303020" cy="493776"/>
            <a:chOff x="0" y="0"/>
            <a:chExt cx="1737360" cy="658368"/>
          </a:xfrm>
        </p:grpSpPr>
        <p:sp>
          <p:nvSpPr>
            <p:cNvPr name="Freeform 10" id="10"/>
            <p:cNvSpPr/>
            <p:nvPr/>
          </p:nvSpPr>
          <p:spPr>
            <a:xfrm flipH="false" flipV="false" rot="0">
              <a:off x="0" y="0"/>
              <a:ext cx="1737360" cy="658368"/>
            </a:xfrm>
            <a:custGeom>
              <a:avLst/>
              <a:gdLst/>
              <a:ahLst/>
              <a:cxnLst/>
              <a:rect r="r" b="b" t="t" l="l"/>
              <a:pathLst>
                <a:path h="658368" w="1737360">
                  <a:moveTo>
                    <a:pt x="0" y="0"/>
                  </a:moveTo>
                  <a:lnTo>
                    <a:pt x="1737360" y="0"/>
                  </a:lnTo>
                  <a:lnTo>
                    <a:pt x="1737360" y="658368"/>
                  </a:lnTo>
                  <a:lnTo>
                    <a:pt x="0" y="658368"/>
                  </a:lnTo>
                  <a:close/>
                </a:path>
              </a:pathLst>
            </a:custGeom>
            <a:blipFill>
              <a:blip r:embed="rId8">
                <a:alphaModFix amt="0"/>
              </a:blip>
              <a:stretch>
                <a:fillRect l="0" t="-1418" r="0" b="-1418"/>
              </a:stretch>
            </a:blipFill>
          </p:spPr>
        </p:sp>
        <p:sp>
          <p:nvSpPr>
            <p:cNvPr name="TextBox 11" id="11"/>
            <p:cNvSpPr txBox="true"/>
            <p:nvPr/>
          </p:nvSpPr>
          <p:spPr>
            <a:xfrm>
              <a:off x="0" y="0"/>
              <a:ext cx="1737360" cy="658368"/>
            </a:xfrm>
            <a:prstGeom prst="rect">
              <a:avLst/>
            </a:prstGeom>
          </p:spPr>
          <p:txBody>
            <a:bodyPr anchor="ctr" rtlCol="false" tIns="0" lIns="0" bIns="0" rIns="0"/>
            <a:lstStyle/>
            <a:p>
              <a:pPr algn="ctr">
                <a:lnSpc>
                  <a:spcPts val="1800"/>
                </a:lnSpc>
              </a:pPr>
              <a:r>
                <a:rPr lang="en-US" sz="1500">
                  <a:solidFill>
                    <a:srgbClr val="F7F6F2"/>
                  </a:solidFill>
                  <a:latin typeface="IBM Plex Sans"/>
                  <a:ea typeface="IBM Plex Sans"/>
                  <a:cs typeface="IBM Plex Sans"/>
                  <a:sym typeface="IBM Plex Sans"/>
                </a:rPr>
                <a:t>EN | </a:t>
              </a:r>
              <a:r>
                <a:rPr lang="ar-EG" sz="1500">
                  <a:solidFill>
                    <a:srgbClr val="F7F6F2"/>
                  </a:solidFill>
                  <a:latin typeface="IBM Plex Sans"/>
                  <a:ea typeface="IBM Plex Sans"/>
                  <a:cs typeface="IBM Plex Sans"/>
                  <a:sym typeface="IBM Plex Sans"/>
                  <a:rtl val="true"/>
                </a:rPr>
                <a:t>اردو</a:t>
              </a:r>
            </a:p>
          </p:txBody>
        </p:sp>
      </p:grpSp>
      <p:sp>
        <p:nvSpPr>
          <p:cNvPr name="AutoShape 12" id="12"/>
          <p:cNvSpPr/>
          <p:nvPr/>
        </p:nvSpPr>
        <p:spPr>
          <a:xfrm rot="5160">
            <a:off x="1620288" y="3858387"/>
            <a:ext cx="6333201" cy="0"/>
          </a:xfrm>
          <a:prstGeom prst="line">
            <a:avLst/>
          </a:prstGeom>
          <a:ln cap="rnd" w="9525">
            <a:solidFill>
              <a:srgbClr val="2C4A66"/>
            </a:solidFill>
            <a:prstDash val="solid"/>
            <a:headEnd type="none" len="sm" w="sm"/>
            <a:tailEnd type="none" len="sm" w="sm"/>
          </a:ln>
        </p:spPr>
      </p:sp>
      <p:sp>
        <p:nvSpPr>
          <p:cNvPr name="Freeform 13" id="13"/>
          <p:cNvSpPr/>
          <p:nvPr/>
        </p:nvSpPr>
        <p:spPr>
          <a:xfrm flipH="false" flipV="false" rot="0">
            <a:off x="1615535" y="4098131"/>
            <a:ext cx="6342697" cy="1404938"/>
          </a:xfrm>
          <a:custGeom>
            <a:avLst/>
            <a:gdLst/>
            <a:ahLst/>
            <a:cxnLst/>
            <a:rect r="r" b="b" t="t" l="l"/>
            <a:pathLst>
              <a:path h="1404938" w="6342697">
                <a:moveTo>
                  <a:pt x="0" y="0"/>
                </a:moveTo>
                <a:lnTo>
                  <a:pt x="6342698" y="0"/>
                </a:lnTo>
                <a:lnTo>
                  <a:pt x="6342698" y="1404938"/>
                </a:lnTo>
                <a:lnTo>
                  <a:pt x="0" y="140493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1906524" y="4271010"/>
            <a:ext cx="5760720" cy="364998"/>
          </a:xfrm>
          <a:prstGeom prst="rect">
            <a:avLst/>
          </a:prstGeom>
        </p:spPr>
        <p:txBody>
          <a:bodyPr anchor="t" rtlCol="false" tIns="0" lIns="0" bIns="0" rIns="0">
            <a:spAutoFit/>
          </a:bodyPr>
          <a:lstStyle/>
          <a:p>
            <a:pPr algn="l">
              <a:lnSpc>
                <a:spcPts val="1889"/>
              </a:lnSpc>
            </a:pPr>
            <a:r>
              <a:rPr lang="en-US" sz="1575">
                <a:solidFill>
                  <a:srgbClr val="A9C3C8"/>
                </a:solidFill>
                <a:latin typeface="IBM Plex Sans"/>
                <a:ea typeface="IBM Plex Sans"/>
                <a:cs typeface="IBM Plex Sans"/>
                <a:sym typeface="IBM Plex Sans"/>
              </a:rPr>
              <a:t>Symptom evaluation / </a:t>
            </a:r>
            <a:r>
              <a:rPr lang="ar-EG" sz="1575">
                <a:solidFill>
                  <a:srgbClr val="A9C3C8"/>
                </a:solidFill>
                <a:latin typeface="IBM Plex Sans"/>
                <a:ea typeface="IBM Plex Sans"/>
                <a:cs typeface="IBM Plex Sans"/>
                <a:sym typeface="IBM Plex Sans"/>
                <a:rtl val="true"/>
              </a:rPr>
              <a:t>علامات کی جانچ</a:t>
            </a:r>
          </a:p>
        </p:txBody>
      </p:sp>
      <p:sp>
        <p:nvSpPr>
          <p:cNvPr name="TextBox 15" id="15"/>
          <p:cNvSpPr txBox="true"/>
          <p:nvPr/>
        </p:nvSpPr>
        <p:spPr>
          <a:xfrm rot="0">
            <a:off x="1906524" y="4690872"/>
            <a:ext cx="5760720" cy="617220"/>
          </a:xfrm>
          <a:prstGeom prst="rect">
            <a:avLst/>
          </a:prstGeom>
        </p:spPr>
        <p:txBody>
          <a:bodyPr anchor="t" rtlCol="false" tIns="0" lIns="0" bIns="0" rIns="0">
            <a:spAutoFit/>
          </a:bodyPr>
          <a:lstStyle/>
          <a:p>
            <a:pPr algn="l">
              <a:lnSpc>
                <a:spcPts val="2700"/>
              </a:lnSpc>
            </a:pPr>
            <a:r>
              <a:rPr lang="en-US" sz="2250" b="true">
                <a:solidFill>
                  <a:srgbClr val="FFFFFF"/>
                </a:solidFill>
                <a:latin typeface="IBM Plex Sans Bold"/>
                <a:ea typeface="IBM Plex Sans Bold"/>
                <a:cs typeface="IBM Plex Sans Bold"/>
                <a:sym typeface="IBM Plex Sans Bold"/>
              </a:rPr>
              <a:t>High fever &amp; skin rash / </a:t>
            </a:r>
            <a:r>
              <a:rPr lang="ar-EG" sz="2250" b="true">
                <a:solidFill>
                  <a:srgbClr val="FFFFFF"/>
                </a:solidFill>
                <a:latin typeface="IBM Plex Sans Bold"/>
                <a:ea typeface="IBM Plex Sans Bold"/>
                <a:cs typeface="IBM Plex Sans Bold"/>
                <a:sym typeface="IBM Plex Sans Bold"/>
                <a:rtl val="true"/>
              </a:rPr>
              <a:t>تیز بخار اور خارش</a:t>
            </a:r>
          </a:p>
        </p:txBody>
      </p:sp>
      <p:sp>
        <p:nvSpPr>
          <p:cNvPr name="Freeform 16" id="16"/>
          <p:cNvSpPr/>
          <p:nvPr/>
        </p:nvSpPr>
        <p:spPr>
          <a:xfrm flipH="false" flipV="false" rot="0">
            <a:off x="1615535" y="5675471"/>
            <a:ext cx="6342697" cy="1404938"/>
          </a:xfrm>
          <a:custGeom>
            <a:avLst/>
            <a:gdLst/>
            <a:ahLst/>
            <a:cxnLst/>
            <a:rect r="r" b="b" t="t" l="l"/>
            <a:pathLst>
              <a:path h="1404938" w="6342697">
                <a:moveTo>
                  <a:pt x="0" y="0"/>
                </a:moveTo>
                <a:lnTo>
                  <a:pt x="6342698" y="0"/>
                </a:lnTo>
                <a:lnTo>
                  <a:pt x="6342698" y="1404938"/>
                </a:lnTo>
                <a:lnTo>
                  <a:pt x="0" y="140493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7" id="17"/>
          <p:cNvSpPr txBox="true"/>
          <p:nvPr/>
        </p:nvSpPr>
        <p:spPr>
          <a:xfrm rot="0">
            <a:off x="1906524" y="5848350"/>
            <a:ext cx="5760720" cy="364998"/>
          </a:xfrm>
          <a:prstGeom prst="rect">
            <a:avLst/>
          </a:prstGeom>
        </p:spPr>
        <p:txBody>
          <a:bodyPr anchor="t" rtlCol="false" tIns="0" lIns="0" bIns="0" rIns="0">
            <a:spAutoFit/>
          </a:bodyPr>
          <a:lstStyle/>
          <a:p>
            <a:pPr algn="l">
              <a:lnSpc>
                <a:spcPts val="1889"/>
              </a:lnSpc>
            </a:pPr>
            <a:r>
              <a:rPr lang="en-US" sz="1575">
                <a:solidFill>
                  <a:srgbClr val="D8E6E3"/>
                </a:solidFill>
                <a:latin typeface="IBM Plex Sans"/>
                <a:ea typeface="IBM Plex Sans"/>
                <a:cs typeface="IBM Plex Sans"/>
                <a:sym typeface="IBM Plex Sans"/>
              </a:rPr>
              <a:t>Status / </a:t>
            </a:r>
            <a:r>
              <a:rPr lang="ar-EG" sz="1575">
                <a:solidFill>
                  <a:srgbClr val="D8E6E3"/>
                </a:solidFill>
                <a:latin typeface="IBM Plex Sans"/>
                <a:ea typeface="IBM Plex Sans"/>
                <a:cs typeface="IBM Plex Sans"/>
                <a:sym typeface="IBM Plex Sans"/>
                <a:rtl val="true"/>
              </a:rPr>
              <a:t>صورتحال</a:t>
            </a:r>
          </a:p>
        </p:txBody>
      </p:sp>
      <p:sp>
        <p:nvSpPr>
          <p:cNvPr name="TextBox 18" id="18"/>
          <p:cNvSpPr txBox="true"/>
          <p:nvPr/>
        </p:nvSpPr>
        <p:spPr>
          <a:xfrm rot="0">
            <a:off x="1906524" y="6249162"/>
            <a:ext cx="4937760" cy="704850"/>
          </a:xfrm>
          <a:prstGeom prst="rect">
            <a:avLst/>
          </a:prstGeom>
        </p:spPr>
        <p:txBody>
          <a:bodyPr anchor="t" rtlCol="false" tIns="0" lIns="0" bIns="0" rIns="0">
            <a:spAutoFit/>
          </a:bodyPr>
          <a:lstStyle/>
          <a:p>
            <a:pPr algn="l">
              <a:lnSpc>
                <a:spcPts val="2430"/>
              </a:lnSpc>
            </a:pPr>
            <a:r>
              <a:rPr lang="en-US" sz="2025" b="true">
                <a:solidFill>
                  <a:srgbClr val="FFFFFF"/>
                </a:solidFill>
                <a:latin typeface="IBM Plex Sans Bold"/>
                <a:ea typeface="IBM Plex Sans Bold"/>
                <a:cs typeface="IBM Plex Sans Bold"/>
                <a:sym typeface="IBM Plex Sans Bold"/>
              </a:rPr>
              <a:t>Possible measles · Moderate risk · Referral advised</a:t>
            </a:r>
          </a:p>
        </p:txBody>
      </p:sp>
      <p:grpSp>
        <p:nvGrpSpPr>
          <p:cNvPr name="Group 19" id="19"/>
          <p:cNvGrpSpPr/>
          <p:nvPr/>
        </p:nvGrpSpPr>
        <p:grpSpPr>
          <a:xfrm rot="0">
            <a:off x="7187184" y="6144768"/>
            <a:ext cx="466344" cy="466344"/>
            <a:chOff x="0" y="0"/>
            <a:chExt cx="621792" cy="621792"/>
          </a:xfrm>
        </p:grpSpPr>
        <p:sp>
          <p:nvSpPr>
            <p:cNvPr name="Freeform 20" id="20" descr="preencoded.png"/>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13"/>
              <a:stretch>
                <a:fillRect l="0" t="0" r="0" b="0"/>
              </a:stretch>
            </a:blipFill>
          </p:spPr>
        </p:sp>
      </p:grpSp>
      <p:sp>
        <p:nvSpPr>
          <p:cNvPr name="Freeform 21" id="21"/>
          <p:cNvSpPr/>
          <p:nvPr/>
        </p:nvSpPr>
        <p:spPr>
          <a:xfrm flipH="false" flipV="false" rot="0">
            <a:off x="1619698" y="7256974"/>
            <a:ext cx="6334363" cy="1053703"/>
          </a:xfrm>
          <a:custGeom>
            <a:avLst/>
            <a:gdLst/>
            <a:ahLst/>
            <a:cxnLst/>
            <a:rect r="r" b="b" t="t" l="l"/>
            <a:pathLst>
              <a:path h="1053703" w="6334363">
                <a:moveTo>
                  <a:pt x="0" y="0"/>
                </a:moveTo>
                <a:lnTo>
                  <a:pt x="6334363" y="0"/>
                </a:lnTo>
                <a:lnTo>
                  <a:pt x="6334363" y="1053703"/>
                </a:lnTo>
                <a:lnTo>
                  <a:pt x="0" y="105370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22" id="22"/>
          <p:cNvGrpSpPr/>
          <p:nvPr/>
        </p:nvGrpSpPr>
        <p:grpSpPr>
          <a:xfrm rot="0">
            <a:off x="1906524" y="7269480"/>
            <a:ext cx="5760720" cy="1028700"/>
            <a:chOff x="0" y="0"/>
            <a:chExt cx="7680960" cy="1371600"/>
          </a:xfrm>
        </p:grpSpPr>
        <p:sp>
          <p:nvSpPr>
            <p:cNvPr name="Freeform 23" id="23"/>
            <p:cNvSpPr/>
            <p:nvPr/>
          </p:nvSpPr>
          <p:spPr>
            <a:xfrm flipH="false" flipV="false" rot="0">
              <a:off x="0" y="0"/>
              <a:ext cx="7680960" cy="1371600"/>
            </a:xfrm>
            <a:custGeom>
              <a:avLst/>
              <a:gdLst/>
              <a:ahLst/>
              <a:cxnLst/>
              <a:rect r="r" b="b" t="t" l="l"/>
              <a:pathLst>
                <a:path h="1371600" w="7680960">
                  <a:moveTo>
                    <a:pt x="0" y="0"/>
                  </a:moveTo>
                  <a:lnTo>
                    <a:pt x="7680960" y="0"/>
                  </a:lnTo>
                  <a:lnTo>
                    <a:pt x="7680960" y="1371600"/>
                  </a:lnTo>
                  <a:lnTo>
                    <a:pt x="0" y="1371600"/>
                  </a:lnTo>
                  <a:close/>
                </a:path>
              </a:pathLst>
            </a:custGeom>
            <a:blipFill>
              <a:blip r:embed="rId7">
                <a:alphaModFix amt="0"/>
              </a:blip>
              <a:stretch>
                <a:fillRect l="0" t="-59040" r="0" b="-59039"/>
              </a:stretch>
            </a:blipFill>
          </p:spPr>
        </p:sp>
      </p:grpSp>
      <p:grpSp>
        <p:nvGrpSpPr>
          <p:cNvPr name="Group 24" id="24"/>
          <p:cNvGrpSpPr/>
          <p:nvPr/>
        </p:nvGrpSpPr>
        <p:grpSpPr>
          <a:xfrm rot="0">
            <a:off x="1906524" y="7276624"/>
            <a:ext cx="5760720" cy="1021556"/>
            <a:chOff x="0" y="0"/>
            <a:chExt cx="7680960" cy="1362075"/>
          </a:xfrm>
        </p:grpSpPr>
        <p:sp>
          <p:nvSpPr>
            <p:cNvPr name="Freeform 25" id="25"/>
            <p:cNvSpPr/>
            <p:nvPr/>
          </p:nvSpPr>
          <p:spPr>
            <a:xfrm flipH="false" flipV="false" rot="0">
              <a:off x="0" y="0"/>
              <a:ext cx="7680960" cy="1362075"/>
            </a:xfrm>
            <a:custGeom>
              <a:avLst/>
              <a:gdLst/>
              <a:ahLst/>
              <a:cxnLst/>
              <a:rect r="r" b="b" t="t" l="l"/>
              <a:pathLst>
                <a:path h="1362075" w="7680960">
                  <a:moveTo>
                    <a:pt x="0" y="0"/>
                  </a:moveTo>
                  <a:lnTo>
                    <a:pt x="7680960" y="0"/>
                  </a:lnTo>
                  <a:lnTo>
                    <a:pt x="7680960" y="1362075"/>
                  </a:lnTo>
                  <a:lnTo>
                    <a:pt x="0" y="1362075"/>
                  </a:lnTo>
                  <a:close/>
                </a:path>
              </a:pathLst>
            </a:custGeom>
            <a:blipFill>
              <a:blip r:embed="rId8">
                <a:alphaModFix amt="0"/>
              </a:blip>
              <a:stretch>
                <a:fillRect l="0" t="-59879" r="0" b="-59879"/>
              </a:stretch>
            </a:blipFill>
          </p:spPr>
        </p:sp>
        <p:sp>
          <p:nvSpPr>
            <p:cNvPr name="TextBox 26" id="26"/>
            <p:cNvSpPr txBox="true"/>
            <p:nvPr/>
          </p:nvSpPr>
          <p:spPr>
            <a:xfrm>
              <a:off x="0" y="9525"/>
              <a:ext cx="7680960" cy="1352550"/>
            </a:xfrm>
            <a:prstGeom prst="rect">
              <a:avLst/>
            </a:prstGeom>
          </p:spPr>
          <p:txBody>
            <a:bodyPr anchor="ctr" rtlCol="false" tIns="0" lIns="0" bIns="0" rIns="0"/>
            <a:lstStyle/>
            <a:p>
              <a:pPr algn="ctr">
                <a:lnSpc>
                  <a:spcPts val="1889"/>
                </a:lnSpc>
              </a:pPr>
              <a:r>
                <a:rPr lang="en-US" sz="1575">
                  <a:solidFill>
                    <a:srgbClr val="A9C3C8"/>
                  </a:solidFill>
                  <a:latin typeface="IBM Plex Sans"/>
                  <a:ea typeface="IBM Plex Sans"/>
                  <a:cs typeface="IBM Plex Sans"/>
                  <a:sym typeface="IBM Plex Sans"/>
                </a:rPr>
                <a:t>Nearest clinic: BHU Choa Saidan Shah · 3.2 km · Offline mode active</a:t>
              </a:r>
            </a:p>
          </p:txBody>
        </p:sp>
      </p:grpSp>
      <p:grpSp>
        <p:nvGrpSpPr>
          <p:cNvPr name="Group 27" id="27"/>
          <p:cNvGrpSpPr/>
          <p:nvPr/>
        </p:nvGrpSpPr>
        <p:grpSpPr>
          <a:xfrm rot="0">
            <a:off x="9035891" y="2863691"/>
            <a:ext cx="719138" cy="719138"/>
            <a:chOff x="0" y="0"/>
            <a:chExt cx="958850" cy="958850"/>
          </a:xfrm>
        </p:grpSpPr>
        <p:sp>
          <p:nvSpPr>
            <p:cNvPr name="Freeform 28" id="28"/>
            <p:cNvSpPr/>
            <p:nvPr/>
          </p:nvSpPr>
          <p:spPr>
            <a:xfrm flipH="false" flipV="false" rot="0">
              <a:off x="0" y="0"/>
              <a:ext cx="958850" cy="958850"/>
            </a:xfrm>
            <a:custGeom>
              <a:avLst/>
              <a:gdLst/>
              <a:ahLst/>
              <a:cxnLst/>
              <a:rect r="r" b="b" t="t" l="l"/>
              <a:pathLst>
                <a:path h="958850" w="958850">
                  <a:moveTo>
                    <a:pt x="0" y="479425"/>
                  </a:moveTo>
                  <a:cubicBezTo>
                    <a:pt x="0" y="214757"/>
                    <a:pt x="214757" y="0"/>
                    <a:pt x="479425" y="0"/>
                  </a:cubicBezTo>
                  <a:cubicBezTo>
                    <a:pt x="744093" y="0"/>
                    <a:pt x="958850" y="214757"/>
                    <a:pt x="958850" y="479425"/>
                  </a:cubicBezTo>
                  <a:cubicBezTo>
                    <a:pt x="958850" y="744093"/>
                    <a:pt x="744093" y="958850"/>
                    <a:pt x="479425" y="958850"/>
                  </a:cubicBezTo>
                  <a:cubicBezTo>
                    <a:pt x="214757" y="958850"/>
                    <a:pt x="0" y="744093"/>
                    <a:pt x="0" y="479425"/>
                  </a:cubicBezTo>
                  <a:close/>
                </a:path>
              </a:pathLst>
            </a:custGeom>
            <a:solidFill>
              <a:srgbClr val="0B6E60"/>
            </a:solidFill>
            <a:ln w="19050" cap="sq">
              <a:solidFill>
                <a:srgbClr val="0B6E60"/>
              </a:solidFill>
              <a:prstDash val="solid"/>
              <a:miter/>
            </a:ln>
          </p:spPr>
        </p:sp>
      </p:grpSp>
      <p:grpSp>
        <p:nvGrpSpPr>
          <p:cNvPr name="Group 29" id="29"/>
          <p:cNvGrpSpPr/>
          <p:nvPr/>
        </p:nvGrpSpPr>
        <p:grpSpPr>
          <a:xfrm rot="0">
            <a:off x="9224010" y="3051810"/>
            <a:ext cx="342900" cy="342900"/>
            <a:chOff x="0" y="0"/>
            <a:chExt cx="457200" cy="457200"/>
          </a:xfrm>
        </p:grpSpPr>
        <p:sp>
          <p:nvSpPr>
            <p:cNvPr name="Freeform 30" id="30" descr="preencoded.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6"/>
              <a:stretch>
                <a:fillRect l="0" t="0" r="0" b="0"/>
              </a:stretch>
            </a:blipFill>
          </p:spPr>
        </p:sp>
      </p:grpSp>
      <p:sp>
        <p:nvSpPr>
          <p:cNvPr name="TextBox 31" id="31"/>
          <p:cNvSpPr txBox="true"/>
          <p:nvPr/>
        </p:nvSpPr>
        <p:spPr>
          <a:xfrm rot="0">
            <a:off x="10012680" y="2852928"/>
            <a:ext cx="6995160" cy="438912"/>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Dual-language accessibility</a:t>
            </a:r>
          </a:p>
        </p:txBody>
      </p:sp>
      <p:sp>
        <p:nvSpPr>
          <p:cNvPr name="TextBox 32" id="32"/>
          <p:cNvSpPr txBox="true"/>
          <p:nvPr/>
        </p:nvSpPr>
        <p:spPr>
          <a:xfrm rot="0">
            <a:off x="10012680" y="3338322"/>
            <a:ext cx="6995160" cy="872490"/>
          </a:xfrm>
          <a:prstGeom prst="rect">
            <a:avLst/>
          </a:prstGeom>
        </p:spPr>
        <p:txBody>
          <a:bodyPr anchor="t" rtlCol="false" tIns="0" lIns="0" bIns="0" rIns="0">
            <a:spAutoFit/>
          </a:bodyPr>
          <a:lstStyle/>
          <a:p>
            <a:pPr algn="l">
              <a:lnSpc>
                <a:spcPts val="2250"/>
              </a:lnSpc>
            </a:pPr>
            <a:r>
              <a:rPr lang="en-US" sz="1875">
                <a:solidFill>
                  <a:srgbClr val="3F4B57"/>
                </a:solidFill>
                <a:latin typeface="IBM Plex Sans"/>
                <a:ea typeface="IBM Plex Sans"/>
                <a:cs typeface="IBM Plex Sans"/>
                <a:sym typeface="IBM Plex Sans"/>
              </a:rPr>
              <a:t>Urdu audio prompts let non-literate community members report symptoms accurately.</a:t>
            </a:r>
          </a:p>
        </p:txBody>
      </p:sp>
      <p:grpSp>
        <p:nvGrpSpPr>
          <p:cNvPr name="Group 33" id="33"/>
          <p:cNvGrpSpPr/>
          <p:nvPr/>
        </p:nvGrpSpPr>
        <p:grpSpPr>
          <a:xfrm rot="0">
            <a:off x="9035891" y="4345019"/>
            <a:ext cx="719138" cy="719138"/>
            <a:chOff x="0" y="0"/>
            <a:chExt cx="958850" cy="958850"/>
          </a:xfrm>
        </p:grpSpPr>
        <p:sp>
          <p:nvSpPr>
            <p:cNvPr name="Freeform 34" id="34"/>
            <p:cNvSpPr/>
            <p:nvPr/>
          </p:nvSpPr>
          <p:spPr>
            <a:xfrm flipH="false" flipV="false" rot="0">
              <a:off x="0" y="0"/>
              <a:ext cx="958850" cy="958850"/>
            </a:xfrm>
            <a:custGeom>
              <a:avLst/>
              <a:gdLst/>
              <a:ahLst/>
              <a:cxnLst/>
              <a:rect r="r" b="b" t="t" l="l"/>
              <a:pathLst>
                <a:path h="958850" w="958850">
                  <a:moveTo>
                    <a:pt x="0" y="479425"/>
                  </a:moveTo>
                  <a:cubicBezTo>
                    <a:pt x="0" y="214757"/>
                    <a:pt x="214757" y="0"/>
                    <a:pt x="479425" y="0"/>
                  </a:cubicBezTo>
                  <a:cubicBezTo>
                    <a:pt x="744093" y="0"/>
                    <a:pt x="958850" y="214757"/>
                    <a:pt x="958850" y="479425"/>
                  </a:cubicBezTo>
                  <a:cubicBezTo>
                    <a:pt x="958850" y="744093"/>
                    <a:pt x="744093" y="958850"/>
                    <a:pt x="479425" y="958850"/>
                  </a:cubicBezTo>
                  <a:cubicBezTo>
                    <a:pt x="214757" y="958850"/>
                    <a:pt x="0" y="744093"/>
                    <a:pt x="0" y="479425"/>
                  </a:cubicBezTo>
                  <a:close/>
                </a:path>
              </a:pathLst>
            </a:custGeom>
            <a:solidFill>
              <a:srgbClr val="0B6E60"/>
            </a:solidFill>
            <a:ln w="19050" cap="sq">
              <a:solidFill>
                <a:srgbClr val="0B6E60"/>
              </a:solidFill>
              <a:prstDash val="solid"/>
              <a:miter/>
            </a:ln>
          </p:spPr>
        </p:sp>
      </p:grpSp>
      <p:grpSp>
        <p:nvGrpSpPr>
          <p:cNvPr name="Group 35" id="35"/>
          <p:cNvGrpSpPr/>
          <p:nvPr/>
        </p:nvGrpSpPr>
        <p:grpSpPr>
          <a:xfrm rot="0">
            <a:off x="9224010" y="4533138"/>
            <a:ext cx="342900" cy="342900"/>
            <a:chOff x="0" y="0"/>
            <a:chExt cx="457200" cy="457200"/>
          </a:xfrm>
        </p:grpSpPr>
        <p:sp>
          <p:nvSpPr>
            <p:cNvPr name="Freeform 36" id="36" descr="preencoded.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7"/>
              <a:stretch>
                <a:fillRect l="0" t="0" r="0" b="0"/>
              </a:stretch>
            </a:blipFill>
          </p:spPr>
        </p:sp>
      </p:grpSp>
      <p:sp>
        <p:nvSpPr>
          <p:cNvPr name="TextBox 37" id="37"/>
          <p:cNvSpPr txBox="true"/>
          <p:nvPr/>
        </p:nvSpPr>
        <p:spPr>
          <a:xfrm rot="0">
            <a:off x="10012680" y="4334256"/>
            <a:ext cx="6995160" cy="438912"/>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Zero-data operation</a:t>
            </a:r>
          </a:p>
        </p:txBody>
      </p:sp>
      <p:sp>
        <p:nvSpPr>
          <p:cNvPr name="TextBox 38" id="38"/>
          <p:cNvSpPr txBox="true"/>
          <p:nvPr/>
        </p:nvSpPr>
        <p:spPr>
          <a:xfrm rot="0">
            <a:off x="10012680" y="4819650"/>
            <a:ext cx="6995160" cy="872490"/>
          </a:xfrm>
          <a:prstGeom prst="rect">
            <a:avLst/>
          </a:prstGeom>
        </p:spPr>
        <p:txBody>
          <a:bodyPr anchor="t" rtlCol="false" tIns="0" lIns="0" bIns="0" rIns="0">
            <a:spAutoFit/>
          </a:bodyPr>
          <a:lstStyle/>
          <a:p>
            <a:pPr algn="l">
              <a:lnSpc>
                <a:spcPts val="2250"/>
              </a:lnSpc>
            </a:pPr>
            <a:r>
              <a:rPr lang="en-US" sz="1875">
                <a:solidFill>
                  <a:srgbClr val="3F4B57"/>
                </a:solidFill>
                <a:latin typeface="IBM Plex Sans"/>
                <a:ea typeface="IBM Plex Sans"/>
                <a:cs typeface="IBM Plex Sans"/>
                <a:sym typeface="IBM Plex Sans"/>
              </a:rPr>
              <a:t>The full decision logic runs offline; only the clinic directory syncs when a signal is available.</a:t>
            </a:r>
          </a:p>
        </p:txBody>
      </p:sp>
      <p:grpSp>
        <p:nvGrpSpPr>
          <p:cNvPr name="Group 39" id="39"/>
          <p:cNvGrpSpPr/>
          <p:nvPr/>
        </p:nvGrpSpPr>
        <p:grpSpPr>
          <a:xfrm rot="0">
            <a:off x="9035891" y="5826347"/>
            <a:ext cx="719138" cy="719138"/>
            <a:chOff x="0" y="0"/>
            <a:chExt cx="958850" cy="958850"/>
          </a:xfrm>
        </p:grpSpPr>
        <p:sp>
          <p:nvSpPr>
            <p:cNvPr name="Freeform 40" id="40"/>
            <p:cNvSpPr/>
            <p:nvPr/>
          </p:nvSpPr>
          <p:spPr>
            <a:xfrm flipH="false" flipV="false" rot="0">
              <a:off x="0" y="0"/>
              <a:ext cx="958850" cy="958850"/>
            </a:xfrm>
            <a:custGeom>
              <a:avLst/>
              <a:gdLst/>
              <a:ahLst/>
              <a:cxnLst/>
              <a:rect r="r" b="b" t="t" l="l"/>
              <a:pathLst>
                <a:path h="958850" w="958850">
                  <a:moveTo>
                    <a:pt x="0" y="479425"/>
                  </a:moveTo>
                  <a:cubicBezTo>
                    <a:pt x="0" y="214757"/>
                    <a:pt x="214757" y="0"/>
                    <a:pt x="479425" y="0"/>
                  </a:cubicBezTo>
                  <a:cubicBezTo>
                    <a:pt x="744093" y="0"/>
                    <a:pt x="958850" y="214757"/>
                    <a:pt x="958850" y="479425"/>
                  </a:cubicBezTo>
                  <a:cubicBezTo>
                    <a:pt x="958850" y="744093"/>
                    <a:pt x="744093" y="958850"/>
                    <a:pt x="479425" y="958850"/>
                  </a:cubicBezTo>
                  <a:cubicBezTo>
                    <a:pt x="214757" y="958850"/>
                    <a:pt x="0" y="744093"/>
                    <a:pt x="0" y="479425"/>
                  </a:cubicBezTo>
                  <a:close/>
                </a:path>
              </a:pathLst>
            </a:custGeom>
            <a:solidFill>
              <a:srgbClr val="0B6E60"/>
            </a:solidFill>
            <a:ln w="19050" cap="sq">
              <a:solidFill>
                <a:srgbClr val="0B6E60"/>
              </a:solidFill>
              <a:prstDash val="solid"/>
              <a:miter/>
            </a:ln>
          </p:spPr>
        </p:sp>
      </p:grpSp>
      <p:grpSp>
        <p:nvGrpSpPr>
          <p:cNvPr name="Group 41" id="41"/>
          <p:cNvGrpSpPr/>
          <p:nvPr/>
        </p:nvGrpSpPr>
        <p:grpSpPr>
          <a:xfrm rot="0">
            <a:off x="9224010" y="6014466"/>
            <a:ext cx="342900" cy="342900"/>
            <a:chOff x="0" y="0"/>
            <a:chExt cx="457200" cy="457200"/>
          </a:xfrm>
        </p:grpSpPr>
        <p:sp>
          <p:nvSpPr>
            <p:cNvPr name="Freeform 42" id="42" descr="preencoded.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8"/>
              <a:stretch>
                <a:fillRect l="0" t="0" r="0" b="0"/>
              </a:stretch>
            </a:blipFill>
          </p:spPr>
        </p:sp>
      </p:grpSp>
      <p:sp>
        <p:nvSpPr>
          <p:cNvPr name="TextBox 43" id="43"/>
          <p:cNvSpPr txBox="true"/>
          <p:nvPr/>
        </p:nvSpPr>
        <p:spPr>
          <a:xfrm rot="0">
            <a:off x="10012680" y="5815584"/>
            <a:ext cx="6995160" cy="438912"/>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Disease-matched referral</a:t>
            </a:r>
          </a:p>
        </p:txBody>
      </p:sp>
      <p:sp>
        <p:nvSpPr>
          <p:cNvPr name="TextBox 44" id="44"/>
          <p:cNvSpPr txBox="true"/>
          <p:nvPr/>
        </p:nvSpPr>
        <p:spPr>
          <a:xfrm rot="0">
            <a:off x="10012680" y="6300978"/>
            <a:ext cx="6995160" cy="872490"/>
          </a:xfrm>
          <a:prstGeom prst="rect">
            <a:avLst/>
          </a:prstGeom>
        </p:spPr>
        <p:txBody>
          <a:bodyPr anchor="t" rtlCol="false" tIns="0" lIns="0" bIns="0" rIns="0">
            <a:spAutoFit/>
          </a:bodyPr>
          <a:lstStyle/>
          <a:p>
            <a:pPr algn="l">
              <a:lnSpc>
                <a:spcPts val="2250"/>
              </a:lnSpc>
            </a:pPr>
            <a:r>
              <a:rPr lang="en-US" sz="1875">
                <a:solidFill>
                  <a:srgbClr val="3F4B57"/>
                </a:solidFill>
                <a:latin typeface="IBM Plex Sans"/>
                <a:ea typeface="IBM Plex Sans"/>
                <a:cs typeface="IBM Plex Sans"/>
                <a:sym typeface="IBM Plex Sans"/>
              </a:rPr>
              <a:t>Each result points to the nearest facility able to treat that illness, not just the closest building.</a:t>
            </a:r>
          </a:p>
        </p:txBody>
      </p:sp>
      <p:grpSp>
        <p:nvGrpSpPr>
          <p:cNvPr name="Group 45" id="45"/>
          <p:cNvGrpSpPr/>
          <p:nvPr/>
        </p:nvGrpSpPr>
        <p:grpSpPr>
          <a:xfrm rot="0">
            <a:off x="9035891" y="7307675"/>
            <a:ext cx="719138" cy="719138"/>
            <a:chOff x="0" y="0"/>
            <a:chExt cx="958850" cy="958850"/>
          </a:xfrm>
        </p:grpSpPr>
        <p:sp>
          <p:nvSpPr>
            <p:cNvPr name="Freeform 46" id="46"/>
            <p:cNvSpPr/>
            <p:nvPr/>
          </p:nvSpPr>
          <p:spPr>
            <a:xfrm flipH="false" flipV="false" rot="0">
              <a:off x="0" y="0"/>
              <a:ext cx="958850" cy="958850"/>
            </a:xfrm>
            <a:custGeom>
              <a:avLst/>
              <a:gdLst/>
              <a:ahLst/>
              <a:cxnLst/>
              <a:rect r="r" b="b" t="t" l="l"/>
              <a:pathLst>
                <a:path h="958850" w="958850">
                  <a:moveTo>
                    <a:pt x="0" y="479425"/>
                  </a:moveTo>
                  <a:cubicBezTo>
                    <a:pt x="0" y="214757"/>
                    <a:pt x="214757" y="0"/>
                    <a:pt x="479425" y="0"/>
                  </a:cubicBezTo>
                  <a:cubicBezTo>
                    <a:pt x="744093" y="0"/>
                    <a:pt x="958850" y="214757"/>
                    <a:pt x="958850" y="479425"/>
                  </a:cubicBezTo>
                  <a:cubicBezTo>
                    <a:pt x="958850" y="744093"/>
                    <a:pt x="744093" y="958850"/>
                    <a:pt x="479425" y="958850"/>
                  </a:cubicBezTo>
                  <a:cubicBezTo>
                    <a:pt x="214757" y="958850"/>
                    <a:pt x="0" y="744093"/>
                    <a:pt x="0" y="479425"/>
                  </a:cubicBezTo>
                  <a:close/>
                </a:path>
              </a:pathLst>
            </a:custGeom>
            <a:solidFill>
              <a:srgbClr val="0B6E60"/>
            </a:solidFill>
            <a:ln w="19050" cap="sq">
              <a:solidFill>
                <a:srgbClr val="0B6E60"/>
              </a:solidFill>
              <a:prstDash val="solid"/>
              <a:miter/>
            </a:ln>
          </p:spPr>
        </p:sp>
      </p:grpSp>
      <p:grpSp>
        <p:nvGrpSpPr>
          <p:cNvPr name="Group 47" id="47"/>
          <p:cNvGrpSpPr/>
          <p:nvPr/>
        </p:nvGrpSpPr>
        <p:grpSpPr>
          <a:xfrm rot="0">
            <a:off x="9224010" y="7495794"/>
            <a:ext cx="342900" cy="342900"/>
            <a:chOff x="0" y="0"/>
            <a:chExt cx="457200" cy="457200"/>
          </a:xfrm>
        </p:grpSpPr>
        <p:sp>
          <p:nvSpPr>
            <p:cNvPr name="Freeform 48" id="48" descr="preencoded.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9"/>
              <a:stretch>
                <a:fillRect l="0" t="0" r="0" b="0"/>
              </a:stretch>
            </a:blipFill>
          </p:spPr>
        </p:sp>
      </p:grpSp>
      <p:sp>
        <p:nvSpPr>
          <p:cNvPr name="TextBox 49" id="49"/>
          <p:cNvSpPr txBox="true"/>
          <p:nvPr/>
        </p:nvSpPr>
        <p:spPr>
          <a:xfrm rot="0">
            <a:off x="10012680" y="7296912"/>
            <a:ext cx="6995160" cy="438912"/>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Try the app (pilot link)</a:t>
            </a:r>
          </a:p>
        </p:txBody>
      </p:sp>
      <p:sp>
        <p:nvSpPr>
          <p:cNvPr name="TextBox 50" id="50"/>
          <p:cNvSpPr txBox="true"/>
          <p:nvPr/>
        </p:nvSpPr>
        <p:spPr>
          <a:xfrm rot="0">
            <a:off x="10012680" y="7782306"/>
            <a:ext cx="6995160" cy="276225"/>
          </a:xfrm>
          <a:prstGeom prst="rect">
            <a:avLst/>
          </a:prstGeom>
        </p:spPr>
        <p:txBody>
          <a:bodyPr anchor="t" rtlCol="false" tIns="0" lIns="0" bIns="0" rIns="0">
            <a:spAutoFit/>
          </a:bodyPr>
          <a:lstStyle/>
          <a:p>
            <a:pPr algn="l">
              <a:lnSpc>
                <a:spcPts val="2250"/>
              </a:lnSpc>
            </a:pPr>
            <a:r>
              <a:rPr lang="en-US" sz="1875" i="true">
                <a:solidFill>
                  <a:srgbClr val="0000FF"/>
                </a:solidFill>
                <a:latin typeface="IBM Plex Sans Italics"/>
                <a:ea typeface="IBM Plex Sans Italics"/>
                <a:cs typeface="IBM Plex Sans Italics"/>
                <a:sym typeface="IBM Plex Sans Italics"/>
              </a:rPr>
              <a:t>https://medico-1aa0a.web.app</a:t>
            </a:r>
          </a:p>
        </p:txBody>
      </p:sp>
      <p:sp>
        <p:nvSpPr>
          <p:cNvPr name="TextBox 51" id="51"/>
          <p:cNvSpPr txBox="true"/>
          <p:nvPr/>
        </p:nvSpPr>
        <p:spPr>
          <a:xfrm rot="0">
            <a:off x="1220724" y="9354312"/>
            <a:ext cx="11658600" cy="356616"/>
          </a:xfrm>
          <a:prstGeom prst="rect">
            <a:avLst/>
          </a:prstGeom>
        </p:spPr>
        <p:txBody>
          <a:bodyPr anchor="t" rtlCol="false" tIns="0" lIns="0" bIns="0" rIns="0">
            <a:spAutoFit/>
          </a:bodyPr>
          <a:lstStyle/>
          <a:p>
            <a:pPr algn="l">
              <a:lnSpc>
                <a:spcPts val="2160"/>
              </a:lnSpc>
            </a:pPr>
            <a:r>
              <a:rPr lang="en-US" sz="1800">
                <a:solidFill>
                  <a:srgbClr val="5B6770"/>
                </a:solidFill>
                <a:latin typeface="IBM Plex Sans"/>
                <a:ea typeface="IBM Plex Sans"/>
                <a:cs typeface="IBM Plex Sans"/>
                <a:sym typeface="IBM Plex Sans"/>
              </a:rPr>
              <a:t>Community Health Triage &amp; Digital Disease Referral · Chakwal, Pakistan</a:t>
            </a:r>
          </a:p>
        </p:txBody>
      </p:sp>
      <p:sp>
        <p:nvSpPr>
          <p:cNvPr name="TextBox 52" id="52"/>
          <p:cNvSpPr txBox="true"/>
          <p:nvPr/>
        </p:nvSpPr>
        <p:spPr>
          <a:xfrm rot="0">
            <a:off x="15691104" y="9354312"/>
            <a:ext cx="1371600" cy="356616"/>
          </a:xfrm>
          <a:prstGeom prst="rect">
            <a:avLst/>
          </a:prstGeom>
        </p:spPr>
        <p:txBody>
          <a:bodyPr anchor="t" rtlCol="false" tIns="0" lIns="0" bIns="0" rIns="0">
            <a:spAutoFit/>
          </a:bodyPr>
          <a:lstStyle/>
          <a:p>
            <a:pPr algn="r">
              <a:lnSpc>
                <a:spcPts val="2160"/>
              </a:lnSpc>
            </a:pPr>
            <a:r>
              <a:rPr lang="en-US" sz="1800">
                <a:solidFill>
                  <a:srgbClr val="5B6770"/>
                </a:solidFill>
                <a:latin typeface="IBM Plex Sans"/>
                <a:ea typeface="IBM Plex Sans"/>
                <a:cs typeface="IBM Plex Sans"/>
                <a:sym typeface="IBM Plex Sans"/>
              </a:rPr>
              <a:t>7</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20724" y="1220724"/>
            <a:ext cx="15841980" cy="356616"/>
          </a:xfrm>
          <a:prstGeom prst="rect">
            <a:avLst/>
          </a:prstGeom>
        </p:spPr>
        <p:txBody>
          <a:bodyPr anchor="t" rtlCol="false" tIns="0" lIns="0" bIns="0" rIns="0">
            <a:spAutoFit/>
          </a:bodyPr>
          <a:lstStyle/>
          <a:p>
            <a:pPr algn="l">
              <a:lnSpc>
                <a:spcPts val="2160"/>
              </a:lnSpc>
            </a:pPr>
            <a:r>
              <a:rPr lang="en-US" b="true" sz="1800" spc="225">
                <a:solidFill>
                  <a:srgbClr val="0B6E60"/>
                </a:solidFill>
                <a:latin typeface="IBM Plex Sans Bold"/>
                <a:ea typeface="IBM Plex Sans Bold"/>
                <a:cs typeface="IBM Plex Sans Bold"/>
                <a:sym typeface="IBM Plex Sans Bold"/>
              </a:rPr>
              <a:t>06 · FROM SYMPTOMS TO REFERRAL</a:t>
            </a:r>
          </a:p>
        </p:txBody>
      </p:sp>
      <p:sp>
        <p:nvSpPr>
          <p:cNvPr name="TextBox 3" id="3"/>
          <p:cNvSpPr txBox="true"/>
          <p:nvPr/>
        </p:nvSpPr>
        <p:spPr>
          <a:xfrm rot="0">
            <a:off x="1220724" y="1678686"/>
            <a:ext cx="15841980" cy="721614"/>
          </a:xfrm>
          <a:prstGeom prst="rect">
            <a:avLst/>
          </a:prstGeom>
        </p:spPr>
        <p:txBody>
          <a:bodyPr anchor="t" rtlCol="false" tIns="0" lIns="0" bIns="0" rIns="0">
            <a:spAutoFit/>
          </a:bodyPr>
          <a:lstStyle/>
          <a:p>
            <a:pPr algn="l">
              <a:lnSpc>
                <a:spcPts val="5758"/>
              </a:lnSpc>
            </a:pPr>
            <a:r>
              <a:rPr lang="en-US" sz="4800" b="true">
                <a:solidFill>
                  <a:srgbClr val="14304A"/>
                </a:solidFill>
                <a:latin typeface="IBM Plex Sans Bold"/>
                <a:ea typeface="IBM Plex Sans Bold"/>
                <a:cs typeface="IBM Plex Sans Bold"/>
                <a:sym typeface="IBM Plex Sans Bold"/>
              </a:rPr>
              <a:t>What users enter, and where they are sent</a:t>
            </a:r>
          </a:p>
        </p:txBody>
      </p:sp>
      <p:graphicFrame>
        <p:nvGraphicFramePr>
          <p:cNvPr name="Table 4" id="4"/>
          <p:cNvGraphicFramePr>
            <a:graphicFrameLocks noGrp="true"/>
          </p:cNvGraphicFramePr>
          <p:nvPr/>
        </p:nvGraphicFramePr>
        <p:xfrm>
          <a:off x="1220724" y="2880360"/>
          <a:ext cx="15786100" cy="4699000"/>
        </p:xfrm>
        <a:graphic>
          <a:graphicData uri="http://schemas.openxmlformats.org/drawingml/2006/table">
            <a:tbl>
              <a:tblPr/>
              <a:tblGrid>
                <a:gridCol w="4908730"/>
                <a:gridCol w="2612943"/>
                <a:gridCol w="2140281"/>
                <a:gridCol w="6124146"/>
              </a:tblGrid>
              <a:tr h="573342">
                <a:tc>
                  <a:txBody>
                    <a:bodyPr anchor="t" rtlCol="false"/>
                    <a:lstStyle/>
                    <a:p>
                      <a:pPr algn="l">
                        <a:lnSpc>
                          <a:spcPts val="2160"/>
                        </a:lnSpc>
                        <a:defRPr/>
                      </a:pPr>
                      <a:r>
                        <a:rPr lang="en-US" sz="1800" b="true">
                          <a:solidFill>
                            <a:srgbClr val="FFFFFF"/>
                          </a:solidFill>
                          <a:latin typeface="IBM Plex Sans Bold"/>
                          <a:ea typeface="IBM Plex Sans Bold"/>
                          <a:cs typeface="IBM Plex Sans Bold"/>
                          <a:sym typeface="IBM Plex Sans Bold"/>
                        </a:rPr>
                        <a:t>Symptom pattern entered</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14304A"/>
                    </a:solidFill>
                  </a:tcPr>
                </a:tc>
                <a:tc>
                  <a:txBody>
                    <a:bodyPr anchor="t" rtlCol="false"/>
                    <a:lstStyle/>
                    <a:p>
                      <a:pPr algn="l">
                        <a:lnSpc>
                          <a:spcPts val="2160"/>
                        </a:lnSpc>
                        <a:defRPr/>
                      </a:pPr>
                      <a:r>
                        <a:rPr lang="en-US" sz="1800" b="true">
                          <a:solidFill>
                            <a:srgbClr val="FFFFFF"/>
                          </a:solidFill>
                          <a:latin typeface="IBM Plex Sans Bold"/>
                          <a:ea typeface="IBM Plex Sans Bold"/>
                          <a:cs typeface="IBM Plex Sans Bold"/>
                          <a:sym typeface="IBM Plex Sans Bold"/>
                        </a:rPr>
                        <a:t>Likely illness shown</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14304A"/>
                    </a:solidFill>
                  </a:tcPr>
                </a:tc>
                <a:tc>
                  <a:txBody>
                    <a:bodyPr anchor="t" rtlCol="false"/>
                    <a:lstStyle/>
                    <a:p>
                      <a:pPr algn="l">
                        <a:lnSpc>
                          <a:spcPts val="2160"/>
                        </a:lnSpc>
                        <a:defRPr/>
                      </a:pPr>
                      <a:r>
                        <a:rPr lang="en-US" sz="1800" b="true">
                          <a:solidFill>
                            <a:srgbClr val="FFFFFF"/>
                          </a:solidFill>
                          <a:latin typeface="IBM Plex Sans Bold"/>
                          <a:ea typeface="IBM Plex Sans Bold"/>
                          <a:cs typeface="IBM Plex Sans Bold"/>
                          <a:sym typeface="IBM Plex Sans Bold"/>
                        </a:rPr>
                        <a:t>Risk level</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14304A"/>
                    </a:solidFill>
                  </a:tcPr>
                </a:tc>
                <a:tc>
                  <a:txBody>
                    <a:bodyPr anchor="t" rtlCol="false"/>
                    <a:lstStyle/>
                    <a:p>
                      <a:pPr algn="l">
                        <a:lnSpc>
                          <a:spcPts val="2160"/>
                        </a:lnSpc>
                        <a:defRPr/>
                      </a:pPr>
                      <a:r>
                        <a:rPr lang="en-US" sz="1800" b="true">
                          <a:solidFill>
                            <a:srgbClr val="FFFFFF"/>
                          </a:solidFill>
                          <a:latin typeface="IBM Plex Sans Bold"/>
                          <a:ea typeface="IBM Plex Sans Bold"/>
                          <a:cs typeface="IBM Plex Sans Bold"/>
                          <a:sym typeface="IBM Plex Sans Bold"/>
                        </a:rPr>
                        <a:t>Referral given</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14304A"/>
                    </a:solidFill>
                  </a:tcPr>
                </a:tc>
              </a:tr>
              <a:tr h="825132">
                <a:tc>
                  <a:txBody>
                    <a:bodyPr anchor="t" rtlCol="false"/>
                    <a:lstStyle/>
                    <a:p>
                      <a:pPr algn="l">
                        <a:lnSpc>
                          <a:spcPts val="2160"/>
                        </a:lnSpc>
                        <a:defRPr/>
                      </a:pPr>
                      <a:r>
                        <a:rPr lang="en-US" sz="1800">
                          <a:solidFill>
                            <a:srgbClr val="3F4B57"/>
                          </a:solidFill>
                          <a:latin typeface="IBM Plex Sans"/>
                          <a:ea typeface="IBM Plex Sans"/>
                          <a:cs typeface="IBM Plex Sans"/>
                          <a:sym typeface="IBM Plex Sans"/>
                        </a:rPr>
                        <a:t>High fever + cough + red eyes + rash behind ears</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c>
                  <a:txBody>
                    <a:bodyPr anchor="t" rtlCol="false"/>
                    <a:lstStyle/>
                    <a:p>
                      <a:pPr algn="l">
                        <a:lnSpc>
                          <a:spcPts val="2160"/>
                        </a:lnSpc>
                        <a:defRPr/>
                      </a:pPr>
                      <a:r>
                        <a:rPr lang="en-US" sz="1800" b="true">
                          <a:solidFill>
                            <a:srgbClr val="14304A"/>
                          </a:solidFill>
                          <a:latin typeface="IBM Plex Sans Bold"/>
                          <a:ea typeface="IBM Plex Sans Bold"/>
                          <a:cs typeface="IBM Plex Sans Bold"/>
                          <a:sym typeface="IBM Plex Sans Bold"/>
                        </a:rPr>
                        <a:t>Measles</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c>
                  <a:txBody>
                    <a:bodyPr anchor="t" rtlCol="false"/>
                    <a:lstStyle/>
                    <a:p>
                      <a:pPr algn="l">
                        <a:lnSpc>
                          <a:spcPts val="2160"/>
                        </a:lnSpc>
                        <a:defRPr/>
                      </a:pPr>
                      <a:r>
                        <a:rPr lang="en-US" sz="1800" b="true">
                          <a:solidFill>
                            <a:srgbClr val="A63A2F"/>
                          </a:solidFill>
                          <a:latin typeface="IBM Plex Sans Bold"/>
                          <a:ea typeface="IBM Plex Sans Bold"/>
                          <a:cs typeface="IBM Plex Sans Bold"/>
                          <a:sym typeface="IBM Plex Sans Bold"/>
                        </a:rPr>
                        <a:t>High</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c>
                  <a:txBody>
                    <a:bodyPr anchor="t" rtlCol="false"/>
                    <a:lstStyle/>
                    <a:p>
                      <a:pPr algn="l">
                        <a:lnSpc>
                          <a:spcPts val="2160"/>
                        </a:lnSpc>
                        <a:defRPr/>
                      </a:pPr>
                      <a:r>
                        <a:rPr lang="en-US" sz="1800">
                          <a:solidFill>
                            <a:srgbClr val="3F4B57"/>
                          </a:solidFill>
                          <a:latin typeface="IBM Plex Sans"/>
                          <a:ea typeface="IBM Plex Sans"/>
                          <a:cs typeface="IBM Plex Sans"/>
                          <a:sym typeface="IBM Plex Sans"/>
                        </a:rPr>
                        <a:t>Nearest BHU/RHC today; MR vaccine for unvaccinated siblings</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r>
              <a:tr h="825132">
                <a:tc>
                  <a:txBody>
                    <a:bodyPr anchor="t" rtlCol="false"/>
                    <a:lstStyle/>
                    <a:p>
                      <a:pPr algn="l">
                        <a:lnSpc>
                          <a:spcPts val="2160"/>
                        </a:lnSpc>
                        <a:defRPr/>
                      </a:pPr>
                      <a:r>
                        <a:rPr lang="en-US" sz="1800">
                          <a:solidFill>
                            <a:srgbClr val="3F4B57"/>
                          </a:solidFill>
                          <a:latin typeface="IBM Plex Sans"/>
                          <a:ea typeface="IBM Plex Sans"/>
                          <a:cs typeface="IBM Plex Sans"/>
                          <a:sym typeface="IBM Plex Sans"/>
                        </a:rPr>
                        <a:t>Itchy blisters in crops + mild fever</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c>
                  <a:txBody>
                    <a:bodyPr anchor="t" rtlCol="false"/>
                    <a:lstStyle/>
                    <a:p>
                      <a:pPr algn="l">
                        <a:lnSpc>
                          <a:spcPts val="2160"/>
                        </a:lnSpc>
                        <a:defRPr/>
                      </a:pPr>
                      <a:r>
                        <a:rPr lang="en-US" sz="1800" b="true">
                          <a:solidFill>
                            <a:srgbClr val="14304A"/>
                          </a:solidFill>
                          <a:latin typeface="IBM Plex Sans Bold"/>
                          <a:ea typeface="IBM Plex Sans Bold"/>
                          <a:cs typeface="IBM Plex Sans Bold"/>
                          <a:sym typeface="IBM Plex Sans Bold"/>
                        </a:rPr>
                        <a:t>Chickenpox</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c>
                  <a:txBody>
                    <a:bodyPr anchor="t" rtlCol="false"/>
                    <a:lstStyle/>
                    <a:p>
                      <a:pPr algn="l">
                        <a:lnSpc>
                          <a:spcPts val="2160"/>
                        </a:lnSpc>
                        <a:defRPr/>
                      </a:pPr>
                      <a:r>
                        <a:rPr lang="en-US" sz="1800" b="true">
                          <a:solidFill>
                            <a:srgbClr val="B4620A"/>
                          </a:solidFill>
                          <a:latin typeface="IBM Plex Sans Bold"/>
                          <a:ea typeface="IBM Plex Sans Bold"/>
                          <a:cs typeface="IBM Plex Sans Bold"/>
                          <a:sym typeface="IBM Plex Sans Bold"/>
                        </a:rPr>
                        <a:t>Low–moderate</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c>
                  <a:txBody>
                    <a:bodyPr anchor="t" rtlCol="false"/>
                    <a:lstStyle/>
                    <a:p>
                      <a:pPr algn="l">
                        <a:lnSpc>
                          <a:spcPts val="2160"/>
                        </a:lnSpc>
                        <a:defRPr/>
                      </a:pPr>
                      <a:r>
                        <a:rPr lang="en-US" sz="1800">
                          <a:solidFill>
                            <a:srgbClr val="3F4B57"/>
                          </a:solidFill>
                          <a:latin typeface="IBM Plex Sans"/>
                          <a:ea typeface="IBM Plex Sans"/>
                          <a:cs typeface="IBM Plex Sans"/>
                          <a:sym typeface="IBM Plex Sans"/>
                        </a:rPr>
                        <a:t>Home isolation advice; clinic if fever &gt; 3 days or breathing difficulty</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r>
              <a:tr h="825132">
                <a:tc>
                  <a:txBody>
                    <a:bodyPr anchor="t" rtlCol="false"/>
                    <a:lstStyle/>
                    <a:p>
                      <a:pPr algn="l">
                        <a:lnSpc>
                          <a:spcPts val="2160"/>
                        </a:lnSpc>
                        <a:defRPr/>
                      </a:pPr>
                      <a:r>
                        <a:rPr lang="en-US" sz="1800">
                          <a:solidFill>
                            <a:srgbClr val="3F4B57"/>
                          </a:solidFill>
                          <a:latin typeface="IBM Plex Sans"/>
                          <a:ea typeface="IBM Plex Sans"/>
                          <a:cs typeface="IBM Plex Sans"/>
                          <a:sym typeface="IBM Plex Sans"/>
                        </a:rPr>
                        <a:t>Sudden fever + pain behind eyes + bleeding gums or bruising</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c>
                  <a:txBody>
                    <a:bodyPr anchor="t" rtlCol="false"/>
                    <a:lstStyle/>
                    <a:p>
                      <a:pPr algn="l">
                        <a:lnSpc>
                          <a:spcPts val="2160"/>
                        </a:lnSpc>
                        <a:defRPr/>
                      </a:pPr>
                      <a:r>
                        <a:rPr lang="en-US" sz="1800" b="true">
                          <a:solidFill>
                            <a:srgbClr val="14304A"/>
                          </a:solidFill>
                          <a:latin typeface="IBM Plex Sans Bold"/>
                          <a:ea typeface="IBM Plex Sans Bold"/>
                          <a:cs typeface="IBM Plex Sans Bold"/>
                          <a:sym typeface="IBM Plex Sans Bold"/>
                        </a:rPr>
                        <a:t>Dengue</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c>
                  <a:txBody>
                    <a:bodyPr anchor="t" rtlCol="false"/>
                    <a:lstStyle/>
                    <a:p>
                      <a:pPr algn="l">
                        <a:lnSpc>
                          <a:spcPts val="2160"/>
                        </a:lnSpc>
                        <a:defRPr/>
                      </a:pPr>
                      <a:r>
                        <a:rPr lang="en-US" sz="1800" b="true">
                          <a:solidFill>
                            <a:srgbClr val="A63A2F"/>
                          </a:solidFill>
                          <a:latin typeface="IBM Plex Sans Bold"/>
                          <a:ea typeface="IBM Plex Sans Bold"/>
                          <a:cs typeface="IBM Plex Sans Bold"/>
                          <a:sym typeface="IBM Plex Sans Bold"/>
                        </a:rPr>
                        <a:t>Urgent</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c>
                  <a:txBody>
                    <a:bodyPr anchor="t" rtlCol="false"/>
                    <a:lstStyle/>
                    <a:p>
                      <a:pPr algn="l">
                        <a:lnSpc>
                          <a:spcPts val="2160"/>
                        </a:lnSpc>
                        <a:defRPr/>
                      </a:pPr>
                      <a:r>
                        <a:rPr lang="en-US" sz="1800">
                          <a:solidFill>
                            <a:srgbClr val="3F4B57"/>
                          </a:solidFill>
                          <a:latin typeface="IBM Plex Sans"/>
                          <a:ea typeface="IBM Plex Sans"/>
                          <a:cs typeface="IBM Plex Sans"/>
                          <a:sym typeface="IBM Plex Sans"/>
                        </a:rPr>
                        <a:t>Nearest hospital with platelet count facility, same day</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r>
              <a:tr h="825132">
                <a:tc>
                  <a:txBody>
                    <a:bodyPr anchor="t" rtlCol="false"/>
                    <a:lstStyle/>
                    <a:p>
                      <a:pPr algn="l">
                        <a:lnSpc>
                          <a:spcPts val="2160"/>
                        </a:lnSpc>
                        <a:defRPr/>
                      </a:pPr>
                      <a:r>
                        <a:rPr lang="en-US" sz="1800">
                          <a:solidFill>
                            <a:srgbClr val="3F4B57"/>
                          </a:solidFill>
                          <a:latin typeface="IBM Plex Sans"/>
                          <a:ea typeface="IBM Plex Sans"/>
                          <a:cs typeface="IBM Plex Sans"/>
                          <a:sym typeface="IBM Plex Sans"/>
                        </a:rPr>
                        <a:t>Fever with chills every 2–3 days + sweating</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c>
                  <a:txBody>
                    <a:bodyPr anchor="t" rtlCol="false"/>
                    <a:lstStyle/>
                    <a:p>
                      <a:pPr algn="l">
                        <a:lnSpc>
                          <a:spcPts val="2160"/>
                        </a:lnSpc>
                        <a:defRPr/>
                      </a:pPr>
                      <a:r>
                        <a:rPr lang="en-US" sz="1800" b="true">
                          <a:solidFill>
                            <a:srgbClr val="14304A"/>
                          </a:solidFill>
                          <a:latin typeface="IBM Plex Sans Bold"/>
                          <a:ea typeface="IBM Plex Sans Bold"/>
                          <a:cs typeface="IBM Plex Sans Bold"/>
                          <a:sym typeface="IBM Plex Sans Bold"/>
                        </a:rPr>
                        <a:t>Malaria</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c>
                  <a:txBody>
                    <a:bodyPr anchor="t" rtlCol="false"/>
                    <a:lstStyle/>
                    <a:p>
                      <a:pPr algn="l">
                        <a:lnSpc>
                          <a:spcPts val="2160"/>
                        </a:lnSpc>
                        <a:defRPr/>
                      </a:pPr>
                      <a:r>
                        <a:rPr lang="en-US" sz="1800" b="true">
                          <a:solidFill>
                            <a:srgbClr val="B4620A"/>
                          </a:solidFill>
                          <a:latin typeface="IBM Plex Sans Bold"/>
                          <a:ea typeface="IBM Plex Sans Bold"/>
                          <a:cs typeface="IBM Plex Sans Bold"/>
                          <a:sym typeface="IBM Plex Sans Bold"/>
                        </a:rPr>
                        <a:t>Moderate</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c>
                  <a:txBody>
                    <a:bodyPr anchor="t" rtlCol="false"/>
                    <a:lstStyle/>
                    <a:p>
                      <a:pPr algn="l">
                        <a:lnSpc>
                          <a:spcPts val="2160"/>
                        </a:lnSpc>
                        <a:defRPr/>
                      </a:pPr>
                      <a:r>
                        <a:rPr lang="en-US" sz="1800">
                          <a:solidFill>
                            <a:srgbClr val="3F4B57"/>
                          </a:solidFill>
                          <a:latin typeface="IBM Plex Sans"/>
                          <a:ea typeface="IBM Plex Sans"/>
                          <a:cs typeface="IBM Plex Sans"/>
                          <a:sym typeface="IBM Plex Sans"/>
                        </a:rPr>
                        <a:t>Nearest facility with rapid diagnostic test (RDT)</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r>
              <a:tr h="825132">
                <a:tc>
                  <a:txBody>
                    <a:bodyPr anchor="t" rtlCol="false"/>
                    <a:lstStyle/>
                    <a:p>
                      <a:pPr algn="l">
                        <a:lnSpc>
                          <a:spcPts val="2160"/>
                        </a:lnSpc>
                        <a:defRPr/>
                      </a:pPr>
                      <a:r>
                        <a:rPr lang="en-US" sz="1800">
                          <a:solidFill>
                            <a:srgbClr val="3F4B57"/>
                          </a:solidFill>
                          <a:latin typeface="IBM Plex Sans"/>
                          <a:ea typeface="IBM Plex Sans"/>
                          <a:cs typeface="IBM Plex Sans"/>
                          <a:sym typeface="IBM Plex Sans"/>
                        </a:rPr>
                        <a:t>Any fever with drowsiness, fits or fast breathing</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c>
                  <a:txBody>
                    <a:bodyPr anchor="t" rtlCol="false"/>
                    <a:lstStyle/>
                    <a:p>
                      <a:pPr algn="l">
                        <a:lnSpc>
                          <a:spcPts val="2160"/>
                        </a:lnSpc>
                        <a:defRPr/>
                      </a:pPr>
                      <a:r>
                        <a:rPr lang="en-US" sz="1800" b="true">
                          <a:solidFill>
                            <a:srgbClr val="14304A"/>
                          </a:solidFill>
                          <a:latin typeface="IBM Plex Sans Bold"/>
                          <a:ea typeface="IBM Plex Sans Bold"/>
                          <a:cs typeface="IBM Plex Sans Bold"/>
                          <a:sym typeface="IBM Plex Sans Bold"/>
                        </a:rPr>
                        <a:t>Danger signs</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c>
                  <a:txBody>
                    <a:bodyPr anchor="t" rtlCol="false"/>
                    <a:lstStyle/>
                    <a:p>
                      <a:pPr algn="l">
                        <a:lnSpc>
                          <a:spcPts val="2160"/>
                        </a:lnSpc>
                        <a:defRPr/>
                      </a:pPr>
                      <a:r>
                        <a:rPr lang="en-US" sz="1800" b="true">
                          <a:solidFill>
                            <a:srgbClr val="A63A2F"/>
                          </a:solidFill>
                          <a:latin typeface="IBM Plex Sans Bold"/>
                          <a:ea typeface="IBM Plex Sans Bold"/>
                          <a:cs typeface="IBM Plex Sans Bold"/>
                          <a:sym typeface="IBM Plex Sans Bold"/>
                        </a:rPr>
                        <a:t>Emergency</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c>
                  <a:txBody>
                    <a:bodyPr anchor="t" rtlCol="false"/>
                    <a:lstStyle/>
                    <a:p>
                      <a:pPr algn="l">
                        <a:lnSpc>
                          <a:spcPts val="2160"/>
                        </a:lnSpc>
                        <a:defRPr/>
                      </a:pPr>
                      <a:r>
                        <a:rPr lang="en-US" sz="1800">
                          <a:solidFill>
                            <a:srgbClr val="3F4B57"/>
                          </a:solidFill>
                          <a:latin typeface="IBM Plex Sans"/>
                          <a:ea typeface="IBM Plex Sans"/>
                          <a:cs typeface="IBM Plex Sans"/>
                          <a:sym typeface="IBM Plex Sans"/>
                        </a:rPr>
                        <a:t>Call 1122 / go to DHQ Hospital Chakwal immediately</a:t>
                      </a:r>
                      <a:endParaRPr lang="en-US" sz="1100"/>
                    </a:p>
                  </a:txBody>
                  <a:tcPr marL="109728" marR="109728" marT="109728" marB="109728" anchor="ctr">
                    <a:lnL cmpd="sng" algn="ctr" cap="flat" w="9525">
                      <a:solidFill>
                        <a:srgbClr val="D3DCD9"/>
                      </a:solidFill>
                      <a:prstDash val="solid"/>
                      <a:round/>
                      <a:headEnd type="none" w="med" len="med"/>
                      <a:tailEnd type="none" w="med" len="med"/>
                    </a:lnL>
                    <a:lnR cmpd="sng" algn="ctr" cap="flat" w="9525">
                      <a:solidFill>
                        <a:srgbClr val="D3DCD9"/>
                      </a:solidFill>
                      <a:prstDash val="solid"/>
                      <a:round/>
                      <a:headEnd type="none" w="med" len="med"/>
                      <a:tailEnd type="none" w="med" len="med"/>
                    </a:lnR>
                    <a:lnT cmpd="sng" algn="ctr" cap="flat" w="9525">
                      <a:solidFill>
                        <a:srgbClr val="D3DCD9"/>
                      </a:solidFill>
                      <a:prstDash val="solid"/>
                      <a:round/>
                      <a:headEnd type="none" w="med" len="med"/>
                      <a:tailEnd type="none" w="med" len="med"/>
                    </a:lnT>
                    <a:lnB cmpd="sng" algn="ctr" cap="flat" w="9525">
                      <a:solidFill>
                        <a:srgbClr val="D3DCD9"/>
                      </a:solidFill>
                      <a:prstDash val="solid"/>
                      <a:round/>
                      <a:headEnd type="none" w="med" len="med"/>
                      <a:tailEnd type="none" w="med" len="med"/>
                    </a:lnB>
                    <a:solidFill>
                      <a:srgbClr val="FDFDFB"/>
                    </a:solidFill>
                  </a:tcPr>
                </a:tc>
              </a:tr>
            </a:tbl>
          </a:graphicData>
        </a:graphic>
      </p:graphicFrame>
      <p:sp>
        <p:nvSpPr>
          <p:cNvPr name="TextBox 5" id="5"/>
          <p:cNvSpPr txBox="true"/>
          <p:nvPr/>
        </p:nvSpPr>
        <p:spPr>
          <a:xfrm rot="0">
            <a:off x="1220724" y="8298180"/>
            <a:ext cx="15841980" cy="548640"/>
          </a:xfrm>
          <a:prstGeom prst="rect">
            <a:avLst/>
          </a:prstGeom>
        </p:spPr>
        <p:txBody>
          <a:bodyPr anchor="t" rtlCol="false" tIns="0" lIns="0" bIns="0" rIns="0">
            <a:spAutoFit/>
          </a:bodyPr>
          <a:lstStyle/>
          <a:p>
            <a:pPr algn="l">
              <a:lnSpc>
                <a:spcPts val="2160"/>
              </a:lnSpc>
            </a:pPr>
            <a:r>
              <a:rPr lang="en-US" sz="1800" i="true">
                <a:solidFill>
                  <a:srgbClr val="5B6770"/>
                </a:solidFill>
                <a:latin typeface="IBM Plex Sans Italics"/>
                <a:ea typeface="IBM Plex Sans Italics"/>
                <a:cs typeface="IBM Plex Sans Italics"/>
                <a:sym typeface="IBM Plex Sans Italics"/>
              </a:rPr>
              <a:t>Every result screen carries the same line in Urdu and English: 'This is guidance, not a diagnosis. Please see a doctor.'</a:t>
            </a:r>
          </a:p>
        </p:txBody>
      </p:sp>
      <p:sp>
        <p:nvSpPr>
          <p:cNvPr name="TextBox 6" id="6"/>
          <p:cNvSpPr txBox="true"/>
          <p:nvPr/>
        </p:nvSpPr>
        <p:spPr>
          <a:xfrm rot="0">
            <a:off x="1220724" y="9354312"/>
            <a:ext cx="11658600" cy="356616"/>
          </a:xfrm>
          <a:prstGeom prst="rect">
            <a:avLst/>
          </a:prstGeom>
        </p:spPr>
        <p:txBody>
          <a:bodyPr anchor="t" rtlCol="false" tIns="0" lIns="0" bIns="0" rIns="0">
            <a:spAutoFit/>
          </a:bodyPr>
          <a:lstStyle/>
          <a:p>
            <a:pPr algn="l">
              <a:lnSpc>
                <a:spcPts val="2160"/>
              </a:lnSpc>
            </a:pPr>
            <a:r>
              <a:rPr lang="en-US" sz="1800">
                <a:solidFill>
                  <a:srgbClr val="5B6770"/>
                </a:solidFill>
                <a:latin typeface="IBM Plex Sans"/>
                <a:ea typeface="IBM Plex Sans"/>
                <a:cs typeface="IBM Plex Sans"/>
                <a:sym typeface="IBM Plex Sans"/>
              </a:rPr>
              <a:t>Community Health Triage &amp; Digital Disease Referral · Chakwal, Pakistan</a:t>
            </a:r>
          </a:p>
        </p:txBody>
      </p:sp>
      <p:sp>
        <p:nvSpPr>
          <p:cNvPr name="TextBox 7" id="7"/>
          <p:cNvSpPr txBox="true"/>
          <p:nvPr/>
        </p:nvSpPr>
        <p:spPr>
          <a:xfrm rot="0">
            <a:off x="15691104" y="9354312"/>
            <a:ext cx="1371600" cy="356616"/>
          </a:xfrm>
          <a:prstGeom prst="rect">
            <a:avLst/>
          </a:prstGeom>
        </p:spPr>
        <p:txBody>
          <a:bodyPr anchor="t" rtlCol="false" tIns="0" lIns="0" bIns="0" rIns="0">
            <a:spAutoFit/>
          </a:bodyPr>
          <a:lstStyle/>
          <a:p>
            <a:pPr algn="r">
              <a:lnSpc>
                <a:spcPts val="2160"/>
              </a:lnSpc>
            </a:pPr>
            <a:r>
              <a:rPr lang="en-US" sz="1800">
                <a:solidFill>
                  <a:srgbClr val="5B6770"/>
                </a:solidFill>
                <a:latin typeface="IBM Plex Sans"/>
                <a:ea typeface="IBM Plex Sans"/>
                <a:cs typeface="IBM Plex Sans"/>
                <a:sym typeface="IBM Plex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AF0EE"/>
        </a:solidFill>
      </p:bgPr>
    </p:bg>
    <p:spTree>
      <p:nvGrpSpPr>
        <p:cNvPr id="1" name=""/>
        <p:cNvGrpSpPr/>
        <p:nvPr/>
      </p:nvGrpSpPr>
      <p:grpSpPr>
        <a:xfrm>
          <a:off x="0" y="0"/>
          <a:ext cx="0" cy="0"/>
          <a:chOff x="0" y="0"/>
          <a:chExt cx="0" cy="0"/>
        </a:xfrm>
      </p:grpSpPr>
      <p:sp>
        <p:nvSpPr>
          <p:cNvPr name="TextBox 2" id="2"/>
          <p:cNvSpPr txBox="true"/>
          <p:nvPr/>
        </p:nvSpPr>
        <p:spPr>
          <a:xfrm rot="0">
            <a:off x="1220724" y="1220724"/>
            <a:ext cx="15841980" cy="356616"/>
          </a:xfrm>
          <a:prstGeom prst="rect">
            <a:avLst/>
          </a:prstGeom>
        </p:spPr>
        <p:txBody>
          <a:bodyPr anchor="t" rtlCol="false" tIns="0" lIns="0" bIns="0" rIns="0">
            <a:spAutoFit/>
          </a:bodyPr>
          <a:lstStyle/>
          <a:p>
            <a:pPr algn="l">
              <a:lnSpc>
                <a:spcPts val="2160"/>
              </a:lnSpc>
            </a:pPr>
            <a:r>
              <a:rPr lang="en-US" b="true" sz="1800" spc="225">
                <a:solidFill>
                  <a:srgbClr val="0B6E60"/>
                </a:solidFill>
                <a:latin typeface="IBM Plex Sans Bold"/>
                <a:ea typeface="IBM Plex Sans Bold"/>
                <a:cs typeface="IBM Plex Sans Bold"/>
                <a:sym typeface="IBM Plex Sans Bold"/>
              </a:rPr>
              <a:t>07 · COMMUNITY FIELD WORK</a:t>
            </a:r>
          </a:p>
        </p:txBody>
      </p:sp>
      <p:sp>
        <p:nvSpPr>
          <p:cNvPr name="TextBox 3" id="3"/>
          <p:cNvSpPr txBox="true"/>
          <p:nvPr/>
        </p:nvSpPr>
        <p:spPr>
          <a:xfrm rot="0">
            <a:off x="1220724" y="1678686"/>
            <a:ext cx="15841980" cy="721614"/>
          </a:xfrm>
          <a:prstGeom prst="rect">
            <a:avLst/>
          </a:prstGeom>
        </p:spPr>
        <p:txBody>
          <a:bodyPr anchor="t" rtlCol="false" tIns="0" lIns="0" bIns="0" rIns="0">
            <a:spAutoFit/>
          </a:bodyPr>
          <a:lstStyle/>
          <a:p>
            <a:pPr algn="l">
              <a:lnSpc>
                <a:spcPts val="5758"/>
              </a:lnSpc>
            </a:pPr>
            <a:r>
              <a:rPr lang="en-US" sz="4800" b="true">
                <a:solidFill>
                  <a:srgbClr val="14304A"/>
                </a:solidFill>
                <a:latin typeface="IBM Plex Sans Bold"/>
                <a:ea typeface="IBM Plex Sans Bold"/>
                <a:cs typeface="IBM Plex Sans Bold"/>
                <a:sym typeface="IBM Plex Sans Bold"/>
              </a:rPr>
              <a:t>Taking the app door to door</a:t>
            </a:r>
          </a:p>
        </p:txBody>
      </p:sp>
      <p:grpSp>
        <p:nvGrpSpPr>
          <p:cNvPr name="Group 4" id="4"/>
          <p:cNvGrpSpPr/>
          <p:nvPr/>
        </p:nvGrpSpPr>
        <p:grpSpPr>
          <a:xfrm rot="0">
            <a:off x="1220724" y="2880360"/>
            <a:ext cx="8092440" cy="5417820"/>
            <a:chOff x="0" y="0"/>
            <a:chExt cx="10789920" cy="7223760"/>
          </a:xfrm>
        </p:grpSpPr>
        <p:sp>
          <p:nvSpPr>
            <p:cNvPr name="Freeform 5" id="5"/>
            <p:cNvSpPr/>
            <p:nvPr/>
          </p:nvSpPr>
          <p:spPr>
            <a:xfrm flipH="false" flipV="false" rot="0">
              <a:off x="0" y="0"/>
              <a:ext cx="10789920" cy="7223760"/>
            </a:xfrm>
            <a:custGeom>
              <a:avLst/>
              <a:gdLst/>
              <a:ahLst/>
              <a:cxnLst/>
              <a:rect r="r" b="b" t="t" l="l"/>
              <a:pathLst>
                <a:path h="7223760" w="10789920">
                  <a:moveTo>
                    <a:pt x="0" y="0"/>
                  </a:moveTo>
                  <a:lnTo>
                    <a:pt x="10789920" y="0"/>
                  </a:lnTo>
                  <a:lnTo>
                    <a:pt x="10789920" y="7223760"/>
                  </a:lnTo>
                  <a:lnTo>
                    <a:pt x="0" y="7223760"/>
                  </a:lnTo>
                  <a:lnTo>
                    <a:pt x="0" y="0"/>
                  </a:lnTo>
                  <a:close/>
                </a:path>
              </a:pathLst>
            </a:custGeom>
            <a:blipFill>
              <a:blip r:embed="rId3"/>
              <a:stretch>
                <a:fillRect l="-355" t="0" r="-355" b="0"/>
              </a:stretch>
            </a:blipFill>
          </p:spPr>
        </p:sp>
      </p:grpSp>
      <p:sp>
        <p:nvSpPr>
          <p:cNvPr name="TextBox 6" id="6"/>
          <p:cNvSpPr txBox="true"/>
          <p:nvPr/>
        </p:nvSpPr>
        <p:spPr>
          <a:xfrm rot="0">
            <a:off x="1220724" y="8394192"/>
            <a:ext cx="8092440" cy="548640"/>
          </a:xfrm>
          <a:prstGeom prst="rect">
            <a:avLst/>
          </a:prstGeom>
        </p:spPr>
        <p:txBody>
          <a:bodyPr anchor="t" rtlCol="false" tIns="0" lIns="0" bIns="0" rIns="0">
            <a:spAutoFit/>
          </a:bodyPr>
          <a:lstStyle/>
          <a:p>
            <a:pPr algn="l">
              <a:lnSpc>
                <a:spcPts val="1980"/>
              </a:lnSpc>
            </a:pPr>
            <a:r>
              <a:rPr lang="en-US" sz="1650">
                <a:solidFill>
                  <a:srgbClr val="5B6770"/>
                </a:solidFill>
                <a:latin typeface="IBM Plex Sans"/>
                <a:ea typeface="IBM Plex Sans"/>
                <a:cs typeface="IBM Plex Sans"/>
                <a:sym typeface="IBM Plex Sans"/>
              </a:rPr>
              <a:t>Explaining Chakwal Health Connect to a family at a brick kiln, Chakwal District</a:t>
            </a:r>
          </a:p>
        </p:txBody>
      </p:sp>
      <p:sp>
        <p:nvSpPr>
          <p:cNvPr name="Freeform 7" id="7"/>
          <p:cNvSpPr/>
          <p:nvPr/>
        </p:nvSpPr>
        <p:spPr>
          <a:xfrm flipH="false" flipV="false" rot="0">
            <a:off x="9657274" y="2867854"/>
            <a:ext cx="7431643" cy="1670923"/>
          </a:xfrm>
          <a:custGeom>
            <a:avLst/>
            <a:gdLst/>
            <a:ahLst/>
            <a:cxnLst/>
            <a:rect r="r" b="b" t="t" l="l"/>
            <a:pathLst>
              <a:path h="1670923" w="7431643">
                <a:moveTo>
                  <a:pt x="0" y="0"/>
                </a:moveTo>
                <a:lnTo>
                  <a:pt x="7431643" y="0"/>
                </a:lnTo>
                <a:lnTo>
                  <a:pt x="7431643" y="1670923"/>
                </a:lnTo>
                <a:lnTo>
                  <a:pt x="0" y="16709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996011" y="3275171"/>
            <a:ext cx="801434" cy="801434"/>
          </a:xfrm>
          <a:custGeom>
            <a:avLst/>
            <a:gdLst/>
            <a:ahLst/>
            <a:cxnLst/>
            <a:rect r="r" b="b" t="t" l="l"/>
            <a:pathLst>
              <a:path h="801434" w="801434">
                <a:moveTo>
                  <a:pt x="0" y="0"/>
                </a:moveTo>
                <a:lnTo>
                  <a:pt x="801434" y="0"/>
                </a:lnTo>
                <a:lnTo>
                  <a:pt x="801434" y="801434"/>
                </a:lnTo>
                <a:lnTo>
                  <a:pt x="0" y="8014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10204704" y="3483864"/>
            <a:ext cx="384048" cy="384048"/>
            <a:chOff x="0" y="0"/>
            <a:chExt cx="512064" cy="512064"/>
          </a:xfrm>
        </p:grpSpPr>
        <p:sp>
          <p:nvSpPr>
            <p:cNvPr name="Freeform 10" id="10" descr="preencoded.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8"/>
              <a:stretch>
                <a:fillRect l="0" t="0" r="0" b="0"/>
              </a:stretch>
            </a:blipFill>
          </p:spPr>
        </p:sp>
      </p:grpSp>
      <p:sp>
        <p:nvSpPr>
          <p:cNvPr name="TextBox 11" id="11"/>
          <p:cNvSpPr txBox="true"/>
          <p:nvPr/>
        </p:nvSpPr>
        <p:spPr>
          <a:xfrm rot="0">
            <a:off x="11041380" y="3182112"/>
            <a:ext cx="5760720" cy="438912"/>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Clinical &amp; algorithmic triage</a:t>
            </a:r>
          </a:p>
        </p:txBody>
      </p:sp>
      <p:sp>
        <p:nvSpPr>
          <p:cNvPr name="TextBox 12" id="12"/>
          <p:cNvSpPr txBox="true"/>
          <p:nvPr/>
        </p:nvSpPr>
        <p:spPr>
          <a:xfrm rot="0">
            <a:off x="11041380" y="3648456"/>
            <a:ext cx="5760720" cy="82296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Translated pharmaceutical and clinical knowledge into the offline decision rules and Urdu wording.</a:t>
            </a:r>
          </a:p>
        </p:txBody>
      </p:sp>
      <p:sp>
        <p:nvSpPr>
          <p:cNvPr name="Freeform 13" id="13"/>
          <p:cNvSpPr/>
          <p:nvPr/>
        </p:nvSpPr>
        <p:spPr>
          <a:xfrm flipH="false" flipV="false" rot="0">
            <a:off x="9657274" y="4719514"/>
            <a:ext cx="7431643" cy="1670923"/>
          </a:xfrm>
          <a:custGeom>
            <a:avLst/>
            <a:gdLst/>
            <a:ahLst/>
            <a:cxnLst/>
            <a:rect r="r" b="b" t="t" l="l"/>
            <a:pathLst>
              <a:path h="1670923" w="7431643">
                <a:moveTo>
                  <a:pt x="0" y="0"/>
                </a:moveTo>
                <a:lnTo>
                  <a:pt x="7431643" y="0"/>
                </a:lnTo>
                <a:lnTo>
                  <a:pt x="7431643" y="1670923"/>
                </a:lnTo>
                <a:lnTo>
                  <a:pt x="0" y="16709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9996011" y="5126831"/>
            <a:ext cx="801434" cy="801434"/>
          </a:xfrm>
          <a:custGeom>
            <a:avLst/>
            <a:gdLst/>
            <a:ahLst/>
            <a:cxnLst/>
            <a:rect r="r" b="b" t="t" l="l"/>
            <a:pathLst>
              <a:path h="801434" w="801434">
                <a:moveTo>
                  <a:pt x="0" y="0"/>
                </a:moveTo>
                <a:lnTo>
                  <a:pt x="801434" y="0"/>
                </a:lnTo>
                <a:lnTo>
                  <a:pt x="801434" y="801434"/>
                </a:lnTo>
                <a:lnTo>
                  <a:pt x="0" y="8014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5" id="15"/>
          <p:cNvGrpSpPr/>
          <p:nvPr/>
        </p:nvGrpSpPr>
        <p:grpSpPr>
          <a:xfrm rot="0">
            <a:off x="10204704" y="5335524"/>
            <a:ext cx="384048" cy="384048"/>
            <a:chOff x="0" y="0"/>
            <a:chExt cx="512064" cy="512064"/>
          </a:xfrm>
        </p:grpSpPr>
        <p:sp>
          <p:nvSpPr>
            <p:cNvPr name="Freeform 16" id="16" descr="preencoded.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9"/>
              <a:stretch>
                <a:fillRect l="0" t="0" r="0" b="0"/>
              </a:stretch>
            </a:blipFill>
          </p:spPr>
        </p:sp>
      </p:grpSp>
      <p:sp>
        <p:nvSpPr>
          <p:cNvPr name="TextBox 17" id="17"/>
          <p:cNvSpPr txBox="true"/>
          <p:nvPr/>
        </p:nvSpPr>
        <p:spPr>
          <a:xfrm rot="0">
            <a:off x="11041380" y="5033772"/>
            <a:ext cx="5760720" cy="438912"/>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Door-to-door digital literacy</a:t>
            </a:r>
          </a:p>
        </p:txBody>
      </p:sp>
      <p:sp>
        <p:nvSpPr>
          <p:cNvPr name="TextBox 18" id="18"/>
          <p:cNvSpPr txBox="true"/>
          <p:nvPr/>
        </p:nvSpPr>
        <p:spPr>
          <a:xfrm rot="0">
            <a:off x="11041380" y="5500116"/>
            <a:ext cx="5760720" cy="82296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Trained families on installing the app, entering symptoms and reading the referral screen.</a:t>
            </a:r>
          </a:p>
        </p:txBody>
      </p:sp>
      <p:sp>
        <p:nvSpPr>
          <p:cNvPr name="Freeform 19" id="19"/>
          <p:cNvSpPr/>
          <p:nvPr/>
        </p:nvSpPr>
        <p:spPr>
          <a:xfrm flipH="false" flipV="false" rot="0">
            <a:off x="9657274" y="6571174"/>
            <a:ext cx="7431643" cy="1670923"/>
          </a:xfrm>
          <a:custGeom>
            <a:avLst/>
            <a:gdLst/>
            <a:ahLst/>
            <a:cxnLst/>
            <a:rect r="r" b="b" t="t" l="l"/>
            <a:pathLst>
              <a:path h="1670923" w="7431643">
                <a:moveTo>
                  <a:pt x="0" y="0"/>
                </a:moveTo>
                <a:lnTo>
                  <a:pt x="7431643" y="0"/>
                </a:lnTo>
                <a:lnTo>
                  <a:pt x="7431643" y="1670923"/>
                </a:lnTo>
                <a:lnTo>
                  <a:pt x="0" y="16709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9996011" y="6978491"/>
            <a:ext cx="801434" cy="801434"/>
          </a:xfrm>
          <a:custGeom>
            <a:avLst/>
            <a:gdLst/>
            <a:ahLst/>
            <a:cxnLst/>
            <a:rect r="r" b="b" t="t" l="l"/>
            <a:pathLst>
              <a:path h="801434" w="801434">
                <a:moveTo>
                  <a:pt x="0" y="0"/>
                </a:moveTo>
                <a:lnTo>
                  <a:pt x="801434" y="0"/>
                </a:lnTo>
                <a:lnTo>
                  <a:pt x="801434" y="801434"/>
                </a:lnTo>
                <a:lnTo>
                  <a:pt x="0" y="8014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1" id="21"/>
          <p:cNvGrpSpPr/>
          <p:nvPr/>
        </p:nvGrpSpPr>
        <p:grpSpPr>
          <a:xfrm rot="0">
            <a:off x="10204704" y="7187184"/>
            <a:ext cx="384048" cy="384048"/>
            <a:chOff x="0" y="0"/>
            <a:chExt cx="512064" cy="512064"/>
          </a:xfrm>
        </p:grpSpPr>
        <p:sp>
          <p:nvSpPr>
            <p:cNvPr name="Freeform 22" id="22" descr="preencoded.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10"/>
              <a:stretch>
                <a:fillRect l="0" t="0" r="0" b="0"/>
              </a:stretch>
            </a:blipFill>
          </p:spPr>
        </p:sp>
      </p:grpSp>
      <p:sp>
        <p:nvSpPr>
          <p:cNvPr name="TextBox 23" id="23"/>
          <p:cNvSpPr txBox="true"/>
          <p:nvPr/>
        </p:nvSpPr>
        <p:spPr>
          <a:xfrm rot="0">
            <a:off x="11041380" y="6885432"/>
            <a:ext cx="5760720" cy="438912"/>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Medication &amp; vaccine advocacy</a:t>
            </a:r>
          </a:p>
        </p:txBody>
      </p:sp>
      <p:sp>
        <p:nvSpPr>
          <p:cNvPr name="TextBox 24" id="24"/>
          <p:cNvSpPr txBox="true"/>
          <p:nvPr/>
        </p:nvSpPr>
        <p:spPr>
          <a:xfrm rot="0">
            <a:off x="11041380" y="7351776"/>
            <a:ext cx="5760720" cy="82296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Counselled on fever management, vaccine timing and avoiding unnecessary antibiotics.</a:t>
            </a:r>
          </a:p>
        </p:txBody>
      </p:sp>
      <p:sp>
        <p:nvSpPr>
          <p:cNvPr name="TextBox 25" id="25"/>
          <p:cNvSpPr txBox="true"/>
          <p:nvPr/>
        </p:nvSpPr>
        <p:spPr>
          <a:xfrm rot="0">
            <a:off x="1220724" y="9354312"/>
            <a:ext cx="11658600" cy="356616"/>
          </a:xfrm>
          <a:prstGeom prst="rect">
            <a:avLst/>
          </a:prstGeom>
        </p:spPr>
        <p:txBody>
          <a:bodyPr anchor="t" rtlCol="false" tIns="0" lIns="0" bIns="0" rIns="0">
            <a:spAutoFit/>
          </a:bodyPr>
          <a:lstStyle/>
          <a:p>
            <a:pPr algn="l">
              <a:lnSpc>
                <a:spcPts val="2160"/>
              </a:lnSpc>
            </a:pPr>
            <a:r>
              <a:rPr lang="en-US" sz="1800">
                <a:solidFill>
                  <a:srgbClr val="5B6770"/>
                </a:solidFill>
                <a:latin typeface="IBM Plex Sans"/>
                <a:ea typeface="IBM Plex Sans"/>
                <a:cs typeface="IBM Plex Sans"/>
                <a:sym typeface="IBM Plex Sans"/>
              </a:rPr>
              <a:t>Community Health Triage &amp; Digital Disease Referral · Chakwal, Pakistan</a:t>
            </a:r>
          </a:p>
        </p:txBody>
      </p:sp>
      <p:sp>
        <p:nvSpPr>
          <p:cNvPr name="TextBox 26" id="26"/>
          <p:cNvSpPr txBox="true"/>
          <p:nvPr/>
        </p:nvSpPr>
        <p:spPr>
          <a:xfrm rot="0">
            <a:off x="15691104" y="9354312"/>
            <a:ext cx="1371600" cy="356616"/>
          </a:xfrm>
          <a:prstGeom prst="rect">
            <a:avLst/>
          </a:prstGeom>
        </p:spPr>
        <p:txBody>
          <a:bodyPr anchor="t" rtlCol="false" tIns="0" lIns="0" bIns="0" rIns="0">
            <a:spAutoFit/>
          </a:bodyPr>
          <a:lstStyle/>
          <a:p>
            <a:pPr algn="r">
              <a:lnSpc>
                <a:spcPts val="2160"/>
              </a:lnSpc>
            </a:pPr>
            <a:r>
              <a:rPr lang="en-US" sz="1800">
                <a:solidFill>
                  <a:srgbClr val="5B6770"/>
                </a:solidFill>
                <a:latin typeface="IBM Plex Sans"/>
                <a:ea typeface="IBM Plex Sans"/>
                <a:cs typeface="IBM Plex Sans"/>
                <a:sym typeface="IBM Plex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20724" y="1220724"/>
            <a:ext cx="15841980" cy="356616"/>
          </a:xfrm>
          <a:prstGeom prst="rect">
            <a:avLst/>
          </a:prstGeom>
        </p:spPr>
        <p:txBody>
          <a:bodyPr anchor="t" rtlCol="false" tIns="0" lIns="0" bIns="0" rIns="0">
            <a:spAutoFit/>
          </a:bodyPr>
          <a:lstStyle/>
          <a:p>
            <a:pPr algn="l">
              <a:lnSpc>
                <a:spcPts val="2160"/>
              </a:lnSpc>
            </a:pPr>
            <a:r>
              <a:rPr lang="en-US" b="true" sz="1800" spc="225">
                <a:solidFill>
                  <a:srgbClr val="0B6E60"/>
                </a:solidFill>
                <a:latin typeface="IBM Plex Sans Bold"/>
                <a:ea typeface="IBM Plex Sans Bold"/>
                <a:cs typeface="IBM Plex Sans Bold"/>
                <a:sym typeface="IBM Plex Sans Bold"/>
              </a:rPr>
              <a:t>08 · FIELD PILOT OUTCOMES</a:t>
            </a:r>
          </a:p>
        </p:txBody>
      </p:sp>
      <p:sp>
        <p:nvSpPr>
          <p:cNvPr name="TextBox 3" id="3"/>
          <p:cNvSpPr txBox="true"/>
          <p:nvPr/>
        </p:nvSpPr>
        <p:spPr>
          <a:xfrm rot="0">
            <a:off x="1220724" y="1678686"/>
            <a:ext cx="15841980" cy="721614"/>
          </a:xfrm>
          <a:prstGeom prst="rect">
            <a:avLst/>
          </a:prstGeom>
        </p:spPr>
        <p:txBody>
          <a:bodyPr anchor="t" rtlCol="false" tIns="0" lIns="0" bIns="0" rIns="0">
            <a:spAutoFit/>
          </a:bodyPr>
          <a:lstStyle/>
          <a:p>
            <a:pPr algn="l">
              <a:lnSpc>
                <a:spcPts val="5758"/>
              </a:lnSpc>
            </a:pPr>
            <a:r>
              <a:rPr lang="en-US" sz="4800" b="true">
                <a:solidFill>
                  <a:srgbClr val="14304A"/>
                </a:solidFill>
                <a:latin typeface="IBM Plex Sans Bold"/>
                <a:ea typeface="IBM Plex Sans Bold"/>
                <a:cs typeface="IBM Plex Sans Bold"/>
                <a:sym typeface="IBM Plex Sans Bold"/>
              </a:rPr>
              <a:t>What the Chakwal pilot showed</a:t>
            </a:r>
          </a:p>
        </p:txBody>
      </p:sp>
      <p:sp>
        <p:nvSpPr>
          <p:cNvPr name="Freeform 4" id="4"/>
          <p:cNvSpPr/>
          <p:nvPr/>
        </p:nvSpPr>
        <p:spPr>
          <a:xfrm flipH="false" flipV="false" rot="0">
            <a:off x="1208218" y="2867854"/>
            <a:ext cx="3728323" cy="2425303"/>
          </a:xfrm>
          <a:custGeom>
            <a:avLst/>
            <a:gdLst/>
            <a:ahLst/>
            <a:cxnLst/>
            <a:rect r="r" b="b" t="t" l="l"/>
            <a:pathLst>
              <a:path h="2425303" w="3728323">
                <a:moveTo>
                  <a:pt x="0" y="0"/>
                </a:moveTo>
                <a:lnTo>
                  <a:pt x="3728323" y="0"/>
                </a:lnTo>
                <a:lnTo>
                  <a:pt x="3728323" y="2425303"/>
                </a:lnTo>
                <a:lnTo>
                  <a:pt x="0" y="24253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522476" y="3127248"/>
            <a:ext cx="3099816" cy="822960"/>
            <a:chOff x="0" y="0"/>
            <a:chExt cx="4133088" cy="1097280"/>
          </a:xfrm>
        </p:grpSpPr>
        <p:sp>
          <p:nvSpPr>
            <p:cNvPr name="Freeform 6" id="6"/>
            <p:cNvSpPr/>
            <p:nvPr/>
          </p:nvSpPr>
          <p:spPr>
            <a:xfrm flipH="false" flipV="false" rot="0">
              <a:off x="0" y="0"/>
              <a:ext cx="4133088" cy="1097280"/>
            </a:xfrm>
            <a:custGeom>
              <a:avLst/>
              <a:gdLst/>
              <a:ahLst/>
              <a:cxnLst/>
              <a:rect r="r" b="b" t="t" l="l"/>
              <a:pathLst>
                <a:path h="1097280" w="4133088">
                  <a:moveTo>
                    <a:pt x="0" y="0"/>
                  </a:moveTo>
                  <a:lnTo>
                    <a:pt x="4133088" y="0"/>
                  </a:lnTo>
                  <a:lnTo>
                    <a:pt x="4133088" y="1097280"/>
                  </a:lnTo>
                  <a:lnTo>
                    <a:pt x="0" y="1097280"/>
                  </a:lnTo>
                  <a:close/>
                </a:path>
              </a:pathLst>
            </a:custGeom>
            <a:blipFill>
              <a:blip r:embed="rId5">
                <a:alphaModFix amt="0"/>
              </a:blip>
              <a:stretch>
                <a:fillRect l="0" t="-23342" r="0" b="-23342"/>
              </a:stretch>
            </a:blipFill>
          </p:spPr>
        </p:sp>
      </p:grpSp>
      <p:grpSp>
        <p:nvGrpSpPr>
          <p:cNvPr name="Group 7" id="7"/>
          <p:cNvGrpSpPr/>
          <p:nvPr/>
        </p:nvGrpSpPr>
        <p:grpSpPr>
          <a:xfrm rot="0">
            <a:off x="1522476" y="3127248"/>
            <a:ext cx="3099816" cy="822960"/>
            <a:chOff x="0" y="0"/>
            <a:chExt cx="4133088" cy="1097280"/>
          </a:xfrm>
        </p:grpSpPr>
        <p:sp>
          <p:nvSpPr>
            <p:cNvPr name="Freeform 8" id="8"/>
            <p:cNvSpPr/>
            <p:nvPr/>
          </p:nvSpPr>
          <p:spPr>
            <a:xfrm flipH="false" flipV="false" rot="0">
              <a:off x="0" y="0"/>
              <a:ext cx="4133088" cy="1097280"/>
            </a:xfrm>
            <a:custGeom>
              <a:avLst/>
              <a:gdLst/>
              <a:ahLst/>
              <a:cxnLst/>
              <a:rect r="r" b="b" t="t" l="l"/>
              <a:pathLst>
                <a:path h="1097280" w="4133088">
                  <a:moveTo>
                    <a:pt x="0" y="0"/>
                  </a:moveTo>
                  <a:lnTo>
                    <a:pt x="4133088" y="0"/>
                  </a:lnTo>
                  <a:lnTo>
                    <a:pt x="4133088" y="1097280"/>
                  </a:lnTo>
                  <a:lnTo>
                    <a:pt x="0" y="1097280"/>
                  </a:lnTo>
                  <a:close/>
                </a:path>
              </a:pathLst>
            </a:custGeom>
            <a:blipFill>
              <a:blip r:embed="rId6">
                <a:alphaModFix amt="0"/>
              </a:blip>
              <a:stretch>
                <a:fillRect l="0" t="-23393" r="0" b="-23393"/>
              </a:stretch>
            </a:blipFill>
          </p:spPr>
        </p:sp>
        <p:sp>
          <p:nvSpPr>
            <p:cNvPr name="TextBox 9" id="9"/>
            <p:cNvSpPr txBox="true"/>
            <p:nvPr/>
          </p:nvSpPr>
          <p:spPr>
            <a:xfrm>
              <a:off x="0" y="0"/>
              <a:ext cx="4133088" cy="1097280"/>
            </a:xfrm>
            <a:prstGeom prst="rect">
              <a:avLst/>
            </a:prstGeom>
          </p:spPr>
          <p:txBody>
            <a:bodyPr anchor="ctr" rtlCol="false" tIns="0" lIns="0" bIns="0" rIns="0"/>
            <a:lstStyle/>
            <a:p>
              <a:pPr algn="l">
                <a:lnSpc>
                  <a:spcPts val="5040"/>
                </a:lnSpc>
              </a:pPr>
              <a:r>
                <a:rPr lang="en-US" sz="4200" b="true">
                  <a:solidFill>
                    <a:srgbClr val="0B6E60"/>
                  </a:solidFill>
                  <a:latin typeface="IBM Plex Sans Bold"/>
                  <a:ea typeface="IBM Plex Sans Bold"/>
                  <a:cs typeface="IBM Plex Sans Bold"/>
                  <a:sym typeface="IBM Plex Sans Bold"/>
                </a:rPr>
                <a:t>150+</a:t>
              </a:r>
            </a:p>
          </p:txBody>
        </p:sp>
      </p:grpSp>
      <p:sp>
        <p:nvSpPr>
          <p:cNvPr name="TextBox 10" id="10"/>
          <p:cNvSpPr txBox="true"/>
          <p:nvPr/>
        </p:nvSpPr>
        <p:spPr>
          <a:xfrm rot="0">
            <a:off x="1522476" y="4046220"/>
            <a:ext cx="3099816" cy="109728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households educated in door-to-door pharmacist sessions</a:t>
            </a:r>
          </a:p>
        </p:txBody>
      </p:sp>
      <p:sp>
        <p:nvSpPr>
          <p:cNvPr name="Freeform 11" id="11"/>
          <p:cNvSpPr/>
          <p:nvPr/>
        </p:nvSpPr>
        <p:spPr>
          <a:xfrm flipH="false" flipV="false" rot="0">
            <a:off x="5254438" y="2867854"/>
            <a:ext cx="3728323" cy="2425303"/>
          </a:xfrm>
          <a:custGeom>
            <a:avLst/>
            <a:gdLst/>
            <a:ahLst/>
            <a:cxnLst/>
            <a:rect r="r" b="b" t="t" l="l"/>
            <a:pathLst>
              <a:path h="2425303" w="3728323">
                <a:moveTo>
                  <a:pt x="0" y="0"/>
                </a:moveTo>
                <a:lnTo>
                  <a:pt x="3728323" y="0"/>
                </a:lnTo>
                <a:lnTo>
                  <a:pt x="3728323" y="2425303"/>
                </a:lnTo>
                <a:lnTo>
                  <a:pt x="0" y="24253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2" id="12"/>
          <p:cNvGrpSpPr/>
          <p:nvPr/>
        </p:nvGrpSpPr>
        <p:grpSpPr>
          <a:xfrm rot="0">
            <a:off x="5568696" y="3127248"/>
            <a:ext cx="3099816" cy="822960"/>
            <a:chOff x="0" y="0"/>
            <a:chExt cx="4133088" cy="1097280"/>
          </a:xfrm>
        </p:grpSpPr>
        <p:sp>
          <p:nvSpPr>
            <p:cNvPr name="Freeform 13" id="13"/>
            <p:cNvSpPr/>
            <p:nvPr/>
          </p:nvSpPr>
          <p:spPr>
            <a:xfrm flipH="false" flipV="false" rot="0">
              <a:off x="0" y="0"/>
              <a:ext cx="4133088" cy="1097280"/>
            </a:xfrm>
            <a:custGeom>
              <a:avLst/>
              <a:gdLst/>
              <a:ahLst/>
              <a:cxnLst/>
              <a:rect r="r" b="b" t="t" l="l"/>
              <a:pathLst>
                <a:path h="1097280" w="4133088">
                  <a:moveTo>
                    <a:pt x="0" y="0"/>
                  </a:moveTo>
                  <a:lnTo>
                    <a:pt x="4133088" y="0"/>
                  </a:lnTo>
                  <a:lnTo>
                    <a:pt x="4133088" y="1097280"/>
                  </a:lnTo>
                  <a:lnTo>
                    <a:pt x="0" y="1097280"/>
                  </a:lnTo>
                  <a:close/>
                </a:path>
              </a:pathLst>
            </a:custGeom>
            <a:blipFill>
              <a:blip r:embed="rId5">
                <a:alphaModFix amt="0"/>
              </a:blip>
              <a:stretch>
                <a:fillRect l="0" t="-23342" r="0" b="-23342"/>
              </a:stretch>
            </a:blipFill>
          </p:spPr>
        </p:sp>
      </p:grpSp>
      <p:grpSp>
        <p:nvGrpSpPr>
          <p:cNvPr name="Group 14" id="14"/>
          <p:cNvGrpSpPr/>
          <p:nvPr/>
        </p:nvGrpSpPr>
        <p:grpSpPr>
          <a:xfrm rot="0">
            <a:off x="5568696" y="3127248"/>
            <a:ext cx="3099816" cy="822960"/>
            <a:chOff x="0" y="0"/>
            <a:chExt cx="4133088" cy="1097280"/>
          </a:xfrm>
        </p:grpSpPr>
        <p:sp>
          <p:nvSpPr>
            <p:cNvPr name="Freeform 15" id="15"/>
            <p:cNvSpPr/>
            <p:nvPr/>
          </p:nvSpPr>
          <p:spPr>
            <a:xfrm flipH="false" flipV="false" rot="0">
              <a:off x="0" y="0"/>
              <a:ext cx="4133088" cy="1097280"/>
            </a:xfrm>
            <a:custGeom>
              <a:avLst/>
              <a:gdLst/>
              <a:ahLst/>
              <a:cxnLst/>
              <a:rect r="r" b="b" t="t" l="l"/>
              <a:pathLst>
                <a:path h="1097280" w="4133088">
                  <a:moveTo>
                    <a:pt x="0" y="0"/>
                  </a:moveTo>
                  <a:lnTo>
                    <a:pt x="4133088" y="0"/>
                  </a:lnTo>
                  <a:lnTo>
                    <a:pt x="4133088" y="1097280"/>
                  </a:lnTo>
                  <a:lnTo>
                    <a:pt x="0" y="1097280"/>
                  </a:lnTo>
                  <a:close/>
                </a:path>
              </a:pathLst>
            </a:custGeom>
            <a:blipFill>
              <a:blip r:embed="rId6">
                <a:alphaModFix amt="0"/>
              </a:blip>
              <a:stretch>
                <a:fillRect l="0" t="-23393" r="0" b="-23393"/>
              </a:stretch>
            </a:blipFill>
          </p:spPr>
        </p:sp>
        <p:sp>
          <p:nvSpPr>
            <p:cNvPr name="TextBox 16" id="16"/>
            <p:cNvSpPr txBox="true"/>
            <p:nvPr/>
          </p:nvSpPr>
          <p:spPr>
            <a:xfrm>
              <a:off x="0" y="0"/>
              <a:ext cx="4133088" cy="1097280"/>
            </a:xfrm>
            <a:prstGeom prst="rect">
              <a:avLst/>
            </a:prstGeom>
          </p:spPr>
          <p:txBody>
            <a:bodyPr anchor="ctr" rtlCol="false" tIns="0" lIns="0" bIns="0" rIns="0"/>
            <a:lstStyle/>
            <a:p>
              <a:pPr algn="l">
                <a:lnSpc>
                  <a:spcPts val="5040"/>
                </a:lnSpc>
              </a:pPr>
              <a:r>
                <a:rPr lang="en-US" sz="4200" b="true">
                  <a:solidFill>
                    <a:srgbClr val="0B6E60"/>
                  </a:solidFill>
                  <a:latin typeface="IBM Plex Sans Bold"/>
                  <a:ea typeface="IBM Plex Sans Bold"/>
                  <a:cs typeface="IBM Plex Sans Bold"/>
                  <a:sym typeface="IBM Plex Sans Bold"/>
                </a:rPr>
                <a:t>88%</a:t>
              </a:r>
            </a:p>
          </p:txBody>
        </p:sp>
      </p:grpSp>
      <p:sp>
        <p:nvSpPr>
          <p:cNvPr name="TextBox 17" id="17"/>
          <p:cNvSpPr txBox="true"/>
          <p:nvPr/>
        </p:nvSpPr>
        <p:spPr>
          <a:xfrm rot="0">
            <a:off x="5568696" y="4046220"/>
            <a:ext cx="3099816" cy="109728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accuracy in identifying early viral warning signs (triage recognition)</a:t>
            </a:r>
          </a:p>
        </p:txBody>
      </p:sp>
      <p:sp>
        <p:nvSpPr>
          <p:cNvPr name="Freeform 18" id="18"/>
          <p:cNvSpPr/>
          <p:nvPr/>
        </p:nvSpPr>
        <p:spPr>
          <a:xfrm flipH="false" flipV="false" rot="0">
            <a:off x="9300658" y="2867854"/>
            <a:ext cx="3728323" cy="2425303"/>
          </a:xfrm>
          <a:custGeom>
            <a:avLst/>
            <a:gdLst/>
            <a:ahLst/>
            <a:cxnLst/>
            <a:rect r="r" b="b" t="t" l="l"/>
            <a:pathLst>
              <a:path h="2425303" w="3728323">
                <a:moveTo>
                  <a:pt x="0" y="0"/>
                </a:moveTo>
                <a:lnTo>
                  <a:pt x="3728323" y="0"/>
                </a:lnTo>
                <a:lnTo>
                  <a:pt x="3728323" y="2425303"/>
                </a:lnTo>
                <a:lnTo>
                  <a:pt x="0" y="24253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9614916" y="3127248"/>
            <a:ext cx="3099816" cy="822960"/>
            <a:chOff x="0" y="0"/>
            <a:chExt cx="4133088" cy="1097280"/>
          </a:xfrm>
        </p:grpSpPr>
        <p:sp>
          <p:nvSpPr>
            <p:cNvPr name="Freeform 20" id="20"/>
            <p:cNvSpPr/>
            <p:nvPr/>
          </p:nvSpPr>
          <p:spPr>
            <a:xfrm flipH="false" flipV="false" rot="0">
              <a:off x="0" y="0"/>
              <a:ext cx="4133088" cy="1097280"/>
            </a:xfrm>
            <a:custGeom>
              <a:avLst/>
              <a:gdLst/>
              <a:ahLst/>
              <a:cxnLst/>
              <a:rect r="r" b="b" t="t" l="l"/>
              <a:pathLst>
                <a:path h="1097280" w="4133088">
                  <a:moveTo>
                    <a:pt x="0" y="0"/>
                  </a:moveTo>
                  <a:lnTo>
                    <a:pt x="4133088" y="0"/>
                  </a:lnTo>
                  <a:lnTo>
                    <a:pt x="4133088" y="1097280"/>
                  </a:lnTo>
                  <a:lnTo>
                    <a:pt x="0" y="1097280"/>
                  </a:lnTo>
                  <a:close/>
                </a:path>
              </a:pathLst>
            </a:custGeom>
            <a:blipFill>
              <a:blip r:embed="rId5">
                <a:alphaModFix amt="0"/>
              </a:blip>
              <a:stretch>
                <a:fillRect l="0" t="-23342" r="0" b="-23342"/>
              </a:stretch>
            </a:blipFill>
          </p:spPr>
        </p:sp>
      </p:grpSp>
      <p:grpSp>
        <p:nvGrpSpPr>
          <p:cNvPr name="Group 21" id="21"/>
          <p:cNvGrpSpPr/>
          <p:nvPr/>
        </p:nvGrpSpPr>
        <p:grpSpPr>
          <a:xfrm rot="0">
            <a:off x="9614916" y="3127248"/>
            <a:ext cx="3099816" cy="822960"/>
            <a:chOff x="0" y="0"/>
            <a:chExt cx="4133088" cy="1097280"/>
          </a:xfrm>
        </p:grpSpPr>
        <p:sp>
          <p:nvSpPr>
            <p:cNvPr name="Freeform 22" id="22"/>
            <p:cNvSpPr/>
            <p:nvPr/>
          </p:nvSpPr>
          <p:spPr>
            <a:xfrm flipH="false" flipV="false" rot="0">
              <a:off x="0" y="0"/>
              <a:ext cx="4133088" cy="1097280"/>
            </a:xfrm>
            <a:custGeom>
              <a:avLst/>
              <a:gdLst/>
              <a:ahLst/>
              <a:cxnLst/>
              <a:rect r="r" b="b" t="t" l="l"/>
              <a:pathLst>
                <a:path h="1097280" w="4133088">
                  <a:moveTo>
                    <a:pt x="0" y="0"/>
                  </a:moveTo>
                  <a:lnTo>
                    <a:pt x="4133088" y="0"/>
                  </a:lnTo>
                  <a:lnTo>
                    <a:pt x="4133088" y="1097280"/>
                  </a:lnTo>
                  <a:lnTo>
                    <a:pt x="0" y="1097280"/>
                  </a:lnTo>
                  <a:close/>
                </a:path>
              </a:pathLst>
            </a:custGeom>
            <a:blipFill>
              <a:blip r:embed="rId6">
                <a:alphaModFix amt="0"/>
              </a:blip>
              <a:stretch>
                <a:fillRect l="0" t="-23393" r="0" b="-23393"/>
              </a:stretch>
            </a:blipFill>
          </p:spPr>
        </p:sp>
        <p:sp>
          <p:nvSpPr>
            <p:cNvPr name="TextBox 23" id="23"/>
            <p:cNvSpPr txBox="true"/>
            <p:nvPr/>
          </p:nvSpPr>
          <p:spPr>
            <a:xfrm>
              <a:off x="0" y="0"/>
              <a:ext cx="4133088" cy="1097280"/>
            </a:xfrm>
            <a:prstGeom prst="rect">
              <a:avLst/>
            </a:prstGeom>
          </p:spPr>
          <p:txBody>
            <a:bodyPr anchor="ctr" rtlCol="false" tIns="0" lIns="0" bIns="0" rIns="0"/>
            <a:lstStyle/>
            <a:p>
              <a:pPr algn="l">
                <a:lnSpc>
                  <a:spcPts val="5040"/>
                </a:lnSpc>
              </a:pPr>
              <a:r>
                <a:rPr lang="en-US" sz="4200" b="true">
                  <a:solidFill>
                    <a:srgbClr val="0B6E60"/>
                  </a:solidFill>
                  <a:latin typeface="IBM Plex Sans Bold"/>
                  <a:ea typeface="IBM Plex Sans Bold"/>
                  <a:cs typeface="IBM Plex Sans Bold"/>
                  <a:sym typeface="IBM Plex Sans Bold"/>
                </a:rPr>
                <a:t>92%</a:t>
              </a:r>
            </a:p>
          </p:txBody>
        </p:sp>
      </p:grpSp>
      <p:sp>
        <p:nvSpPr>
          <p:cNvPr name="TextBox 24" id="24"/>
          <p:cNvSpPr txBox="true"/>
          <p:nvPr/>
        </p:nvSpPr>
        <p:spPr>
          <a:xfrm rot="0">
            <a:off x="9614916" y="4046220"/>
            <a:ext cx="3099816" cy="109728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referral compliance: users who sought physician care after an app prompt</a:t>
            </a:r>
          </a:p>
        </p:txBody>
      </p:sp>
      <p:sp>
        <p:nvSpPr>
          <p:cNvPr name="Freeform 25" id="25"/>
          <p:cNvSpPr/>
          <p:nvPr/>
        </p:nvSpPr>
        <p:spPr>
          <a:xfrm flipH="false" flipV="false" rot="0">
            <a:off x="13346878" y="2867854"/>
            <a:ext cx="3728323" cy="2425303"/>
          </a:xfrm>
          <a:custGeom>
            <a:avLst/>
            <a:gdLst/>
            <a:ahLst/>
            <a:cxnLst/>
            <a:rect r="r" b="b" t="t" l="l"/>
            <a:pathLst>
              <a:path h="2425303" w="3728323">
                <a:moveTo>
                  <a:pt x="0" y="0"/>
                </a:moveTo>
                <a:lnTo>
                  <a:pt x="3728323" y="0"/>
                </a:lnTo>
                <a:lnTo>
                  <a:pt x="3728323" y="2425303"/>
                </a:lnTo>
                <a:lnTo>
                  <a:pt x="0" y="24253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6" id="26"/>
          <p:cNvGrpSpPr/>
          <p:nvPr/>
        </p:nvGrpSpPr>
        <p:grpSpPr>
          <a:xfrm rot="0">
            <a:off x="13661136" y="3127248"/>
            <a:ext cx="3099816" cy="822960"/>
            <a:chOff x="0" y="0"/>
            <a:chExt cx="4133088" cy="1097280"/>
          </a:xfrm>
        </p:grpSpPr>
        <p:sp>
          <p:nvSpPr>
            <p:cNvPr name="Freeform 27" id="27"/>
            <p:cNvSpPr/>
            <p:nvPr/>
          </p:nvSpPr>
          <p:spPr>
            <a:xfrm flipH="false" flipV="false" rot="0">
              <a:off x="0" y="0"/>
              <a:ext cx="4133088" cy="1097280"/>
            </a:xfrm>
            <a:custGeom>
              <a:avLst/>
              <a:gdLst/>
              <a:ahLst/>
              <a:cxnLst/>
              <a:rect r="r" b="b" t="t" l="l"/>
              <a:pathLst>
                <a:path h="1097280" w="4133088">
                  <a:moveTo>
                    <a:pt x="0" y="0"/>
                  </a:moveTo>
                  <a:lnTo>
                    <a:pt x="4133088" y="0"/>
                  </a:lnTo>
                  <a:lnTo>
                    <a:pt x="4133088" y="1097280"/>
                  </a:lnTo>
                  <a:lnTo>
                    <a:pt x="0" y="1097280"/>
                  </a:lnTo>
                  <a:close/>
                </a:path>
              </a:pathLst>
            </a:custGeom>
            <a:blipFill>
              <a:blip r:embed="rId5">
                <a:alphaModFix amt="0"/>
              </a:blip>
              <a:stretch>
                <a:fillRect l="0" t="-23342" r="0" b="-23342"/>
              </a:stretch>
            </a:blipFill>
          </p:spPr>
        </p:sp>
      </p:grpSp>
      <p:grpSp>
        <p:nvGrpSpPr>
          <p:cNvPr name="Group 28" id="28"/>
          <p:cNvGrpSpPr/>
          <p:nvPr/>
        </p:nvGrpSpPr>
        <p:grpSpPr>
          <a:xfrm rot="0">
            <a:off x="13661136" y="3127248"/>
            <a:ext cx="3099816" cy="822960"/>
            <a:chOff x="0" y="0"/>
            <a:chExt cx="4133088" cy="1097280"/>
          </a:xfrm>
        </p:grpSpPr>
        <p:sp>
          <p:nvSpPr>
            <p:cNvPr name="Freeform 29" id="29"/>
            <p:cNvSpPr/>
            <p:nvPr/>
          </p:nvSpPr>
          <p:spPr>
            <a:xfrm flipH="false" flipV="false" rot="0">
              <a:off x="0" y="0"/>
              <a:ext cx="4133088" cy="1097280"/>
            </a:xfrm>
            <a:custGeom>
              <a:avLst/>
              <a:gdLst/>
              <a:ahLst/>
              <a:cxnLst/>
              <a:rect r="r" b="b" t="t" l="l"/>
              <a:pathLst>
                <a:path h="1097280" w="4133088">
                  <a:moveTo>
                    <a:pt x="0" y="0"/>
                  </a:moveTo>
                  <a:lnTo>
                    <a:pt x="4133088" y="0"/>
                  </a:lnTo>
                  <a:lnTo>
                    <a:pt x="4133088" y="1097280"/>
                  </a:lnTo>
                  <a:lnTo>
                    <a:pt x="0" y="1097280"/>
                  </a:lnTo>
                  <a:close/>
                </a:path>
              </a:pathLst>
            </a:custGeom>
            <a:blipFill>
              <a:blip r:embed="rId6">
                <a:alphaModFix amt="0"/>
              </a:blip>
              <a:stretch>
                <a:fillRect l="0" t="-23393" r="0" b="-23393"/>
              </a:stretch>
            </a:blipFill>
          </p:spPr>
        </p:sp>
        <p:sp>
          <p:nvSpPr>
            <p:cNvPr name="TextBox 30" id="30"/>
            <p:cNvSpPr txBox="true"/>
            <p:nvPr/>
          </p:nvSpPr>
          <p:spPr>
            <a:xfrm>
              <a:off x="0" y="0"/>
              <a:ext cx="4133088" cy="1097280"/>
            </a:xfrm>
            <a:prstGeom prst="rect">
              <a:avLst/>
            </a:prstGeom>
          </p:spPr>
          <p:txBody>
            <a:bodyPr anchor="ctr" rtlCol="false" tIns="0" lIns="0" bIns="0" rIns="0"/>
            <a:lstStyle/>
            <a:p>
              <a:pPr algn="l">
                <a:lnSpc>
                  <a:spcPts val="3960"/>
                </a:lnSpc>
              </a:pPr>
              <a:r>
                <a:rPr lang="en-US" sz="3300" b="true">
                  <a:solidFill>
                    <a:srgbClr val="0B6E60"/>
                  </a:solidFill>
                  <a:latin typeface="IBM Plex Sans Bold"/>
                  <a:ea typeface="IBM Plex Sans Bold"/>
                  <a:cs typeface="IBM Plex Sans Bold"/>
                  <a:sym typeface="IBM Plex Sans Bold"/>
                </a:rPr>
                <a:t>72 → 24 hrs</a:t>
              </a:r>
            </a:p>
          </p:txBody>
        </p:sp>
      </p:grpSp>
      <p:sp>
        <p:nvSpPr>
          <p:cNvPr name="TextBox 31" id="31"/>
          <p:cNvSpPr txBox="true"/>
          <p:nvPr/>
        </p:nvSpPr>
        <p:spPr>
          <a:xfrm rot="0">
            <a:off x="13661136" y="4046220"/>
            <a:ext cx="3099816" cy="109728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target reduction in symptom-to-physician delay for the next phase</a:t>
            </a:r>
          </a:p>
        </p:txBody>
      </p:sp>
      <p:sp>
        <p:nvSpPr>
          <p:cNvPr name="TextBox 32" id="32"/>
          <p:cNvSpPr txBox="true"/>
          <p:nvPr/>
        </p:nvSpPr>
        <p:spPr>
          <a:xfrm rot="0">
            <a:off x="1220724" y="5692140"/>
            <a:ext cx="7406640" cy="356616"/>
          </a:xfrm>
          <a:prstGeom prst="rect">
            <a:avLst/>
          </a:prstGeom>
        </p:spPr>
        <p:txBody>
          <a:bodyPr anchor="t" rtlCol="false" tIns="0" lIns="0" bIns="0" rIns="0">
            <a:spAutoFit/>
          </a:bodyPr>
          <a:lstStyle/>
          <a:p>
            <a:pPr algn="l">
              <a:lnSpc>
                <a:spcPts val="2160"/>
              </a:lnSpc>
            </a:pPr>
            <a:r>
              <a:rPr lang="en-US" b="true" sz="1800" spc="225">
                <a:solidFill>
                  <a:srgbClr val="0B6E60"/>
                </a:solidFill>
                <a:latin typeface="IBM Plex Sans Bold"/>
                <a:ea typeface="IBM Plex Sans Bold"/>
                <a:cs typeface="IBM Plex Sans Bold"/>
                <a:sym typeface="IBM Plex Sans Bold"/>
              </a:rPr>
              <a:t>OUTCOMES ACHIEVED</a:t>
            </a:r>
          </a:p>
        </p:txBody>
      </p:sp>
      <p:grpSp>
        <p:nvGrpSpPr>
          <p:cNvPr name="Group 33" id="33"/>
          <p:cNvGrpSpPr/>
          <p:nvPr/>
        </p:nvGrpSpPr>
        <p:grpSpPr>
          <a:xfrm rot="0">
            <a:off x="1220724" y="6295644"/>
            <a:ext cx="356616" cy="356616"/>
            <a:chOff x="0" y="0"/>
            <a:chExt cx="475488" cy="475488"/>
          </a:xfrm>
        </p:grpSpPr>
        <p:sp>
          <p:nvSpPr>
            <p:cNvPr name="Freeform 34" id="34" descr="preencoded.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7"/>
              <a:stretch>
                <a:fillRect l="0" t="0" r="0" b="0"/>
              </a:stretch>
            </a:blipFill>
          </p:spPr>
        </p:sp>
      </p:grpSp>
      <p:sp>
        <p:nvSpPr>
          <p:cNvPr name="TextBox 35" id="35"/>
          <p:cNvSpPr txBox="true"/>
          <p:nvPr/>
        </p:nvSpPr>
        <p:spPr>
          <a:xfrm rot="0">
            <a:off x="1796796" y="6240780"/>
            <a:ext cx="6858000" cy="617220"/>
          </a:xfrm>
          <a:prstGeom prst="rect">
            <a:avLst/>
          </a:prstGeom>
        </p:spPr>
        <p:txBody>
          <a:bodyPr anchor="t" rtlCol="false" tIns="0" lIns="0" bIns="0" rIns="0">
            <a:spAutoFit/>
          </a:bodyPr>
          <a:lstStyle/>
          <a:p>
            <a:pPr algn="l">
              <a:lnSpc>
                <a:spcPts val="2340"/>
              </a:lnSpc>
            </a:pPr>
            <a:r>
              <a:rPr lang="en-US" sz="1950">
                <a:solidFill>
                  <a:srgbClr val="14304A"/>
                </a:solidFill>
                <a:latin typeface="IBM Plex Sans"/>
                <a:ea typeface="IBM Plex Sans"/>
                <a:cs typeface="IBM Plex Sans"/>
                <a:sym typeface="IBM Plex Sans"/>
              </a:rPr>
              <a:t>Families could name the warning signs of measles and dengue after one session</a:t>
            </a:r>
          </a:p>
        </p:txBody>
      </p:sp>
      <p:grpSp>
        <p:nvGrpSpPr>
          <p:cNvPr name="Group 36" id="36"/>
          <p:cNvGrpSpPr/>
          <p:nvPr/>
        </p:nvGrpSpPr>
        <p:grpSpPr>
          <a:xfrm rot="0">
            <a:off x="1220724" y="6981444"/>
            <a:ext cx="356616" cy="356616"/>
            <a:chOff x="0" y="0"/>
            <a:chExt cx="475488" cy="475488"/>
          </a:xfrm>
        </p:grpSpPr>
        <p:sp>
          <p:nvSpPr>
            <p:cNvPr name="Freeform 37" id="37" descr="preencoded.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7"/>
              <a:stretch>
                <a:fillRect l="0" t="0" r="0" b="0"/>
              </a:stretch>
            </a:blipFill>
          </p:spPr>
        </p:sp>
      </p:grpSp>
      <p:sp>
        <p:nvSpPr>
          <p:cNvPr name="TextBox 38" id="38"/>
          <p:cNvSpPr txBox="true"/>
          <p:nvPr/>
        </p:nvSpPr>
        <p:spPr>
          <a:xfrm rot="0">
            <a:off x="1796796" y="6926580"/>
            <a:ext cx="6858000" cy="617220"/>
          </a:xfrm>
          <a:prstGeom prst="rect">
            <a:avLst/>
          </a:prstGeom>
        </p:spPr>
        <p:txBody>
          <a:bodyPr anchor="t" rtlCol="false" tIns="0" lIns="0" bIns="0" rIns="0">
            <a:spAutoFit/>
          </a:bodyPr>
          <a:lstStyle/>
          <a:p>
            <a:pPr algn="l">
              <a:lnSpc>
                <a:spcPts val="2340"/>
              </a:lnSpc>
            </a:pPr>
            <a:r>
              <a:rPr lang="en-US" sz="1950">
                <a:solidFill>
                  <a:srgbClr val="14304A"/>
                </a:solidFill>
                <a:latin typeface="IBM Plex Sans"/>
                <a:ea typeface="IBM Plex Sans"/>
                <a:cs typeface="IBM Plex Sans"/>
                <a:sym typeface="IBM Plex Sans"/>
              </a:rPr>
              <a:t>Referred users reached the correct facility type on the first visit</a:t>
            </a:r>
          </a:p>
        </p:txBody>
      </p:sp>
      <p:grpSp>
        <p:nvGrpSpPr>
          <p:cNvPr name="Group 39" id="39"/>
          <p:cNvGrpSpPr/>
          <p:nvPr/>
        </p:nvGrpSpPr>
        <p:grpSpPr>
          <a:xfrm rot="0">
            <a:off x="1220724" y="7667244"/>
            <a:ext cx="356616" cy="356616"/>
            <a:chOff x="0" y="0"/>
            <a:chExt cx="475488" cy="475488"/>
          </a:xfrm>
        </p:grpSpPr>
        <p:sp>
          <p:nvSpPr>
            <p:cNvPr name="Freeform 40" id="40" descr="preencoded.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7"/>
              <a:stretch>
                <a:fillRect l="0" t="0" r="0" b="0"/>
              </a:stretch>
            </a:blipFill>
          </p:spPr>
        </p:sp>
      </p:grpSp>
      <p:sp>
        <p:nvSpPr>
          <p:cNvPr name="TextBox 41" id="41"/>
          <p:cNvSpPr txBox="true"/>
          <p:nvPr/>
        </p:nvSpPr>
        <p:spPr>
          <a:xfrm rot="0">
            <a:off x="1796796" y="7612380"/>
            <a:ext cx="6858000" cy="617220"/>
          </a:xfrm>
          <a:prstGeom prst="rect">
            <a:avLst/>
          </a:prstGeom>
        </p:spPr>
        <p:txBody>
          <a:bodyPr anchor="t" rtlCol="false" tIns="0" lIns="0" bIns="0" rIns="0">
            <a:spAutoFit/>
          </a:bodyPr>
          <a:lstStyle/>
          <a:p>
            <a:pPr algn="l">
              <a:lnSpc>
                <a:spcPts val="2340"/>
              </a:lnSpc>
            </a:pPr>
            <a:r>
              <a:rPr lang="en-US" sz="1950">
                <a:solidFill>
                  <a:srgbClr val="14304A"/>
                </a:solidFill>
                <a:latin typeface="IBM Plex Sans"/>
                <a:ea typeface="IBM Plex Sans"/>
                <a:cs typeface="IBM Plex Sans"/>
                <a:sym typeface="IBM Plex Sans"/>
              </a:rPr>
              <a:t>Fewer reports of antibiotics being bought for viral fever</a:t>
            </a:r>
          </a:p>
        </p:txBody>
      </p:sp>
      <p:grpSp>
        <p:nvGrpSpPr>
          <p:cNvPr name="Group 42" id="42"/>
          <p:cNvGrpSpPr/>
          <p:nvPr/>
        </p:nvGrpSpPr>
        <p:grpSpPr>
          <a:xfrm rot="0">
            <a:off x="1220724" y="8353044"/>
            <a:ext cx="356616" cy="356616"/>
            <a:chOff x="0" y="0"/>
            <a:chExt cx="475488" cy="475488"/>
          </a:xfrm>
        </p:grpSpPr>
        <p:sp>
          <p:nvSpPr>
            <p:cNvPr name="Freeform 43" id="43" descr="preencoded.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7"/>
              <a:stretch>
                <a:fillRect l="0" t="0" r="0" b="0"/>
              </a:stretch>
            </a:blipFill>
          </p:spPr>
        </p:sp>
      </p:grpSp>
      <p:sp>
        <p:nvSpPr>
          <p:cNvPr name="TextBox 44" id="44"/>
          <p:cNvSpPr txBox="true"/>
          <p:nvPr/>
        </p:nvSpPr>
        <p:spPr>
          <a:xfrm rot="0">
            <a:off x="1796796" y="8298180"/>
            <a:ext cx="6858000" cy="617220"/>
          </a:xfrm>
          <a:prstGeom prst="rect">
            <a:avLst/>
          </a:prstGeom>
        </p:spPr>
        <p:txBody>
          <a:bodyPr anchor="t" rtlCol="false" tIns="0" lIns="0" bIns="0" rIns="0">
            <a:spAutoFit/>
          </a:bodyPr>
          <a:lstStyle/>
          <a:p>
            <a:pPr algn="l">
              <a:lnSpc>
                <a:spcPts val="2340"/>
              </a:lnSpc>
            </a:pPr>
            <a:r>
              <a:rPr lang="en-US" sz="1950">
                <a:solidFill>
                  <a:srgbClr val="14304A"/>
                </a:solidFill>
                <a:latin typeface="IBM Plex Sans"/>
                <a:ea typeface="IBM Plex Sans"/>
                <a:cs typeface="IBM Plex Sans"/>
                <a:sym typeface="IBM Plex Sans"/>
              </a:rPr>
              <a:t>Vaccine reminders led to catch-up MR doses for unvaccinated siblings</a:t>
            </a:r>
          </a:p>
        </p:txBody>
      </p:sp>
      <p:sp>
        <p:nvSpPr>
          <p:cNvPr name="Freeform 45" id="45"/>
          <p:cNvSpPr/>
          <p:nvPr/>
        </p:nvSpPr>
        <p:spPr>
          <a:xfrm flipH="false" flipV="false" rot="0">
            <a:off x="9382954" y="5542474"/>
            <a:ext cx="7692247" cy="3385423"/>
          </a:xfrm>
          <a:custGeom>
            <a:avLst/>
            <a:gdLst/>
            <a:ahLst/>
            <a:cxnLst/>
            <a:rect r="r" b="b" t="t" l="l"/>
            <a:pathLst>
              <a:path h="3385423" w="7692247">
                <a:moveTo>
                  <a:pt x="0" y="0"/>
                </a:moveTo>
                <a:lnTo>
                  <a:pt x="7692247" y="0"/>
                </a:lnTo>
                <a:lnTo>
                  <a:pt x="7692247" y="3385423"/>
                </a:lnTo>
                <a:lnTo>
                  <a:pt x="0" y="33854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46" id="46"/>
          <p:cNvSpPr txBox="true"/>
          <p:nvPr/>
        </p:nvSpPr>
        <p:spPr>
          <a:xfrm rot="0">
            <a:off x="9806940" y="5897880"/>
            <a:ext cx="6844284" cy="356616"/>
          </a:xfrm>
          <a:prstGeom prst="rect">
            <a:avLst/>
          </a:prstGeom>
        </p:spPr>
        <p:txBody>
          <a:bodyPr anchor="t" rtlCol="false" tIns="0" lIns="0" bIns="0" rIns="0">
            <a:spAutoFit/>
          </a:bodyPr>
          <a:lstStyle/>
          <a:p>
            <a:pPr algn="l">
              <a:lnSpc>
                <a:spcPts val="2160"/>
              </a:lnSpc>
            </a:pPr>
            <a:r>
              <a:rPr lang="en-US" b="true" sz="1800" spc="225">
                <a:solidFill>
                  <a:srgbClr val="7FD1C0"/>
                </a:solidFill>
                <a:latin typeface="IBM Plex Sans Bold"/>
                <a:ea typeface="IBM Plex Sans Bold"/>
                <a:cs typeface="IBM Plex Sans Bold"/>
                <a:sym typeface="IBM Plex Sans Bold"/>
              </a:rPr>
              <a:t>HOW RESULTS WERE MEASURED</a:t>
            </a:r>
          </a:p>
        </p:txBody>
      </p:sp>
      <p:sp>
        <p:nvSpPr>
          <p:cNvPr name="TextBox 47" id="47"/>
          <p:cNvSpPr txBox="true"/>
          <p:nvPr/>
        </p:nvSpPr>
        <p:spPr>
          <a:xfrm rot="0">
            <a:off x="9806940" y="6377940"/>
            <a:ext cx="6844284" cy="2400300"/>
          </a:xfrm>
          <a:prstGeom prst="rect">
            <a:avLst/>
          </a:prstGeom>
        </p:spPr>
        <p:txBody>
          <a:bodyPr anchor="t" rtlCol="false" tIns="0" lIns="0" bIns="0" rIns="0">
            <a:spAutoFit/>
          </a:bodyPr>
          <a:lstStyle/>
          <a:p>
            <a:pPr algn="l" marL="380048" indent="-126682" lvl="2">
              <a:lnSpc>
                <a:spcPts val="2160"/>
              </a:lnSpc>
              <a:buFont typeface="Arial"/>
              <a:buChar char="⚬"/>
            </a:pPr>
            <a:r>
              <a:rPr lang="en-US" sz="1800">
                <a:solidFill>
                  <a:srgbClr val="F7F6F2"/>
                </a:solidFill>
                <a:latin typeface="IBM Plex Sans"/>
                <a:ea typeface="IBM Plex Sans"/>
                <a:cs typeface="IBM Plex Sans"/>
                <a:sym typeface="IBM Plex Sans"/>
              </a:rPr>
              <a:t>Short pre/post questionnaire at each household session</a:t>
            </a:r>
          </a:p>
          <a:p>
            <a:pPr algn="l" marL="380048" indent="-126682" lvl="2">
              <a:lnSpc>
                <a:spcPts val="2160"/>
              </a:lnSpc>
              <a:buFont typeface="Arial"/>
              <a:buChar char="⚬"/>
            </a:pPr>
            <a:r>
              <a:rPr lang="en-US" sz="1800">
                <a:solidFill>
                  <a:srgbClr val="F7F6F2"/>
                </a:solidFill>
                <a:latin typeface="IBM Plex Sans"/>
                <a:ea typeface="IBM Plex Sans"/>
                <a:cs typeface="IBM Plex Sans"/>
                <a:sym typeface="IBM Plex Sans"/>
              </a:rPr>
              <a:t>Follow-up call or visit 7 days after any referral prompt</a:t>
            </a:r>
          </a:p>
          <a:p>
            <a:pPr algn="l" marL="380048" indent="-126682" lvl="2">
              <a:lnSpc>
                <a:spcPts val="2160"/>
              </a:lnSpc>
              <a:buFont typeface="Arial"/>
              <a:buChar char="⚬"/>
            </a:pPr>
            <a:r>
              <a:rPr lang="en-US" sz="1800">
                <a:solidFill>
                  <a:srgbClr val="F7F6F2"/>
                </a:solidFill>
                <a:latin typeface="IBM Plex Sans"/>
                <a:ea typeface="IBM Plex Sans"/>
                <a:cs typeface="IBM Plex Sans"/>
                <a:sym typeface="IBM Plex Sans"/>
              </a:rPr>
              <a:t>Anonymised app logs: symptom entries, risk levels, referrals</a:t>
            </a:r>
          </a:p>
          <a:p>
            <a:pPr algn="l" marL="380048" indent="-126682" lvl="2">
              <a:lnSpc>
                <a:spcPts val="2160"/>
              </a:lnSpc>
              <a:buFont typeface="Arial"/>
              <a:buChar char="⚬"/>
            </a:pPr>
            <a:r>
              <a:rPr lang="en-US" sz="1800">
                <a:solidFill>
                  <a:srgbClr val="F7F6F2"/>
                </a:solidFill>
                <a:latin typeface="IBM Plex Sans"/>
                <a:ea typeface="IBM Plex Sans"/>
                <a:cs typeface="IBM Plex Sans"/>
                <a:sym typeface="IBM Plex Sans"/>
              </a:rPr>
              <a:t>Facility check with the BHU in-charge for referred cases</a:t>
            </a:r>
          </a:p>
        </p:txBody>
      </p:sp>
      <p:sp>
        <p:nvSpPr>
          <p:cNvPr name="TextBox 48" id="48"/>
          <p:cNvSpPr txBox="true"/>
          <p:nvPr/>
        </p:nvSpPr>
        <p:spPr>
          <a:xfrm rot="0">
            <a:off x="1220724" y="9354312"/>
            <a:ext cx="11658600" cy="356616"/>
          </a:xfrm>
          <a:prstGeom prst="rect">
            <a:avLst/>
          </a:prstGeom>
        </p:spPr>
        <p:txBody>
          <a:bodyPr anchor="t" rtlCol="false" tIns="0" lIns="0" bIns="0" rIns="0">
            <a:spAutoFit/>
          </a:bodyPr>
          <a:lstStyle/>
          <a:p>
            <a:pPr algn="l">
              <a:lnSpc>
                <a:spcPts val="2160"/>
              </a:lnSpc>
            </a:pPr>
            <a:r>
              <a:rPr lang="en-US" sz="1800">
                <a:solidFill>
                  <a:srgbClr val="5B6770"/>
                </a:solidFill>
                <a:latin typeface="IBM Plex Sans"/>
                <a:ea typeface="IBM Plex Sans"/>
                <a:cs typeface="IBM Plex Sans"/>
                <a:sym typeface="IBM Plex Sans"/>
              </a:rPr>
              <a:t>Community Health Triage &amp; Digital Disease Referral · Chakwal, Pakistan</a:t>
            </a:r>
          </a:p>
        </p:txBody>
      </p:sp>
      <p:sp>
        <p:nvSpPr>
          <p:cNvPr name="TextBox 49" id="49"/>
          <p:cNvSpPr txBox="true"/>
          <p:nvPr/>
        </p:nvSpPr>
        <p:spPr>
          <a:xfrm rot="0">
            <a:off x="15691104" y="9354312"/>
            <a:ext cx="1371600" cy="356616"/>
          </a:xfrm>
          <a:prstGeom prst="rect">
            <a:avLst/>
          </a:prstGeom>
        </p:spPr>
        <p:txBody>
          <a:bodyPr anchor="t" rtlCol="false" tIns="0" lIns="0" bIns="0" rIns="0">
            <a:spAutoFit/>
          </a:bodyPr>
          <a:lstStyle/>
          <a:p>
            <a:pPr algn="r">
              <a:lnSpc>
                <a:spcPts val="2160"/>
              </a:lnSpc>
            </a:pPr>
            <a:r>
              <a:rPr lang="en-US" sz="1800">
                <a:solidFill>
                  <a:srgbClr val="5B6770"/>
                </a:solidFill>
                <a:latin typeface="IBM Plex Sans"/>
                <a:ea typeface="IBM Plex Sans"/>
                <a:cs typeface="IBM Plex Sans"/>
                <a:sym typeface="IBM Plex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AF0EE"/>
        </a:solidFill>
      </p:bgPr>
    </p:bg>
    <p:spTree>
      <p:nvGrpSpPr>
        <p:cNvPr id="1" name=""/>
        <p:cNvGrpSpPr/>
        <p:nvPr/>
      </p:nvGrpSpPr>
      <p:grpSpPr>
        <a:xfrm>
          <a:off x="0" y="0"/>
          <a:ext cx="0" cy="0"/>
          <a:chOff x="0" y="0"/>
          <a:chExt cx="0" cy="0"/>
        </a:xfrm>
      </p:grpSpPr>
      <p:sp>
        <p:nvSpPr>
          <p:cNvPr name="TextBox 2" id="2"/>
          <p:cNvSpPr txBox="true"/>
          <p:nvPr/>
        </p:nvSpPr>
        <p:spPr>
          <a:xfrm rot="0">
            <a:off x="1220724" y="1220724"/>
            <a:ext cx="15841980" cy="356616"/>
          </a:xfrm>
          <a:prstGeom prst="rect">
            <a:avLst/>
          </a:prstGeom>
        </p:spPr>
        <p:txBody>
          <a:bodyPr anchor="t" rtlCol="false" tIns="0" lIns="0" bIns="0" rIns="0">
            <a:spAutoFit/>
          </a:bodyPr>
          <a:lstStyle/>
          <a:p>
            <a:pPr algn="l">
              <a:lnSpc>
                <a:spcPts val="2160"/>
              </a:lnSpc>
            </a:pPr>
            <a:r>
              <a:rPr lang="en-US" b="true" sz="1800" spc="225">
                <a:solidFill>
                  <a:srgbClr val="0B6E60"/>
                </a:solidFill>
                <a:latin typeface="IBM Plex Sans Bold"/>
                <a:ea typeface="IBM Plex Sans Bold"/>
                <a:cs typeface="IBM Plex Sans Bold"/>
                <a:sym typeface="IBM Plex Sans Bold"/>
              </a:rPr>
              <a:t>09 · ETHICS, SAFETY &amp; DATA PROTECTION</a:t>
            </a:r>
          </a:p>
        </p:txBody>
      </p:sp>
      <p:sp>
        <p:nvSpPr>
          <p:cNvPr name="TextBox 3" id="3"/>
          <p:cNvSpPr txBox="true"/>
          <p:nvPr/>
        </p:nvSpPr>
        <p:spPr>
          <a:xfrm rot="0">
            <a:off x="1220724" y="1678686"/>
            <a:ext cx="15841980" cy="721614"/>
          </a:xfrm>
          <a:prstGeom prst="rect">
            <a:avLst/>
          </a:prstGeom>
        </p:spPr>
        <p:txBody>
          <a:bodyPr anchor="t" rtlCol="false" tIns="0" lIns="0" bIns="0" rIns="0">
            <a:spAutoFit/>
          </a:bodyPr>
          <a:lstStyle/>
          <a:p>
            <a:pPr algn="l">
              <a:lnSpc>
                <a:spcPts val="5758"/>
              </a:lnSpc>
            </a:pPr>
            <a:r>
              <a:rPr lang="en-US" sz="4800" b="true">
                <a:solidFill>
                  <a:srgbClr val="14304A"/>
                </a:solidFill>
                <a:latin typeface="IBM Plex Sans Bold"/>
                <a:ea typeface="IBM Plex Sans Bold"/>
                <a:cs typeface="IBM Plex Sans Bold"/>
                <a:sym typeface="IBM Plex Sans Bold"/>
              </a:rPr>
              <a:t>Protecting the people who use the app</a:t>
            </a:r>
          </a:p>
        </p:txBody>
      </p:sp>
      <p:sp>
        <p:nvSpPr>
          <p:cNvPr name="Freeform 4" id="4"/>
          <p:cNvSpPr/>
          <p:nvPr/>
        </p:nvSpPr>
        <p:spPr>
          <a:xfrm flipH="false" flipV="false" rot="0">
            <a:off x="1208218" y="2867854"/>
            <a:ext cx="7747111" cy="1739503"/>
          </a:xfrm>
          <a:custGeom>
            <a:avLst/>
            <a:gdLst/>
            <a:ahLst/>
            <a:cxnLst/>
            <a:rect r="r" b="b" t="t" l="l"/>
            <a:pathLst>
              <a:path h="1739503" w="7747111">
                <a:moveTo>
                  <a:pt x="0" y="0"/>
                </a:moveTo>
                <a:lnTo>
                  <a:pt x="7747111" y="0"/>
                </a:lnTo>
                <a:lnTo>
                  <a:pt x="7747111" y="1739503"/>
                </a:lnTo>
                <a:lnTo>
                  <a:pt x="0" y="17395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46955" y="3302603"/>
            <a:ext cx="801434" cy="801434"/>
          </a:xfrm>
          <a:custGeom>
            <a:avLst/>
            <a:gdLst/>
            <a:ahLst/>
            <a:cxnLst/>
            <a:rect r="r" b="b" t="t" l="l"/>
            <a:pathLst>
              <a:path h="801434" w="801434">
                <a:moveTo>
                  <a:pt x="0" y="0"/>
                </a:moveTo>
                <a:lnTo>
                  <a:pt x="801434" y="0"/>
                </a:lnTo>
                <a:lnTo>
                  <a:pt x="801434" y="801434"/>
                </a:lnTo>
                <a:lnTo>
                  <a:pt x="0" y="8014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755648" y="3511296"/>
            <a:ext cx="384048" cy="384048"/>
            <a:chOff x="0" y="0"/>
            <a:chExt cx="512064" cy="512064"/>
          </a:xfrm>
        </p:grpSpPr>
        <p:sp>
          <p:nvSpPr>
            <p:cNvPr name="Freeform 7" id="7" descr="preencoded.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7"/>
              <a:stretch>
                <a:fillRect l="0" t="0" r="0" b="0"/>
              </a:stretch>
            </a:blipFill>
          </p:spPr>
        </p:sp>
      </p:grpSp>
      <p:sp>
        <p:nvSpPr>
          <p:cNvPr name="TextBox 8" id="8"/>
          <p:cNvSpPr txBox="true"/>
          <p:nvPr/>
        </p:nvSpPr>
        <p:spPr>
          <a:xfrm rot="0">
            <a:off x="2592324" y="3182112"/>
            <a:ext cx="6007608" cy="438912"/>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Guidance, not diagnosis</a:t>
            </a:r>
          </a:p>
        </p:txBody>
      </p:sp>
      <p:sp>
        <p:nvSpPr>
          <p:cNvPr name="TextBox 9" id="9"/>
          <p:cNvSpPr txBox="true"/>
          <p:nvPr/>
        </p:nvSpPr>
        <p:spPr>
          <a:xfrm rot="0">
            <a:off x="2592324" y="3648456"/>
            <a:ext cx="6007608" cy="850392"/>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Every result advises physician review; the app never names a treatment or dose.</a:t>
            </a:r>
          </a:p>
        </p:txBody>
      </p:sp>
      <p:sp>
        <p:nvSpPr>
          <p:cNvPr name="Freeform 10" id="10"/>
          <p:cNvSpPr/>
          <p:nvPr/>
        </p:nvSpPr>
        <p:spPr>
          <a:xfrm flipH="false" flipV="false" rot="0">
            <a:off x="9341806" y="2867854"/>
            <a:ext cx="7747111" cy="1739503"/>
          </a:xfrm>
          <a:custGeom>
            <a:avLst/>
            <a:gdLst/>
            <a:ahLst/>
            <a:cxnLst/>
            <a:rect r="r" b="b" t="t" l="l"/>
            <a:pathLst>
              <a:path h="1739503" w="7747111">
                <a:moveTo>
                  <a:pt x="0" y="0"/>
                </a:moveTo>
                <a:lnTo>
                  <a:pt x="7747111" y="0"/>
                </a:lnTo>
                <a:lnTo>
                  <a:pt x="7747111" y="1739503"/>
                </a:lnTo>
                <a:lnTo>
                  <a:pt x="0" y="17395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9680543" y="3302603"/>
            <a:ext cx="801434" cy="801434"/>
          </a:xfrm>
          <a:custGeom>
            <a:avLst/>
            <a:gdLst/>
            <a:ahLst/>
            <a:cxnLst/>
            <a:rect r="r" b="b" t="t" l="l"/>
            <a:pathLst>
              <a:path h="801434" w="801434">
                <a:moveTo>
                  <a:pt x="0" y="0"/>
                </a:moveTo>
                <a:lnTo>
                  <a:pt x="801434" y="0"/>
                </a:lnTo>
                <a:lnTo>
                  <a:pt x="801434" y="801434"/>
                </a:lnTo>
                <a:lnTo>
                  <a:pt x="0" y="8014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9889236" y="3511296"/>
            <a:ext cx="384048" cy="384048"/>
            <a:chOff x="0" y="0"/>
            <a:chExt cx="512064" cy="512064"/>
          </a:xfrm>
        </p:grpSpPr>
        <p:sp>
          <p:nvSpPr>
            <p:cNvPr name="Freeform 13" id="13" descr="preencoded.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8"/>
              <a:stretch>
                <a:fillRect l="0" t="0" r="0" b="0"/>
              </a:stretch>
            </a:blipFill>
          </p:spPr>
        </p:sp>
      </p:grpSp>
      <p:sp>
        <p:nvSpPr>
          <p:cNvPr name="TextBox 14" id="14"/>
          <p:cNvSpPr txBox="true"/>
          <p:nvPr/>
        </p:nvSpPr>
        <p:spPr>
          <a:xfrm rot="0">
            <a:off x="10725912" y="3182112"/>
            <a:ext cx="6007608" cy="438912"/>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Danger signs override everything</a:t>
            </a:r>
          </a:p>
        </p:txBody>
      </p:sp>
      <p:sp>
        <p:nvSpPr>
          <p:cNvPr name="TextBox 15" id="15"/>
          <p:cNvSpPr txBox="true"/>
          <p:nvPr/>
        </p:nvSpPr>
        <p:spPr>
          <a:xfrm rot="0">
            <a:off x="10725912" y="3648456"/>
            <a:ext cx="6007608" cy="850392"/>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Drowsiness, fits, fast breathing or bleeding always trigger an emergency referral.</a:t>
            </a:r>
          </a:p>
        </p:txBody>
      </p:sp>
      <p:sp>
        <p:nvSpPr>
          <p:cNvPr name="Freeform 16" id="16"/>
          <p:cNvSpPr/>
          <p:nvPr/>
        </p:nvSpPr>
        <p:spPr>
          <a:xfrm flipH="false" flipV="false" rot="0">
            <a:off x="1208218" y="4856674"/>
            <a:ext cx="7747111" cy="1739503"/>
          </a:xfrm>
          <a:custGeom>
            <a:avLst/>
            <a:gdLst/>
            <a:ahLst/>
            <a:cxnLst/>
            <a:rect r="r" b="b" t="t" l="l"/>
            <a:pathLst>
              <a:path h="1739503" w="7747111">
                <a:moveTo>
                  <a:pt x="0" y="0"/>
                </a:moveTo>
                <a:lnTo>
                  <a:pt x="7747111" y="0"/>
                </a:lnTo>
                <a:lnTo>
                  <a:pt x="7747111" y="1739503"/>
                </a:lnTo>
                <a:lnTo>
                  <a:pt x="0" y="17395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1546955" y="5291423"/>
            <a:ext cx="801434" cy="801434"/>
          </a:xfrm>
          <a:custGeom>
            <a:avLst/>
            <a:gdLst/>
            <a:ahLst/>
            <a:cxnLst/>
            <a:rect r="r" b="b" t="t" l="l"/>
            <a:pathLst>
              <a:path h="801434" w="801434">
                <a:moveTo>
                  <a:pt x="0" y="0"/>
                </a:moveTo>
                <a:lnTo>
                  <a:pt x="801434" y="0"/>
                </a:lnTo>
                <a:lnTo>
                  <a:pt x="801434" y="801434"/>
                </a:lnTo>
                <a:lnTo>
                  <a:pt x="0" y="8014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8" id="18"/>
          <p:cNvGrpSpPr/>
          <p:nvPr/>
        </p:nvGrpSpPr>
        <p:grpSpPr>
          <a:xfrm rot="0">
            <a:off x="1755648" y="5500116"/>
            <a:ext cx="384048" cy="384048"/>
            <a:chOff x="0" y="0"/>
            <a:chExt cx="512064" cy="512064"/>
          </a:xfrm>
        </p:grpSpPr>
        <p:sp>
          <p:nvSpPr>
            <p:cNvPr name="Freeform 19" id="19" descr="preencoded.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9"/>
              <a:stretch>
                <a:fillRect l="0" t="0" r="0" b="0"/>
              </a:stretch>
            </a:blipFill>
          </p:spPr>
        </p:sp>
      </p:grpSp>
      <p:sp>
        <p:nvSpPr>
          <p:cNvPr name="TextBox 20" id="20"/>
          <p:cNvSpPr txBox="true"/>
          <p:nvPr/>
        </p:nvSpPr>
        <p:spPr>
          <a:xfrm rot="0">
            <a:off x="2592324" y="5170932"/>
            <a:ext cx="6007608" cy="438912"/>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Minimal, anonymous data</a:t>
            </a:r>
          </a:p>
        </p:txBody>
      </p:sp>
      <p:sp>
        <p:nvSpPr>
          <p:cNvPr name="TextBox 21" id="21"/>
          <p:cNvSpPr txBox="true"/>
          <p:nvPr/>
        </p:nvSpPr>
        <p:spPr>
          <a:xfrm rot="0">
            <a:off x="2592324" y="5637276"/>
            <a:ext cx="6007608" cy="850392"/>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No names or phone numbers stored; symptom logs are anonymised before any sharing.</a:t>
            </a:r>
          </a:p>
        </p:txBody>
      </p:sp>
      <p:sp>
        <p:nvSpPr>
          <p:cNvPr name="Freeform 22" id="22"/>
          <p:cNvSpPr/>
          <p:nvPr/>
        </p:nvSpPr>
        <p:spPr>
          <a:xfrm flipH="false" flipV="false" rot="0">
            <a:off x="9341806" y="4856674"/>
            <a:ext cx="7747111" cy="1739503"/>
          </a:xfrm>
          <a:custGeom>
            <a:avLst/>
            <a:gdLst/>
            <a:ahLst/>
            <a:cxnLst/>
            <a:rect r="r" b="b" t="t" l="l"/>
            <a:pathLst>
              <a:path h="1739503" w="7747111">
                <a:moveTo>
                  <a:pt x="0" y="0"/>
                </a:moveTo>
                <a:lnTo>
                  <a:pt x="7747111" y="0"/>
                </a:lnTo>
                <a:lnTo>
                  <a:pt x="7747111" y="1739503"/>
                </a:lnTo>
                <a:lnTo>
                  <a:pt x="0" y="17395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3" id="23"/>
          <p:cNvSpPr/>
          <p:nvPr/>
        </p:nvSpPr>
        <p:spPr>
          <a:xfrm flipH="false" flipV="false" rot="0">
            <a:off x="9680543" y="5291423"/>
            <a:ext cx="801434" cy="801434"/>
          </a:xfrm>
          <a:custGeom>
            <a:avLst/>
            <a:gdLst/>
            <a:ahLst/>
            <a:cxnLst/>
            <a:rect r="r" b="b" t="t" l="l"/>
            <a:pathLst>
              <a:path h="801434" w="801434">
                <a:moveTo>
                  <a:pt x="0" y="0"/>
                </a:moveTo>
                <a:lnTo>
                  <a:pt x="801434" y="0"/>
                </a:lnTo>
                <a:lnTo>
                  <a:pt x="801434" y="801434"/>
                </a:lnTo>
                <a:lnTo>
                  <a:pt x="0" y="8014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4" id="24"/>
          <p:cNvGrpSpPr/>
          <p:nvPr/>
        </p:nvGrpSpPr>
        <p:grpSpPr>
          <a:xfrm rot="0">
            <a:off x="9889236" y="5500116"/>
            <a:ext cx="384048" cy="384048"/>
            <a:chOff x="0" y="0"/>
            <a:chExt cx="512064" cy="512064"/>
          </a:xfrm>
        </p:grpSpPr>
        <p:sp>
          <p:nvSpPr>
            <p:cNvPr name="Freeform 25" id="25" descr="preencoded.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10"/>
              <a:stretch>
                <a:fillRect l="0" t="0" r="0" b="0"/>
              </a:stretch>
            </a:blipFill>
          </p:spPr>
        </p:sp>
      </p:grpSp>
      <p:sp>
        <p:nvSpPr>
          <p:cNvPr name="TextBox 26" id="26"/>
          <p:cNvSpPr txBox="true"/>
          <p:nvPr/>
        </p:nvSpPr>
        <p:spPr>
          <a:xfrm rot="0">
            <a:off x="10725912" y="5170932"/>
            <a:ext cx="6007608" cy="438912"/>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Informed consent</a:t>
            </a:r>
          </a:p>
        </p:txBody>
      </p:sp>
      <p:sp>
        <p:nvSpPr>
          <p:cNvPr name="TextBox 27" id="27"/>
          <p:cNvSpPr txBox="true"/>
          <p:nvPr/>
        </p:nvSpPr>
        <p:spPr>
          <a:xfrm rot="0">
            <a:off x="10725912" y="5637276"/>
            <a:ext cx="6007608" cy="850392"/>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Verbal consent in Urdu before each household session; families may stop at any time.</a:t>
            </a:r>
          </a:p>
        </p:txBody>
      </p:sp>
      <p:sp>
        <p:nvSpPr>
          <p:cNvPr name="Freeform 28" id="28"/>
          <p:cNvSpPr/>
          <p:nvPr/>
        </p:nvSpPr>
        <p:spPr>
          <a:xfrm flipH="false" flipV="false" rot="0">
            <a:off x="1208218" y="6845494"/>
            <a:ext cx="7747111" cy="1739503"/>
          </a:xfrm>
          <a:custGeom>
            <a:avLst/>
            <a:gdLst/>
            <a:ahLst/>
            <a:cxnLst/>
            <a:rect r="r" b="b" t="t" l="l"/>
            <a:pathLst>
              <a:path h="1739503" w="7747111">
                <a:moveTo>
                  <a:pt x="0" y="0"/>
                </a:moveTo>
                <a:lnTo>
                  <a:pt x="7747111" y="0"/>
                </a:lnTo>
                <a:lnTo>
                  <a:pt x="7747111" y="1739503"/>
                </a:lnTo>
                <a:lnTo>
                  <a:pt x="0" y="17395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9" id="29"/>
          <p:cNvSpPr/>
          <p:nvPr/>
        </p:nvSpPr>
        <p:spPr>
          <a:xfrm flipH="false" flipV="false" rot="0">
            <a:off x="1546955" y="7280243"/>
            <a:ext cx="801434" cy="801434"/>
          </a:xfrm>
          <a:custGeom>
            <a:avLst/>
            <a:gdLst/>
            <a:ahLst/>
            <a:cxnLst/>
            <a:rect r="r" b="b" t="t" l="l"/>
            <a:pathLst>
              <a:path h="801434" w="801434">
                <a:moveTo>
                  <a:pt x="0" y="0"/>
                </a:moveTo>
                <a:lnTo>
                  <a:pt x="801434" y="0"/>
                </a:lnTo>
                <a:lnTo>
                  <a:pt x="801434" y="801434"/>
                </a:lnTo>
                <a:lnTo>
                  <a:pt x="0" y="8014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0" id="30"/>
          <p:cNvGrpSpPr/>
          <p:nvPr/>
        </p:nvGrpSpPr>
        <p:grpSpPr>
          <a:xfrm rot="0">
            <a:off x="1755648" y="7488936"/>
            <a:ext cx="384048" cy="384048"/>
            <a:chOff x="0" y="0"/>
            <a:chExt cx="512064" cy="512064"/>
          </a:xfrm>
        </p:grpSpPr>
        <p:sp>
          <p:nvSpPr>
            <p:cNvPr name="Freeform 31" id="31" descr="preencoded.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11"/>
              <a:stretch>
                <a:fillRect l="0" t="0" r="0" b="0"/>
              </a:stretch>
            </a:blipFill>
          </p:spPr>
        </p:sp>
      </p:grpSp>
      <p:sp>
        <p:nvSpPr>
          <p:cNvPr name="TextBox 32" id="32"/>
          <p:cNvSpPr txBox="true"/>
          <p:nvPr/>
        </p:nvSpPr>
        <p:spPr>
          <a:xfrm rot="0">
            <a:off x="2592324" y="7159752"/>
            <a:ext cx="6007608" cy="438912"/>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Clinically reviewed rules</a:t>
            </a:r>
          </a:p>
        </p:txBody>
      </p:sp>
      <p:sp>
        <p:nvSpPr>
          <p:cNvPr name="TextBox 33" id="33"/>
          <p:cNvSpPr txBox="true"/>
          <p:nvPr/>
        </p:nvSpPr>
        <p:spPr>
          <a:xfrm rot="0">
            <a:off x="2592324" y="7626096"/>
            <a:ext cx="6007608" cy="850392"/>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Decision rules checked by two physicians and updated with district health guidance.</a:t>
            </a:r>
          </a:p>
        </p:txBody>
      </p:sp>
      <p:sp>
        <p:nvSpPr>
          <p:cNvPr name="Freeform 34" id="34"/>
          <p:cNvSpPr/>
          <p:nvPr/>
        </p:nvSpPr>
        <p:spPr>
          <a:xfrm flipH="false" flipV="false" rot="0">
            <a:off x="9341806" y="6845494"/>
            <a:ext cx="7747111" cy="1739503"/>
          </a:xfrm>
          <a:custGeom>
            <a:avLst/>
            <a:gdLst/>
            <a:ahLst/>
            <a:cxnLst/>
            <a:rect r="r" b="b" t="t" l="l"/>
            <a:pathLst>
              <a:path h="1739503" w="7747111">
                <a:moveTo>
                  <a:pt x="0" y="0"/>
                </a:moveTo>
                <a:lnTo>
                  <a:pt x="7747111" y="0"/>
                </a:lnTo>
                <a:lnTo>
                  <a:pt x="7747111" y="1739503"/>
                </a:lnTo>
                <a:lnTo>
                  <a:pt x="0" y="17395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5" id="35"/>
          <p:cNvSpPr/>
          <p:nvPr/>
        </p:nvSpPr>
        <p:spPr>
          <a:xfrm flipH="false" flipV="false" rot="0">
            <a:off x="9680543" y="7280243"/>
            <a:ext cx="801434" cy="801434"/>
          </a:xfrm>
          <a:custGeom>
            <a:avLst/>
            <a:gdLst/>
            <a:ahLst/>
            <a:cxnLst/>
            <a:rect r="r" b="b" t="t" l="l"/>
            <a:pathLst>
              <a:path h="801434" w="801434">
                <a:moveTo>
                  <a:pt x="0" y="0"/>
                </a:moveTo>
                <a:lnTo>
                  <a:pt x="801434" y="0"/>
                </a:lnTo>
                <a:lnTo>
                  <a:pt x="801434" y="801434"/>
                </a:lnTo>
                <a:lnTo>
                  <a:pt x="0" y="8014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6" id="36"/>
          <p:cNvGrpSpPr/>
          <p:nvPr/>
        </p:nvGrpSpPr>
        <p:grpSpPr>
          <a:xfrm rot="0">
            <a:off x="9889236" y="7488936"/>
            <a:ext cx="384048" cy="384048"/>
            <a:chOff x="0" y="0"/>
            <a:chExt cx="512064" cy="512064"/>
          </a:xfrm>
        </p:grpSpPr>
        <p:sp>
          <p:nvSpPr>
            <p:cNvPr name="Freeform 37" id="37" descr="preencoded.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12"/>
              <a:stretch>
                <a:fillRect l="0" t="0" r="0" b="0"/>
              </a:stretch>
            </a:blipFill>
          </p:spPr>
        </p:sp>
      </p:grpSp>
      <p:sp>
        <p:nvSpPr>
          <p:cNvPr name="TextBox 38" id="38"/>
          <p:cNvSpPr txBox="true"/>
          <p:nvPr/>
        </p:nvSpPr>
        <p:spPr>
          <a:xfrm rot="0">
            <a:off x="10725912" y="7159752"/>
            <a:ext cx="6007608" cy="438912"/>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Transparent limitations</a:t>
            </a:r>
          </a:p>
        </p:txBody>
      </p:sp>
      <p:sp>
        <p:nvSpPr>
          <p:cNvPr name="TextBox 39" id="39"/>
          <p:cNvSpPr txBox="true"/>
          <p:nvPr/>
        </p:nvSpPr>
        <p:spPr>
          <a:xfrm rot="0">
            <a:off x="10725912" y="7626096"/>
            <a:ext cx="6007608" cy="850392"/>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Users are told the app has not been validated in a controlled study yet.</a:t>
            </a:r>
          </a:p>
        </p:txBody>
      </p:sp>
      <p:sp>
        <p:nvSpPr>
          <p:cNvPr name="TextBox 40" id="40"/>
          <p:cNvSpPr txBox="true"/>
          <p:nvPr/>
        </p:nvSpPr>
        <p:spPr>
          <a:xfrm rot="0">
            <a:off x="1220724" y="9354312"/>
            <a:ext cx="11658600" cy="356616"/>
          </a:xfrm>
          <a:prstGeom prst="rect">
            <a:avLst/>
          </a:prstGeom>
        </p:spPr>
        <p:txBody>
          <a:bodyPr anchor="t" rtlCol="false" tIns="0" lIns="0" bIns="0" rIns="0">
            <a:spAutoFit/>
          </a:bodyPr>
          <a:lstStyle/>
          <a:p>
            <a:pPr algn="l">
              <a:lnSpc>
                <a:spcPts val="2160"/>
              </a:lnSpc>
            </a:pPr>
            <a:r>
              <a:rPr lang="en-US" sz="1800">
                <a:solidFill>
                  <a:srgbClr val="5B6770"/>
                </a:solidFill>
                <a:latin typeface="IBM Plex Sans"/>
                <a:ea typeface="IBM Plex Sans"/>
                <a:cs typeface="IBM Plex Sans"/>
                <a:sym typeface="IBM Plex Sans"/>
              </a:rPr>
              <a:t>Community Health Triage &amp; Digital Disease Referral · Chakwal, Pakistan</a:t>
            </a:r>
          </a:p>
        </p:txBody>
      </p:sp>
      <p:sp>
        <p:nvSpPr>
          <p:cNvPr name="TextBox 41" id="41"/>
          <p:cNvSpPr txBox="true"/>
          <p:nvPr/>
        </p:nvSpPr>
        <p:spPr>
          <a:xfrm rot="0">
            <a:off x="15691104" y="9354312"/>
            <a:ext cx="1371600" cy="356616"/>
          </a:xfrm>
          <a:prstGeom prst="rect">
            <a:avLst/>
          </a:prstGeom>
        </p:spPr>
        <p:txBody>
          <a:bodyPr anchor="t" rtlCol="false" tIns="0" lIns="0" bIns="0" rIns="0">
            <a:spAutoFit/>
          </a:bodyPr>
          <a:lstStyle/>
          <a:p>
            <a:pPr algn="r">
              <a:lnSpc>
                <a:spcPts val="2160"/>
              </a:lnSpc>
            </a:pPr>
            <a:r>
              <a:rPr lang="en-US" sz="1800">
                <a:solidFill>
                  <a:srgbClr val="5B6770"/>
                </a:solidFill>
                <a:latin typeface="IBM Plex Sans"/>
                <a:ea typeface="IBM Plex Sans"/>
                <a:cs typeface="IBM Plex Sans"/>
                <a:sym typeface="IBM Plex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20724" y="1220724"/>
            <a:ext cx="15841980" cy="356616"/>
          </a:xfrm>
          <a:prstGeom prst="rect">
            <a:avLst/>
          </a:prstGeom>
        </p:spPr>
        <p:txBody>
          <a:bodyPr anchor="t" rtlCol="false" tIns="0" lIns="0" bIns="0" rIns="0">
            <a:spAutoFit/>
          </a:bodyPr>
          <a:lstStyle/>
          <a:p>
            <a:pPr algn="l">
              <a:lnSpc>
                <a:spcPts val="2160"/>
              </a:lnSpc>
            </a:pPr>
            <a:r>
              <a:rPr lang="en-US" b="true" sz="1800" spc="225">
                <a:solidFill>
                  <a:srgbClr val="0B6E60"/>
                </a:solidFill>
                <a:latin typeface="IBM Plex Sans Bold"/>
                <a:ea typeface="IBM Plex Sans Bold"/>
                <a:cs typeface="IBM Plex Sans Bold"/>
                <a:sym typeface="IBM Plex Sans Bold"/>
              </a:rPr>
              <a:t>10 · SUSTAINABILITY &amp; HEALTH-SYSTEM INTEGRATION</a:t>
            </a:r>
          </a:p>
        </p:txBody>
      </p:sp>
      <p:sp>
        <p:nvSpPr>
          <p:cNvPr name="TextBox 3" id="3"/>
          <p:cNvSpPr txBox="true"/>
          <p:nvPr/>
        </p:nvSpPr>
        <p:spPr>
          <a:xfrm rot="0">
            <a:off x="1220724" y="1678686"/>
            <a:ext cx="15841980" cy="721614"/>
          </a:xfrm>
          <a:prstGeom prst="rect">
            <a:avLst/>
          </a:prstGeom>
        </p:spPr>
        <p:txBody>
          <a:bodyPr anchor="t" rtlCol="false" tIns="0" lIns="0" bIns="0" rIns="0">
            <a:spAutoFit/>
          </a:bodyPr>
          <a:lstStyle/>
          <a:p>
            <a:pPr algn="l">
              <a:lnSpc>
                <a:spcPts val="5758"/>
              </a:lnSpc>
            </a:pPr>
            <a:r>
              <a:rPr lang="en-US" sz="4800" b="true">
                <a:solidFill>
                  <a:srgbClr val="14304A"/>
                </a:solidFill>
                <a:latin typeface="IBM Plex Sans Bold"/>
                <a:ea typeface="IBM Plex Sans Bold"/>
                <a:cs typeface="IBM Plex Sans Bold"/>
                <a:sym typeface="IBM Plex Sans Bold"/>
              </a:rPr>
              <a:t>From a pharmacist's pilot to a district tool</a:t>
            </a:r>
          </a:p>
        </p:txBody>
      </p:sp>
      <p:sp>
        <p:nvSpPr>
          <p:cNvPr name="Freeform 4" id="4"/>
          <p:cNvSpPr/>
          <p:nvPr/>
        </p:nvSpPr>
        <p:spPr>
          <a:xfrm flipH="false" flipV="false" rot="0">
            <a:off x="1208218" y="2936434"/>
            <a:ext cx="5072491" cy="3591163"/>
          </a:xfrm>
          <a:custGeom>
            <a:avLst/>
            <a:gdLst/>
            <a:ahLst/>
            <a:cxnLst/>
            <a:rect r="r" b="b" t="t" l="l"/>
            <a:pathLst>
              <a:path h="3591163" w="5072491">
                <a:moveTo>
                  <a:pt x="0" y="0"/>
                </a:moveTo>
                <a:lnTo>
                  <a:pt x="5072491" y="0"/>
                </a:lnTo>
                <a:lnTo>
                  <a:pt x="5072491" y="3591163"/>
                </a:lnTo>
                <a:lnTo>
                  <a:pt x="0" y="35911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15535" y="3343751"/>
            <a:ext cx="856298" cy="856298"/>
          </a:xfrm>
          <a:custGeom>
            <a:avLst/>
            <a:gdLst/>
            <a:ahLst/>
            <a:cxnLst/>
            <a:rect r="r" b="b" t="t" l="l"/>
            <a:pathLst>
              <a:path h="856298" w="856298">
                <a:moveTo>
                  <a:pt x="0" y="0"/>
                </a:moveTo>
                <a:lnTo>
                  <a:pt x="856298" y="0"/>
                </a:lnTo>
                <a:lnTo>
                  <a:pt x="856298" y="856298"/>
                </a:lnTo>
                <a:lnTo>
                  <a:pt x="0" y="8562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837944" y="3566160"/>
            <a:ext cx="411480" cy="411480"/>
            <a:chOff x="0" y="0"/>
            <a:chExt cx="548640" cy="548640"/>
          </a:xfrm>
        </p:grpSpPr>
        <p:sp>
          <p:nvSpPr>
            <p:cNvPr name="Freeform 7" id="7"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7"/>
              <a:stretch>
                <a:fillRect l="0" t="0" r="0" b="0"/>
              </a:stretch>
            </a:blipFill>
          </p:spPr>
        </p:sp>
      </p:grpSp>
      <p:sp>
        <p:nvSpPr>
          <p:cNvPr name="TextBox 8" id="8"/>
          <p:cNvSpPr txBox="true"/>
          <p:nvPr/>
        </p:nvSpPr>
        <p:spPr>
          <a:xfrm rot="0">
            <a:off x="1632204" y="4389120"/>
            <a:ext cx="4224528" cy="548640"/>
          </a:xfrm>
          <a:prstGeom prst="rect">
            <a:avLst/>
          </a:prstGeom>
        </p:spPr>
        <p:txBody>
          <a:bodyPr anchor="t" rtlCol="false" tIns="0" lIns="0" bIns="0" rIns="0">
            <a:spAutoFit/>
          </a:bodyPr>
          <a:lstStyle/>
          <a:p>
            <a:pPr algn="l">
              <a:lnSpc>
                <a:spcPts val="2878"/>
              </a:lnSpc>
            </a:pPr>
            <a:r>
              <a:rPr lang="en-US" sz="2400" b="true">
                <a:solidFill>
                  <a:srgbClr val="14304A"/>
                </a:solidFill>
                <a:latin typeface="IBM Plex Sans Bold"/>
                <a:ea typeface="IBM Plex Sans Bold"/>
                <a:cs typeface="IBM Plex Sans Bold"/>
                <a:sym typeface="IBM Plex Sans Bold"/>
              </a:rPr>
              <a:t>LHW network</a:t>
            </a:r>
          </a:p>
        </p:txBody>
      </p:sp>
      <p:sp>
        <p:nvSpPr>
          <p:cNvPr name="TextBox 9" id="9"/>
          <p:cNvSpPr txBox="true"/>
          <p:nvPr/>
        </p:nvSpPr>
        <p:spPr>
          <a:xfrm rot="0">
            <a:off x="1632204" y="5025390"/>
            <a:ext cx="4224528" cy="1352550"/>
          </a:xfrm>
          <a:prstGeom prst="rect">
            <a:avLst/>
          </a:prstGeom>
        </p:spPr>
        <p:txBody>
          <a:bodyPr anchor="t" rtlCol="false" tIns="0" lIns="0" bIns="0" rIns="0">
            <a:spAutoFit/>
          </a:bodyPr>
          <a:lstStyle/>
          <a:p>
            <a:pPr algn="l">
              <a:lnSpc>
                <a:spcPts val="2250"/>
              </a:lnSpc>
            </a:pPr>
            <a:r>
              <a:rPr lang="en-US" sz="1875">
                <a:solidFill>
                  <a:srgbClr val="3F4B57"/>
                </a:solidFill>
                <a:latin typeface="IBM Plex Sans"/>
                <a:ea typeface="IBM Plex Sans"/>
                <a:cs typeface="IBM Plex Sans"/>
                <a:sym typeface="IBM Plex Sans"/>
              </a:rPr>
              <a:t>Embed app triage into routine LHW household visits so every family is reached, not only smartphone owners.</a:t>
            </a:r>
          </a:p>
        </p:txBody>
      </p:sp>
      <p:sp>
        <p:nvSpPr>
          <p:cNvPr name="Freeform 10" id="10"/>
          <p:cNvSpPr/>
          <p:nvPr/>
        </p:nvSpPr>
        <p:spPr>
          <a:xfrm flipH="false" flipV="false" rot="0">
            <a:off x="6598606" y="2936434"/>
            <a:ext cx="5072491" cy="3591163"/>
          </a:xfrm>
          <a:custGeom>
            <a:avLst/>
            <a:gdLst/>
            <a:ahLst/>
            <a:cxnLst/>
            <a:rect r="r" b="b" t="t" l="l"/>
            <a:pathLst>
              <a:path h="3591163" w="5072491">
                <a:moveTo>
                  <a:pt x="0" y="0"/>
                </a:moveTo>
                <a:lnTo>
                  <a:pt x="5072491" y="0"/>
                </a:lnTo>
                <a:lnTo>
                  <a:pt x="5072491" y="3591163"/>
                </a:lnTo>
                <a:lnTo>
                  <a:pt x="0" y="35911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7005923" y="3343751"/>
            <a:ext cx="856297" cy="856298"/>
          </a:xfrm>
          <a:custGeom>
            <a:avLst/>
            <a:gdLst/>
            <a:ahLst/>
            <a:cxnLst/>
            <a:rect r="r" b="b" t="t" l="l"/>
            <a:pathLst>
              <a:path h="856298" w="856297">
                <a:moveTo>
                  <a:pt x="0" y="0"/>
                </a:moveTo>
                <a:lnTo>
                  <a:pt x="856298" y="0"/>
                </a:lnTo>
                <a:lnTo>
                  <a:pt x="856298" y="856298"/>
                </a:lnTo>
                <a:lnTo>
                  <a:pt x="0" y="8562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7228332" y="3566160"/>
            <a:ext cx="411480" cy="411480"/>
            <a:chOff x="0" y="0"/>
            <a:chExt cx="548640" cy="548640"/>
          </a:xfrm>
        </p:grpSpPr>
        <p:sp>
          <p:nvSpPr>
            <p:cNvPr name="Freeform 13" id="13"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8"/>
              <a:stretch>
                <a:fillRect l="0" t="0" r="0" b="0"/>
              </a:stretch>
            </a:blipFill>
          </p:spPr>
        </p:sp>
      </p:grpSp>
      <p:sp>
        <p:nvSpPr>
          <p:cNvPr name="TextBox 14" id="14"/>
          <p:cNvSpPr txBox="true"/>
          <p:nvPr/>
        </p:nvSpPr>
        <p:spPr>
          <a:xfrm rot="0">
            <a:off x="7022592" y="4389120"/>
            <a:ext cx="4224528" cy="548640"/>
          </a:xfrm>
          <a:prstGeom prst="rect">
            <a:avLst/>
          </a:prstGeom>
        </p:spPr>
        <p:txBody>
          <a:bodyPr anchor="t" rtlCol="false" tIns="0" lIns="0" bIns="0" rIns="0">
            <a:spAutoFit/>
          </a:bodyPr>
          <a:lstStyle/>
          <a:p>
            <a:pPr algn="l">
              <a:lnSpc>
                <a:spcPts val="2878"/>
              </a:lnSpc>
            </a:pPr>
            <a:r>
              <a:rPr lang="en-US" sz="2400" b="true">
                <a:solidFill>
                  <a:srgbClr val="14304A"/>
                </a:solidFill>
                <a:latin typeface="IBM Plex Sans Bold"/>
                <a:ea typeface="IBM Plex Sans Bold"/>
                <a:cs typeface="IBM Plex Sans Bold"/>
                <a:sym typeface="IBM Plex Sans Bold"/>
              </a:rPr>
              <a:t>USSD / SMS gateway</a:t>
            </a:r>
          </a:p>
        </p:txBody>
      </p:sp>
      <p:sp>
        <p:nvSpPr>
          <p:cNvPr name="TextBox 15" id="15"/>
          <p:cNvSpPr txBox="true"/>
          <p:nvPr/>
        </p:nvSpPr>
        <p:spPr>
          <a:xfrm rot="0">
            <a:off x="7022592" y="5025390"/>
            <a:ext cx="4224528" cy="1352550"/>
          </a:xfrm>
          <a:prstGeom prst="rect">
            <a:avLst/>
          </a:prstGeom>
        </p:spPr>
        <p:txBody>
          <a:bodyPr anchor="t" rtlCol="false" tIns="0" lIns="0" bIns="0" rIns="0">
            <a:spAutoFit/>
          </a:bodyPr>
          <a:lstStyle/>
          <a:p>
            <a:pPr algn="l">
              <a:lnSpc>
                <a:spcPts val="2250"/>
              </a:lnSpc>
            </a:pPr>
            <a:r>
              <a:rPr lang="en-US" sz="1875">
                <a:solidFill>
                  <a:srgbClr val="3F4B57"/>
                </a:solidFill>
                <a:latin typeface="IBM Plex Sans"/>
                <a:ea typeface="IBM Plex Sans"/>
                <a:cs typeface="IBM Plex Sans"/>
                <a:sym typeface="IBM Plex Sans"/>
              </a:rPr>
              <a:t>A text-based version of the decision tree for basic feature phones, using the same rules.</a:t>
            </a:r>
          </a:p>
        </p:txBody>
      </p:sp>
      <p:sp>
        <p:nvSpPr>
          <p:cNvPr name="Freeform 16" id="16"/>
          <p:cNvSpPr/>
          <p:nvPr/>
        </p:nvSpPr>
        <p:spPr>
          <a:xfrm flipH="false" flipV="false" rot="0">
            <a:off x="11988994" y="2936434"/>
            <a:ext cx="5072491" cy="3591163"/>
          </a:xfrm>
          <a:custGeom>
            <a:avLst/>
            <a:gdLst/>
            <a:ahLst/>
            <a:cxnLst/>
            <a:rect r="r" b="b" t="t" l="l"/>
            <a:pathLst>
              <a:path h="3591163" w="5072491">
                <a:moveTo>
                  <a:pt x="0" y="0"/>
                </a:moveTo>
                <a:lnTo>
                  <a:pt x="5072491" y="0"/>
                </a:lnTo>
                <a:lnTo>
                  <a:pt x="5072491" y="3591163"/>
                </a:lnTo>
                <a:lnTo>
                  <a:pt x="0" y="35911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12396311" y="3343751"/>
            <a:ext cx="856297" cy="856298"/>
          </a:xfrm>
          <a:custGeom>
            <a:avLst/>
            <a:gdLst/>
            <a:ahLst/>
            <a:cxnLst/>
            <a:rect r="r" b="b" t="t" l="l"/>
            <a:pathLst>
              <a:path h="856298" w="856297">
                <a:moveTo>
                  <a:pt x="0" y="0"/>
                </a:moveTo>
                <a:lnTo>
                  <a:pt x="856298" y="0"/>
                </a:lnTo>
                <a:lnTo>
                  <a:pt x="856298" y="856298"/>
                </a:lnTo>
                <a:lnTo>
                  <a:pt x="0" y="8562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8" id="18"/>
          <p:cNvGrpSpPr/>
          <p:nvPr/>
        </p:nvGrpSpPr>
        <p:grpSpPr>
          <a:xfrm rot="0">
            <a:off x="12618720" y="3566160"/>
            <a:ext cx="411480" cy="411480"/>
            <a:chOff x="0" y="0"/>
            <a:chExt cx="548640" cy="548640"/>
          </a:xfrm>
        </p:grpSpPr>
        <p:sp>
          <p:nvSpPr>
            <p:cNvPr name="Freeform 19" id="19"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9"/>
              <a:stretch>
                <a:fillRect l="0" t="0" r="0" b="0"/>
              </a:stretch>
            </a:blipFill>
          </p:spPr>
        </p:sp>
      </p:grpSp>
      <p:sp>
        <p:nvSpPr>
          <p:cNvPr name="TextBox 20" id="20"/>
          <p:cNvSpPr txBox="true"/>
          <p:nvPr/>
        </p:nvSpPr>
        <p:spPr>
          <a:xfrm rot="0">
            <a:off x="12412980" y="4389120"/>
            <a:ext cx="4224528" cy="548640"/>
          </a:xfrm>
          <a:prstGeom prst="rect">
            <a:avLst/>
          </a:prstGeom>
        </p:spPr>
        <p:txBody>
          <a:bodyPr anchor="t" rtlCol="false" tIns="0" lIns="0" bIns="0" rIns="0">
            <a:spAutoFit/>
          </a:bodyPr>
          <a:lstStyle/>
          <a:p>
            <a:pPr algn="l">
              <a:lnSpc>
                <a:spcPts val="2878"/>
              </a:lnSpc>
            </a:pPr>
            <a:r>
              <a:rPr lang="en-US" sz="2400" b="true">
                <a:solidFill>
                  <a:srgbClr val="14304A"/>
                </a:solidFill>
                <a:latin typeface="IBM Plex Sans Bold"/>
                <a:ea typeface="IBM Plex Sans Bold"/>
                <a:cs typeface="IBM Plex Sans Bold"/>
                <a:sym typeface="IBM Plex Sans Bold"/>
              </a:rPr>
              <a:t>District Health Authority</a:t>
            </a:r>
          </a:p>
        </p:txBody>
      </p:sp>
      <p:sp>
        <p:nvSpPr>
          <p:cNvPr name="TextBox 21" id="21"/>
          <p:cNvSpPr txBox="true"/>
          <p:nvPr/>
        </p:nvSpPr>
        <p:spPr>
          <a:xfrm rot="0">
            <a:off x="12412980" y="5025390"/>
            <a:ext cx="4224528" cy="1352550"/>
          </a:xfrm>
          <a:prstGeom prst="rect">
            <a:avLst/>
          </a:prstGeom>
        </p:spPr>
        <p:txBody>
          <a:bodyPr anchor="t" rtlCol="false" tIns="0" lIns="0" bIns="0" rIns="0">
            <a:spAutoFit/>
          </a:bodyPr>
          <a:lstStyle/>
          <a:p>
            <a:pPr algn="l">
              <a:lnSpc>
                <a:spcPts val="2250"/>
              </a:lnSpc>
            </a:pPr>
            <a:r>
              <a:rPr lang="en-US" sz="1875">
                <a:solidFill>
                  <a:srgbClr val="3F4B57"/>
                </a:solidFill>
                <a:latin typeface="IBM Plex Sans"/>
                <a:ea typeface="IBM Plex Sans"/>
                <a:cs typeface="IBM Plex Sans"/>
                <a:sym typeface="IBM Plex Sans"/>
              </a:rPr>
              <a:t>Share anonymised symptom-trend data with Chakwal Health Authority for early outbreak warning.</a:t>
            </a:r>
          </a:p>
        </p:txBody>
      </p:sp>
      <p:sp>
        <p:nvSpPr>
          <p:cNvPr name="TextBox 22" id="22"/>
          <p:cNvSpPr txBox="true"/>
          <p:nvPr/>
        </p:nvSpPr>
        <p:spPr>
          <a:xfrm rot="0">
            <a:off x="1220724" y="6926580"/>
            <a:ext cx="15841980" cy="356616"/>
          </a:xfrm>
          <a:prstGeom prst="rect">
            <a:avLst/>
          </a:prstGeom>
        </p:spPr>
        <p:txBody>
          <a:bodyPr anchor="t" rtlCol="false" tIns="0" lIns="0" bIns="0" rIns="0">
            <a:spAutoFit/>
          </a:bodyPr>
          <a:lstStyle/>
          <a:p>
            <a:pPr algn="l">
              <a:lnSpc>
                <a:spcPts val="2160"/>
              </a:lnSpc>
            </a:pPr>
            <a:r>
              <a:rPr lang="en-US" b="true" sz="1800" spc="225">
                <a:solidFill>
                  <a:srgbClr val="0B6E60"/>
                </a:solidFill>
                <a:latin typeface="IBM Plex Sans Bold"/>
                <a:ea typeface="IBM Plex Sans Bold"/>
                <a:cs typeface="IBM Plex Sans Bold"/>
                <a:sym typeface="IBM Plex Sans Bold"/>
              </a:rPr>
              <a:t>NEXT 12 MONTHS</a:t>
            </a:r>
          </a:p>
        </p:txBody>
      </p:sp>
      <p:sp>
        <p:nvSpPr>
          <p:cNvPr name="Freeform 23" id="23"/>
          <p:cNvSpPr/>
          <p:nvPr/>
        </p:nvSpPr>
        <p:spPr>
          <a:xfrm flipH="false" flipV="false" rot="0">
            <a:off x="1208218" y="7394134"/>
            <a:ext cx="3728323" cy="1328023"/>
          </a:xfrm>
          <a:custGeom>
            <a:avLst/>
            <a:gdLst/>
            <a:ahLst/>
            <a:cxnLst/>
            <a:rect r="r" b="b" t="t" l="l"/>
            <a:pathLst>
              <a:path h="1328023" w="3728323">
                <a:moveTo>
                  <a:pt x="0" y="0"/>
                </a:moveTo>
                <a:lnTo>
                  <a:pt x="3728323" y="0"/>
                </a:lnTo>
                <a:lnTo>
                  <a:pt x="3728323" y="1328023"/>
                </a:lnTo>
                <a:lnTo>
                  <a:pt x="0" y="132802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4" id="24"/>
          <p:cNvSpPr txBox="true"/>
          <p:nvPr/>
        </p:nvSpPr>
        <p:spPr>
          <a:xfrm rot="0">
            <a:off x="1495044" y="7543800"/>
            <a:ext cx="3154680" cy="301752"/>
          </a:xfrm>
          <a:prstGeom prst="rect">
            <a:avLst/>
          </a:prstGeom>
        </p:spPr>
        <p:txBody>
          <a:bodyPr anchor="t" rtlCol="false" tIns="0" lIns="0" bIns="0" rIns="0">
            <a:spAutoFit/>
          </a:bodyPr>
          <a:lstStyle/>
          <a:p>
            <a:pPr algn="l">
              <a:lnSpc>
                <a:spcPts val="1800"/>
              </a:lnSpc>
            </a:pPr>
            <a:r>
              <a:rPr lang="en-US" b="true" sz="1500" spc="225">
                <a:solidFill>
                  <a:srgbClr val="0B6E60"/>
                </a:solidFill>
                <a:latin typeface="IBM Plex Sans Bold"/>
                <a:ea typeface="IBM Plex Sans Bold"/>
                <a:cs typeface="IBM Plex Sans Bold"/>
                <a:sym typeface="IBM Plex Sans Bold"/>
              </a:rPr>
              <a:t>PHASE 1</a:t>
            </a:r>
          </a:p>
        </p:txBody>
      </p:sp>
      <p:sp>
        <p:nvSpPr>
          <p:cNvPr name="TextBox 25" id="25"/>
          <p:cNvSpPr txBox="true"/>
          <p:nvPr/>
        </p:nvSpPr>
        <p:spPr>
          <a:xfrm rot="0">
            <a:off x="1495044" y="7886700"/>
            <a:ext cx="3154680" cy="754380"/>
          </a:xfrm>
          <a:prstGeom prst="rect">
            <a:avLst/>
          </a:prstGeom>
        </p:spPr>
        <p:txBody>
          <a:bodyPr anchor="t" rtlCol="false" tIns="0" lIns="0" bIns="0" rIns="0">
            <a:spAutoFit/>
          </a:bodyPr>
          <a:lstStyle/>
          <a:p>
            <a:pPr algn="l">
              <a:lnSpc>
                <a:spcPts val="2070"/>
              </a:lnSpc>
            </a:pPr>
            <a:r>
              <a:rPr lang="en-US" sz="1725">
                <a:solidFill>
                  <a:srgbClr val="14304A"/>
                </a:solidFill>
                <a:latin typeface="IBM Plex Sans"/>
                <a:ea typeface="IBM Plex Sans"/>
                <a:cs typeface="IBM Plex Sans"/>
                <a:sym typeface="IBM Plex Sans"/>
              </a:rPr>
              <a:t>Clinical validation of rules with DHQ physicians</a:t>
            </a:r>
          </a:p>
        </p:txBody>
      </p:sp>
      <p:sp>
        <p:nvSpPr>
          <p:cNvPr name="Freeform 26" id="26"/>
          <p:cNvSpPr/>
          <p:nvPr/>
        </p:nvSpPr>
        <p:spPr>
          <a:xfrm flipH="false" flipV="false" rot="0">
            <a:off x="5254438" y="7394134"/>
            <a:ext cx="3728323" cy="1328023"/>
          </a:xfrm>
          <a:custGeom>
            <a:avLst/>
            <a:gdLst/>
            <a:ahLst/>
            <a:cxnLst/>
            <a:rect r="r" b="b" t="t" l="l"/>
            <a:pathLst>
              <a:path h="1328023" w="3728323">
                <a:moveTo>
                  <a:pt x="0" y="0"/>
                </a:moveTo>
                <a:lnTo>
                  <a:pt x="3728323" y="0"/>
                </a:lnTo>
                <a:lnTo>
                  <a:pt x="3728323" y="1328023"/>
                </a:lnTo>
                <a:lnTo>
                  <a:pt x="0" y="132802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7" id="27"/>
          <p:cNvSpPr txBox="true"/>
          <p:nvPr/>
        </p:nvSpPr>
        <p:spPr>
          <a:xfrm rot="0">
            <a:off x="5541264" y="7543800"/>
            <a:ext cx="3154680" cy="301752"/>
          </a:xfrm>
          <a:prstGeom prst="rect">
            <a:avLst/>
          </a:prstGeom>
        </p:spPr>
        <p:txBody>
          <a:bodyPr anchor="t" rtlCol="false" tIns="0" lIns="0" bIns="0" rIns="0">
            <a:spAutoFit/>
          </a:bodyPr>
          <a:lstStyle/>
          <a:p>
            <a:pPr algn="l">
              <a:lnSpc>
                <a:spcPts val="1800"/>
              </a:lnSpc>
            </a:pPr>
            <a:r>
              <a:rPr lang="en-US" b="true" sz="1500" spc="225">
                <a:solidFill>
                  <a:srgbClr val="0B6E60"/>
                </a:solidFill>
                <a:latin typeface="IBM Plex Sans Bold"/>
                <a:ea typeface="IBM Plex Sans Bold"/>
                <a:cs typeface="IBM Plex Sans Bold"/>
                <a:sym typeface="IBM Plex Sans Bold"/>
              </a:rPr>
              <a:t>PHASE 2</a:t>
            </a:r>
          </a:p>
        </p:txBody>
      </p:sp>
      <p:sp>
        <p:nvSpPr>
          <p:cNvPr name="TextBox 28" id="28"/>
          <p:cNvSpPr txBox="true"/>
          <p:nvPr/>
        </p:nvSpPr>
        <p:spPr>
          <a:xfrm rot="0">
            <a:off x="5541264" y="7886700"/>
            <a:ext cx="3154680" cy="754380"/>
          </a:xfrm>
          <a:prstGeom prst="rect">
            <a:avLst/>
          </a:prstGeom>
        </p:spPr>
        <p:txBody>
          <a:bodyPr anchor="t" rtlCol="false" tIns="0" lIns="0" bIns="0" rIns="0">
            <a:spAutoFit/>
          </a:bodyPr>
          <a:lstStyle/>
          <a:p>
            <a:pPr algn="l">
              <a:lnSpc>
                <a:spcPts val="2070"/>
              </a:lnSpc>
            </a:pPr>
            <a:r>
              <a:rPr lang="en-US" sz="1725">
                <a:solidFill>
                  <a:srgbClr val="14304A"/>
                </a:solidFill>
                <a:latin typeface="IBM Plex Sans"/>
                <a:ea typeface="IBM Plex Sans"/>
                <a:cs typeface="IBM Plex Sans"/>
                <a:sym typeface="IBM Plex Sans"/>
              </a:rPr>
              <a:t>LHW training in 5 union councils</a:t>
            </a:r>
          </a:p>
        </p:txBody>
      </p:sp>
      <p:sp>
        <p:nvSpPr>
          <p:cNvPr name="Freeform 29" id="29"/>
          <p:cNvSpPr/>
          <p:nvPr/>
        </p:nvSpPr>
        <p:spPr>
          <a:xfrm flipH="false" flipV="false" rot="0">
            <a:off x="9300658" y="7394134"/>
            <a:ext cx="3728323" cy="1328023"/>
          </a:xfrm>
          <a:custGeom>
            <a:avLst/>
            <a:gdLst/>
            <a:ahLst/>
            <a:cxnLst/>
            <a:rect r="r" b="b" t="t" l="l"/>
            <a:pathLst>
              <a:path h="1328023" w="3728323">
                <a:moveTo>
                  <a:pt x="0" y="0"/>
                </a:moveTo>
                <a:lnTo>
                  <a:pt x="3728323" y="0"/>
                </a:lnTo>
                <a:lnTo>
                  <a:pt x="3728323" y="1328023"/>
                </a:lnTo>
                <a:lnTo>
                  <a:pt x="0" y="132802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0" id="30"/>
          <p:cNvSpPr txBox="true"/>
          <p:nvPr/>
        </p:nvSpPr>
        <p:spPr>
          <a:xfrm rot="0">
            <a:off x="9587484" y="7543800"/>
            <a:ext cx="3154680" cy="301752"/>
          </a:xfrm>
          <a:prstGeom prst="rect">
            <a:avLst/>
          </a:prstGeom>
        </p:spPr>
        <p:txBody>
          <a:bodyPr anchor="t" rtlCol="false" tIns="0" lIns="0" bIns="0" rIns="0">
            <a:spAutoFit/>
          </a:bodyPr>
          <a:lstStyle/>
          <a:p>
            <a:pPr algn="l">
              <a:lnSpc>
                <a:spcPts val="1800"/>
              </a:lnSpc>
            </a:pPr>
            <a:r>
              <a:rPr lang="en-US" b="true" sz="1500" spc="225">
                <a:solidFill>
                  <a:srgbClr val="0B6E60"/>
                </a:solidFill>
                <a:latin typeface="IBM Plex Sans Bold"/>
                <a:ea typeface="IBM Plex Sans Bold"/>
                <a:cs typeface="IBM Plex Sans Bold"/>
                <a:sym typeface="IBM Plex Sans Bold"/>
              </a:rPr>
              <a:t>PHASE 3</a:t>
            </a:r>
          </a:p>
        </p:txBody>
      </p:sp>
      <p:sp>
        <p:nvSpPr>
          <p:cNvPr name="TextBox 31" id="31"/>
          <p:cNvSpPr txBox="true"/>
          <p:nvPr/>
        </p:nvSpPr>
        <p:spPr>
          <a:xfrm rot="0">
            <a:off x="9587484" y="7886700"/>
            <a:ext cx="3154680" cy="754380"/>
          </a:xfrm>
          <a:prstGeom prst="rect">
            <a:avLst/>
          </a:prstGeom>
        </p:spPr>
        <p:txBody>
          <a:bodyPr anchor="t" rtlCol="false" tIns="0" lIns="0" bIns="0" rIns="0">
            <a:spAutoFit/>
          </a:bodyPr>
          <a:lstStyle/>
          <a:p>
            <a:pPr algn="l">
              <a:lnSpc>
                <a:spcPts val="2070"/>
              </a:lnSpc>
            </a:pPr>
            <a:r>
              <a:rPr lang="en-US" sz="1725">
                <a:solidFill>
                  <a:srgbClr val="14304A"/>
                </a:solidFill>
                <a:latin typeface="IBM Plex Sans"/>
                <a:ea typeface="IBM Plex Sans"/>
                <a:cs typeface="IBM Plex Sans"/>
                <a:sym typeface="IBM Plex Sans"/>
              </a:rPr>
              <a:t>USSD version &amp; district data dashboard</a:t>
            </a:r>
          </a:p>
        </p:txBody>
      </p:sp>
      <p:sp>
        <p:nvSpPr>
          <p:cNvPr name="Freeform 32" id="32"/>
          <p:cNvSpPr/>
          <p:nvPr/>
        </p:nvSpPr>
        <p:spPr>
          <a:xfrm flipH="false" flipV="false" rot="0">
            <a:off x="13346878" y="7394134"/>
            <a:ext cx="3728323" cy="1328023"/>
          </a:xfrm>
          <a:custGeom>
            <a:avLst/>
            <a:gdLst/>
            <a:ahLst/>
            <a:cxnLst/>
            <a:rect r="r" b="b" t="t" l="l"/>
            <a:pathLst>
              <a:path h="1328023" w="3728323">
                <a:moveTo>
                  <a:pt x="0" y="0"/>
                </a:moveTo>
                <a:lnTo>
                  <a:pt x="3728323" y="0"/>
                </a:lnTo>
                <a:lnTo>
                  <a:pt x="3728323" y="1328023"/>
                </a:lnTo>
                <a:lnTo>
                  <a:pt x="0" y="132802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3" id="33"/>
          <p:cNvSpPr txBox="true"/>
          <p:nvPr/>
        </p:nvSpPr>
        <p:spPr>
          <a:xfrm rot="0">
            <a:off x="13633704" y="7543800"/>
            <a:ext cx="3154680" cy="301752"/>
          </a:xfrm>
          <a:prstGeom prst="rect">
            <a:avLst/>
          </a:prstGeom>
        </p:spPr>
        <p:txBody>
          <a:bodyPr anchor="t" rtlCol="false" tIns="0" lIns="0" bIns="0" rIns="0">
            <a:spAutoFit/>
          </a:bodyPr>
          <a:lstStyle/>
          <a:p>
            <a:pPr algn="l">
              <a:lnSpc>
                <a:spcPts val="1800"/>
              </a:lnSpc>
            </a:pPr>
            <a:r>
              <a:rPr lang="en-US" b="true" sz="1500" spc="225">
                <a:solidFill>
                  <a:srgbClr val="0B6E60"/>
                </a:solidFill>
                <a:latin typeface="IBM Plex Sans Bold"/>
                <a:ea typeface="IBM Plex Sans Bold"/>
                <a:cs typeface="IBM Plex Sans Bold"/>
                <a:sym typeface="IBM Plex Sans Bold"/>
              </a:rPr>
              <a:t>PHASE 4</a:t>
            </a:r>
          </a:p>
        </p:txBody>
      </p:sp>
      <p:sp>
        <p:nvSpPr>
          <p:cNvPr name="TextBox 34" id="34"/>
          <p:cNvSpPr txBox="true"/>
          <p:nvPr/>
        </p:nvSpPr>
        <p:spPr>
          <a:xfrm rot="0">
            <a:off x="13633704" y="7886700"/>
            <a:ext cx="3154680" cy="754380"/>
          </a:xfrm>
          <a:prstGeom prst="rect">
            <a:avLst/>
          </a:prstGeom>
        </p:spPr>
        <p:txBody>
          <a:bodyPr anchor="t" rtlCol="false" tIns="0" lIns="0" bIns="0" rIns="0">
            <a:spAutoFit/>
          </a:bodyPr>
          <a:lstStyle/>
          <a:p>
            <a:pPr algn="l">
              <a:lnSpc>
                <a:spcPts val="2070"/>
              </a:lnSpc>
            </a:pPr>
            <a:r>
              <a:rPr lang="en-US" sz="1725">
                <a:solidFill>
                  <a:srgbClr val="14304A"/>
                </a:solidFill>
                <a:latin typeface="IBM Plex Sans"/>
                <a:ea typeface="IBM Plex Sans"/>
                <a:cs typeface="IBM Plex Sans"/>
                <a:sym typeface="IBM Plex Sans"/>
              </a:rPr>
              <a:t>Controlled evaluation study</a:t>
            </a:r>
          </a:p>
        </p:txBody>
      </p:sp>
      <p:sp>
        <p:nvSpPr>
          <p:cNvPr name="TextBox 35" id="35"/>
          <p:cNvSpPr txBox="true"/>
          <p:nvPr/>
        </p:nvSpPr>
        <p:spPr>
          <a:xfrm rot="0">
            <a:off x="1220724" y="9354312"/>
            <a:ext cx="11658600" cy="356616"/>
          </a:xfrm>
          <a:prstGeom prst="rect">
            <a:avLst/>
          </a:prstGeom>
        </p:spPr>
        <p:txBody>
          <a:bodyPr anchor="t" rtlCol="false" tIns="0" lIns="0" bIns="0" rIns="0">
            <a:spAutoFit/>
          </a:bodyPr>
          <a:lstStyle/>
          <a:p>
            <a:pPr algn="l">
              <a:lnSpc>
                <a:spcPts val="2160"/>
              </a:lnSpc>
            </a:pPr>
            <a:r>
              <a:rPr lang="en-US" sz="1800">
                <a:solidFill>
                  <a:srgbClr val="5B6770"/>
                </a:solidFill>
                <a:latin typeface="IBM Plex Sans"/>
                <a:ea typeface="IBM Plex Sans"/>
                <a:cs typeface="IBM Plex Sans"/>
                <a:sym typeface="IBM Plex Sans"/>
              </a:rPr>
              <a:t>Community Health Triage &amp; Digital Disease Referral · Chakwal, Pakistan</a:t>
            </a:r>
          </a:p>
        </p:txBody>
      </p:sp>
      <p:sp>
        <p:nvSpPr>
          <p:cNvPr name="TextBox 36" id="36"/>
          <p:cNvSpPr txBox="true"/>
          <p:nvPr/>
        </p:nvSpPr>
        <p:spPr>
          <a:xfrm rot="0">
            <a:off x="15691104" y="9354312"/>
            <a:ext cx="1371600" cy="356616"/>
          </a:xfrm>
          <a:prstGeom prst="rect">
            <a:avLst/>
          </a:prstGeom>
        </p:spPr>
        <p:txBody>
          <a:bodyPr anchor="t" rtlCol="false" tIns="0" lIns="0" bIns="0" rIns="0">
            <a:spAutoFit/>
          </a:bodyPr>
          <a:lstStyle/>
          <a:p>
            <a:pPr algn="r">
              <a:lnSpc>
                <a:spcPts val="2160"/>
              </a:lnSpc>
            </a:pPr>
            <a:r>
              <a:rPr lang="en-US" sz="1800">
                <a:solidFill>
                  <a:srgbClr val="5B6770"/>
                </a:solidFill>
                <a:latin typeface="IBM Plex Sans"/>
                <a:ea typeface="IBM Plex Sans"/>
                <a:cs typeface="IBM Plex Sans"/>
                <a:sym typeface="IBM Plex Sans"/>
              </a:rPr>
              <a:t>12</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14304A"/>
        </a:solidFill>
      </p:bgPr>
    </p:bg>
    <p:spTree>
      <p:nvGrpSpPr>
        <p:cNvPr id="1" name=""/>
        <p:cNvGrpSpPr/>
        <p:nvPr/>
      </p:nvGrpSpPr>
      <p:grpSpPr>
        <a:xfrm>
          <a:off x="0" y="0"/>
          <a:ext cx="0" cy="0"/>
          <a:chOff x="0" y="0"/>
          <a:chExt cx="0" cy="0"/>
        </a:xfrm>
      </p:grpSpPr>
      <p:sp>
        <p:nvSpPr>
          <p:cNvPr name="TextBox 2" id="2"/>
          <p:cNvSpPr txBox="true"/>
          <p:nvPr/>
        </p:nvSpPr>
        <p:spPr>
          <a:xfrm rot="0">
            <a:off x="1220724" y="1220724"/>
            <a:ext cx="15841980" cy="356616"/>
          </a:xfrm>
          <a:prstGeom prst="rect">
            <a:avLst/>
          </a:prstGeom>
        </p:spPr>
        <p:txBody>
          <a:bodyPr anchor="t" rtlCol="false" tIns="0" lIns="0" bIns="0" rIns="0">
            <a:spAutoFit/>
          </a:bodyPr>
          <a:lstStyle/>
          <a:p>
            <a:pPr algn="l">
              <a:lnSpc>
                <a:spcPts val="2160"/>
              </a:lnSpc>
            </a:pPr>
            <a:r>
              <a:rPr lang="en-US" b="true" sz="1800" spc="225">
                <a:solidFill>
                  <a:srgbClr val="7FD1C0"/>
                </a:solidFill>
                <a:latin typeface="IBM Plex Sans Bold"/>
                <a:ea typeface="IBM Plex Sans Bold"/>
                <a:cs typeface="IBM Plex Sans Bold"/>
                <a:sym typeface="IBM Plex Sans Bold"/>
              </a:rPr>
              <a:t>11 · CONCLUSION &amp; DAAD EPOS WAY FORWARD</a:t>
            </a:r>
          </a:p>
        </p:txBody>
      </p:sp>
      <p:sp>
        <p:nvSpPr>
          <p:cNvPr name="TextBox 3" id="3"/>
          <p:cNvSpPr txBox="true"/>
          <p:nvPr/>
        </p:nvSpPr>
        <p:spPr>
          <a:xfrm rot="0">
            <a:off x="1220724" y="1678686"/>
            <a:ext cx="15841980" cy="721614"/>
          </a:xfrm>
          <a:prstGeom prst="rect">
            <a:avLst/>
          </a:prstGeom>
        </p:spPr>
        <p:txBody>
          <a:bodyPr anchor="t" rtlCol="false" tIns="0" lIns="0" bIns="0" rIns="0">
            <a:spAutoFit/>
          </a:bodyPr>
          <a:lstStyle/>
          <a:p>
            <a:pPr algn="l">
              <a:lnSpc>
                <a:spcPts val="5758"/>
              </a:lnSpc>
            </a:pPr>
            <a:r>
              <a:rPr lang="en-US" sz="4800" b="true">
                <a:solidFill>
                  <a:srgbClr val="F7F6F2"/>
                </a:solidFill>
                <a:latin typeface="IBM Plex Sans Bold"/>
                <a:ea typeface="IBM Plex Sans Bold"/>
                <a:cs typeface="IBM Plex Sans Bold"/>
                <a:sym typeface="IBM Plex Sans Bold"/>
              </a:rPr>
              <a:t>Digital health for community equity</a:t>
            </a:r>
          </a:p>
        </p:txBody>
      </p:sp>
      <p:sp>
        <p:nvSpPr>
          <p:cNvPr name="TextBox 4" id="4"/>
          <p:cNvSpPr txBox="true"/>
          <p:nvPr/>
        </p:nvSpPr>
        <p:spPr>
          <a:xfrm rot="0">
            <a:off x="1220724" y="2811780"/>
            <a:ext cx="16322040" cy="2235708"/>
          </a:xfrm>
          <a:prstGeom prst="rect">
            <a:avLst/>
          </a:prstGeom>
        </p:spPr>
        <p:txBody>
          <a:bodyPr anchor="t" rtlCol="false" tIns="0" lIns="0" bIns="0" rIns="0">
            <a:spAutoFit/>
          </a:bodyPr>
          <a:lstStyle/>
          <a:p>
            <a:pPr algn="l">
              <a:lnSpc>
                <a:spcPts val="5040"/>
              </a:lnSpc>
            </a:pPr>
            <a:r>
              <a:rPr lang="en-US" sz="4200">
                <a:solidFill>
                  <a:srgbClr val="F7F6F2"/>
                </a:solidFill>
                <a:latin typeface="IBM Plex Sans"/>
                <a:ea typeface="IBM Plex Sans"/>
                <a:cs typeface="IBM Plex Sans"/>
                <a:sym typeface="IBM Plex Sans"/>
              </a:rPr>
              <a:t>A simple, bilingual, offline triage app can move rural families from 'wait and see' to 'know and go', reaching the right clinic days earlier.</a:t>
            </a:r>
          </a:p>
        </p:txBody>
      </p:sp>
      <p:sp>
        <p:nvSpPr>
          <p:cNvPr name="AutoShape 5" id="5"/>
          <p:cNvSpPr/>
          <p:nvPr/>
        </p:nvSpPr>
        <p:spPr>
          <a:xfrm rot="6540">
            <a:off x="1206417" y="7314819"/>
            <a:ext cx="5007531" cy="0"/>
          </a:xfrm>
          <a:prstGeom prst="line">
            <a:avLst/>
          </a:prstGeom>
          <a:ln cap="rnd" w="9525">
            <a:solidFill>
              <a:srgbClr val="7FD1C0"/>
            </a:solidFill>
            <a:prstDash val="solid"/>
            <a:headEnd type="none" len="sm" w="sm"/>
            <a:tailEnd type="none" len="sm" w="sm"/>
          </a:ln>
        </p:spPr>
      </p:sp>
      <p:sp>
        <p:nvSpPr>
          <p:cNvPr name="TextBox 6" id="6"/>
          <p:cNvSpPr txBox="true"/>
          <p:nvPr/>
        </p:nvSpPr>
        <p:spPr>
          <a:xfrm rot="0">
            <a:off x="1220724" y="7571232"/>
            <a:ext cx="5129784" cy="356616"/>
          </a:xfrm>
          <a:prstGeom prst="rect">
            <a:avLst/>
          </a:prstGeom>
        </p:spPr>
        <p:txBody>
          <a:bodyPr anchor="t" rtlCol="false" tIns="0" lIns="0" bIns="0" rIns="0">
            <a:spAutoFit/>
          </a:bodyPr>
          <a:lstStyle/>
          <a:p>
            <a:pPr algn="l">
              <a:lnSpc>
                <a:spcPts val="2160"/>
              </a:lnSpc>
            </a:pPr>
            <a:r>
              <a:rPr lang="en-US" b="true" sz="1800" spc="225">
                <a:solidFill>
                  <a:srgbClr val="7FD1C0"/>
                </a:solidFill>
                <a:latin typeface="IBM Plex Sans Bold"/>
                <a:ea typeface="IBM Plex Sans Bold"/>
                <a:cs typeface="IBM Plex Sans Bold"/>
                <a:sym typeface="IBM Plex Sans Bold"/>
              </a:rPr>
              <a:t>SKILLS</a:t>
            </a:r>
          </a:p>
        </p:txBody>
      </p:sp>
      <p:sp>
        <p:nvSpPr>
          <p:cNvPr name="TextBox 7" id="7"/>
          <p:cNvSpPr txBox="true"/>
          <p:nvPr/>
        </p:nvSpPr>
        <p:spPr>
          <a:xfrm rot="0">
            <a:off x="1220724" y="7949946"/>
            <a:ext cx="5129784" cy="1047750"/>
          </a:xfrm>
          <a:prstGeom prst="rect">
            <a:avLst/>
          </a:prstGeom>
        </p:spPr>
        <p:txBody>
          <a:bodyPr anchor="t" rtlCol="false" tIns="0" lIns="0" bIns="0" rIns="0">
            <a:spAutoFit/>
          </a:bodyPr>
          <a:lstStyle/>
          <a:p>
            <a:pPr algn="l">
              <a:lnSpc>
                <a:spcPts val="2520"/>
              </a:lnSpc>
            </a:pPr>
            <a:r>
              <a:rPr lang="en-US" sz="2100">
                <a:solidFill>
                  <a:srgbClr val="D8E6E3"/>
                </a:solidFill>
                <a:latin typeface="IBM Plex Sans"/>
                <a:ea typeface="IBM Plex Sans"/>
                <a:cs typeface="IBM Plex Sans"/>
                <a:sym typeface="IBM Plex Sans"/>
              </a:rPr>
              <a:t>Epidemiology, biostatistics and evaluation methods to test the app properly.</a:t>
            </a:r>
          </a:p>
        </p:txBody>
      </p:sp>
      <p:sp>
        <p:nvSpPr>
          <p:cNvPr name="AutoShape 8" id="8"/>
          <p:cNvSpPr/>
          <p:nvPr/>
        </p:nvSpPr>
        <p:spPr>
          <a:xfrm rot="6540">
            <a:off x="6637953" y="7314819"/>
            <a:ext cx="5007531" cy="0"/>
          </a:xfrm>
          <a:prstGeom prst="line">
            <a:avLst/>
          </a:prstGeom>
          <a:ln cap="rnd" w="9525">
            <a:solidFill>
              <a:srgbClr val="7FD1C0"/>
            </a:solidFill>
            <a:prstDash val="solid"/>
            <a:headEnd type="none" len="sm" w="sm"/>
            <a:tailEnd type="none" len="sm" w="sm"/>
          </a:ln>
        </p:spPr>
      </p:sp>
      <p:sp>
        <p:nvSpPr>
          <p:cNvPr name="TextBox 9" id="9"/>
          <p:cNvSpPr txBox="true"/>
          <p:nvPr/>
        </p:nvSpPr>
        <p:spPr>
          <a:xfrm rot="0">
            <a:off x="6652260" y="7571232"/>
            <a:ext cx="5129784" cy="356616"/>
          </a:xfrm>
          <a:prstGeom prst="rect">
            <a:avLst/>
          </a:prstGeom>
        </p:spPr>
        <p:txBody>
          <a:bodyPr anchor="t" rtlCol="false" tIns="0" lIns="0" bIns="0" rIns="0">
            <a:spAutoFit/>
          </a:bodyPr>
          <a:lstStyle/>
          <a:p>
            <a:pPr algn="l">
              <a:lnSpc>
                <a:spcPts val="2160"/>
              </a:lnSpc>
            </a:pPr>
            <a:r>
              <a:rPr lang="en-US" b="true" sz="1800" spc="225">
                <a:solidFill>
                  <a:srgbClr val="7FD1C0"/>
                </a:solidFill>
                <a:latin typeface="IBM Plex Sans Bold"/>
                <a:ea typeface="IBM Plex Sans Bold"/>
                <a:cs typeface="IBM Plex Sans Bold"/>
                <a:sym typeface="IBM Plex Sans Bold"/>
              </a:rPr>
              <a:t>SCALE</a:t>
            </a:r>
          </a:p>
        </p:txBody>
      </p:sp>
      <p:sp>
        <p:nvSpPr>
          <p:cNvPr name="TextBox 10" id="10"/>
          <p:cNvSpPr txBox="true"/>
          <p:nvPr/>
        </p:nvSpPr>
        <p:spPr>
          <a:xfrm rot="0">
            <a:off x="6652260" y="7949946"/>
            <a:ext cx="5129784" cy="1047750"/>
          </a:xfrm>
          <a:prstGeom prst="rect">
            <a:avLst/>
          </a:prstGeom>
        </p:spPr>
        <p:txBody>
          <a:bodyPr anchor="t" rtlCol="false" tIns="0" lIns="0" bIns="0" rIns="0">
            <a:spAutoFit/>
          </a:bodyPr>
          <a:lstStyle/>
          <a:p>
            <a:pPr algn="l">
              <a:lnSpc>
                <a:spcPts val="2520"/>
              </a:lnSpc>
            </a:pPr>
            <a:r>
              <a:rPr lang="en-US" sz="2100">
                <a:solidFill>
                  <a:srgbClr val="D8E6E3"/>
                </a:solidFill>
                <a:latin typeface="IBM Plex Sans"/>
                <a:ea typeface="IBM Plex Sans"/>
                <a:cs typeface="IBM Plex Sans"/>
                <a:sym typeface="IBM Plex Sans"/>
              </a:rPr>
              <a:t>Health-systems training to take it from one district to Punjab's LHW programme.</a:t>
            </a:r>
          </a:p>
        </p:txBody>
      </p:sp>
      <p:sp>
        <p:nvSpPr>
          <p:cNvPr name="AutoShape 11" id="11"/>
          <p:cNvSpPr/>
          <p:nvPr/>
        </p:nvSpPr>
        <p:spPr>
          <a:xfrm rot="6540">
            <a:off x="12069489" y="7314819"/>
            <a:ext cx="5007531" cy="0"/>
          </a:xfrm>
          <a:prstGeom prst="line">
            <a:avLst/>
          </a:prstGeom>
          <a:ln cap="rnd" w="9525">
            <a:solidFill>
              <a:srgbClr val="7FD1C0"/>
            </a:solidFill>
            <a:prstDash val="solid"/>
            <a:headEnd type="none" len="sm" w="sm"/>
            <a:tailEnd type="none" len="sm" w="sm"/>
          </a:ln>
        </p:spPr>
      </p:sp>
      <p:sp>
        <p:nvSpPr>
          <p:cNvPr name="TextBox 12" id="12"/>
          <p:cNvSpPr txBox="true"/>
          <p:nvPr/>
        </p:nvSpPr>
        <p:spPr>
          <a:xfrm rot="0">
            <a:off x="12083796" y="7571232"/>
            <a:ext cx="5129784" cy="356616"/>
          </a:xfrm>
          <a:prstGeom prst="rect">
            <a:avLst/>
          </a:prstGeom>
        </p:spPr>
        <p:txBody>
          <a:bodyPr anchor="t" rtlCol="false" tIns="0" lIns="0" bIns="0" rIns="0">
            <a:spAutoFit/>
          </a:bodyPr>
          <a:lstStyle/>
          <a:p>
            <a:pPr algn="l">
              <a:lnSpc>
                <a:spcPts val="2160"/>
              </a:lnSpc>
            </a:pPr>
            <a:r>
              <a:rPr lang="en-US" b="true" sz="1800" spc="225">
                <a:solidFill>
                  <a:srgbClr val="7FD1C0"/>
                </a:solidFill>
                <a:latin typeface="IBM Plex Sans Bold"/>
                <a:ea typeface="IBM Plex Sans Bold"/>
                <a:cs typeface="IBM Plex Sans Bold"/>
                <a:sym typeface="IBM Plex Sans Bold"/>
              </a:rPr>
              <a:t>RETURN</a:t>
            </a:r>
          </a:p>
        </p:txBody>
      </p:sp>
      <p:sp>
        <p:nvSpPr>
          <p:cNvPr name="TextBox 13" id="13"/>
          <p:cNvSpPr txBox="true"/>
          <p:nvPr/>
        </p:nvSpPr>
        <p:spPr>
          <a:xfrm rot="0">
            <a:off x="12083796" y="7949946"/>
            <a:ext cx="5129784" cy="1047750"/>
          </a:xfrm>
          <a:prstGeom prst="rect">
            <a:avLst/>
          </a:prstGeom>
        </p:spPr>
        <p:txBody>
          <a:bodyPr anchor="t" rtlCol="false" tIns="0" lIns="0" bIns="0" rIns="0">
            <a:spAutoFit/>
          </a:bodyPr>
          <a:lstStyle/>
          <a:p>
            <a:pPr algn="l">
              <a:lnSpc>
                <a:spcPts val="2520"/>
              </a:lnSpc>
            </a:pPr>
            <a:r>
              <a:rPr lang="en-US" sz="2100">
                <a:solidFill>
                  <a:srgbClr val="D8E6E3"/>
                </a:solidFill>
                <a:latin typeface="IBM Plex Sans"/>
                <a:ea typeface="IBM Plex Sans"/>
                <a:cs typeface="IBM Plex Sans"/>
                <a:sym typeface="IBM Plex Sans"/>
              </a:rPr>
              <a:t>I return to Pakistan to build a data-driven early-warning tool for SDG target 3.d.</a:t>
            </a:r>
          </a:p>
        </p:txBody>
      </p:sp>
      <p:sp>
        <p:nvSpPr>
          <p:cNvPr name="TextBox 14" id="14"/>
          <p:cNvSpPr txBox="true"/>
          <p:nvPr/>
        </p:nvSpPr>
        <p:spPr>
          <a:xfrm rot="0">
            <a:off x="1220724" y="9354312"/>
            <a:ext cx="11658600" cy="356616"/>
          </a:xfrm>
          <a:prstGeom prst="rect">
            <a:avLst/>
          </a:prstGeom>
        </p:spPr>
        <p:txBody>
          <a:bodyPr anchor="t" rtlCol="false" tIns="0" lIns="0" bIns="0" rIns="0">
            <a:spAutoFit/>
          </a:bodyPr>
          <a:lstStyle/>
          <a:p>
            <a:pPr algn="l">
              <a:lnSpc>
                <a:spcPts val="2160"/>
              </a:lnSpc>
            </a:pPr>
            <a:r>
              <a:rPr lang="en-US" sz="1800">
                <a:solidFill>
                  <a:srgbClr val="A9C3C8"/>
                </a:solidFill>
                <a:latin typeface="IBM Plex Sans"/>
                <a:ea typeface="IBM Plex Sans"/>
                <a:cs typeface="IBM Plex Sans"/>
                <a:sym typeface="IBM Plex Sans"/>
              </a:rPr>
              <a:t>Community Health Triage &amp; Digital Disease Referral · Chakwal, Pakistan</a:t>
            </a:r>
          </a:p>
        </p:txBody>
      </p:sp>
      <p:sp>
        <p:nvSpPr>
          <p:cNvPr name="TextBox 15" id="15"/>
          <p:cNvSpPr txBox="true"/>
          <p:nvPr/>
        </p:nvSpPr>
        <p:spPr>
          <a:xfrm rot="0">
            <a:off x="15691104" y="9354312"/>
            <a:ext cx="1371600" cy="356616"/>
          </a:xfrm>
          <a:prstGeom prst="rect">
            <a:avLst/>
          </a:prstGeom>
        </p:spPr>
        <p:txBody>
          <a:bodyPr anchor="t" rtlCol="false" tIns="0" lIns="0" bIns="0" rIns="0">
            <a:spAutoFit/>
          </a:bodyPr>
          <a:lstStyle/>
          <a:p>
            <a:pPr algn="r">
              <a:lnSpc>
                <a:spcPts val="2160"/>
              </a:lnSpc>
            </a:pPr>
            <a:r>
              <a:rPr lang="en-US" sz="1800">
                <a:solidFill>
                  <a:srgbClr val="A9C3C8"/>
                </a:solidFill>
                <a:latin typeface="IBM Plex Sans"/>
                <a:ea typeface="IBM Plex Sans"/>
                <a:cs typeface="IBM Plex Sans"/>
                <a:sym typeface="IBM Plex Sans"/>
              </a:rPr>
              <a:t>13</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EAF0EE"/>
        </a:solidFill>
      </p:bgPr>
    </p:bg>
    <p:spTree>
      <p:nvGrpSpPr>
        <p:cNvPr id="1" name=""/>
        <p:cNvGrpSpPr/>
        <p:nvPr/>
      </p:nvGrpSpPr>
      <p:grpSpPr>
        <a:xfrm>
          <a:off x="0" y="0"/>
          <a:ext cx="0" cy="0"/>
          <a:chOff x="0" y="0"/>
          <a:chExt cx="0" cy="0"/>
        </a:xfrm>
      </p:grpSpPr>
      <p:sp>
        <p:nvSpPr>
          <p:cNvPr name="TextBox 2" id="2"/>
          <p:cNvSpPr txBox="true"/>
          <p:nvPr/>
        </p:nvSpPr>
        <p:spPr>
          <a:xfrm rot="0">
            <a:off x="1220724" y="1220724"/>
            <a:ext cx="15841980" cy="356616"/>
          </a:xfrm>
          <a:prstGeom prst="rect">
            <a:avLst/>
          </a:prstGeom>
        </p:spPr>
        <p:txBody>
          <a:bodyPr anchor="t" rtlCol="false" tIns="0" lIns="0" bIns="0" rIns="0">
            <a:spAutoFit/>
          </a:bodyPr>
          <a:lstStyle/>
          <a:p>
            <a:pPr algn="l">
              <a:lnSpc>
                <a:spcPts val="2160"/>
              </a:lnSpc>
            </a:pPr>
            <a:r>
              <a:rPr lang="en-US" b="true" sz="1800" spc="225">
                <a:solidFill>
                  <a:srgbClr val="0B6E60"/>
                </a:solidFill>
                <a:latin typeface="IBM Plex Sans Bold"/>
                <a:ea typeface="IBM Plex Sans Bold"/>
                <a:cs typeface="IBM Plex Sans Bold"/>
                <a:sym typeface="IBM Plex Sans Bold"/>
              </a:rPr>
              <a:t>THANK YOU FOR YOUR ATTENTION</a:t>
            </a:r>
          </a:p>
        </p:txBody>
      </p:sp>
      <p:sp>
        <p:nvSpPr>
          <p:cNvPr name="TextBox 3" id="3"/>
          <p:cNvSpPr txBox="true"/>
          <p:nvPr/>
        </p:nvSpPr>
        <p:spPr>
          <a:xfrm rot="0">
            <a:off x="1220724" y="1818894"/>
            <a:ext cx="16322040" cy="1061466"/>
          </a:xfrm>
          <a:prstGeom prst="rect">
            <a:avLst/>
          </a:prstGeom>
        </p:spPr>
        <p:txBody>
          <a:bodyPr anchor="t" rtlCol="false" tIns="0" lIns="0" bIns="0" rIns="0">
            <a:spAutoFit/>
          </a:bodyPr>
          <a:lstStyle/>
          <a:p>
            <a:pPr algn="l">
              <a:lnSpc>
                <a:spcPts val="8640"/>
              </a:lnSpc>
            </a:pPr>
            <a:r>
              <a:rPr lang="en-US" sz="7200" b="true">
                <a:solidFill>
                  <a:srgbClr val="14304A"/>
                </a:solidFill>
                <a:latin typeface="IBM Plex Sans Bold"/>
                <a:ea typeface="IBM Plex Sans Bold"/>
                <a:cs typeface="IBM Plex Sans Bold"/>
                <a:sym typeface="IBM Plex Sans Bold"/>
              </a:rPr>
              <a:t>Vielen Dank</a:t>
            </a:r>
          </a:p>
        </p:txBody>
      </p:sp>
      <p:sp>
        <p:nvSpPr>
          <p:cNvPr name="TextBox 4" id="4"/>
          <p:cNvSpPr txBox="true"/>
          <p:nvPr/>
        </p:nvSpPr>
        <p:spPr>
          <a:xfrm rot="0">
            <a:off x="1220724" y="3154680"/>
            <a:ext cx="16322040" cy="534924"/>
          </a:xfrm>
          <a:prstGeom prst="rect">
            <a:avLst/>
          </a:prstGeom>
        </p:spPr>
        <p:txBody>
          <a:bodyPr anchor="t" rtlCol="false" tIns="0" lIns="0" bIns="0" rIns="0">
            <a:spAutoFit/>
          </a:bodyPr>
          <a:lstStyle/>
          <a:p>
            <a:pPr algn="l">
              <a:lnSpc>
                <a:spcPts val="3600"/>
              </a:lnSpc>
            </a:pPr>
            <a:r>
              <a:rPr lang="en-US" sz="3000">
                <a:solidFill>
                  <a:srgbClr val="3F4B57"/>
                </a:solidFill>
                <a:latin typeface="IBM Plex Sans"/>
                <a:ea typeface="IBM Plex Sans"/>
                <a:cs typeface="IBM Plex Sans"/>
                <a:sym typeface="IBM Plex Sans"/>
              </a:rPr>
              <a:t>Questions and discussion</a:t>
            </a:r>
          </a:p>
        </p:txBody>
      </p:sp>
      <p:sp>
        <p:nvSpPr>
          <p:cNvPr name="TextBox 5" id="5"/>
          <p:cNvSpPr txBox="true"/>
          <p:nvPr/>
        </p:nvSpPr>
        <p:spPr>
          <a:xfrm rot="0">
            <a:off x="1220724" y="3958590"/>
            <a:ext cx="16322040" cy="323850"/>
          </a:xfrm>
          <a:prstGeom prst="rect">
            <a:avLst/>
          </a:prstGeom>
        </p:spPr>
        <p:txBody>
          <a:bodyPr anchor="t" rtlCol="false" tIns="0" lIns="0" bIns="0" rIns="0">
            <a:spAutoFit/>
          </a:bodyPr>
          <a:lstStyle/>
          <a:p>
            <a:pPr algn="l">
              <a:lnSpc>
                <a:spcPts val="2520"/>
              </a:lnSpc>
            </a:pPr>
            <a:r>
              <a:rPr lang="en-US" sz="2100">
                <a:solidFill>
                  <a:srgbClr val="3F4B57"/>
                </a:solidFill>
                <a:latin typeface="IBM Plex Sans"/>
                <a:ea typeface="IBM Plex Sans"/>
                <a:cs typeface="IBM Plex Sans"/>
                <a:sym typeface="IBM Plex Sans"/>
              </a:rPr>
              <a:t>Pilot app:https://medico-1aa0a.web.app</a:t>
            </a:r>
          </a:p>
        </p:txBody>
      </p:sp>
      <p:sp>
        <p:nvSpPr>
          <p:cNvPr name="AutoShape 6" id="6"/>
          <p:cNvSpPr/>
          <p:nvPr/>
        </p:nvSpPr>
        <p:spPr>
          <a:xfrm rot="49980">
            <a:off x="579463" y="8814054"/>
            <a:ext cx="1309954" cy="0"/>
          </a:xfrm>
          <a:prstGeom prst="line">
            <a:avLst/>
          </a:prstGeom>
          <a:ln cap="rnd" w="19050">
            <a:solidFill>
              <a:srgbClr val="0B6E60"/>
            </a:solidFill>
            <a:prstDash val="solid"/>
            <a:headEnd type="none" len="sm" w="sm"/>
            <a:tailEnd type="none" len="sm" w="sm"/>
          </a:ln>
        </p:spPr>
      </p:sp>
      <p:sp>
        <p:nvSpPr>
          <p:cNvPr name="TextBox 7" id="7"/>
          <p:cNvSpPr txBox="true"/>
          <p:nvPr/>
        </p:nvSpPr>
        <p:spPr>
          <a:xfrm rot="0">
            <a:off x="1481328" y="8229600"/>
            <a:ext cx="16047720" cy="438912"/>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Anila Munir, PharmD</a:t>
            </a:r>
          </a:p>
        </p:txBody>
      </p:sp>
      <p:sp>
        <p:nvSpPr>
          <p:cNvPr name="TextBox 8" id="8"/>
          <p:cNvSpPr txBox="true"/>
          <p:nvPr/>
        </p:nvSpPr>
        <p:spPr>
          <a:xfrm rot="0">
            <a:off x="1481328" y="8709660"/>
            <a:ext cx="16047720" cy="754380"/>
          </a:xfrm>
          <a:prstGeom prst="rect">
            <a:avLst/>
          </a:prstGeom>
        </p:spPr>
        <p:txBody>
          <a:bodyPr anchor="t" rtlCol="false" tIns="0" lIns="0" bIns="0" rIns="0">
            <a:spAutoFit/>
          </a:bodyPr>
          <a:lstStyle/>
          <a:p>
            <a:pPr algn="l">
              <a:lnSpc>
                <a:spcPts val="2160"/>
              </a:lnSpc>
            </a:pPr>
            <a:r>
              <a:rPr lang="en-US" sz="1800">
                <a:solidFill>
                  <a:srgbClr val="3F4B57"/>
                </a:solidFill>
                <a:latin typeface="IBM Plex Sans"/>
                <a:ea typeface="IBM Plex Sans"/>
                <a:cs typeface="IBM Plex Sans"/>
                <a:sym typeface="IBM Plex Sans"/>
              </a:rPr>
              <a:t>anilamunir15@gmail.com · Chakwal, Punjab, Pakistan · Applicant, MSc Global Health / International Health (DAAD EPOS)/Public Health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DAHWxVyLqhI</dc:identifier>
  <dcterms:modified xsi:type="dcterms:W3CDTF">2011-08-01T06:04:30Z</dcterms:modified>
  <cp:revision>1</cp:revision>
  <dc:title>Comunity Health Triage &amp; Digital. Disease Referral .pptx</dc:title>
</cp:coreProperties>
</file>