
<file path=[Content_Types].xml><?xml version="1.0" encoding="utf-8"?>
<Types xmlns="http://schemas.openxmlformats.org/package/2006/content-types">
  <Default Extension="jpg" ContentType="image/jpeg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embeddedFontLst>
    <p:embeddedFont>
      <p:font typeface="Helvetica World Bold" charset="1" panose="020B0800040000020004"/>
      <p:regular r:id="rId20"/>
    </p:embeddedFont>
    <p:embeddedFont>
      <p:font typeface="Helvetica World" charset="1" panose="020B050004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9" Target="../media/photo_s1.jp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svg" Type="http://schemas.openxmlformats.org/officeDocument/2006/relationships/image"/><Relationship Id="rId5" Target="../media/image17.sv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svg" Type="http://schemas.openxmlformats.org/officeDocument/2006/relationships/image"/><Relationship Id="rId5" Target="../media/image22.svg" Type="http://schemas.openxmlformats.org/officeDocument/2006/relationships/image"/><Relationship Id="rId6" Target="../media/image23.svg" Type="http://schemas.openxmlformats.org/officeDocument/2006/relationships/image"/><Relationship Id="rId7" Target="../media/image24.sv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svg" Type="http://schemas.openxmlformats.org/officeDocument/2006/relationships/image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Relationship Id="rId6" Target="../media/image74.svg" Type="http://schemas.openxmlformats.org/officeDocument/2006/relationships/image"/><Relationship Id="rId7" Target="../media/image75.png" Type="http://schemas.openxmlformats.org/officeDocument/2006/relationships/image"/><Relationship Id="rId8" Target="../media/image7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79.sv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8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85.svg" Type="http://schemas.openxmlformats.org/officeDocument/2006/relationships/image"/><Relationship Id="rId5" Target="../media/image86.svg" Type="http://schemas.openxmlformats.org/officeDocument/2006/relationships/image"/><Relationship Id="rId6" Target="../media/image8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9150" y="4375147"/>
            <a:ext cx="9029700" cy="1536697"/>
          </a:xfrm>
          <a:custGeom>
            <a:avLst/>
            <a:gdLst/>
            <a:ahLst/>
            <a:cxnLst/>
            <a:rect r="r" b="b" t="t" l="l"/>
            <a:pathLst>
              <a:path h="1536697" w="9029700">
                <a:moveTo>
                  <a:pt x="0" y="0"/>
                </a:moveTo>
                <a:lnTo>
                  <a:pt x="9029700" y="0"/>
                </a:lnTo>
                <a:lnTo>
                  <a:pt x="9029700" y="1536697"/>
                </a:lnTo>
                <a:lnTo>
                  <a:pt x="0" y="1536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8997" y="2104025"/>
            <a:ext cx="7114775" cy="124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8"/>
              </a:lnSpc>
            </a:pPr>
            <a:r>
              <a:rPr lang="en-US" b="true" sz="1299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HOSPITAL INFECTION CONTROL &amp; SAFETY</a:t>
            </a:r>
          </a:p>
          <a:p>
            <a:pPr algn="l">
              <a:lnSpc>
                <a:spcPts val="6598"/>
              </a:lnSpc>
            </a:pPr>
            <a:r>
              <a:rPr lang="en-US" b="true" sz="5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Stay Clean, Stay Safe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91284" y="3404445"/>
            <a:ext cx="72028" cy="45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3404445"/>
            <a:ext cx="8078114" cy="45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Personal</a:t>
            </a: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hygiene</a:t>
            </a: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and</a:t>
            </a: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infection</a:t>
            </a: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prevention</a:t>
            </a: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training</a:t>
            </a: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</a:t>
            </a: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sanitary</a:t>
            </a: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workers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4546187"/>
            <a:ext cx="2293249" cy="45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Anila Munir, PharmD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0617" y="4940256"/>
            <a:ext cx="50416" cy="32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E2E8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4940256"/>
            <a:ext cx="475406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E2E8F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Clinical and Community Pharmacist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8403" y="5277955"/>
            <a:ext cx="4376699" cy="25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Training Initiative for 100 Sanitary Workers | DAAD EPOS Application</a:t>
            </a:r>
          </a:p>
        </p:txBody>
      </p:sp>
      <p:pic>
        <p:nvPicPr>
          <p:cNvPr id="20" name="Sanitary workers photo" descr="Sanitary workers in green uniforms standing in a line beside green wheelbarrow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0000" y="150000"/>
            <a:ext cx="3400000" cy="1883000"/>
          </a:xfrm>
          <a:prstGeom prst="roundRect">
            <a:avLst>
              <a:gd name="adj" fmla="val 6000"/>
            </a:avLst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1835153"/>
            <a:ext cx="11112503" cy="1384297"/>
          </a:xfrm>
          <a:custGeom>
            <a:avLst/>
            <a:gdLst/>
            <a:ahLst/>
            <a:cxnLst/>
            <a:rect r="r" b="b" t="t" l="l"/>
            <a:pathLst>
              <a:path h="1384297" w="11112503">
                <a:moveTo>
                  <a:pt x="0" y="0"/>
                </a:moveTo>
                <a:lnTo>
                  <a:pt x="11112503" y="0"/>
                </a:lnTo>
                <a:lnTo>
                  <a:pt x="11112503" y="1384297"/>
                </a:lnTo>
                <a:lnTo>
                  <a:pt x="0" y="1384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753" y="3295650"/>
            <a:ext cx="11112503" cy="1384297"/>
          </a:xfrm>
          <a:custGeom>
            <a:avLst/>
            <a:gdLst/>
            <a:ahLst/>
            <a:cxnLst/>
            <a:rect r="r" b="b" t="t" l="l"/>
            <a:pathLst>
              <a:path h="1384297" w="11112503">
                <a:moveTo>
                  <a:pt x="0" y="0"/>
                </a:moveTo>
                <a:lnTo>
                  <a:pt x="11112503" y="0"/>
                </a:lnTo>
                <a:lnTo>
                  <a:pt x="11112503" y="1384297"/>
                </a:lnTo>
                <a:lnTo>
                  <a:pt x="0" y="1384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9753" y="4756147"/>
            <a:ext cx="11112503" cy="1384297"/>
          </a:xfrm>
          <a:custGeom>
            <a:avLst/>
            <a:gdLst/>
            <a:ahLst/>
            <a:cxnLst/>
            <a:rect r="r" b="b" t="t" l="l"/>
            <a:pathLst>
              <a:path h="1384297" w="11112503">
                <a:moveTo>
                  <a:pt x="0" y="0"/>
                </a:moveTo>
                <a:lnTo>
                  <a:pt x="11112503" y="0"/>
                </a:lnTo>
                <a:lnTo>
                  <a:pt x="11112503" y="1384297"/>
                </a:lnTo>
                <a:lnTo>
                  <a:pt x="0" y="1384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9600" y="418490"/>
            <a:ext cx="4599318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OCCUPATIONAL SAFETY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Why Your Health Matters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997" y="4891859"/>
            <a:ext cx="2778119" cy="4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Community Protection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9758" y="5379768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997" y="3431362"/>
            <a:ext cx="2908173" cy="4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Hidden Sharps Hazards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0830" y="3919261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997" y="1970865"/>
            <a:ext cx="3052220" cy="4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Risky Bio-Medical Waste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1362" y="2458764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8997" y="3919261"/>
            <a:ext cx="6013552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Needles,scalpelblades,andglass hide inside routine trash bags.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8997" y="5379768"/>
            <a:ext cx="7199728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Cleanhabitsbreaktransmissionchains, keeping your family and patients safe.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8997" y="2458764"/>
            <a:ext cx="7361606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Blood-soakeditems,soiledlinens,and body fluids harbor dangerous pathogens.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3613147"/>
            <a:ext cx="5473703" cy="1790700"/>
          </a:xfrm>
          <a:custGeom>
            <a:avLst/>
            <a:gdLst/>
            <a:ahLst/>
            <a:cxnLst/>
            <a:rect r="r" b="b" t="t" l="l"/>
            <a:pathLst>
              <a:path h="1790700" w="5473703">
                <a:moveTo>
                  <a:pt x="0" y="0"/>
                </a:moveTo>
                <a:lnTo>
                  <a:pt x="5473703" y="0"/>
                </a:lnTo>
                <a:lnTo>
                  <a:pt x="5473703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753" y="1835153"/>
            <a:ext cx="11112503" cy="1663703"/>
          </a:xfrm>
          <a:custGeom>
            <a:avLst/>
            <a:gdLst/>
            <a:ahLst/>
            <a:cxnLst/>
            <a:rect r="r" b="b" t="t" l="l"/>
            <a:pathLst>
              <a:path h="1663703" w="11112503">
                <a:moveTo>
                  <a:pt x="0" y="0"/>
                </a:moveTo>
                <a:lnTo>
                  <a:pt x="11112503" y="0"/>
                </a:lnTo>
                <a:lnTo>
                  <a:pt x="11112503" y="1663703"/>
                </a:lnTo>
                <a:lnTo>
                  <a:pt x="0" y="1663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8553" y="3613147"/>
            <a:ext cx="5473703" cy="1790700"/>
          </a:xfrm>
          <a:custGeom>
            <a:avLst/>
            <a:gdLst/>
            <a:ahLst/>
            <a:cxnLst/>
            <a:rect r="r" b="b" t="t" l="l"/>
            <a:pathLst>
              <a:path h="1790700" w="5473703">
                <a:moveTo>
                  <a:pt x="0" y="0"/>
                </a:moveTo>
                <a:lnTo>
                  <a:pt x="5473703" y="0"/>
                </a:lnTo>
                <a:lnTo>
                  <a:pt x="5473703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9600" y="418490"/>
            <a:ext cx="3908355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MICROBIOLOGY BASICS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Is an Infection?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803" y="1976809"/>
            <a:ext cx="2676611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Invisible Threat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9403" y="2496864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997" y="4219623"/>
            <a:ext cx="4480836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Bacteria, viruses, and fungi cause clinical illness.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9803" y="2496864"/>
            <a:ext cx="10366724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Germsenterthebodyandmultiply rapidly. Because they are microscopic, we must assume dirty surfaces always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9803" y="2771184"/>
            <a:ext cx="1543698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carry pathogens.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27797" y="4229148"/>
            <a:ext cx="4838367" cy="62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Diarrhoea, skin infections, blood-borne hepatitis, and severe fever.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8997" y="3753822"/>
            <a:ext cx="2393080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Common Pathogens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7797" y="3753822"/>
            <a:ext cx="2667019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Resulting Health Risks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2089147"/>
            <a:ext cx="2730503" cy="2679697"/>
          </a:xfrm>
          <a:custGeom>
            <a:avLst/>
            <a:gdLst/>
            <a:ahLst/>
            <a:cxnLst/>
            <a:rect r="r" b="b" t="t" l="l"/>
            <a:pathLst>
              <a:path h="2679697" w="2730503">
                <a:moveTo>
                  <a:pt x="0" y="0"/>
                </a:moveTo>
                <a:lnTo>
                  <a:pt x="2730503" y="0"/>
                </a:lnTo>
                <a:lnTo>
                  <a:pt x="2730503" y="2679697"/>
                </a:lnTo>
                <a:lnTo>
                  <a:pt x="0" y="267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33750" y="2089147"/>
            <a:ext cx="2730503" cy="2679697"/>
          </a:xfrm>
          <a:custGeom>
            <a:avLst/>
            <a:gdLst/>
            <a:ahLst/>
            <a:cxnLst/>
            <a:rect r="r" b="b" t="t" l="l"/>
            <a:pathLst>
              <a:path h="2679697" w="2730503">
                <a:moveTo>
                  <a:pt x="0" y="0"/>
                </a:moveTo>
                <a:lnTo>
                  <a:pt x="2730503" y="0"/>
                </a:lnTo>
                <a:lnTo>
                  <a:pt x="2730503" y="2679697"/>
                </a:lnTo>
                <a:lnTo>
                  <a:pt x="0" y="267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27747" y="2089147"/>
            <a:ext cx="2730503" cy="2679697"/>
          </a:xfrm>
          <a:custGeom>
            <a:avLst/>
            <a:gdLst/>
            <a:ahLst/>
            <a:cxnLst/>
            <a:rect r="r" b="b" t="t" l="l"/>
            <a:pathLst>
              <a:path h="2679697" w="2730503">
                <a:moveTo>
                  <a:pt x="0" y="0"/>
                </a:moveTo>
                <a:lnTo>
                  <a:pt x="2730503" y="0"/>
                </a:lnTo>
                <a:lnTo>
                  <a:pt x="2730503" y="2679697"/>
                </a:lnTo>
                <a:lnTo>
                  <a:pt x="0" y="267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21753" y="2089147"/>
            <a:ext cx="2730503" cy="2679697"/>
          </a:xfrm>
          <a:custGeom>
            <a:avLst/>
            <a:gdLst/>
            <a:ahLst/>
            <a:cxnLst/>
            <a:rect r="r" b="b" t="t" l="l"/>
            <a:pathLst>
              <a:path h="2679697" w="2730503">
                <a:moveTo>
                  <a:pt x="0" y="0"/>
                </a:moveTo>
                <a:lnTo>
                  <a:pt x="2730503" y="0"/>
                </a:lnTo>
                <a:lnTo>
                  <a:pt x="2730503" y="2679697"/>
                </a:lnTo>
                <a:lnTo>
                  <a:pt x="0" y="267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9600" y="418490"/>
            <a:ext cx="6932200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TRANSMISSION ROUTES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 Key Entry Pathways Into Your Body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997" y="2229822"/>
            <a:ext cx="1955959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Facial 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474" y="2688593"/>
            <a:ext cx="54016" cy="3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83003" y="2229822"/>
            <a:ext cx="1941938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Open Wounds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54503" y="2688593"/>
            <a:ext cx="54016" cy="3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77000" y="2229822"/>
            <a:ext cx="1915354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Sharps Pricks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99236" y="2688593"/>
            <a:ext cx="54016" cy="3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70997" y="2229822"/>
            <a:ext cx="2010851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 Fluid Splashes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124" y="2688593"/>
            <a:ext cx="54016" cy="3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997" y="2698118"/>
            <a:ext cx="1868481" cy="60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Dirty</a:t>
            </a:r>
            <a:r>
              <a:rPr lang="en-US" sz="1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hands</a:t>
            </a:r>
            <a:r>
              <a:rPr lang="en-US" sz="1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touching mouth, nose, or eyes.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83003" y="2698118"/>
            <a:ext cx="1544374" cy="85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Germsinvading uncovered cuts or scratches.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77000" y="2698118"/>
            <a:ext cx="2051914" cy="60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Direct needlepunctures during bag handling.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70997" y="2688593"/>
            <a:ext cx="1543983" cy="3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Chemical orliquid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70997" y="2955293"/>
            <a:ext cx="2030349" cy="60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splashes reaching eyes or mouth.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1203" y="1803397"/>
            <a:ext cx="406403" cy="406403"/>
          </a:xfrm>
          <a:custGeom>
            <a:avLst/>
            <a:gdLst/>
            <a:ahLst/>
            <a:cxnLst/>
            <a:rect r="r" b="b" t="t" l="l"/>
            <a:pathLst>
              <a:path h="406403" w="406403">
                <a:moveTo>
                  <a:pt x="0" y="0"/>
                </a:moveTo>
                <a:lnTo>
                  <a:pt x="406403" y="0"/>
                </a:lnTo>
                <a:lnTo>
                  <a:pt x="406403" y="406403"/>
                </a:lnTo>
                <a:lnTo>
                  <a:pt x="0" y="40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1203" y="2501903"/>
            <a:ext cx="406403" cy="406403"/>
          </a:xfrm>
          <a:custGeom>
            <a:avLst/>
            <a:gdLst/>
            <a:ahLst/>
            <a:cxnLst/>
            <a:rect r="r" b="b" t="t" l="l"/>
            <a:pathLst>
              <a:path h="406403" w="406403">
                <a:moveTo>
                  <a:pt x="0" y="0"/>
                </a:moveTo>
                <a:lnTo>
                  <a:pt x="406403" y="0"/>
                </a:lnTo>
                <a:lnTo>
                  <a:pt x="406403" y="406403"/>
                </a:lnTo>
                <a:lnTo>
                  <a:pt x="0" y="40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1203" y="3200400"/>
            <a:ext cx="406403" cy="406403"/>
          </a:xfrm>
          <a:custGeom>
            <a:avLst/>
            <a:gdLst/>
            <a:ahLst/>
            <a:cxnLst/>
            <a:rect r="r" b="b" t="t" l="l"/>
            <a:pathLst>
              <a:path h="406403" w="406403">
                <a:moveTo>
                  <a:pt x="0" y="0"/>
                </a:moveTo>
                <a:lnTo>
                  <a:pt x="406403" y="0"/>
                </a:lnTo>
                <a:lnTo>
                  <a:pt x="406403" y="406403"/>
                </a:lnTo>
                <a:lnTo>
                  <a:pt x="0" y="40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1203" y="3898897"/>
            <a:ext cx="406403" cy="406403"/>
          </a:xfrm>
          <a:custGeom>
            <a:avLst/>
            <a:gdLst/>
            <a:ahLst/>
            <a:cxnLst/>
            <a:rect r="r" b="b" t="t" l="l"/>
            <a:pathLst>
              <a:path h="406403" w="406403">
                <a:moveTo>
                  <a:pt x="0" y="0"/>
                </a:moveTo>
                <a:lnTo>
                  <a:pt x="406403" y="0"/>
                </a:lnTo>
                <a:lnTo>
                  <a:pt x="406403" y="406403"/>
                </a:lnTo>
                <a:lnTo>
                  <a:pt x="0" y="40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1203" y="4597403"/>
            <a:ext cx="406403" cy="406403"/>
          </a:xfrm>
          <a:custGeom>
            <a:avLst/>
            <a:gdLst/>
            <a:ahLst/>
            <a:cxnLst/>
            <a:rect r="r" b="b" t="t" l="l"/>
            <a:pathLst>
              <a:path h="406403" w="406403">
                <a:moveTo>
                  <a:pt x="0" y="0"/>
                </a:moveTo>
                <a:lnTo>
                  <a:pt x="406403" y="0"/>
                </a:lnTo>
                <a:lnTo>
                  <a:pt x="406403" y="406403"/>
                </a:lnTo>
                <a:lnTo>
                  <a:pt x="0" y="40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203" y="5295900"/>
            <a:ext cx="406403" cy="406403"/>
          </a:xfrm>
          <a:custGeom>
            <a:avLst/>
            <a:gdLst/>
            <a:ahLst/>
            <a:cxnLst/>
            <a:rect r="r" b="b" t="t" l="l"/>
            <a:pathLst>
              <a:path h="406403" w="406403">
                <a:moveTo>
                  <a:pt x="0" y="0"/>
                </a:moveTo>
                <a:lnTo>
                  <a:pt x="406403" y="0"/>
                </a:lnTo>
                <a:lnTo>
                  <a:pt x="406403" y="406403"/>
                </a:lnTo>
                <a:lnTo>
                  <a:pt x="0" y="40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9753" y="5924550"/>
            <a:ext cx="11112503" cy="698497"/>
          </a:xfrm>
          <a:custGeom>
            <a:avLst/>
            <a:gdLst/>
            <a:ahLst/>
            <a:cxnLst/>
            <a:rect r="r" b="b" t="t" l="l"/>
            <a:pathLst>
              <a:path h="698497" w="11112503">
                <a:moveTo>
                  <a:pt x="0" y="0"/>
                </a:moveTo>
                <a:lnTo>
                  <a:pt x="11112503" y="0"/>
                </a:lnTo>
                <a:lnTo>
                  <a:pt x="11112503" y="698497"/>
                </a:lnTo>
                <a:lnTo>
                  <a:pt x="0" y="6984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0150" y="1644653"/>
            <a:ext cx="10452097" cy="4216403"/>
          </a:xfrm>
          <a:custGeom>
            <a:avLst/>
            <a:gdLst/>
            <a:ahLst/>
            <a:cxnLst/>
            <a:rect r="r" b="b" t="t" l="l"/>
            <a:pathLst>
              <a:path h="4216403" w="10452097">
                <a:moveTo>
                  <a:pt x="0" y="0"/>
                </a:moveTo>
                <a:lnTo>
                  <a:pt x="10452097" y="0"/>
                </a:lnTo>
                <a:lnTo>
                  <a:pt x="10452097" y="4216403"/>
                </a:lnTo>
                <a:lnTo>
                  <a:pt x="0" y="42164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9600" y="418490"/>
            <a:ext cx="5506355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CORE HYGIENE TECHNIQUE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6-Step Handwashing Protocol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4975" y="1794262"/>
            <a:ext cx="100832" cy="34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4975" y="2492759"/>
            <a:ext cx="100832" cy="34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4975" y="3191256"/>
            <a:ext cx="100832" cy="34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4975" y="3889762"/>
            <a:ext cx="100832" cy="34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4975" y="4588259"/>
            <a:ext cx="100832" cy="34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4975" y="5286756"/>
            <a:ext cx="100832" cy="34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8597" y="4565637"/>
            <a:ext cx="3950656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Wash Wrists: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Clean wrist area thoroughly.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8597" y="5264134"/>
            <a:ext cx="5033410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Rinse &amp; Dry: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Rinse fully and dry with single-use towel.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8597" y="2470137"/>
            <a:ext cx="5068014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Rub Palms: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Palm to palm in thorough circular motions.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8597" y="1771631"/>
            <a:ext cx="5528977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Wet &amp; Soap: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Apply sufficient soap with clean running water.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8597" y="3168634"/>
            <a:ext cx="5564419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Backs &amp; Interlace: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Rub back of hands and between fingers.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8597" y="3867131"/>
            <a:ext cx="5909300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Thumbs &amp; Nails: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Rotational scrubbing of thumbs and fingertips.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01340" y="6023591"/>
            <a:ext cx="2845108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92400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Wash for at least 20 seconds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1835153"/>
            <a:ext cx="5346697" cy="3314700"/>
          </a:xfrm>
          <a:custGeom>
            <a:avLst/>
            <a:gdLst/>
            <a:ahLst/>
            <a:cxnLst/>
            <a:rect r="r" b="b" t="t" l="l"/>
            <a:pathLst>
              <a:path h="3314700" w="5346697">
                <a:moveTo>
                  <a:pt x="0" y="0"/>
                </a:moveTo>
                <a:lnTo>
                  <a:pt x="5346697" y="0"/>
                </a:lnTo>
                <a:lnTo>
                  <a:pt x="5346697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753" y="5264153"/>
            <a:ext cx="11112503" cy="698497"/>
          </a:xfrm>
          <a:custGeom>
            <a:avLst/>
            <a:gdLst/>
            <a:ahLst/>
            <a:cxnLst/>
            <a:rect r="r" b="b" t="t" l="l"/>
            <a:pathLst>
              <a:path h="698497" w="11112503">
                <a:moveTo>
                  <a:pt x="0" y="0"/>
                </a:moveTo>
                <a:lnTo>
                  <a:pt x="11112503" y="0"/>
                </a:lnTo>
                <a:lnTo>
                  <a:pt x="11112503" y="698497"/>
                </a:lnTo>
                <a:lnTo>
                  <a:pt x="0" y="698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6153" y="1835153"/>
            <a:ext cx="5626103" cy="3314700"/>
          </a:xfrm>
          <a:custGeom>
            <a:avLst/>
            <a:gdLst/>
            <a:ahLst/>
            <a:cxnLst/>
            <a:rect r="r" b="b" t="t" l="l"/>
            <a:pathLst>
              <a:path h="3314700" w="5626103">
                <a:moveTo>
                  <a:pt x="0" y="0"/>
                </a:moveTo>
                <a:lnTo>
                  <a:pt x="5626103" y="0"/>
                </a:lnTo>
                <a:lnTo>
                  <a:pt x="5626103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9600" y="418490"/>
            <a:ext cx="7321601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PERSONAL PROTECTION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PPE Gear &amp; Correct Removal Sequence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997" y="1970865"/>
            <a:ext cx="2548309" cy="4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Essential Equipment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34568" y="2458764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75397" y="1970865"/>
            <a:ext cx="3008433" cy="4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Removal (Doffing) Order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00037" y="2458764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997" y="2419331"/>
            <a:ext cx="3167824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Gloves: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Protecthands fromfluids.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2806046"/>
            <a:ext cx="4642094" cy="110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Mask &amp; Goggles: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Block airborne dust &amp; splashes. </a:t>
            </a: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Boots &amp; Apron: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Shield feet &amp; clothing from spills.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01184" y="5363194"/>
            <a:ext cx="5701417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5. Immediate Hand Hygiene: Wash with soap immediately.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75397" y="2419331"/>
            <a:ext cx="4135326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Gloves: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Remove first;most contaminated.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75397" y="2806046"/>
            <a:ext cx="4860960" cy="165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Apron: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Peel down away from neck and shoulders. </a:t>
            </a: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Goggles: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Handle only by headband.</a:t>
            </a:r>
          </a:p>
          <a:p>
            <a:pPr algn="l">
              <a:lnSpc>
                <a:spcPts val="3999"/>
              </a:lnSpc>
              <a:spcBef>
                <a:spcPts val="319"/>
              </a:spcBef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 Mask: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Untie or remove ear loops cleanly.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1835153"/>
            <a:ext cx="3695700" cy="2298697"/>
          </a:xfrm>
          <a:custGeom>
            <a:avLst/>
            <a:gdLst/>
            <a:ahLst/>
            <a:cxnLst/>
            <a:rect r="r" b="b" t="t" l="l"/>
            <a:pathLst>
              <a:path h="2298697" w="3695700">
                <a:moveTo>
                  <a:pt x="0" y="0"/>
                </a:moveTo>
                <a:lnTo>
                  <a:pt x="3695700" y="0"/>
                </a:lnTo>
                <a:lnTo>
                  <a:pt x="3695700" y="2298697"/>
                </a:lnTo>
                <a:lnTo>
                  <a:pt x="0" y="229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8150" y="1835153"/>
            <a:ext cx="3695700" cy="2298697"/>
          </a:xfrm>
          <a:custGeom>
            <a:avLst/>
            <a:gdLst/>
            <a:ahLst/>
            <a:cxnLst/>
            <a:rect r="r" b="b" t="t" l="l"/>
            <a:pathLst>
              <a:path h="2298697" w="3695700">
                <a:moveTo>
                  <a:pt x="0" y="0"/>
                </a:moveTo>
                <a:lnTo>
                  <a:pt x="3695700" y="0"/>
                </a:lnTo>
                <a:lnTo>
                  <a:pt x="3695700" y="2298697"/>
                </a:lnTo>
                <a:lnTo>
                  <a:pt x="0" y="229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9753" y="4375147"/>
            <a:ext cx="11112503" cy="825503"/>
          </a:xfrm>
          <a:custGeom>
            <a:avLst/>
            <a:gdLst/>
            <a:ahLst/>
            <a:cxnLst/>
            <a:rect r="r" b="b" t="t" l="l"/>
            <a:pathLst>
              <a:path h="825503" w="11112503">
                <a:moveTo>
                  <a:pt x="0" y="0"/>
                </a:moveTo>
                <a:lnTo>
                  <a:pt x="11112503" y="0"/>
                </a:lnTo>
                <a:lnTo>
                  <a:pt x="11112503" y="825503"/>
                </a:lnTo>
                <a:lnTo>
                  <a:pt x="0" y="825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56547" y="1835153"/>
            <a:ext cx="3695700" cy="2298697"/>
          </a:xfrm>
          <a:custGeom>
            <a:avLst/>
            <a:gdLst/>
            <a:ahLst/>
            <a:cxnLst/>
            <a:rect r="r" b="b" t="t" l="l"/>
            <a:pathLst>
              <a:path h="2298697" w="3695700">
                <a:moveTo>
                  <a:pt x="0" y="0"/>
                </a:moveTo>
                <a:lnTo>
                  <a:pt x="3695700" y="0"/>
                </a:lnTo>
                <a:lnTo>
                  <a:pt x="3695700" y="2298697"/>
                </a:lnTo>
                <a:lnTo>
                  <a:pt x="0" y="229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9600" y="418490"/>
            <a:ext cx="5075768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DAILY HABITS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Personal Cleanliness Rules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997" y="1980390"/>
            <a:ext cx="2661266" cy="111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Clean Attire</a:t>
            </a:r>
          </a:p>
          <a:p>
            <a:pPr algn="l">
              <a:lnSpc>
                <a:spcPts val="215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Bathe daily and wear a clean uniform on every shift.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97403" y="1970865"/>
            <a:ext cx="2331977" cy="4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Nail &amp; Wound Care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46141" y="2458764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05800" y="1970865"/>
            <a:ext cx="1598266" cy="4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Vaccinations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60941" y="2458764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97403" y="2468289"/>
            <a:ext cx="2960141" cy="62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Keep nailstrimmed short.Cover cuts with waterproof bandages.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52751" y="4537691"/>
            <a:ext cx="7636231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9A341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Strictly prohibited in waste handling areas: Zero eating, drinking, or smoking.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05800" y="2458764"/>
            <a:ext cx="2845318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Maintain activeHepatitis B and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05800" y="2733084"/>
            <a:ext cx="2188502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Tetanus immunizations.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1708147"/>
            <a:ext cx="5473703" cy="1536697"/>
          </a:xfrm>
          <a:custGeom>
            <a:avLst/>
            <a:gdLst/>
            <a:ahLst/>
            <a:cxnLst/>
            <a:rect r="r" b="b" t="t" l="l"/>
            <a:pathLst>
              <a:path h="1536697" w="5473703">
                <a:moveTo>
                  <a:pt x="0" y="0"/>
                </a:moveTo>
                <a:lnTo>
                  <a:pt x="5473703" y="0"/>
                </a:lnTo>
                <a:lnTo>
                  <a:pt x="5473703" y="1536697"/>
                </a:lnTo>
                <a:lnTo>
                  <a:pt x="0" y="1536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753" y="3359153"/>
            <a:ext cx="11112503" cy="2870197"/>
          </a:xfrm>
          <a:custGeom>
            <a:avLst/>
            <a:gdLst/>
            <a:ahLst/>
            <a:cxnLst/>
            <a:rect r="r" b="b" t="t" l="l"/>
            <a:pathLst>
              <a:path h="2870197" w="11112503">
                <a:moveTo>
                  <a:pt x="0" y="0"/>
                </a:moveTo>
                <a:lnTo>
                  <a:pt x="11112503" y="0"/>
                </a:lnTo>
                <a:lnTo>
                  <a:pt x="11112503" y="2870197"/>
                </a:lnTo>
                <a:lnTo>
                  <a:pt x="0" y="2870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8553" y="1708147"/>
            <a:ext cx="5473703" cy="1536697"/>
          </a:xfrm>
          <a:custGeom>
            <a:avLst/>
            <a:gdLst/>
            <a:ahLst/>
            <a:cxnLst/>
            <a:rect r="r" b="b" t="t" l="l"/>
            <a:pathLst>
              <a:path h="1536697" w="5473703">
                <a:moveTo>
                  <a:pt x="0" y="0"/>
                </a:moveTo>
                <a:lnTo>
                  <a:pt x="5473703" y="0"/>
                </a:lnTo>
                <a:lnTo>
                  <a:pt x="5473703" y="1536697"/>
                </a:lnTo>
                <a:lnTo>
                  <a:pt x="0" y="15366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9600" y="418490"/>
            <a:ext cx="5916740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PHARMACIST PRACTICAL GUIDANCE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Alcohol Hand Sanitizer Protocol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997" y="1848822"/>
            <a:ext cx="3131706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Formulation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1187" y="2307593"/>
            <a:ext cx="54016" cy="3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27797" y="1848822"/>
            <a:ext cx="2338692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Visible Dirt Warning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01936" y="2307593"/>
            <a:ext cx="54016" cy="3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997" y="2262216"/>
            <a:ext cx="4838319" cy="39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Requiresatleast</a:t>
            </a:r>
            <a:r>
              <a:rPr lang="en-US" b="true" sz="1500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60%alcohol</a:t>
            </a: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content. Keep away from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2564768"/>
            <a:ext cx="1166441" cy="3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heat sources.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7797" y="2317118"/>
            <a:ext cx="4416857" cy="60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Sanitizer cannot cleanvisiblydirty or greasy hands. Wash with soap first!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8997" y="3494865"/>
            <a:ext cx="3267513" cy="49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3-Step Application Method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9899" y="3982764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997" y="3943331"/>
            <a:ext cx="4285393" cy="3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1: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Dispensea cupped palmfulof product.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8997" y="4330046"/>
            <a:ext cx="5840282" cy="110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2: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Rub palms, backs, interlaces, and fingertips thoroughly. </a:t>
            </a:r>
            <a:r>
              <a:rPr lang="en-US" b="true" sz="1599">
                <a:solidFill>
                  <a:srgbClr val="4A556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3:</a:t>
            </a: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Rub for 20 seconds until completely dry. Do not wipe.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1835153"/>
            <a:ext cx="5473703" cy="1917697"/>
          </a:xfrm>
          <a:custGeom>
            <a:avLst/>
            <a:gdLst/>
            <a:ahLst/>
            <a:cxnLst/>
            <a:rect r="r" b="b" t="t" l="l"/>
            <a:pathLst>
              <a:path h="1917697" w="5473703">
                <a:moveTo>
                  <a:pt x="0" y="0"/>
                </a:moveTo>
                <a:lnTo>
                  <a:pt x="5473703" y="0"/>
                </a:lnTo>
                <a:lnTo>
                  <a:pt x="5473703" y="1917697"/>
                </a:lnTo>
                <a:lnTo>
                  <a:pt x="0" y="191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753" y="3867150"/>
            <a:ext cx="5473703" cy="1917697"/>
          </a:xfrm>
          <a:custGeom>
            <a:avLst/>
            <a:gdLst/>
            <a:ahLst/>
            <a:cxnLst/>
            <a:rect r="r" b="b" t="t" l="l"/>
            <a:pathLst>
              <a:path h="1917697" w="5473703">
                <a:moveTo>
                  <a:pt x="0" y="0"/>
                </a:moveTo>
                <a:lnTo>
                  <a:pt x="5473703" y="0"/>
                </a:lnTo>
                <a:lnTo>
                  <a:pt x="5473703" y="1917697"/>
                </a:lnTo>
                <a:lnTo>
                  <a:pt x="0" y="1917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8553" y="1835153"/>
            <a:ext cx="5473703" cy="1917697"/>
          </a:xfrm>
          <a:custGeom>
            <a:avLst/>
            <a:gdLst/>
            <a:ahLst/>
            <a:cxnLst/>
            <a:rect r="r" b="b" t="t" l="l"/>
            <a:pathLst>
              <a:path h="1917697" w="5473703">
                <a:moveTo>
                  <a:pt x="0" y="0"/>
                </a:moveTo>
                <a:lnTo>
                  <a:pt x="5473703" y="0"/>
                </a:lnTo>
                <a:lnTo>
                  <a:pt x="5473703" y="1917697"/>
                </a:lnTo>
                <a:lnTo>
                  <a:pt x="0" y="19176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78553" y="3867150"/>
            <a:ext cx="5473703" cy="1917697"/>
          </a:xfrm>
          <a:custGeom>
            <a:avLst/>
            <a:gdLst/>
            <a:ahLst/>
            <a:cxnLst/>
            <a:rect r="r" b="b" t="t" l="l"/>
            <a:pathLst>
              <a:path h="1917697" w="5473703">
                <a:moveTo>
                  <a:pt x="0" y="0"/>
                </a:moveTo>
                <a:lnTo>
                  <a:pt x="5473703" y="0"/>
                </a:lnTo>
                <a:lnTo>
                  <a:pt x="5473703" y="1917697"/>
                </a:lnTo>
                <a:lnTo>
                  <a:pt x="0" y="1917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9600" y="418490"/>
            <a:ext cx="6197317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WASTE MANAGEMENT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Color-Coded Segregation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997" y="1951415"/>
            <a:ext cx="1789157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854D0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YELLOW BIN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3055" y="2490559"/>
            <a:ext cx="61217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854D0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8997" y="3983412"/>
            <a:ext cx="2565178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99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RED SHARPS 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6966" y="4522556"/>
            <a:ext cx="61217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99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27797" y="1951415"/>
            <a:ext cx="1567148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F17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BLACK BIN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95759" y="2490559"/>
            <a:ext cx="61217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F17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7797" y="3983412"/>
            <a:ext cx="1931937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7598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SPECIAL BOX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35408" y="4522556"/>
            <a:ext cx="61217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7598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997" y="2490559"/>
            <a:ext cx="3953351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854D0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Infectiouswaste,dressings, blood items.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8997" y="4522556"/>
            <a:ext cx="4076014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99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Puncture-proofforneedles,blades, glass.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27797" y="2490559"/>
            <a:ext cx="3476139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F17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Generalnon-risktrash, food, paper.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7797" y="4522556"/>
            <a:ext cx="3683584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7598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Chemicals&amp;expiredpharmacy stock.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1708147"/>
            <a:ext cx="5473703" cy="3949703"/>
          </a:xfrm>
          <a:custGeom>
            <a:avLst/>
            <a:gdLst/>
            <a:ahLst/>
            <a:cxnLst/>
            <a:rect r="r" b="b" t="t" l="l"/>
            <a:pathLst>
              <a:path h="3949703" w="5473703">
                <a:moveTo>
                  <a:pt x="0" y="0"/>
                </a:moveTo>
                <a:lnTo>
                  <a:pt x="5473703" y="0"/>
                </a:lnTo>
                <a:lnTo>
                  <a:pt x="5473703" y="3949703"/>
                </a:lnTo>
                <a:lnTo>
                  <a:pt x="0" y="3949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8553" y="1708147"/>
            <a:ext cx="5473703" cy="3949703"/>
          </a:xfrm>
          <a:custGeom>
            <a:avLst/>
            <a:gdLst/>
            <a:ahLst/>
            <a:cxnLst/>
            <a:rect r="r" b="b" t="t" l="l"/>
            <a:pathLst>
              <a:path h="3949703" w="5473703">
                <a:moveTo>
                  <a:pt x="0" y="0"/>
                </a:moveTo>
                <a:lnTo>
                  <a:pt x="5473703" y="0"/>
                </a:lnTo>
                <a:lnTo>
                  <a:pt x="5473703" y="3949703"/>
                </a:lnTo>
                <a:lnTo>
                  <a:pt x="0" y="3949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9600" y="418490"/>
            <a:ext cx="6759264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BEST PRACTICES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Safe Waste Handling: DO vs. NEVER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738684"/>
            <a:ext cx="1766364" cy="101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73"/>
              </a:lnSpc>
            </a:pPr>
            <a:r>
              <a:rPr lang="en-US" b="true" sz="2199">
                <a:solidFill>
                  <a:srgbClr val="16653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ALWAYS DO</a:t>
            </a:r>
          </a:p>
          <a:p>
            <a:pPr algn="r">
              <a:lnSpc>
                <a:spcPts val="307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27797" y="1824409"/>
            <a:ext cx="1488491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99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NEVER 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55188" y="2363553"/>
            <a:ext cx="61217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997" y="2363553"/>
            <a:ext cx="2476348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Seal bags when3/4 full.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8997" y="2946483"/>
            <a:ext cx="3773214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Carry bags by neck, away from body.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997" y="3529413"/>
            <a:ext cx="4140537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Transport using dedicated waste trolleys.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4112343"/>
            <a:ext cx="2646797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Report spills immediately.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7797" y="2363553"/>
            <a:ext cx="3700101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Press trashdown with hands or feet.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7797" y="2946483"/>
            <a:ext cx="2953779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Bend or recap used needles.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7797" y="3529413"/>
            <a:ext cx="2855566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Sort waste with bare hands.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27797" y="4112343"/>
            <a:ext cx="2941015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Carry loose sharps in hands.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1835153"/>
            <a:ext cx="2730503" cy="2933700"/>
          </a:xfrm>
          <a:custGeom>
            <a:avLst/>
            <a:gdLst/>
            <a:ahLst/>
            <a:cxnLst/>
            <a:rect r="r" b="b" t="t" l="l"/>
            <a:pathLst>
              <a:path h="2933700" w="2730503">
                <a:moveTo>
                  <a:pt x="0" y="0"/>
                </a:moveTo>
                <a:lnTo>
                  <a:pt x="2730503" y="0"/>
                </a:lnTo>
                <a:lnTo>
                  <a:pt x="2730503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33750" y="1835153"/>
            <a:ext cx="2730503" cy="2933700"/>
          </a:xfrm>
          <a:custGeom>
            <a:avLst/>
            <a:gdLst/>
            <a:ahLst/>
            <a:cxnLst/>
            <a:rect r="r" b="b" t="t" l="l"/>
            <a:pathLst>
              <a:path h="2933700" w="2730503">
                <a:moveTo>
                  <a:pt x="0" y="0"/>
                </a:moveTo>
                <a:lnTo>
                  <a:pt x="2730503" y="0"/>
                </a:lnTo>
                <a:lnTo>
                  <a:pt x="2730503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27747" y="1835153"/>
            <a:ext cx="2730503" cy="2933700"/>
          </a:xfrm>
          <a:custGeom>
            <a:avLst/>
            <a:gdLst/>
            <a:ahLst/>
            <a:cxnLst/>
            <a:rect r="r" b="b" t="t" l="l"/>
            <a:pathLst>
              <a:path h="2933700" w="2730503">
                <a:moveTo>
                  <a:pt x="0" y="0"/>
                </a:moveTo>
                <a:lnTo>
                  <a:pt x="2730503" y="0"/>
                </a:lnTo>
                <a:lnTo>
                  <a:pt x="2730503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9753" y="5010150"/>
            <a:ext cx="11112503" cy="825503"/>
          </a:xfrm>
          <a:custGeom>
            <a:avLst/>
            <a:gdLst/>
            <a:ahLst/>
            <a:cxnLst/>
            <a:rect r="r" b="b" t="t" l="l"/>
            <a:pathLst>
              <a:path h="825503" w="11112503">
                <a:moveTo>
                  <a:pt x="0" y="0"/>
                </a:moveTo>
                <a:lnTo>
                  <a:pt x="11112503" y="0"/>
                </a:lnTo>
                <a:lnTo>
                  <a:pt x="11112503" y="825503"/>
                </a:lnTo>
                <a:lnTo>
                  <a:pt x="0" y="8255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21753" y="1835153"/>
            <a:ext cx="2730503" cy="2933700"/>
          </a:xfrm>
          <a:custGeom>
            <a:avLst/>
            <a:gdLst/>
            <a:ahLst/>
            <a:cxnLst/>
            <a:rect r="r" b="b" t="t" l="l"/>
            <a:pathLst>
              <a:path h="2933700" w="2730503">
                <a:moveTo>
                  <a:pt x="0" y="0"/>
                </a:moveTo>
                <a:lnTo>
                  <a:pt x="2730503" y="0"/>
                </a:lnTo>
                <a:lnTo>
                  <a:pt x="2730503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9600" y="418490"/>
            <a:ext cx="5787714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EMERGENCY FIRST AID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Needle-Stick &amp; Splash Protocol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997" y="2004793"/>
            <a:ext cx="1854727" cy="150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b="true" sz="17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1: Do Not Squeeze</a:t>
            </a:r>
          </a:p>
          <a:p>
            <a:pPr algn="l">
              <a:lnSpc>
                <a:spcPts val="1890"/>
              </a:lnSpc>
            </a:pPr>
            <a:r>
              <a:rPr lang="en-US" sz="14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Allow woundto bleed gently naturally. Do not scrub hard.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86988" y="2703786"/>
            <a:ext cx="50416" cy="32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83003" y="2004793"/>
            <a:ext cx="1884626" cy="150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b="true" sz="17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2: Immediate Wash</a:t>
            </a:r>
          </a:p>
          <a:p>
            <a:pPr algn="l">
              <a:lnSpc>
                <a:spcPts val="1890"/>
              </a:lnSpc>
            </a:pPr>
            <a:r>
              <a:rPr lang="en-US" sz="14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Wash with soap under running water. Rinse eyes with clean water.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77000" y="2004793"/>
            <a:ext cx="1504969" cy="70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b="true" sz="17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3: Report Incident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31457" y="2703786"/>
            <a:ext cx="50416" cy="32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70997" y="2004793"/>
            <a:ext cx="1860404" cy="70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b="true" sz="17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4: Seek Care Today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76028" y="2703786"/>
            <a:ext cx="50416" cy="32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77000" y="2713311"/>
            <a:ext cx="1703299" cy="79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4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Notifysupervisor and infection control lead immediately.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70997" y="2703786"/>
            <a:ext cx="1380668" cy="32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Earlyprophylaxis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70997" y="2953341"/>
            <a:ext cx="1511970" cy="55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4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treatment prevents infection.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93302" y="5135461"/>
            <a:ext cx="6737509" cy="45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Reporting injuries protects you, your family, and your rights!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1835153"/>
            <a:ext cx="2298697" cy="1409700"/>
          </a:xfrm>
          <a:custGeom>
            <a:avLst/>
            <a:gdLst/>
            <a:ahLst/>
            <a:cxnLst/>
            <a:rect r="r" b="b" t="t" l="l"/>
            <a:pathLst>
              <a:path h="1409700" w="2298697">
                <a:moveTo>
                  <a:pt x="0" y="0"/>
                </a:moveTo>
                <a:lnTo>
                  <a:pt x="2298697" y="0"/>
                </a:lnTo>
                <a:lnTo>
                  <a:pt x="2298697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753" y="3359153"/>
            <a:ext cx="11112503" cy="1282703"/>
          </a:xfrm>
          <a:custGeom>
            <a:avLst/>
            <a:gdLst/>
            <a:ahLst/>
            <a:cxnLst/>
            <a:rect r="r" b="b" t="t" l="l"/>
            <a:pathLst>
              <a:path h="1282703" w="11112503">
                <a:moveTo>
                  <a:pt x="0" y="0"/>
                </a:moveTo>
                <a:lnTo>
                  <a:pt x="11112503" y="0"/>
                </a:lnTo>
                <a:lnTo>
                  <a:pt x="11112503" y="1282703"/>
                </a:lnTo>
                <a:lnTo>
                  <a:pt x="0" y="1282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9753" y="4756147"/>
            <a:ext cx="11112503" cy="1282703"/>
          </a:xfrm>
          <a:custGeom>
            <a:avLst/>
            <a:gdLst/>
            <a:ahLst/>
            <a:cxnLst/>
            <a:rect r="r" b="b" t="t" l="l"/>
            <a:pathLst>
              <a:path h="1282703" w="11112503">
                <a:moveTo>
                  <a:pt x="0" y="0"/>
                </a:moveTo>
                <a:lnTo>
                  <a:pt x="11112503" y="0"/>
                </a:lnTo>
                <a:lnTo>
                  <a:pt x="11112503" y="1282703"/>
                </a:lnTo>
                <a:lnTo>
                  <a:pt x="0" y="1282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52750" y="1835153"/>
            <a:ext cx="8699497" cy="1409700"/>
          </a:xfrm>
          <a:custGeom>
            <a:avLst/>
            <a:gdLst/>
            <a:ahLst/>
            <a:cxnLst/>
            <a:rect r="r" b="b" t="t" l="l"/>
            <a:pathLst>
              <a:path h="1409700" w="8699497">
                <a:moveTo>
                  <a:pt x="0" y="0"/>
                </a:moveTo>
                <a:lnTo>
                  <a:pt x="8699497" y="0"/>
                </a:lnTo>
                <a:lnTo>
                  <a:pt x="8699497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9600" y="418490"/>
            <a:ext cx="5917130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EDUCATIONAL SCOPE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Public Health Training Outreach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1874" y="1772002"/>
            <a:ext cx="993934" cy="134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b="true" sz="45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997" y="4896822"/>
            <a:ext cx="2023643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Follow-Up Audits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0400" y="5362623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997" y="3499828"/>
            <a:ext cx="2968028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Practical Demonstrations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1672" y="3965619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02003" y="1975828"/>
            <a:ext cx="2968038" cy="47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Small Interactive Cohorts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34558" y="2441619"/>
            <a:ext cx="57617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8997" y="5362623"/>
            <a:ext cx="4123725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Monthlyrefreshertalksand safety checklists.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997" y="3965619"/>
            <a:ext cx="5875106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Livehandwashingdrills,PPEdonning, and sanitizer distribution.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02003" y="2441619"/>
            <a:ext cx="5668051" cy="36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Taughtinpracticalgroupsof25for active hands-on coaching.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753" y="1708147"/>
            <a:ext cx="3695700" cy="2679697"/>
          </a:xfrm>
          <a:custGeom>
            <a:avLst/>
            <a:gdLst/>
            <a:ahLst/>
            <a:cxnLst/>
            <a:rect r="r" b="b" t="t" l="l"/>
            <a:pathLst>
              <a:path h="2679697" w="3695700">
                <a:moveTo>
                  <a:pt x="0" y="0"/>
                </a:moveTo>
                <a:lnTo>
                  <a:pt x="3695700" y="0"/>
                </a:lnTo>
                <a:lnTo>
                  <a:pt x="3695700" y="2679697"/>
                </a:lnTo>
                <a:lnTo>
                  <a:pt x="0" y="267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8150" y="1708147"/>
            <a:ext cx="3695700" cy="2679697"/>
          </a:xfrm>
          <a:custGeom>
            <a:avLst/>
            <a:gdLst/>
            <a:ahLst/>
            <a:cxnLst/>
            <a:rect r="r" b="b" t="t" l="l"/>
            <a:pathLst>
              <a:path h="2679697" w="3695700">
                <a:moveTo>
                  <a:pt x="0" y="0"/>
                </a:moveTo>
                <a:lnTo>
                  <a:pt x="3695700" y="0"/>
                </a:lnTo>
                <a:lnTo>
                  <a:pt x="3695700" y="2679697"/>
                </a:lnTo>
                <a:lnTo>
                  <a:pt x="0" y="267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9753" y="4629150"/>
            <a:ext cx="11112503" cy="825503"/>
          </a:xfrm>
          <a:custGeom>
            <a:avLst/>
            <a:gdLst/>
            <a:ahLst/>
            <a:cxnLst/>
            <a:rect r="r" b="b" t="t" l="l"/>
            <a:pathLst>
              <a:path h="825503" w="11112503">
                <a:moveTo>
                  <a:pt x="0" y="0"/>
                </a:moveTo>
                <a:lnTo>
                  <a:pt x="11112503" y="0"/>
                </a:lnTo>
                <a:lnTo>
                  <a:pt x="11112503" y="825503"/>
                </a:lnTo>
                <a:lnTo>
                  <a:pt x="0" y="825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56547" y="1708147"/>
            <a:ext cx="3695700" cy="2679697"/>
          </a:xfrm>
          <a:custGeom>
            <a:avLst/>
            <a:gdLst/>
            <a:ahLst/>
            <a:cxnLst/>
            <a:rect r="r" b="b" t="t" l="l"/>
            <a:pathLst>
              <a:path h="2679697" w="3695700">
                <a:moveTo>
                  <a:pt x="0" y="0"/>
                </a:moveTo>
                <a:lnTo>
                  <a:pt x="3695700" y="0"/>
                </a:lnTo>
                <a:lnTo>
                  <a:pt x="3695700" y="2679697"/>
                </a:lnTo>
                <a:lnTo>
                  <a:pt x="0" y="267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9600" y="418490"/>
            <a:ext cx="7406316" cy="7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ACADEMIC VISION &amp; FUTURE IMPACT</a:t>
            </a:r>
          </a:p>
          <a:p>
            <a:pPr algn="l">
              <a:lnSpc>
                <a:spcPts val="3699"/>
              </a:lnSpc>
            </a:pPr>
            <a:r>
              <a:rPr lang="en-US" b="true" sz="3000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DAAD EPOS Global Health Commitment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997" y="1912134"/>
            <a:ext cx="2624547" cy="15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0"/>
              </a:lnSpc>
            </a:pPr>
            <a:r>
              <a:rPr lang="en-US" b="true" sz="12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LEARN</a:t>
            </a:r>
          </a:p>
          <a:p>
            <a:pPr algn="just">
              <a:lnSpc>
                <a:spcPts val="2564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Master Global Health</a:t>
            </a:r>
          </a:p>
          <a:p>
            <a:pPr algn="just">
              <a:lnSpc>
                <a:spcPts val="2025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Deepen expertise in advanced infection prevention and public health programs.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97403" y="1912134"/>
            <a:ext cx="2775328" cy="15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2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APPLY</a:t>
            </a:r>
          </a:p>
          <a:p>
            <a:pPr algn="l">
              <a:lnSpc>
                <a:spcPts val="2564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Train-the-Trainer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Empower supervisors to expand hygiene training across regional hospitals.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05800" y="1912134"/>
            <a:ext cx="2991212" cy="15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2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SUSTAIN</a:t>
            </a:r>
          </a:p>
          <a:p>
            <a:pPr algn="l">
              <a:lnSpc>
                <a:spcPts val="2564"/>
              </a:lnSpc>
            </a:pPr>
            <a:r>
              <a:rPr lang="en-US" b="true" sz="1899">
                <a:solidFill>
                  <a:srgbClr val="0F294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Systemic Improvement</a:t>
            </a:r>
          </a:p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4A556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Implement standardized safety protocols across community health systems in Pakistan.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5416" y="4754461"/>
            <a:ext cx="7671587" cy="45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277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"A training starting with 100 workers can protect thousands of lives."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1150" y="3105150"/>
            <a:ext cx="2171700" cy="1028700"/>
          </a:xfrm>
          <a:custGeom>
            <a:avLst/>
            <a:gdLst/>
            <a:ahLst/>
            <a:cxnLst/>
            <a:rect r="r" b="b" t="t" l="l"/>
            <a:pathLst>
              <a:path h="1028700" w="2171700">
                <a:moveTo>
                  <a:pt x="0" y="0"/>
                </a:moveTo>
                <a:lnTo>
                  <a:pt x="2171700" y="0"/>
                </a:lnTo>
                <a:lnTo>
                  <a:pt x="2171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03647" y="3105150"/>
            <a:ext cx="2171700" cy="1028700"/>
          </a:xfrm>
          <a:custGeom>
            <a:avLst/>
            <a:gdLst/>
            <a:ahLst/>
            <a:cxnLst/>
            <a:rect r="r" b="b" t="t" l="l"/>
            <a:pathLst>
              <a:path h="1028700" w="2171700">
                <a:moveTo>
                  <a:pt x="0" y="0"/>
                </a:moveTo>
                <a:lnTo>
                  <a:pt x="2171700" y="0"/>
                </a:lnTo>
                <a:lnTo>
                  <a:pt x="2171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6153" y="3105150"/>
            <a:ext cx="2171700" cy="1028700"/>
          </a:xfrm>
          <a:custGeom>
            <a:avLst/>
            <a:gdLst/>
            <a:ahLst/>
            <a:cxnLst/>
            <a:rect r="r" b="b" t="t" l="l"/>
            <a:pathLst>
              <a:path h="1028700" w="2171700">
                <a:moveTo>
                  <a:pt x="0" y="0"/>
                </a:moveTo>
                <a:lnTo>
                  <a:pt x="2171700" y="0"/>
                </a:lnTo>
                <a:lnTo>
                  <a:pt x="2171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48650" y="3105150"/>
            <a:ext cx="2171700" cy="1028700"/>
          </a:xfrm>
          <a:custGeom>
            <a:avLst/>
            <a:gdLst/>
            <a:ahLst/>
            <a:cxnLst/>
            <a:rect r="r" b="b" t="t" l="l"/>
            <a:pathLst>
              <a:path h="1028700" w="2171700">
                <a:moveTo>
                  <a:pt x="0" y="0"/>
                </a:moveTo>
                <a:lnTo>
                  <a:pt x="2171700" y="0"/>
                </a:lnTo>
                <a:lnTo>
                  <a:pt x="2171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33243" y="5765082"/>
            <a:ext cx="3188017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94A3B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Anila Munir, PharmD | Hospital Pharmacist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2248" y="1586494"/>
            <a:ext cx="7776867" cy="224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4"/>
              </a:lnSpc>
            </a:pPr>
            <a:r>
              <a:rPr lang="en-US" b="true" sz="1299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CORE TAKEAWAYS</a:t>
            </a:r>
          </a:p>
          <a:p>
            <a:pPr algn="l">
              <a:lnSpc>
                <a:spcPts val="5601"/>
              </a:lnSpc>
            </a:pPr>
            <a:r>
              <a:rPr lang="en-US" b="true" sz="4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 Golden Rules of Sanitation</a:t>
            </a:r>
          </a:p>
          <a:p>
            <a:pPr algn="l">
              <a:lnSpc>
                <a:spcPts val="2800"/>
              </a:lnSpc>
            </a:pPr>
            <a:r>
              <a:rPr lang="en-US" b="true" sz="2199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0213" y="3297612"/>
            <a:ext cx="870642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22013" y="3297612"/>
            <a:ext cx="1361675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PROTECT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51337" y="3297612"/>
            <a:ext cx="1551756" cy="55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SEPARATE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73636" y="5333581"/>
            <a:ext cx="1269625" cy="45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28901" y="4425448"/>
            <a:ext cx="7684884" cy="41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BD5E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Your health protects your family, your patients, and your entire community.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DAHW7zXLsuw</dc:identifier>
  <dcterms:modified xsi:type="dcterms:W3CDTF">2011-08-01T06:04:30Z</dcterms:modified>
  <cp:revision>1</cp:revision>
  <dc:title>Sanitary_Worker_Hygiene_Safety_Training_No_Images(1).pdf</dc:title>
</cp:coreProperties>
</file>