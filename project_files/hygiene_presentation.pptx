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IBM Plex Sans Bold" charset="1" panose="020B0803050203000203"/>
      <p:regular r:id="rId27"/>
    </p:embeddedFont>
    <p:embeddedFont>
      <p:font typeface="Source Serif Pro Bold" charset="1" panose="02040803050405020204"/>
      <p:regular r:id="rId28"/>
    </p:embeddedFont>
    <p:embeddedFont>
      <p:font typeface="IBM Plex Sans" charset="1" panose="020B0503050203000203"/>
      <p:regular r:id="rId29"/>
    </p:embeddedFont>
    <p:embeddedFont>
      <p:font typeface="Source Serif Pro" charset="1" panose="02040603050405020204"/>
      <p:regular r:id="rId32"/>
    </p:embeddedFont>
    <p:embeddedFont>
      <p:font typeface="IBM Plex Sans Italics" charset="1" panose="020B0503050203000203"/>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fonts/font41.fntdata" Type="http://schemas.openxmlformats.org/officeDocument/2006/relationships/font"/><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Introduce yourself and the project: a school-based hygiene and infection prevention programme, prepared as part of my DAAD EPOS application for a Master of Public Health.</a:t>
            </a:r>
          </a:p>
          <a:p>
            <a:r>
              <a:rPr lang="en-US"/>
              <a:t>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The presentation follows the logic of a public health intervention: problem and setting, objectives and content, delivery, ethics, and finally outcomes and evaluation.</a:t>
            </a:r>
          </a:p>
          <a:p>
            <a:r>
              <a:rPr lang="en-US"/>
              <a:t>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Poor personal hygiene contributes to respiratory infections, diarrhoeal illness, skin infections and other communicable diseases. Schools concentrate children in shared spaces, so they are both a risk setting and an ideal setting for prevention.</a:t>
            </a:r>
          </a:p>
          <a:p>
            <a:r>
              <a:rPr lang="en-US"/>
              <a:t>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Each of the five schools (two government, three private) issued a No Objection Certificate for the visit. Including both government and private schools allows the programme to reach children in different settings and to compare baseline knowledge and hygiene facilities between the two sectors. Actual student numbers will come from the attendance registers, not estimates.</a:t>
            </a:r>
          </a:p>
          <a:p>
            <a:r>
              <a:rPr lang="en-US"/>
              <a:t>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Objectives cover knowledge (why hygiene matters, how infections spread), skills (handwashing, cough etiquette) and behaviour (daily habits and sharing messages with families and classmates).</a:t>
            </a:r>
          </a:p>
          <a:p>
            <a:r>
              <a:rPr lang="en-US"/>
              <a:t>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These messages are deliberately short so that children can remember and repeat them, and so that teachers can reuse them in daily reminders.</a:t>
            </a:r>
          </a:p>
          <a:p>
            <a:r>
              <a:rPr lang="en-US"/>
              <a:t>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Demonstrate live with soap and water. The 'Give me five' poster turns the five steps into something children can count on their fingers. Technique based on WHO hand hygiene guidance.</a:t>
            </a:r>
          </a:p>
          <a:p>
            <a:r>
              <a:rPr lang="en-US"/>
              <a:t>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Staying home when unwell should follow the school's and local health authorities' guidance. Each measure interrupts one route of transmission: droplets, shared objects or contaminated surfaces.</a:t>
            </a:r>
          </a:p>
          <a:p>
            <a:r>
              <a:rPr lang="en-US"/>
              <a:t>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Children become active partners: besides protecting themselves, they are encouraged to report unsafe water, dirty toilets or unhygienic food areas to teachers.</a:t>
            </a:r>
          </a:p>
          <a:p>
            <a:r>
              <a:rPr lang="en-US"/>
              <a:t>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Interactive methods keep children engaged and support retention. Teacher reminders after the session make the programme sustainable.</a:t>
            </a:r>
          </a:p>
          <a:p>
            <a:r>
              <a:rPr lang="en-US"/>
              <a:t>10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Examples of the materials and activities used during the January–February 2026 visits to the participating government and private schools: posters, activity corners and craft work that make germs visible for young children.</a:t>
            </a:r>
          </a:p>
          <a:p>
            <a:r>
              <a:rPr lang="en-US"/>
              <a:t>11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The same six phases are carried out in all five schools, so results are comparable. Week 1 starts on 1 January 2026, and visits are staggered school by school, so phases 2 to 4 run inside each visit. Baseline and follow-up use the same questionnaire and checklist.</a:t>
            </a:r>
          </a:p>
          <a:p>
            <a:r>
              <a:rPr lang="en-US"/>
              <a:t>12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Working with minors requires clear safeguards. These principles follow good practice in public health research: permission, informed parents, data protection and child-safe conduct.</a:t>
            </a:r>
          </a:p>
          <a:p>
            <a:r>
              <a:rPr lang="en-US"/>
              <a:t>13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Outcomes move from knowledge to confidence to behaviour, and finally to sustainability through teachers.</a:t>
            </a:r>
          </a:p>
          <a:p>
            <a:r>
              <a:rPr lang="en-US"/>
              <a:t>14</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The pre/post design allows a simple before-and-after comparison in each school and between government and private schools. Only aggregated, anonymous data are reported.</a:t>
            </a:r>
          </a:p>
          <a:p>
            <a:r>
              <a:rPr lang="en-US"/>
              <a:t>15</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Educating children helps establish healthy habits that extend from school to home and the wider community. Long-term impact depends on sustained teacher involvement, adequate handwashing facilities, safe water and regular health education.</a:t>
            </a:r>
          </a:p>
          <a:p>
            <a:r>
              <a:rPr lang="en-US"/>
              <a:t>16</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Online sources were last checked on the access date shown. The national reference is the Government of Pakistan National Sanitation Policy (2006), which covers sanitation and hygiene promotion, including in schools.</a:t>
            </a:r>
          </a:p>
          <a:p>
            <a:r>
              <a:rPr lang="en-US"/>
              <a:t>17</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Thank the audience and invite questions.</a:t>
            </a:r>
          </a:p>
          <a:p>
            <a:r>
              <a:rPr lang="en-US"/>
              <a:t>18</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6.jpe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 Id="rId7" Target="../media/image3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1.png" Type="http://schemas.openxmlformats.org/officeDocument/2006/relationships/image"/><Relationship Id="rId4" Target="../media/image3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3.png" Type="http://schemas.openxmlformats.org/officeDocument/2006/relationships/image"/><Relationship Id="rId4" Target="../media/image3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304A"/>
        </a:solidFill>
      </p:bgPr>
    </p:bg>
    <p:spTree>
      <p:nvGrpSpPr>
        <p:cNvPr id="1" name=""/>
        <p:cNvGrpSpPr/>
        <p:nvPr/>
      </p:nvGrpSpPr>
      <p:grpSpPr>
        <a:xfrm>
          <a:off x="0" y="0"/>
          <a:ext cx="0" cy="0"/>
          <a:chOff x="0" y="0"/>
          <a:chExt cx="0" cy="0"/>
        </a:xfrm>
      </p:grpSpPr>
      <p:sp>
        <p:nvSpPr>
          <p:cNvPr name="TextBox 2" id="2"/>
          <p:cNvSpPr txBox="true"/>
          <p:nvPr/>
        </p:nvSpPr>
        <p:spPr>
          <a:xfrm rot="0">
            <a:off x="1219200" y="1952777"/>
            <a:ext cx="9104376" cy="382905"/>
          </a:xfrm>
          <a:prstGeom prst="rect">
            <a:avLst/>
          </a:prstGeom>
        </p:spPr>
        <p:txBody>
          <a:bodyPr anchor="t" rtlCol="false" tIns="0" lIns="0" bIns="0" rIns="0">
            <a:spAutoFit/>
          </a:bodyPr>
          <a:lstStyle/>
          <a:p>
            <a:pPr algn="l">
              <a:lnSpc>
                <a:spcPts val="2520"/>
              </a:lnSpc>
            </a:pPr>
            <a:r>
              <a:rPr lang="en-US" b="true" sz="1800" spc="149">
                <a:solidFill>
                  <a:srgbClr val="7FD1C0"/>
                </a:solidFill>
                <a:latin typeface="IBM Plex Sans Bold"/>
                <a:ea typeface="IBM Plex Sans Bold"/>
                <a:cs typeface="IBM Plex Sans Bold"/>
                <a:sym typeface="IBM Plex Sans Bold"/>
              </a:rPr>
              <a:t>DAAD EPOS · MASTER IN HEALTH · APPLICATION PROJECT</a:t>
            </a:r>
          </a:p>
        </p:txBody>
      </p:sp>
      <p:sp>
        <p:nvSpPr>
          <p:cNvPr name="TextBox 3" id="3"/>
          <p:cNvSpPr txBox="true"/>
          <p:nvPr/>
        </p:nvSpPr>
        <p:spPr>
          <a:xfrm rot="0">
            <a:off x="1219200" y="2977601"/>
            <a:ext cx="9104376" cy="2845889"/>
          </a:xfrm>
          <a:prstGeom prst="rect">
            <a:avLst/>
          </a:prstGeom>
        </p:spPr>
        <p:txBody>
          <a:bodyPr anchor="t" rtlCol="false" tIns="0" lIns="0" bIns="0" rIns="0">
            <a:spAutoFit/>
          </a:bodyPr>
          <a:lstStyle/>
          <a:p>
            <a:pPr algn="l">
              <a:lnSpc>
                <a:spcPts val="7920"/>
              </a:lnSpc>
            </a:pPr>
            <a:r>
              <a:rPr lang="en-US" sz="7200" b="true">
                <a:solidFill>
                  <a:srgbClr val="F7F6F2"/>
                </a:solidFill>
                <a:latin typeface="Source Serif Pro Bold"/>
                <a:ea typeface="Source Serif Pro Bold"/>
                <a:cs typeface="Source Serif Pro Bold"/>
                <a:sym typeface="Source Serif Pro Bold"/>
              </a:rPr>
              <a:t>Personal Hygiene &amp; Infection Prevention</a:t>
            </a:r>
          </a:p>
        </p:txBody>
      </p:sp>
      <p:sp>
        <p:nvSpPr>
          <p:cNvPr name="TextBox 4" id="4"/>
          <p:cNvSpPr txBox="true"/>
          <p:nvPr/>
        </p:nvSpPr>
        <p:spPr>
          <a:xfrm rot="0">
            <a:off x="1219200" y="6052099"/>
            <a:ext cx="9104376" cy="952500"/>
          </a:xfrm>
          <a:prstGeom prst="rect">
            <a:avLst/>
          </a:prstGeom>
        </p:spPr>
        <p:txBody>
          <a:bodyPr anchor="t" rtlCol="false" tIns="0" lIns="0" bIns="0" rIns="0">
            <a:spAutoFit/>
          </a:bodyPr>
          <a:lstStyle/>
          <a:p>
            <a:pPr algn="l">
              <a:lnSpc>
                <a:spcPts val="3149"/>
              </a:lnSpc>
            </a:pPr>
            <a:r>
              <a:rPr lang="en-US" sz="2250">
                <a:solidFill>
                  <a:srgbClr val="BFD8D5"/>
                </a:solidFill>
                <a:latin typeface="IBM Plex Sans"/>
                <a:ea typeface="IBM Plex Sans"/>
                <a:cs typeface="IBM Plex Sans"/>
                <a:sym typeface="IBM Plex Sans"/>
              </a:rPr>
              <a:t>A school-based health education programme for children in 5 government and private schools in Chakwal District, Pakistan</a:t>
            </a:r>
          </a:p>
        </p:txBody>
      </p:sp>
      <p:sp>
        <p:nvSpPr>
          <p:cNvPr name="AutoShape 5" id="5"/>
          <p:cNvSpPr/>
          <p:nvPr/>
        </p:nvSpPr>
        <p:spPr>
          <a:xfrm rot="48900">
            <a:off x="568242" y="7950422"/>
            <a:ext cx="1340025" cy="0"/>
          </a:xfrm>
          <a:prstGeom prst="line">
            <a:avLst/>
          </a:prstGeom>
          <a:ln cap="rnd" w="19050">
            <a:solidFill>
              <a:srgbClr val="7FD1C0"/>
            </a:solidFill>
            <a:prstDash val="solid"/>
            <a:headEnd type="none" len="sm" w="sm"/>
            <a:tailEnd type="none" len="sm" w="sm"/>
          </a:ln>
        </p:spPr>
      </p:sp>
      <p:sp>
        <p:nvSpPr>
          <p:cNvPr name="TextBox 6" id="6"/>
          <p:cNvSpPr txBox="true"/>
          <p:nvPr/>
        </p:nvSpPr>
        <p:spPr>
          <a:xfrm rot="0">
            <a:off x="1485900" y="7271299"/>
            <a:ext cx="8829675" cy="552450"/>
          </a:xfrm>
          <a:prstGeom prst="rect">
            <a:avLst/>
          </a:prstGeom>
        </p:spPr>
        <p:txBody>
          <a:bodyPr anchor="t" rtlCol="false" tIns="0" lIns="0" bIns="0" rIns="0">
            <a:spAutoFit/>
          </a:bodyPr>
          <a:lstStyle/>
          <a:p>
            <a:pPr algn="l">
              <a:lnSpc>
                <a:spcPts val="3149"/>
              </a:lnSpc>
            </a:pPr>
            <a:r>
              <a:rPr lang="en-US" sz="2250" b="true">
                <a:solidFill>
                  <a:srgbClr val="F7F6F2"/>
                </a:solidFill>
                <a:latin typeface="IBM Plex Sans Bold"/>
                <a:ea typeface="IBM Plex Sans Bold"/>
                <a:cs typeface="IBM Plex Sans Bold"/>
                <a:sym typeface="IBM Plex Sans Bold"/>
              </a:rPr>
              <a:t>Anila Munir</a:t>
            </a:r>
          </a:p>
        </p:txBody>
      </p:sp>
      <p:sp>
        <p:nvSpPr>
          <p:cNvPr name="TextBox 7" id="7"/>
          <p:cNvSpPr txBox="true"/>
          <p:nvPr/>
        </p:nvSpPr>
        <p:spPr>
          <a:xfrm rot="0">
            <a:off x="1485900" y="7747549"/>
            <a:ext cx="8829675" cy="864298"/>
          </a:xfrm>
          <a:prstGeom prst="rect">
            <a:avLst/>
          </a:prstGeom>
        </p:spPr>
        <p:txBody>
          <a:bodyPr anchor="t" rtlCol="false" tIns="0" lIns="0" bIns="0" rIns="0">
            <a:spAutoFit/>
          </a:bodyPr>
          <a:lstStyle/>
          <a:p>
            <a:pPr algn="l">
              <a:lnSpc>
                <a:spcPts val="2520"/>
              </a:lnSpc>
            </a:pPr>
            <a:r>
              <a:rPr lang="en-US" sz="1800">
                <a:solidFill>
                  <a:srgbClr val="BFD8D5"/>
                </a:solidFill>
                <a:latin typeface="IBM Plex Sans"/>
                <a:ea typeface="IBM Plex Sans"/>
                <a:cs typeface="IBM Plex Sans"/>
                <a:sym typeface="IBM Plex Sans"/>
              </a:rPr>
              <a:t>Choa Saidan Shah, Chakwal, Pakistan · 1 January – 1 February 2026</a:t>
            </a:r>
          </a:p>
          <a:p>
            <a:pPr algn="l">
              <a:lnSpc>
                <a:spcPts val="2520"/>
              </a:lnSpc>
            </a:pPr>
            <a:r>
              <a:rPr lang="en-US" sz="1800">
                <a:solidFill>
                  <a:srgbClr val="BFD8D5"/>
                </a:solidFill>
                <a:latin typeface="IBM Plex Sans"/>
                <a:ea typeface="IBM Plex Sans"/>
                <a:cs typeface="IBM Plex Sans"/>
                <a:sym typeface="IBM Plex Sans"/>
              </a:rPr>
              <a:t>anilamunir15@gmail.com</a:t>
            </a:r>
          </a:p>
        </p:txBody>
      </p:sp>
      <p:grpSp>
        <p:nvGrpSpPr>
          <p:cNvPr name="Group 8" id="8"/>
          <p:cNvGrpSpPr/>
          <p:nvPr/>
        </p:nvGrpSpPr>
        <p:grpSpPr>
          <a:xfrm rot="0">
            <a:off x="10972800" y="3109912"/>
            <a:ext cx="6096000" cy="4067175"/>
            <a:chOff x="0" y="0"/>
            <a:chExt cx="8128000" cy="5422900"/>
          </a:xfrm>
        </p:grpSpPr>
        <p:sp>
          <p:nvSpPr>
            <p:cNvPr name="Freeform 9" id="9" descr="Primary school students holding hand-hygiene posters, including one reading SOAP"/>
            <p:cNvSpPr/>
            <p:nvPr/>
          </p:nvSpPr>
          <p:spPr>
            <a:xfrm flipH="false" flipV="false" rot="0">
              <a:off x="0" y="0"/>
              <a:ext cx="8128000" cy="5422900"/>
            </a:xfrm>
            <a:custGeom>
              <a:avLst/>
              <a:gdLst/>
              <a:ahLst/>
              <a:cxnLst/>
              <a:rect r="r" b="b" t="t" l="l"/>
              <a:pathLst>
                <a:path h="5422900" w="8128000">
                  <a:moveTo>
                    <a:pt x="0" y="0"/>
                  </a:moveTo>
                  <a:lnTo>
                    <a:pt x="8128000" y="0"/>
                  </a:lnTo>
                  <a:lnTo>
                    <a:pt x="8128000" y="5422900"/>
                  </a:lnTo>
                  <a:lnTo>
                    <a:pt x="0" y="5422900"/>
                  </a:lnTo>
                  <a:lnTo>
                    <a:pt x="0" y="0"/>
                  </a:lnTo>
                  <a:close/>
                </a:path>
              </a:pathLst>
            </a:custGeom>
            <a:blipFill>
              <a:blip r:embed="rId3"/>
              <a:stretch>
                <a:fillRect l="0" t="-54" r="0" b="-54"/>
              </a:stretch>
            </a:blipFill>
          </p:spPr>
        </p:sp>
      </p:grpSp>
      <p:grpSp>
        <p:nvGrpSpPr>
          <p:cNvPr name="Group 10" id="10"/>
          <p:cNvGrpSpPr/>
          <p:nvPr/>
        </p:nvGrpSpPr>
        <p:grpSpPr>
          <a:xfrm rot="0">
            <a:off x="10972800" y="3109912"/>
            <a:ext cx="6096000" cy="4067175"/>
            <a:chOff x="0" y="0"/>
            <a:chExt cx="8128000" cy="5422900"/>
          </a:xfrm>
        </p:grpSpPr>
        <p:sp>
          <p:nvSpPr>
            <p:cNvPr name="Freeform 11" id="11"/>
            <p:cNvSpPr/>
            <p:nvPr/>
          </p:nvSpPr>
          <p:spPr>
            <a:xfrm flipH="false" flipV="false" rot="0">
              <a:off x="0" y="0"/>
              <a:ext cx="8128000" cy="5422900"/>
            </a:xfrm>
            <a:custGeom>
              <a:avLst/>
              <a:gdLst/>
              <a:ahLst/>
              <a:cxnLst/>
              <a:rect r="r" b="b" t="t" l="l"/>
              <a:pathLst>
                <a:path h="5422900" w="8128000">
                  <a:moveTo>
                    <a:pt x="0" y="0"/>
                  </a:moveTo>
                  <a:lnTo>
                    <a:pt x="8128000" y="0"/>
                  </a:lnTo>
                  <a:lnTo>
                    <a:pt x="8128000" y="5422900"/>
                  </a:lnTo>
                  <a:lnTo>
                    <a:pt x="0" y="5422900"/>
                  </a:lnTo>
                  <a:lnTo>
                    <a:pt x="0" y="0"/>
                  </a:lnTo>
                  <a:close/>
                </a:path>
              </a:pathLst>
            </a:custGeom>
            <a:blipFill>
              <a:blip r:embed="rId4"/>
              <a:stretch>
                <a:fillRect l="-205" t="0" r="-205" b="0"/>
              </a:stretch>
            </a:blip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OUTLINE</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Structure of the presentation</a:t>
            </a:r>
          </a:p>
        </p:txBody>
      </p:sp>
      <p:sp>
        <p:nvSpPr>
          <p:cNvPr name="AutoShape 4" id="4"/>
          <p:cNvSpPr/>
          <p:nvPr/>
        </p:nvSpPr>
        <p:spPr>
          <a:xfrm rot="4380">
            <a:off x="1204912" y="3506991"/>
            <a:ext cx="7496204" cy="0"/>
          </a:xfrm>
          <a:prstGeom prst="line">
            <a:avLst/>
          </a:prstGeom>
          <a:ln cap="rnd" w="9525">
            <a:solidFill>
              <a:srgbClr val="D3DCD9"/>
            </a:solidFill>
            <a:prstDash val="solid"/>
            <a:headEnd type="none" len="sm" w="sm"/>
            <a:tailEnd type="none" len="sm" w="sm"/>
          </a:ln>
        </p:spPr>
      </p:sp>
      <p:sp>
        <p:nvSpPr>
          <p:cNvPr name="TextBox 5" id="5"/>
          <p:cNvSpPr txBox="true"/>
          <p:nvPr/>
        </p:nvSpPr>
        <p:spPr>
          <a:xfrm rot="0">
            <a:off x="1219200" y="284976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01</a:t>
            </a:r>
            <a:r>
              <a:rPr lang="en-US" sz="2250">
                <a:solidFill>
                  <a:srgbClr val="14304A"/>
                </a:solidFill>
                <a:latin typeface="IBM Plex Sans"/>
                <a:ea typeface="IBM Plex Sans"/>
                <a:cs typeface="IBM Plex Sans"/>
                <a:sym typeface="IBM Plex Sans"/>
              </a:rPr>
              <a:t>   Introduction</a:t>
            </a:r>
          </a:p>
        </p:txBody>
      </p:sp>
      <p:sp>
        <p:nvSpPr>
          <p:cNvPr name="AutoShape 6" id="6"/>
          <p:cNvSpPr/>
          <p:nvPr/>
        </p:nvSpPr>
        <p:spPr>
          <a:xfrm rot="4380">
            <a:off x="1204912" y="4221366"/>
            <a:ext cx="7496204" cy="0"/>
          </a:xfrm>
          <a:prstGeom prst="line">
            <a:avLst/>
          </a:prstGeom>
          <a:ln cap="rnd" w="9525">
            <a:solidFill>
              <a:srgbClr val="D3DCD9"/>
            </a:solidFill>
            <a:prstDash val="solid"/>
            <a:headEnd type="none" len="sm" w="sm"/>
            <a:tailEnd type="none" len="sm" w="sm"/>
          </a:ln>
        </p:spPr>
      </p:sp>
      <p:sp>
        <p:nvSpPr>
          <p:cNvPr name="TextBox 7" id="7"/>
          <p:cNvSpPr txBox="true"/>
          <p:nvPr/>
        </p:nvSpPr>
        <p:spPr>
          <a:xfrm rot="0">
            <a:off x="1219200" y="3564141"/>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02</a:t>
            </a:r>
            <a:r>
              <a:rPr lang="en-US" sz="2250">
                <a:solidFill>
                  <a:srgbClr val="14304A"/>
                </a:solidFill>
                <a:latin typeface="IBM Plex Sans"/>
                <a:ea typeface="IBM Plex Sans"/>
                <a:cs typeface="IBM Plex Sans"/>
                <a:sym typeface="IBM Plex Sans"/>
              </a:rPr>
              <a:t>   Target schools &amp; students</a:t>
            </a:r>
          </a:p>
        </p:txBody>
      </p:sp>
      <p:sp>
        <p:nvSpPr>
          <p:cNvPr name="AutoShape 8" id="8"/>
          <p:cNvSpPr/>
          <p:nvPr/>
        </p:nvSpPr>
        <p:spPr>
          <a:xfrm rot="4380">
            <a:off x="1204912" y="4935741"/>
            <a:ext cx="7496204" cy="0"/>
          </a:xfrm>
          <a:prstGeom prst="line">
            <a:avLst/>
          </a:prstGeom>
          <a:ln cap="rnd" w="9525">
            <a:solidFill>
              <a:srgbClr val="D3DCD9"/>
            </a:solidFill>
            <a:prstDash val="solid"/>
            <a:headEnd type="none" len="sm" w="sm"/>
            <a:tailEnd type="none" len="sm" w="sm"/>
          </a:ln>
        </p:spPr>
      </p:sp>
      <p:sp>
        <p:nvSpPr>
          <p:cNvPr name="TextBox 9" id="9"/>
          <p:cNvSpPr txBox="true"/>
          <p:nvPr/>
        </p:nvSpPr>
        <p:spPr>
          <a:xfrm rot="0">
            <a:off x="1219200" y="427851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03</a:t>
            </a:r>
            <a:r>
              <a:rPr lang="en-US" sz="2250">
                <a:solidFill>
                  <a:srgbClr val="14304A"/>
                </a:solidFill>
                <a:latin typeface="IBM Plex Sans"/>
                <a:ea typeface="IBM Plex Sans"/>
                <a:cs typeface="IBM Plex Sans"/>
                <a:sym typeface="IBM Plex Sans"/>
              </a:rPr>
              <a:t>   Programme objectives</a:t>
            </a:r>
          </a:p>
        </p:txBody>
      </p:sp>
      <p:sp>
        <p:nvSpPr>
          <p:cNvPr name="AutoShape 10" id="10"/>
          <p:cNvSpPr/>
          <p:nvPr/>
        </p:nvSpPr>
        <p:spPr>
          <a:xfrm rot="4380">
            <a:off x="1204912" y="5650116"/>
            <a:ext cx="7496204" cy="0"/>
          </a:xfrm>
          <a:prstGeom prst="line">
            <a:avLst/>
          </a:prstGeom>
          <a:ln cap="rnd" w="9525">
            <a:solidFill>
              <a:srgbClr val="D3DCD9"/>
            </a:solidFill>
            <a:prstDash val="solid"/>
            <a:headEnd type="none" len="sm" w="sm"/>
            <a:tailEnd type="none" len="sm" w="sm"/>
          </a:ln>
        </p:spPr>
      </p:sp>
      <p:sp>
        <p:nvSpPr>
          <p:cNvPr name="TextBox 11" id="11"/>
          <p:cNvSpPr txBox="true"/>
          <p:nvPr/>
        </p:nvSpPr>
        <p:spPr>
          <a:xfrm rot="0">
            <a:off x="1219200" y="4992891"/>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04</a:t>
            </a:r>
            <a:r>
              <a:rPr lang="en-US" sz="2250">
                <a:solidFill>
                  <a:srgbClr val="14304A"/>
                </a:solidFill>
                <a:latin typeface="IBM Plex Sans"/>
                <a:ea typeface="IBM Plex Sans"/>
                <a:cs typeface="IBM Plex Sans"/>
                <a:sym typeface="IBM Plex Sans"/>
              </a:rPr>
              <a:t>   Key personal hygiene messages</a:t>
            </a:r>
          </a:p>
        </p:txBody>
      </p:sp>
      <p:sp>
        <p:nvSpPr>
          <p:cNvPr name="AutoShape 12" id="12"/>
          <p:cNvSpPr/>
          <p:nvPr/>
        </p:nvSpPr>
        <p:spPr>
          <a:xfrm rot="4380">
            <a:off x="1204912" y="6364491"/>
            <a:ext cx="7496204" cy="0"/>
          </a:xfrm>
          <a:prstGeom prst="line">
            <a:avLst/>
          </a:prstGeom>
          <a:ln cap="rnd" w="9525">
            <a:solidFill>
              <a:srgbClr val="D3DCD9"/>
            </a:solidFill>
            <a:prstDash val="solid"/>
            <a:headEnd type="none" len="sm" w="sm"/>
            <a:tailEnd type="none" len="sm" w="sm"/>
          </a:ln>
        </p:spPr>
      </p:sp>
      <p:sp>
        <p:nvSpPr>
          <p:cNvPr name="TextBox 13" id="13"/>
          <p:cNvSpPr txBox="true"/>
          <p:nvPr/>
        </p:nvSpPr>
        <p:spPr>
          <a:xfrm rot="0">
            <a:off x="1219200" y="570726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05</a:t>
            </a:r>
            <a:r>
              <a:rPr lang="en-US" sz="2250">
                <a:solidFill>
                  <a:srgbClr val="14304A"/>
                </a:solidFill>
                <a:latin typeface="IBM Plex Sans"/>
                <a:ea typeface="IBM Plex Sans"/>
                <a:cs typeface="IBM Plex Sans"/>
                <a:sym typeface="IBM Plex Sans"/>
              </a:rPr>
              <a:t>   Correct handwashing technique</a:t>
            </a:r>
          </a:p>
        </p:txBody>
      </p:sp>
      <p:sp>
        <p:nvSpPr>
          <p:cNvPr name="AutoShape 14" id="14"/>
          <p:cNvSpPr/>
          <p:nvPr/>
        </p:nvSpPr>
        <p:spPr>
          <a:xfrm rot="4380">
            <a:off x="1204912" y="7078866"/>
            <a:ext cx="7496204" cy="0"/>
          </a:xfrm>
          <a:prstGeom prst="line">
            <a:avLst/>
          </a:prstGeom>
          <a:ln cap="rnd" w="9525">
            <a:solidFill>
              <a:srgbClr val="D3DCD9"/>
            </a:solidFill>
            <a:prstDash val="solid"/>
            <a:headEnd type="none" len="sm" w="sm"/>
            <a:tailEnd type="none" len="sm" w="sm"/>
          </a:ln>
        </p:spPr>
      </p:sp>
      <p:sp>
        <p:nvSpPr>
          <p:cNvPr name="TextBox 15" id="15"/>
          <p:cNvSpPr txBox="true"/>
          <p:nvPr/>
        </p:nvSpPr>
        <p:spPr>
          <a:xfrm rot="0">
            <a:off x="1219200" y="6421641"/>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06</a:t>
            </a:r>
            <a:r>
              <a:rPr lang="en-US" sz="2250">
                <a:solidFill>
                  <a:srgbClr val="14304A"/>
                </a:solidFill>
                <a:latin typeface="IBM Plex Sans"/>
                <a:ea typeface="IBM Plex Sans"/>
                <a:cs typeface="IBM Plex Sans"/>
                <a:sym typeface="IBM Plex Sans"/>
              </a:rPr>
              <a:t>   Controlling disease spread at school</a:t>
            </a:r>
          </a:p>
        </p:txBody>
      </p:sp>
      <p:sp>
        <p:nvSpPr>
          <p:cNvPr name="AutoShape 16" id="16"/>
          <p:cNvSpPr/>
          <p:nvPr/>
        </p:nvSpPr>
        <p:spPr>
          <a:xfrm rot="4380">
            <a:off x="1204912" y="7793241"/>
            <a:ext cx="7496204" cy="0"/>
          </a:xfrm>
          <a:prstGeom prst="line">
            <a:avLst/>
          </a:prstGeom>
          <a:ln cap="rnd" w="9525">
            <a:solidFill>
              <a:srgbClr val="D3DCD9"/>
            </a:solidFill>
            <a:prstDash val="solid"/>
            <a:headEnd type="none" len="sm" w="sm"/>
            <a:tailEnd type="none" len="sm" w="sm"/>
          </a:ln>
        </p:spPr>
      </p:sp>
      <p:sp>
        <p:nvSpPr>
          <p:cNvPr name="TextBox 17" id="17"/>
          <p:cNvSpPr txBox="true"/>
          <p:nvPr/>
        </p:nvSpPr>
        <p:spPr>
          <a:xfrm rot="0">
            <a:off x="1219200" y="713601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07</a:t>
            </a:r>
            <a:r>
              <a:rPr lang="en-US" sz="2250">
                <a:solidFill>
                  <a:srgbClr val="14304A"/>
                </a:solidFill>
                <a:latin typeface="IBM Plex Sans"/>
                <a:ea typeface="IBM Plex Sans"/>
                <a:cs typeface="IBM Plex Sans"/>
                <a:sym typeface="IBM Plex Sans"/>
              </a:rPr>
              <a:t>   Safe food &amp; water practices</a:t>
            </a:r>
          </a:p>
        </p:txBody>
      </p:sp>
      <p:sp>
        <p:nvSpPr>
          <p:cNvPr name="AutoShape 18" id="18"/>
          <p:cNvSpPr/>
          <p:nvPr/>
        </p:nvSpPr>
        <p:spPr>
          <a:xfrm rot="4380">
            <a:off x="9586912" y="3506991"/>
            <a:ext cx="7496204" cy="0"/>
          </a:xfrm>
          <a:prstGeom prst="line">
            <a:avLst/>
          </a:prstGeom>
          <a:ln cap="rnd" w="9525">
            <a:solidFill>
              <a:srgbClr val="D3DCD9"/>
            </a:solidFill>
            <a:prstDash val="solid"/>
            <a:headEnd type="none" len="sm" w="sm"/>
            <a:tailEnd type="none" len="sm" w="sm"/>
          </a:ln>
        </p:spPr>
      </p:sp>
      <p:sp>
        <p:nvSpPr>
          <p:cNvPr name="TextBox 19" id="19"/>
          <p:cNvSpPr txBox="true"/>
          <p:nvPr/>
        </p:nvSpPr>
        <p:spPr>
          <a:xfrm rot="0">
            <a:off x="9601200" y="284976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08</a:t>
            </a:r>
            <a:r>
              <a:rPr lang="en-US" sz="2250">
                <a:solidFill>
                  <a:srgbClr val="14304A"/>
                </a:solidFill>
                <a:latin typeface="IBM Plex Sans"/>
                <a:ea typeface="IBM Plex Sans"/>
                <a:cs typeface="IBM Plex Sans"/>
                <a:sym typeface="IBM Plex Sans"/>
              </a:rPr>
              <a:t>   School-based education activities</a:t>
            </a:r>
          </a:p>
        </p:txBody>
      </p:sp>
      <p:sp>
        <p:nvSpPr>
          <p:cNvPr name="AutoShape 20" id="20"/>
          <p:cNvSpPr/>
          <p:nvPr/>
        </p:nvSpPr>
        <p:spPr>
          <a:xfrm rot="4380">
            <a:off x="9586912" y="4221366"/>
            <a:ext cx="7496204" cy="0"/>
          </a:xfrm>
          <a:prstGeom prst="line">
            <a:avLst/>
          </a:prstGeom>
          <a:ln cap="rnd" w="9525">
            <a:solidFill>
              <a:srgbClr val="D3DCD9"/>
            </a:solidFill>
            <a:prstDash val="solid"/>
            <a:headEnd type="none" len="sm" w="sm"/>
            <a:tailEnd type="none" len="sm" w="sm"/>
          </a:ln>
        </p:spPr>
      </p:sp>
      <p:sp>
        <p:nvSpPr>
          <p:cNvPr name="TextBox 21" id="21"/>
          <p:cNvSpPr txBox="true"/>
          <p:nvPr/>
        </p:nvSpPr>
        <p:spPr>
          <a:xfrm rot="0">
            <a:off x="9601200" y="3564141"/>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09</a:t>
            </a:r>
            <a:r>
              <a:rPr lang="en-US" sz="2250">
                <a:solidFill>
                  <a:srgbClr val="14304A"/>
                </a:solidFill>
                <a:latin typeface="IBM Plex Sans"/>
                <a:ea typeface="IBM Plex Sans"/>
                <a:cs typeface="IBM Plex Sans"/>
                <a:sym typeface="IBM Plex Sans"/>
              </a:rPr>
              <a:t>   Implementation plan</a:t>
            </a:r>
          </a:p>
        </p:txBody>
      </p:sp>
      <p:sp>
        <p:nvSpPr>
          <p:cNvPr name="AutoShape 22" id="22"/>
          <p:cNvSpPr/>
          <p:nvPr/>
        </p:nvSpPr>
        <p:spPr>
          <a:xfrm rot="4380">
            <a:off x="9586912" y="4935741"/>
            <a:ext cx="7496204" cy="0"/>
          </a:xfrm>
          <a:prstGeom prst="line">
            <a:avLst/>
          </a:prstGeom>
          <a:ln cap="rnd" w="9525">
            <a:solidFill>
              <a:srgbClr val="D3DCD9"/>
            </a:solidFill>
            <a:prstDash val="solid"/>
            <a:headEnd type="none" len="sm" w="sm"/>
            <a:tailEnd type="none" len="sm" w="sm"/>
          </a:ln>
        </p:spPr>
      </p:sp>
      <p:sp>
        <p:nvSpPr>
          <p:cNvPr name="TextBox 23" id="23"/>
          <p:cNvSpPr txBox="true"/>
          <p:nvPr/>
        </p:nvSpPr>
        <p:spPr>
          <a:xfrm rot="0">
            <a:off x="9601200" y="427851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10</a:t>
            </a:r>
            <a:r>
              <a:rPr lang="en-US" sz="2250">
                <a:solidFill>
                  <a:srgbClr val="14304A"/>
                </a:solidFill>
                <a:latin typeface="IBM Plex Sans"/>
                <a:ea typeface="IBM Plex Sans"/>
                <a:cs typeface="IBM Plex Sans"/>
                <a:sym typeface="IBM Plex Sans"/>
              </a:rPr>
              <a:t>   Ethics &amp; safeguarding</a:t>
            </a:r>
          </a:p>
        </p:txBody>
      </p:sp>
      <p:sp>
        <p:nvSpPr>
          <p:cNvPr name="AutoShape 24" id="24"/>
          <p:cNvSpPr/>
          <p:nvPr/>
        </p:nvSpPr>
        <p:spPr>
          <a:xfrm rot="4380">
            <a:off x="9586912" y="5650116"/>
            <a:ext cx="7496204" cy="0"/>
          </a:xfrm>
          <a:prstGeom prst="line">
            <a:avLst/>
          </a:prstGeom>
          <a:ln cap="rnd" w="9525">
            <a:solidFill>
              <a:srgbClr val="D3DCD9"/>
            </a:solidFill>
            <a:prstDash val="solid"/>
            <a:headEnd type="none" len="sm" w="sm"/>
            <a:tailEnd type="none" len="sm" w="sm"/>
          </a:ln>
        </p:spPr>
      </p:sp>
      <p:sp>
        <p:nvSpPr>
          <p:cNvPr name="TextBox 25" id="25"/>
          <p:cNvSpPr txBox="true"/>
          <p:nvPr/>
        </p:nvSpPr>
        <p:spPr>
          <a:xfrm rot="0">
            <a:off x="9601200" y="4992891"/>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11</a:t>
            </a:r>
            <a:r>
              <a:rPr lang="en-US" sz="2250">
                <a:solidFill>
                  <a:srgbClr val="14304A"/>
                </a:solidFill>
                <a:latin typeface="IBM Plex Sans"/>
                <a:ea typeface="IBM Plex Sans"/>
                <a:cs typeface="IBM Plex Sans"/>
                <a:sym typeface="IBM Plex Sans"/>
              </a:rPr>
              <a:t>   Expected outcomes</a:t>
            </a:r>
          </a:p>
        </p:txBody>
      </p:sp>
      <p:sp>
        <p:nvSpPr>
          <p:cNvPr name="AutoShape 26" id="26"/>
          <p:cNvSpPr/>
          <p:nvPr/>
        </p:nvSpPr>
        <p:spPr>
          <a:xfrm rot="4380">
            <a:off x="9586912" y="6364491"/>
            <a:ext cx="7496204" cy="0"/>
          </a:xfrm>
          <a:prstGeom prst="line">
            <a:avLst/>
          </a:prstGeom>
          <a:ln cap="rnd" w="9525">
            <a:solidFill>
              <a:srgbClr val="D3DCD9"/>
            </a:solidFill>
            <a:prstDash val="solid"/>
            <a:headEnd type="none" len="sm" w="sm"/>
            <a:tailEnd type="none" len="sm" w="sm"/>
          </a:ln>
        </p:spPr>
      </p:sp>
      <p:sp>
        <p:nvSpPr>
          <p:cNvPr name="TextBox 27" id="27"/>
          <p:cNvSpPr txBox="true"/>
          <p:nvPr/>
        </p:nvSpPr>
        <p:spPr>
          <a:xfrm rot="0">
            <a:off x="9601200" y="5707266"/>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12</a:t>
            </a:r>
            <a:r>
              <a:rPr lang="en-US" sz="2250">
                <a:solidFill>
                  <a:srgbClr val="14304A"/>
                </a:solidFill>
                <a:latin typeface="IBM Plex Sans"/>
                <a:ea typeface="IBM Plex Sans"/>
                <a:cs typeface="IBM Plex Sans"/>
                <a:sym typeface="IBM Plex Sans"/>
              </a:rPr>
              <a:t>   Monitoring &amp; evaluation</a:t>
            </a:r>
          </a:p>
        </p:txBody>
      </p:sp>
      <p:sp>
        <p:nvSpPr>
          <p:cNvPr name="AutoShape 28" id="28"/>
          <p:cNvSpPr/>
          <p:nvPr/>
        </p:nvSpPr>
        <p:spPr>
          <a:xfrm rot="4380">
            <a:off x="9586912" y="7078866"/>
            <a:ext cx="7496204" cy="0"/>
          </a:xfrm>
          <a:prstGeom prst="line">
            <a:avLst/>
          </a:prstGeom>
          <a:ln cap="rnd" w="9525">
            <a:solidFill>
              <a:srgbClr val="D3DCD9"/>
            </a:solidFill>
            <a:prstDash val="solid"/>
            <a:headEnd type="none" len="sm" w="sm"/>
            <a:tailEnd type="none" len="sm" w="sm"/>
          </a:ln>
        </p:spPr>
      </p:sp>
      <p:sp>
        <p:nvSpPr>
          <p:cNvPr name="TextBox 29" id="29"/>
          <p:cNvSpPr txBox="true"/>
          <p:nvPr/>
        </p:nvSpPr>
        <p:spPr>
          <a:xfrm rot="0">
            <a:off x="9601200" y="6421641"/>
            <a:ext cx="7691628"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13</a:t>
            </a:r>
            <a:r>
              <a:rPr lang="en-US" sz="2250">
                <a:solidFill>
                  <a:srgbClr val="14304A"/>
                </a:solidFill>
                <a:latin typeface="IBM Plex Sans"/>
                <a:ea typeface="IBM Plex Sans"/>
                <a:cs typeface="IBM Plex Sans"/>
                <a:sym typeface="IBM Plex Sans"/>
              </a:rPr>
              <a:t>   Conclusion &amp; references</a:t>
            </a:r>
          </a:p>
        </p:txBody>
      </p:sp>
      <p:sp>
        <p:nvSpPr>
          <p:cNvPr name="TextBox 30" id="30"/>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31" id="31"/>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01 · INTRODUCTION</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Schools are key settings for infection prevention</a:t>
            </a:r>
          </a:p>
        </p:txBody>
      </p:sp>
      <p:sp>
        <p:nvSpPr>
          <p:cNvPr name="TextBox 4" id="4"/>
          <p:cNvSpPr txBox="true"/>
          <p:nvPr/>
        </p:nvSpPr>
        <p:spPr>
          <a:xfrm rot="0">
            <a:off x="1219200" y="4387158"/>
            <a:ext cx="7456170" cy="2724150"/>
          </a:xfrm>
          <a:prstGeom prst="rect">
            <a:avLst/>
          </a:prstGeom>
        </p:spPr>
        <p:txBody>
          <a:bodyPr anchor="t" rtlCol="false" tIns="0" lIns="0" bIns="0" rIns="0">
            <a:spAutoFit/>
          </a:bodyPr>
          <a:lstStyle/>
          <a:p>
            <a:pPr algn="l">
              <a:lnSpc>
                <a:spcPts val="4050"/>
              </a:lnSpc>
            </a:pPr>
            <a:r>
              <a:rPr lang="en-US" sz="3000">
                <a:solidFill>
                  <a:srgbClr val="14304A"/>
                </a:solidFill>
                <a:latin typeface="Source Serif Pro"/>
                <a:ea typeface="Source Serif Pro"/>
                <a:cs typeface="Source Serif Pro"/>
                <a:sym typeface="Source Serif Pro"/>
              </a:rPr>
              <a:t>Children spend many hours together at school. That makes school a place where infections spread easily, and the best place to build lifelong hygiene habits.</a:t>
            </a:r>
          </a:p>
        </p:txBody>
      </p:sp>
      <p:sp>
        <p:nvSpPr>
          <p:cNvPr name="AutoShape 5" id="5"/>
          <p:cNvSpPr/>
          <p:nvPr/>
        </p:nvSpPr>
        <p:spPr>
          <a:xfrm rot="51420">
            <a:off x="8754970" y="4181475"/>
            <a:ext cx="1273350" cy="0"/>
          </a:xfrm>
          <a:prstGeom prst="line">
            <a:avLst/>
          </a:prstGeom>
          <a:ln cap="rnd" w="19050">
            <a:solidFill>
              <a:srgbClr val="0B6E60"/>
            </a:solidFill>
            <a:prstDash val="solid"/>
            <a:headEnd type="none" len="sm" w="sm"/>
            <a:tailEnd type="none" len="sm" w="sm"/>
          </a:ln>
        </p:spPr>
      </p:sp>
      <p:sp>
        <p:nvSpPr>
          <p:cNvPr name="TextBox 6" id="6"/>
          <p:cNvSpPr txBox="true"/>
          <p:nvPr/>
        </p:nvSpPr>
        <p:spPr>
          <a:xfrm rot="0">
            <a:off x="9715500" y="3497609"/>
            <a:ext cx="7573899"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THE PROBLEM</a:t>
            </a:r>
          </a:p>
        </p:txBody>
      </p:sp>
      <p:sp>
        <p:nvSpPr>
          <p:cNvPr name="TextBox 7" id="7"/>
          <p:cNvSpPr txBox="true"/>
          <p:nvPr/>
        </p:nvSpPr>
        <p:spPr>
          <a:xfrm rot="0">
            <a:off x="9715500" y="3893791"/>
            <a:ext cx="7573899"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Poor hygiene spreads respiratory, diarrhoeal and skin infections among children.</a:t>
            </a:r>
          </a:p>
        </p:txBody>
      </p:sp>
      <p:sp>
        <p:nvSpPr>
          <p:cNvPr name="AutoShape 8" id="8"/>
          <p:cNvSpPr/>
          <p:nvPr/>
        </p:nvSpPr>
        <p:spPr>
          <a:xfrm rot="51420">
            <a:off x="8754970" y="5758758"/>
            <a:ext cx="1273350" cy="0"/>
          </a:xfrm>
          <a:prstGeom prst="line">
            <a:avLst/>
          </a:prstGeom>
          <a:ln cap="rnd" w="19050">
            <a:solidFill>
              <a:srgbClr val="0B6E60"/>
            </a:solidFill>
            <a:prstDash val="solid"/>
            <a:headEnd type="none" len="sm" w="sm"/>
            <a:tailEnd type="none" len="sm" w="sm"/>
          </a:ln>
        </p:spPr>
      </p:sp>
      <p:sp>
        <p:nvSpPr>
          <p:cNvPr name="TextBox 9" id="9"/>
          <p:cNvSpPr txBox="true"/>
          <p:nvPr/>
        </p:nvSpPr>
        <p:spPr>
          <a:xfrm rot="0">
            <a:off x="9715500" y="5074891"/>
            <a:ext cx="7573899"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THE AIM</a:t>
            </a:r>
          </a:p>
        </p:txBody>
      </p:sp>
      <p:sp>
        <p:nvSpPr>
          <p:cNvPr name="TextBox 10" id="10"/>
          <p:cNvSpPr txBox="true"/>
          <p:nvPr/>
        </p:nvSpPr>
        <p:spPr>
          <a:xfrm rot="0">
            <a:off x="9715500" y="5471074"/>
            <a:ext cx="7573899"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Build practical hygiene habits that children use at school and at home.</a:t>
            </a:r>
          </a:p>
        </p:txBody>
      </p:sp>
      <p:sp>
        <p:nvSpPr>
          <p:cNvPr name="AutoShape 11" id="11"/>
          <p:cNvSpPr/>
          <p:nvPr/>
        </p:nvSpPr>
        <p:spPr>
          <a:xfrm rot="51420">
            <a:off x="8754970" y="7336031"/>
            <a:ext cx="1273350" cy="0"/>
          </a:xfrm>
          <a:prstGeom prst="line">
            <a:avLst/>
          </a:prstGeom>
          <a:ln cap="rnd" w="19050">
            <a:solidFill>
              <a:srgbClr val="0B6E60"/>
            </a:solidFill>
            <a:prstDash val="solid"/>
            <a:headEnd type="none" len="sm" w="sm"/>
            <a:tailEnd type="none" len="sm" w="sm"/>
          </a:ln>
        </p:spPr>
      </p:sp>
      <p:sp>
        <p:nvSpPr>
          <p:cNvPr name="TextBox 12" id="12"/>
          <p:cNvSpPr txBox="true"/>
          <p:nvPr/>
        </p:nvSpPr>
        <p:spPr>
          <a:xfrm rot="0">
            <a:off x="9715500" y="6652174"/>
            <a:ext cx="7573899"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THE APPROACH</a:t>
            </a:r>
          </a:p>
        </p:txBody>
      </p:sp>
      <p:sp>
        <p:nvSpPr>
          <p:cNvPr name="TextBox 13" id="13"/>
          <p:cNvSpPr txBox="true"/>
          <p:nvPr/>
        </p:nvSpPr>
        <p:spPr>
          <a:xfrm rot="0">
            <a:off x="9715500" y="7048348"/>
            <a:ext cx="7573899"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Demonstrations, posters, activities and questions adapted to each age group.</a:t>
            </a:r>
          </a:p>
        </p:txBody>
      </p:sp>
      <p:sp>
        <p:nvSpPr>
          <p:cNvPr name="TextBox 14" id="14"/>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15" id="15"/>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02 · TARGET SCHOOLS &amp; STUDENTS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Five schools across two sectors</a:t>
            </a:r>
          </a:p>
        </p:txBody>
      </p:sp>
      <p:sp>
        <p:nvSpPr>
          <p:cNvPr name="Freeform 4" id="4"/>
          <p:cNvSpPr/>
          <p:nvPr/>
        </p:nvSpPr>
        <p:spPr>
          <a:xfrm flipH="false" flipV="false" rot="0">
            <a:off x="1215628" y="2808094"/>
            <a:ext cx="5087112" cy="2566702"/>
          </a:xfrm>
          <a:custGeom>
            <a:avLst/>
            <a:gdLst/>
            <a:ahLst/>
            <a:cxnLst/>
            <a:rect r="r" b="b" t="t" l="l"/>
            <a:pathLst>
              <a:path h="2566702" w="5087112">
                <a:moveTo>
                  <a:pt x="0" y="0"/>
                </a:moveTo>
                <a:lnTo>
                  <a:pt x="5087112" y="0"/>
                </a:lnTo>
                <a:lnTo>
                  <a:pt x="5087112" y="2566702"/>
                </a:lnTo>
                <a:lnTo>
                  <a:pt x="0" y="2566702"/>
                </a:lnTo>
                <a:lnTo>
                  <a:pt x="0" y="0"/>
                </a:lnTo>
                <a:close/>
              </a:path>
            </a:pathLst>
          </a:custGeom>
          <a:blipFill>
            <a:blip r:embed="rId3">
              <a:extLst>
                <a:ext uri="{96DAC541-7B7A-43D3-8B79-37D633B846F1}">
                  <asvg:svgBlip xmlns:asvg="http://schemas.microsoft.com/office/drawing/2016/SVG/main" r:embed="rId4"/>
                </a:ext>
              </a:extLst>
            </a:blip>
            <a:stretch>
              <a:fillRect l="0" t="-12" r="0" b="-12"/>
            </a:stretch>
          </a:blipFill>
        </p:spPr>
      </p:sp>
      <p:sp>
        <p:nvSpPr>
          <p:cNvPr name="TextBox 5" id="5"/>
          <p:cNvSpPr txBox="true"/>
          <p:nvPr/>
        </p:nvSpPr>
        <p:spPr>
          <a:xfrm rot="0">
            <a:off x="1545250" y="3554616"/>
            <a:ext cx="4427868" cy="876300"/>
          </a:xfrm>
          <a:prstGeom prst="rect">
            <a:avLst/>
          </a:prstGeom>
        </p:spPr>
        <p:txBody>
          <a:bodyPr anchor="t" rtlCol="false" tIns="0" lIns="0" bIns="0" rIns="0">
            <a:spAutoFit/>
          </a:bodyPr>
          <a:lstStyle/>
          <a:p>
            <a:pPr algn="l">
              <a:lnSpc>
                <a:spcPts val="12000"/>
              </a:lnSpc>
            </a:pPr>
            <a:r>
              <a:rPr lang="en-US" sz="12000" b="true">
                <a:solidFill>
                  <a:srgbClr val="0B6E60"/>
                </a:solidFill>
                <a:latin typeface="Source Serif Pro Bold"/>
                <a:ea typeface="Source Serif Pro Bold"/>
                <a:cs typeface="Source Serif Pro Bold"/>
                <a:sym typeface="Source Serif Pro Bold"/>
              </a:rPr>
              <a:t>2</a:t>
            </a:r>
          </a:p>
        </p:txBody>
      </p:sp>
      <p:sp>
        <p:nvSpPr>
          <p:cNvPr name="TextBox 6" id="6"/>
          <p:cNvSpPr txBox="true"/>
          <p:nvPr/>
        </p:nvSpPr>
        <p:spPr>
          <a:xfrm rot="0">
            <a:off x="1609725" y="4726191"/>
            <a:ext cx="4427868"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Government schools</a:t>
            </a:r>
          </a:p>
        </p:txBody>
      </p:sp>
      <p:sp>
        <p:nvSpPr>
          <p:cNvPr name="Freeform 7" id="7"/>
          <p:cNvSpPr/>
          <p:nvPr/>
        </p:nvSpPr>
        <p:spPr>
          <a:xfrm flipH="false" flipV="false" rot="0">
            <a:off x="6600377" y="2808094"/>
            <a:ext cx="5087303" cy="2566702"/>
          </a:xfrm>
          <a:custGeom>
            <a:avLst/>
            <a:gdLst/>
            <a:ahLst/>
            <a:cxnLst/>
            <a:rect r="r" b="b" t="t" l="l"/>
            <a:pathLst>
              <a:path h="2566702" w="5087303">
                <a:moveTo>
                  <a:pt x="0" y="0"/>
                </a:moveTo>
                <a:lnTo>
                  <a:pt x="5087303" y="0"/>
                </a:lnTo>
                <a:lnTo>
                  <a:pt x="5087303" y="2566702"/>
                </a:lnTo>
                <a:lnTo>
                  <a:pt x="0" y="2566702"/>
                </a:lnTo>
                <a:lnTo>
                  <a:pt x="0" y="0"/>
                </a:lnTo>
                <a:close/>
              </a:path>
            </a:pathLst>
          </a:custGeom>
          <a:blipFill>
            <a:blip r:embed="rId5">
              <a:extLst>
                <a:ext uri="{96DAC541-7B7A-43D3-8B79-37D633B846F1}">
                  <asvg:svgBlip xmlns:asvg="http://schemas.microsoft.com/office/drawing/2016/SVG/main" r:embed="rId6"/>
                </a:ext>
              </a:extLst>
            </a:blip>
            <a:stretch>
              <a:fillRect l="0" t="-14" r="0" b="-14"/>
            </a:stretch>
          </a:blipFill>
        </p:spPr>
      </p:sp>
      <p:sp>
        <p:nvSpPr>
          <p:cNvPr name="TextBox 8" id="8"/>
          <p:cNvSpPr txBox="true"/>
          <p:nvPr/>
        </p:nvSpPr>
        <p:spPr>
          <a:xfrm rot="0">
            <a:off x="6603949" y="3554616"/>
            <a:ext cx="4428020" cy="876300"/>
          </a:xfrm>
          <a:prstGeom prst="rect">
            <a:avLst/>
          </a:prstGeom>
        </p:spPr>
        <p:txBody>
          <a:bodyPr anchor="t" rtlCol="false" tIns="0" lIns="0" bIns="0" rIns="0">
            <a:spAutoFit/>
          </a:bodyPr>
          <a:lstStyle/>
          <a:p>
            <a:pPr algn="l">
              <a:lnSpc>
                <a:spcPts val="12000"/>
              </a:lnSpc>
            </a:pPr>
            <a:r>
              <a:rPr lang="en-US" sz="12000" b="true">
                <a:solidFill>
                  <a:srgbClr val="0B6E60"/>
                </a:solidFill>
                <a:latin typeface="Source Serif Pro Bold"/>
                <a:ea typeface="Source Serif Pro Bold"/>
                <a:cs typeface="Source Serif Pro Bold"/>
                <a:sym typeface="Source Serif Pro Bold"/>
              </a:rPr>
              <a:t>3</a:t>
            </a:r>
          </a:p>
        </p:txBody>
      </p:sp>
      <p:sp>
        <p:nvSpPr>
          <p:cNvPr name="TextBox 9" id="9"/>
          <p:cNvSpPr txBox="true"/>
          <p:nvPr/>
        </p:nvSpPr>
        <p:spPr>
          <a:xfrm rot="0">
            <a:off x="6994474" y="4726191"/>
            <a:ext cx="4428020"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Private schools</a:t>
            </a:r>
          </a:p>
        </p:txBody>
      </p:sp>
      <p:sp>
        <p:nvSpPr>
          <p:cNvPr name="Freeform 10" id="10"/>
          <p:cNvSpPr/>
          <p:nvPr/>
        </p:nvSpPr>
        <p:spPr>
          <a:xfrm flipH="false" flipV="false" rot="0">
            <a:off x="11985279" y="2808094"/>
            <a:ext cx="5087112" cy="2566702"/>
          </a:xfrm>
          <a:custGeom>
            <a:avLst/>
            <a:gdLst/>
            <a:ahLst/>
            <a:cxnLst/>
            <a:rect r="r" b="b" t="t" l="l"/>
            <a:pathLst>
              <a:path h="2566702" w="5087112">
                <a:moveTo>
                  <a:pt x="0" y="0"/>
                </a:moveTo>
                <a:lnTo>
                  <a:pt x="5087112" y="0"/>
                </a:lnTo>
                <a:lnTo>
                  <a:pt x="5087112" y="2566702"/>
                </a:lnTo>
                <a:lnTo>
                  <a:pt x="0" y="2566702"/>
                </a:lnTo>
                <a:lnTo>
                  <a:pt x="0" y="0"/>
                </a:lnTo>
                <a:close/>
              </a:path>
            </a:pathLst>
          </a:custGeom>
          <a:blipFill>
            <a:blip r:embed="rId3">
              <a:extLst>
                <a:ext uri="{96DAC541-7B7A-43D3-8B79-37D633B846F1}">
                  <asvg:svgBlip xmlns:asvg="http://schemas.microsoft.com/office/drawing/2016/SVG/main" r:embed="rId4"/>
                </a:ext>
              </a:extLst>
            </a:blip>
            <a:stretch>
              <a:fillRect l="0" t="-12" r="0" b="-12"/>
            </a:stretch>
          </a:blipFill>
        </p:spPr>
      </p:sp>
      <p:sp>
        <p:nvSpPr>
          <p:cNvPr name="TextBox 11" id="11"/>
          <p:cNvSpPr txBox="true"/>
          <p:nvPr/>
        </p:nvSpPr>
        <p:spPr>
          <a:xfrm rot="0">
            <a:off x="12358907" y="3497466"/>
            <a:ext cx="4427868" cy="876300"/>
          </a:xfrm>
          <a:prstGeom prst="rect">
            <a:avLst/>
          </a:prstGeom>
        </p:spPr>
        <p:txBody>
          <a:bodyPr anchor="t" rtlCol="false" tIns="0" lIns="0" bIns="0" rIns="0">
            <a:spAutoFit/>
          </a:bodyPr>
          <a:lstStyle/>
          <a:p>
            <a:pPr algn="l">
              <a:lnSpc>
                <a:spcPts val="12000"/>
              </a:lnSpc>
            </a:pPr>
            <a:r>
              <a:rPr lang="en-US" sz="12000" b="true">
                <a:solidFill>
                  <a:srgbClr val="0B6E60"/>
                </a:solidFill>
                <a:latin typeface="Source Serif Pro Bold"/>
                <a:ea typeface="Source Serif Pro Bold"/>
                <a:cs typeface="Source Serif Pro Bold"/>
                <a:sym typeface="Source Serif Pro Bold"/>
              </a:rPr>
              <a:t>5</a:t>
            </a:r>
          </a:p>
        </p:txBody>
      </p:sp>
      <p:sp>
        <p:nvSpPr>
          <p:cNvPr name="TextBox 12" id="12"/>
          <p:cNvSpPr txBox="true"/>
          <p:nvPr/>
        </p:nvSpPr>
        <p:spPr>
          <a:xfrm rot="0">
            <a:off x="12379376" y="4726191"/>
            <a:ext cx="4427868"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Schools in total</a:t>
            </a:r>
          </a:p>
        </p:txBody>
      </p:sp>
      <p:sp>
        <p:nvSpPr>
          <p:cNvPr name="TextBox 13" id="13"/>
          <p:cNvSpPr txBox="true"/>
          <p:nvPr/>
        </p:nvSpPr>
        <p:spPr>
          <a:xfrm rot="0">
            <a:off x="1219200" y="5630704"/>
            <a:ext cx="5232349"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PARTICIPANTS</a:t>
            </a:r>
          </a:p>
        </p:txBody>
      </p:sp>
      <p:sp>
        <p:nvSpPr>
          <p:cNvPr name="TextBox 14" id="14"/>
          <p:cNvSpPr txBox="true"/>
          <p:nvPr/>
        </p:nvSpPr>
        <p:spPr>
          <a:xfrm rot="0">
            <a:off x="1219200" y="6026696"/>
            <a:ext cx="5232349"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Primary and secondary school children, with activities adapted to age.</a:t>
            </a:r>
          </a:p>
        </p:txBody>
      </p:sp>
      <p:sp>
        <p:nvSpPr>
          <p:cNvPr name="TextBox 15" id="15"/>
          <p:cNvSpPr txBox="true"/>
          <p:nvPr/>
        </p:nvSpPr>
        <p:spPr>
          <a:xfrm rot="0">
            <a:off x="6603949" y="5630704"/>
            <a:ext cx="5232502"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MULTIPLIERS</a:t>
            </a:r>
          </a:p>
        </p:txBody>
      </p:sp>
      <p:sp>
        <p:nvSpPr>
          <p:cNvPr name="TextBox 16" id="16"/>
          <p:cNvSpPr txBox="true"/>
          <p:nvPr/>
        </p:nvSpPr>
        <p:spPr>
          <a:xfrm rot="0">
            <a:off x="6603949" y="6026696"/>
            <a:ext cx="5232502"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Teachers and selected student volunteers reinforce hygiene practices.</a:t>
            </a:r>
          </a:p>
        </p:txBody>
      </p:sp>
      <p:sp>
        <p:nvSpPr>
          <p:cNvPr name="TextBox 17" id="17"/>
          <p:cNvSpPr txBox="true"/>
          <p:nvPr/>
        </p:nvSpPr>
        <p:spPr>
          <a:xfrm rot="0">
            <a:off x="11988851" y="5630704"/>
            <a:ext cx="5232349"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DOCUMENTATION</a:t>
            </a:r>
          </a:p>
        </p:txBody>
      </p:sp>
      <p:sp>
        <p:nvSpPr>
          <p:cNvPr name="TextBox 18" id="18"/>
          <p:cNvSpPr txBox="true"/>
          <p:nvPr/>
        </p:nvSpPr>
        <p:spPr>
          <a:xfrm rot="0">
            <a:off x="11988851" y="6026696"/>
            <a:ext cx="5232349"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A school-by-school attendance register records the children actually reached.</a:t>
            </a:r>
          </a:p>
        </p:txBody>
      </p:sp>
      <p:sp>
        <p:nvSpPr>
          <p:cNvPr name="TextBox 19" id="19"/>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0" id="20"/>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4</a:t>
            </a:r>
          </a:p>
        </p:txBody>
      </p:sp>
      <p:sp>
        <p:nvSpPr>
          <p:cNvPr name="Freeform 21" id="21"/>
          <p:cNvSpPr/>
          <p:nvPr/>
        </p:nvSpPr>
        <p:spPr>
          <a:xfrm flipH="false" flipV="false" rot="0">
            <a:off x="1210866" y="7296664"/>
            <a:ext cx="3006662" cy="1711738"/>
          </a:xfrm>
          <a:custGeom>
            <a:avLst/>
            <a:gdLst/>
            <a:ahLst/>
            <a:cxnLst/>
            <a:rect r="r" b="b" t="t" l="l"/>
            <a:pathLst>
              <a:path h="1711738" w="3006662">
                <a:moveTo>
                  <a:pt x="0" y="0"/>
                </a:moveTo>
                <a:lnTo>
                  <a:pt x="3006661" y="0"/>
                </a:lnTo>
                <a:lnTo>
                  <a:pt x="3006661" y="1711738"/>
                </a:lnTo>
                <a:lnTo>
                  <a:pt x="0" y="1711738"/>
                </a:lnTo>
                <a:lnTo>
                  <a:pt x="0" y="0"/>
                </a:lnTo>
                <a:close/>
              </a:path>
            </a:pathLst>
          </a:custGeom>
          <a:blipFill>
            <a:blip r:embed="rId7">
              <a:extLst>
                <a:ext uri="{96DAC541-7B7A-43D3-8B79-37D633B846F1}">
                  <asvg:svgBlip xmlns:asvg="http://schemas.microsoft.com/office/drawing/2016/SVG/main" r:embed="rId8"/>
                </a:ext>
              </a:extLst>
            </a:blip>
            <a:stretch>
              <a:fillRect l="0" t="-26" r="0" b="-26"/>
            </a:stretch>
          </a:blipFill>
        </p:spPr>
      </p:sp>
      <p:sp>
        <p:nvSpPr>
          <p:cNvPr name="TextBox 22" id="22"/>
          <p:cNvSpPr txBox="true"/>
          <p:nvPr/>
        </p:nvSpPr>
        <p:spPr>
          <a:xfrm rot="0">
            <a:off x="1265234" y="7351033"/>
            <a:ext cx="2897838" cy="1602924"/>
          </a:xfrm>
          <a:prstGeom prst="rect">
            <a:avLst/>
          </a:prstGeom>
        </p:spPr>
        <p:txBody>
          <a:bodyPr anchor="t" rtlCol="false" tIns="0" lIns="0" bIns="0" rIns="0">
            <a:spAutoFit/>
          </a:bodyPr>
          <a:lstStyle/>
          <a:p>
            <a:pPr algn="l">
              <a:lnSpc>
                <a:spcPts val="1800"/>
              </a:lnSpc>
            </a:pPr>
            <a:r>
              <a:rPr lang="en-US" b="true" sz="1500" spc="150">
                <a:solidFill>
                  <a:srgbClr val="0B6E60"/>
                </a:solidFill>
                <a:latin typeface="IBM Plex Sans Bold"/>
                <a:ea typeface="IBM Plex Sans Bold"/>
                <a:cs typeface="IBM Plex Sans Bold"/>
                <a:sym typeface="IBM Plex Sans Bold"/>
              </a:rPr>
              <a:t>PRIVATE</a:t>
            </a:r>
          </a:p>
          <a:p>
            <a:pPr algn="l">
              <a:lnSpc>
                <a:spcPts val="2474"/>
              </a:lnSpc>
            </a:pPr>
            <a:r>
              <a:rPr lang="en-US" b="true" sz="1950" spc="195">
                <a:solidFill>
                  <a:srgbClr val="14304A"/>
                </a:solidFill>
                <a:latin typeface="IBM Plex Sans Bold"/>
                <a:ea typeface="IBM Plex Sans Bold"/>
                <a:cs typeface="IBM Plex Sans Bold"/>
                <a:sym typeface="IBM Plex Sans Bold"/>
              </a:rPr>
              <a:t>Zainab Education System</a:t>
            </a:r>
          </a:p>
          <a:p>
            <a:pPr algn="l">
              <a:lnSpc>
                <a:spcPts val="2160"/>
              </a:lnSpc>
            </a:pPr>
            <a:r>
              <a:rPr lang="en-US" sz="1800" spc="178">
                <a:solidFill>
                  <a:srgbClr val="3F4B57"/>
                </a:solidFill>
                <a:latin typeface="IBM Plex Sans"/>
                <a:ea typeface="IBM Plex Sans"/>
                <a:cs typeface="IBM Plex Sans"/>
                <a:sym typeface="IBM Plex Sans"/>
              </a:rPr>
              <a:t>1–3 Jan 2026</a:t>
            </a:r>
          </a:p>
        </p:txBody>
      </p:sp>
      <p:sp>
        <p:nvSpPr>
          <p:cNvPr name="Freeform 23" id="23"/>
          <p:cNvSpPr/>
          <p:nvPr/>
        </p:nvSpPr>
        <p:spPr>
          <a:xfrm flipH="false" flipV="false" rot="0">
            <a:off x="4425782" y="7296664"/>
            <a:ext cx="3006662" cy="1711738"/>
          </a:xfrm>
          <a:custGeom>
            <a:avLst/>
            <a:gdLst/>
            <a:ahLst/>
            <a:cxnLst/>
            <a:rect r="r" b="b" t="t" l="l"/>
            <a:pathLst>
              <a:path h="1711738" w="3006662">
                <a:moveTo>
                  <a:pt x="0" y="0"/>
                </a:moveTo>
                <a:lnTo>
                  <a:pt x="3006661" y="0"/>
                </a:lnTo>
                <a:lnTo>
                  <a:pt x="3006661" y="1711738"/>
                </a:lnTo>
                <a:lnTo>
                  <a:pt x="0" y="1711738"/>
                </a:lnTo>
                <a:lnTo>
                  <a:pt x="0" y="0"/>
                </a:lnTo>
                <a:close/>
              </a:path>
            </a:pathLst>
          </a:custGeom>
          <a:blipFill>
            <a:blip r:embed="rId7">
              <a:extLst>
                <a:ext uri="{96DAC541-7B7A-43D3-8B79-37D633B846F1}">
                  <asvg:svgBlip xmlns:asvg="http://schemas.microsoft.com/office/drawing/2016/SVG/main" r:embed="rId8"/>
                </a:ext>
              </a:extLst>
            </a:blip>
            <a:stretch>
              <a:fillRect l="0" t="-26" r="0" b="-26"/>
            </a:stretch>
          </a:blipFill>
        </p:spPr>
      </p:sp>
      <p:sp>
        <p:nvSpPr>
          <p:cNvPr name="TextBox 24" id="24"/>
          <p:cNvSpPr txBox="true"/>
          <p:nvPr/>
        </p:nvSpPr>
        <p:spPr>
          <a:xfrm rot="0">
            <a:off x="4480150" y="7351033"/>
            <a:ext cx="2897838" cy="1602924"/>
          </a:xfrm>
          <a:prstGeom prst="rect">
            <a:avLst/>
          </a:prstGeom>
        </p:spPr>
        <p:txBody>
          <a:bodyPr anchor="t" rtlCol="false" tIns="0" lIns="0" bIns="0" rIns="0">
            <a:spAutoFit/>
          </a:bodyPr>
          <a:lstStyle/>
          <a:p>
            <a:pPr algn="l">
              <a:lnSpc>
                <a:spcPts val="1800"/>
              </a:lnSpc>
            </a:pPr>
            <a:r>
              <a:rPr lang="en-US" b="true" sz="1500" spc="150">
                <a:solidFill>
                  <a:srgbClr val="0B6E60"/>
                </a:solidFill>
                <a:latin typeface="IBM Plex Sans Bold"/>
                <a:ea typeface="IBM Plex Sans Bold"/>
                <a:cs typeface="IBM Plex Sans Bold"/>
                <a:sym typeface="IBM Plex Sans Bold"/>
              </a:rPr>
              <a:t>PRIVATE</a:t>
            </a:r>
          </a:p>
          <a:p>
            <a:pPr algn="l">
              <a:lnSpc>
                <a:spcPts val="2474"/>
              </a:lnSpc>
            </a:pPr>
            <a:r>
              <a:rPr lang="en-US" b="true" sz="1950" spc="195">
                <a:solidFill>
                  <a:srgbClr val="14304A"/>
                </a:solidFill>
                <a:latin typeface="IBM Plex Sans Bold"/>
                <a:ea typeface="IBM Plex Sans Bold"/>
                <a:cs typeface="IBM Plex Sans Bold"/>
                <a:sym typeface="IBM Plex Sans Bold"/>
              </a:rPr>
              <a:t>Dar-e-Arqam School</a:t>
            </a:r>
          </a:p>
          <a:p>
            <a:pPr algn="l">
              <a:lnSpc>
                <a:spcPts val="2160"/>
              </a:lnSpc>
            </a:pPr>
            <a:r>
              <a:rPr lang="en-US" sz="1800" spc="178">
                <a:solidFill>
                  <a:srgbClr val="3F4B57"/>
                </a:solidFill>
                <a:latin typeface="IBM Plex Sans"/>
                <a:ea typeface="IBM Plex Sans"/>
                <a:cs typeface="IBM Plex Sans"/>
                <a:sym typeface="IBM Plex Sans"/>
              </a:rPr>
              <a:t>18–19 Jan 2026</a:t>
            </a:r>
          </a:p>
        </p:txBody>
      </p:sp>
      <p:sp>
        <p:nvSpPr>
          <p:cNvPr name="Freeform 25" id="25"/>
          <p:cNvSpPr/>
          <p:nvPr/>
        </p:nvSpPr>
        <p:spPr>
          <a:xfrm flipH="false" flipV="false" rot="0">
            <a:off x="7640707" y="7296664"/>
            <a:ext cx="3006662" cy="1711738"/>
          </a:xfrm>
          <a:custGeom>
            <a:avLst/>
            <a:gdLst/>
            <a:ahLst/>
            <a:cxnLst/>
            <a:rect r="r" b="b" t="t" l="l"/>
            <a:pathLst>
              <a:path h="1711738" w="3006662">
                <a:moveTo>
                  <a:pt x="0" y="0"/>
                </a:moveTo>
                <a:lnTo>
                  <a:pt x="3006662" y="0"/>
                </a:lnTo>
                <a:lnTo>
                  <a:pt x="3006662" y="1711738"/>
                </a:lnTo>
                <a:lnTo>
                  <a:pt x="0" y="1711738"/>
                </a:lnTo>
                <a:lnTo>
                  <a:pt x="0" y="0"/>
                </a:lnTo>
                <a:close/>
              </a:path>
            </a:pathLst>
          </a:custGeom>
          <a:blipFill>
            <a:blip r:embed="rId9">
              <a:extLst>
                <a:ext uri="{96DAC541-7B7A-43D3-8B79-37D633B846F1}">
                  <asvg:svgBlip xmlns:asvg="http://schemas.microsoft.com/office/drawing/2016/SVG/main" r:embed="rId10"/>
                </a:ext>
              </a:extLst>
            </a:blip>
            <a:stretch>
              <a:fillRect l="0" t="-26" r="0" b="-26"/>
            </a:stretch>
          </a:blipFill>
        </p:spPr>
      </p:sp>
      <p:sp>
        <p:nvSpPr>
          <p:cNvPr name="TextBox 26" id="26"/>
          <p:cNvSpPr txBox="true"/>
          <p:nvPr/>
        </p:nvSpPr>
        <p:spPr>
          <a:xfrm rot="0">
            <a:off x="7695076" y="7351033"/>
            <a:ext cx="2897838" cy="1602924"/>
          </a:xfrm>
          <a:prstGeom prst="rect">
            <a:avLst/>
          </a:prstGeom>
        </p:spPr>
        <p:txBody>
          <a:bodyPr anchor="t" rtlCol="false" tIns="0" lIns="0" bIns="0" rIns="0">
            <a:spAutoFit/>
          </a:bodyPr>
          <a:lstStyle/>
          <a:p>
            <a:pPr algn="l">
              <a:lnSpc>
                <a:spcPts val="1800"/>
              </a:lnSpc>
            </a:pPr>
            <a:r>
              <a:rPr lang="en-US" b="true" sz="1500" spc="150">
                <a:solidFill>
                  <a:srgbClr val="0B6E60"/>
                </a:solidFill>
                <a:latin typeface="IBM Plex Sans Bold"/>
                <a:ea typeface="IBM Plex Sans Bold"/>
                <a:cs typeface="IBM Plex Sans Bold"/>
                <a:sym typeface="IBM Plex Sans Bold"/>
              </a:rPr>
              <a:t>GOVERNMENT</a:t>
            </a:r>
          </a:p>
          <a:p>
            <a:pPr algn="l">
              <a:lnSpc>
                <a:spcPts val="2474"/>
              </a:lnSpc>
            </a:pPr>
            <a:r>
              <a:rPr lang="en-US" b="true" sz="1950" spc="195">
                <a:solidFill>
                  <a:srgbClr val="14304A"/>
                </a:solidFill>
                <a:latin typeface="IBM Plex Sans Bold"/>
                <a:ea typeface="IBM Plex Sans Bold"/>
                <a:cs typeface="IBM Plex Sans Bold"/>
                <a:sym typeface="IBM Plex Sans Bold"/>
              </a:rPr>
              <a:t>Govt. High School, Choa Saidan Shah</a:t>
            </a:r>
          </a:p>
          <a:p>
            <a:pPr algn="l">
              <a:lnSpc>
                <a:spcPts val="2160"/>
              </a:lnSpc>
            </a:pPr>
            <a:r>
              <a:rPr lang="en-US" sz="1800" spc="178">
                <a:solidFill>
                  <a:srgbClr val="3F4B57"/>
                </a:solidFill>
                <a:latin typeface="IBM Plex Sans"/>
                <a:ea typeface="IBM Plex Sans"/>
                <a:cs typeface="IBM Plex Sans"/>
                <a:sym typeface="IBM Plex Sans"/>
              </a:rPr>
              <a:t>24–25 Jan 2026</a:t>
            </a:r>
          </a:p>
        </p:txBody>
      </p:sp>
      <p:sp>
        <p:nvSpPr>
          <p:cNvPr name="Freeform 27" id="27"/>
          <p:cNvSpPr/>
          <p:nvPr/>
        </p:nvSpPr>
        <p:spPr>
          <a:xfrm flipH="false" flipV="false" rot="0">
            <a:off x="10855623" y="7296664"/>
            <a:ext cx="3006662" cy="1711738"/>
          </a:xfrm>
          <a:custGeom>
            <a:avLst/>
            <a:gdLst/>
            <a:ahLst/>
            <a:cxnLst/>
            <a:rect r="r" b="b" t="t" l="l"/>
            <a:pathLst>
              <a:path h="1711738" w="3006662">
                <a:moveTo>
                  <a:pt x="0" y="0"/>
                </a:moveTo>
                <a:lnTo>
                  <a:pt x="3006662" y="0"/>
                </a:lnTo>
                <a:lnTo>
                  <a:pt x="3006662" y="1711738"/>
                </a:lnTo>
                <a:lnTo>
                  <a:pt x="0" y="1711738"/>
                </a:lnTo>
                <a:lnTo>
                  <a:pt x="0" y="0"/>
                </a:lnTo>
                <a:close/>
              </a:path>
            </a:pathLst>
          </a:custGeom>
          <a:blipFill>
            <a:blip r:embed="rId7">
              <a:extLst>
                <a:ext uri="{96DAC541-7B7A-43D3-8B79-37D633B846F1}">
                  <asvg:svgBlip xmlns:asvg="http://schemas.microsoft.com/office/drawing/2016/SVG/main" r:embed="rId8"/>
                </a:ext>
              </a:extLst>
            </a:blip>
            <a:stretch>
              <a:fillRect l="0" t="-26" r="0" b="-26"/>
            </a:stretch>
          </a:blipFill>
        </p:spPr>
      </p:sp>
      <p:sp>
        <p:nvSpPr>
          <p:cNvPr name="TextBox 28" id="28"/>
          <p:cNvSpPr txBox="true"/>
          <p:nvPr/>
        </p:nvSpPr>
        <p:spPr>
          <a:xfrm rot="0">
            <a:off x="10909992" y="7351033"/>
            <a:ext cx="2897838" cy="1602924"/>
          </a:xfrm>
          <a:prstGeom prst="rect">
            <a:avLst/>
          </a:prstGeom>
        </p:spPr>
        <p:txBody>
          <a:bodyPr anchor="t" rtlCol="false" tIns="0" lIns="0" bIns="0" rIns="0">
            <a:spAutoFit/>
          </a:bodyPr>
          <a:lstStyle/>
          <a:p>
            <a:pPr algn="l">
              <a:lnSpc>
                <a:spcPts val="1800"/>
              </a:lnSpc>
            </a:pPr>
            <a:r>
              <a:rPr lang="en-US" b="true" sz="1500" spc="150">
                <a:solidFill>
                  <a:srgbClr val="0B6E60"/>
                </a:solidFill>
                <a:latin typeface="IBM Plex Sans Bold"/>
                <a:ea typeface="IBM Plex Sans Bold"/>
                <a:cs typeface="IBM Plex Sans Bold"/>
                <a:sym typeface="IBM Plex Sans Bold"/>
              </a:rPr>
              <a:t>GOVERNMENT</a:t>
            </a:r>
          </a:p>
          <a:p>
            <a:pPr algn="l">
              <a:lnSpc>
                <a:spcPts val="2474"/>
              </a:lnSpc>
            </a:pPr>
            <a:r>
              <a:rPr lang="en-US" b="true" sz="1950" spc="195">
                <a:solidFill>
                  <a:srgbClr val="14304A"/>
                </a:solidFill>
                <a:latin typeface="IBM Plex Sans Bold"/>
                <a:ea typeface="IBM Plex Sans Bold"/>
                <a:cs typeface="IBM Plex Sans Bold"/>
                <a:sym typeface="IBM Plex Sans Bold"/>
              </a:rPr>
              <a:t>Govt. High School, Saloi</a:t>
            </a:r>
          </a:p>
          <a:p>
            <a:pPr algn="l">
              <a:lnSpc>
                <a:spcPts val="2160"/>
              </a:lnSpc>
            </a:pPr>
            <a:r>
              <a:rPr lang="en-US" sz="1800" spc="178">
                <a:solidFill>
                  <a:srgbClr val="3F4B57"/>
                </a:solidFill>
                <a:latin typeface="IBM Plex Sans"/>
                <a:ea typeface="IBM Plex Sans"/>
                <a:cs typeface="IBM Plex Sans"/>
                <a:sym typeface="IBM Plex Sans"/>
              </a:rPr>
              <a:t>28–29 Jan 2026</a:t>
            </a:r>
          </a:p>
        </p:txBody>
      </p:sp>
      <p:sp>
        <p:nvSpPr>
          <p:cNvPr name="Freeform 29" id="29"/>
          <p:cNvSpPr/>
          <p:nvPr/>
        </p:nvSpPr>
        <p:spPr>
          <a:xfrm flipH="false" flipV="false" rot="0">
            <a:off x="14070549" y="7296664"/>
            <a:ext cx="3006661" cy="1711738"/>
          </a:xfrm>
          <a:custGeom>
            <a:avLst/>
            <a:gdLst/>
            <a:ahLst/>
            <a:cxnLst/>
            <a:rect r="r" b="b" t="t" l="l"/>
            <a:pathLst>
              <a:path h="1711738" w="3006661">
                <a:moveTo>
                  <a:pt x="0" y="0"/>
                </a:moveTo>
                <a:lnTo>
                  <a:pt x="3006662" y="0"/>
                </a:lnTo>
                <a:lnTo>
                  <a:pt x="3006662" y="1711738"/>
                </a:lnTo>
                <a:lnTo>
                  <a:pt x="0" y="1711738"/>
                </a:lnTo>
                <a:lnTo>
                  <a:pt x="0" y="0"/>
                </a:lnTo>
                <a:close/>
              </a:path>
            </a:pathLst>
          </a:custGeom>
          <a:blipFill>
            <a:blip r:embed="rId7">
              <a:extLst>
                <a:ext uri="{96DAC541-7B7A-43D3-8B79-37D633B846F1}">
                  <asvg:svgBlip xmlns:asvg="http://schemas.microsoft.com/office/drawing/2016/SVG/main" r:embed="rId8"/>
                </a:ext>
              </a:extLst>
            </a:blip>
            <a:stretch>
              <a:fillRect l="0" t="-26" r="0" b="-26"/>
            </a:stretch>
          </a:blipFill>
        </p:spPr>
      </p:sp>
      <p:sp>
        <p:nvSpPr>
          <p:cNvPr name="TextBox 30" id="30"/>
          <p:cNvSpPr txBox="true"/>
          <p:nvPr/>
        </p:nvSpPr>
        <p:spPr>
          <a:xfrm rot="0">
            <a:off x="14124918" y="7351033"/>
            <a:ext cx="2897838" cy="1104900"/>
          </a:xfrm>
          <a:prstGeom prst="rect">
            <a:avLst/>
          </a:prstGeom>
        </p:spPr>
        <p:txBody>
          <a:bodyPr anchor="t" rtlCol="false" tIns="0" lIns="0" bIns="0" rIns="0">
            <a:spAutoFit/>
          </a:bodyPr>
          <a:lstStyle/>
          <a:p>
            <a:pPr algn="l">
              <a:lnSpc>
                <a:spcPts val="1800"/>
              </a:lnSpc>
            </a:pPr>
            <a:r>
              <a:rPr lang="en-US" b="true" sz="1500" spc="150">
                <a:solidFill>
                  <a:srgbClr val="0B6E60"/>
                </a:solidFill>
                <a:latin typeface="IBM Plex Sans Bold"/>
                <a:ea typeface="IBM Plex Sans Bold"/>
                <a:cs typeface="IBM Plex Sans Bold"/>
                <a:sym typeface="IBM Plex Sans Bold"/>
              </a:rPr>
              <a:t>PRIVATE</a:t>
            </a:r>
          </a:p>
          <a:p>
            <a:pPr algn="l">
              <a:lnSpc>
                <a:spcPts val="2474"/>
              </a:lnSpc>
            </a:pPr>
            <a:r>
              <a:rPr lang="en-US" b="true" sz="1950" spc="195">
                <a:solidFill>
                  <a:srgbClr val="14304A"/>
                </a:solidFill>
                <a:latin typeface="IBM Plex Sans Bold"/>
                <a:ea typeface="IBM Plex Sans Bold"/>
                <a:cs typeface="IBM Plex Sans Bold"/>
                <a:sym typeface="IBM Plex Sans Bold"/>
              </a:rPr>
              <a:t>Leader House School System</a:t>
            </a:r>
          </a:p>
          <a:p>
            <a:pPr algn="l">
              <a:lnSpc>
                <a:spcPts val="2160"/>
              </a:lnSpc>
            </a:pPr>
            <a:r>
              <a:rPr lang="en-US" sz="1800" spc="178">
                <a:solidFill>
                  <a:srgbClr val="3F4B57"/>
                </a:solidFill>
                <a:latin typeface="IBM Plex Sans"/>
                <a:ea typeface="IBM Plex Sans"/>
                <a:cs typeface="IBM Plex Sans"/>
                <a:sym typeface="IBM Plex Sans"/>
              </a:rPr>
              <a:t>30Jan</a:t>
            </a:r>
            <a:r>
              <a:rPr lang="en-US" sz="1800" spc="178">
                <a:solidFill>
                  <a:srgbClr val="3F4B57"/>
                </a:solidFill>
                <a:latin typeface="IBM Plex Sans"/>
                <a:ea typeface="IBM Plex Sans"/>
                <a:cs typeface="IBM Plex Sans"/>
                <a:sym typeface="IBM Plex Sans"/>
              </a:rPr>
              <a:t>–01 Feb 2026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03 · PROGRAMME OBJECTIVES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Six objectives guide the programme</a:t>
            </a:r>
          </a:p>
        </p:txBody>
      </p:sp>
      <p:sp>
        <p:nvSpPr>
          <p:cNvPr name="Freeform 4" id="4"/>
          <p:cNvSpPr/>
          <p:nvPr/>
        </p:nvSpPr>
        <p:spPr>
          <a:xfrm flipH="false" flipV="false" rot="0">
            <a:off x="1215628" y="2808094"/>
            <a:ext cx="5087112" cy="2636044"/>
          </a:xfrm>
          <a:custGeom>
            <a:avLst/>
            <a:gdLst/>
            <a:ahLst/>
            <a:cxnLst/>
            <a:rect r="r" b="b" t="t" l="l"/>
            <a:pathLst>
              <a:path h="2636044" w="5087112">
                <a:moveTo>
                  <a:pt x="0" y="0"/>
                </a:moveTo>
                <a:lnTo>
                  <a:pt x="5087112" y="0"/>
                </a:lnTo>
                <a:lnTo>
                  <a:pt x="5087112" y="2636044"/>
                </a:lnTo>
                <a:lnTo>
                  <a:pt x="0" y="2636044"/>
                </a:lnTo>
                <a:lnTo>
                  <a:pt x="0" y="0"/>
                </a:lnTo>
                <a:close/>
              </a:path>
            </a:pathLst>
          </a:custGeom>
          <a:blipFill>
            <a:blip r:embed="rId3">
              <a:extLst>
                <a:ext uri="{96DAC541-7B7A-43D3-8B79-37D633B846F1}">
                  <asvg:svgBlip xmlns:asvg="http://schemas.microsoft.com/office/drawing/2016/SVG/main" r:embed="rId4"/>
                </a:ext>
              </a:extLst>
            </a:blip>
            <a:stretch>
              <a:fillRect l="-41" t="0" r="-40" b="0"/>
            </a:stretch>
          </a:blipFill>
        </p:spPr>
      </p:sp>
      <p:sp>
        <p:nvSpPr>
          <p:cNvPr name="TextBox 5" id="5"/>
          <p:cNvSpPr txBox="true"/>
          <p:nvPr/>
        </p:nvSpPr>
        <p:spPr>
          <a:xfrm rot="0">
            <a:off x="1609725" y="3030741"/>
            <a:ext cx="4427868"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01</a:t>
            </a:r>
          </a:p>
        </p:txBody>
      </p:sp>
      <p:sp>
        <p:nvSpPr>
          <p:cNvPr name="TextBox 6" id="6"/>
          <p:cNvSpPr txBox="true"/>
          <p:nvPr/>
        </p:nvSpPr>
        <p:spPr>
          <a:xfrm rot="0">
            <a:off x="1609725" y="3735591"/>
            <a:ext cx="4427868"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Explain why personal hygiene matters</a:t>
            </a:r>
          </a:p>
        </p:txBody>
      </p:sp>
      <p:sp>
        <p:nvSpPr>
          <p:cNvPr name="Freeform 7" id="7"/>
          <p:cNvSpPr/>
          <p:nvPr/>
        </p:nvSpPr>
        <p:spPr>
          <a:xfrm flipH="false" flipV="false" rot="0">
            <a:off x="6600377" y="2808094"/>
            <a:ext cx="5087112" cy="2636044"/>
          </a:xfrm>
          <a:custGeom>
            <a:avLst/>
            <a:gdLst/>
            <a:ahLst/>
            <a:cxnLst/>
            <a:rect r="r" b="b" t="t" l="l"/>
            <a:pathLst>
              <a:path h="2636044" w="5087112">
                <a:moveTo>
                  <a:pt x="0" y="0"/>
                </a:moveTo>
                <a:lnTo>
                  <a:pt x="5087112" y="0"/>
                </a:lnTo>
                <a:lnTo>
                  <a:pt x="5087112" y="2636044"/>
                </a:lnTo>
                <a:lnTo>
                  <a:pt x="0" y="2636044"/>
                </a:lnTo>
                <a:lnTo>
                  <a:pt x="0" y="0"/>
                </a:lnTo>
                <a:close/>
              </a:path>
            </a:pathLst>
          </a:custGeom>
          <a:blipFill>
            <a:blip r:embed="rId3">
              <a:extLst>
                <a:ext uri="{96DAC541-7B7A-43D3-8B79-37D633B846F1}">
                  <asvg:svgBlip xmlns:asvg="http://schemas.microsoft.com/office/drawing/2016/SVG/main" r:embed="rId4"/>
                </a:ext>
              </a:extLst>
            </a:blip>
            <a:stretch>
              <a:fillRect l="-41" t="0" r="-40" b="0"/>
            </a:stretch>
          </a:blipFill>
        </p:spPr>
      </p:sp>
      <p:sp>
        <p:nvSpPr>
          <p:cNvPr name="TextBox 8" id="8"/>
          <p:cNvSpPr txBox="true"/>
          <p:nvPr/>
        </p:nvSpPr>
        <p:spPr>
          <a:xfrm rot="0">
            <a:off x="6994474" y="3030741"/>
            <a:ext cx="4427868"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02</a:t>
            </a:r>
          </a:p>
        </p:txBody>
      </p:sp>
      <p:sp>
        <p:nvSpPr>
          <p:cNvPr name="TextBox 9" id="9"/>
          <p:cNvSpPr txBox="true"/>
          <p:nvPr/>
        </p:nvSpPr>
        <p:spPr>
          <a:xfrm rot="0">
            <a:off x="6994474" y="3735591"/>
            <a:ext cx="4427868" cy="135255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Demonstrate correct handwashing and respiratory hygiene</a:t>
            </a:r>
          </a:p>
        </p:txBody>
      </p:sp>
      <p:sp>
        <p:nvSpPr>
          <p:cNvPr name="Freeform 10" id="10"/>
          <p:cNvSpPr/>
          <p:nvPr/>
        </p:nvSpPr>
        <p:spPr>
          <a:xfrm flipH="false" flipV="false" rot="0">
            <a:off x="11985127" y="2808094"/>
            <a:ext cx="5087112" cy="2636044"/>
          </a:xfrm>
          <a:custGeom>
            <a:avLst/>
            <a:gdLst/>
            <a:ahLst/>
            <a:cxnLst/>
            <a:rect r="r" b="b" t="t" l="l"/>
            <a:pathLst>
              <a:path h="2636044" w="5087112">
                <a:moveTo>
                  <a:pt x="0" y="0"/>
                </a:moveTo>
                <a:lnTo>
                  <a:pt x="5087112" y="0"/>
                </a:lnTo>
                <a:lnTo>
                  <a:pt x="5087112" y="2636044"/>
                </a:lnTo>
                <a:lnTo>
                  <a:pt x="0" y="2636044"/>
                </a:lnTo>
                <a:lnTo>
                  <a:pt x="0" y="0"/>
                </a:lnTo>
                <a:close/>
              </a:path>
            </a:pathLst>
          </a:custGeom>
          <a:blipFill>
            <a:blip r:embed="rId3">
              <a:extLst>
                <a:ext uri="{96DAC541-7B7A-43D3-8B79-37D633B846F1}">
                  <asvg:svgBlip xmlns:asvg="http://schemas.microsoft.com/office/drawing/2016/SVG/main" r:embed="rId4"/>
                </a:ext>
              </a:extLst>
            </a:blip>
            <a:stretch>
              <a:fillRect l="-41" t="0" r="-40" b="0"/>
            </a:stretch>
          </a:blipFill>
        </p:spPr>
      </p:sp>
      <p:sp>
        <p:nvSpPr>
          <p:cNvPr name="TextBox 11" id="11"/>
          <p:cNvSpPr txBox="true"/>
          <p:nvPr/>
        </p:nvSpPr>
        <p:spPr>
          <a:xfrm rot="0">
            <a:off x="12379223" y="3030741"/>
            <a:ext cx="4427868"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03</a:t>
            </a:r>
          </a:p>
        </p:txBody>
      </p:sp>
      <p:sp>
        <p:nvSpPr>
          <p:cNvPr name="TextBox 12" id="12"/>
          <p:cNvSpPr txBox="true"/>
          <p:nvPr/>
        </p:nvSpPr>
        <p:spPr>
          <a:xfrm rot="0">
            <a:off x="12379223" y="3735591"/>
            <a:ext cx="4427868"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Promote safe drinking water and food practices</a:t>
            </a:r>
          </a:p>
        </p:txBody>
      </p:sp>
      <p:sp>
        <p:nvSpPr>
          <p:cNvPr name="Freeform 13" id="13"/>
          <p:cNvSpPr/>
          <p:nvPr/>
        </p:nvSpPr>
        <p:spPr>
          <a:xfrm flipH="false" flipV="false" rot="0">
            <a:off x="1215628" y="5741794"/>
            <a:ext cx="5087112" cy="2636044"/>
          </a:xfrm>
          <a:custGeom>
            <a:avLst/>
            <a:gdLst/>
            <a:ahLst/>
            <a:cxnLst/>
            <a:rect r="r" b="b" t="t" l="l"/>
            <a:pathLst>
              <a:path h="2636044" w="5087112">
                <a:moveTo>
                  <a:pt x="0" y="0"/>
                </a:moveTo>
                <a:lnTo>
                  <a:pt x="5087112" y="0"/>
                </a:lnTo>
                <a:lnTo>
                  <a:pt x="5087112" y="2636044"/>
                </a:lnTo>
                <a:lnTo>
                  <a:pt x="0" y="2636044"/>
                </a:lnTo>
                <a:lnTo>
                  <a:pt x="0" y="0"/>
                </a:lnTo>
                <a:close/>
              </a:path>
            </a:pathLst>
          </a:custGeom>
          <a:blipFill>
            <a:blip r:embed="rId3">
              <a:extLst>
                <a:ext uri="{96DAC541-7B7A-43D3-8B79-37D633B846F1}">
                  <asvg:svgBlip xmlns:asvg="http://schemas.microsoft.com/office/drawing/2016/SVG/main" r:embed="rId4"/>
                </a:ext>
              </a:extLst>
            </a:blip>
            <a:stretch>
              <a:fillRect l="-41" t="0" r="-40" b="0"/>
            </a:stretch>
          </a:blipFill>
        </p:spPr>
      </p:sp>
      <p:sp>
        <p:nvSpPr>
          <p:cNvPr name="TextBox 14" id="14"/>
          <p:cNvSpPr txBox="true"/>
          <p:nvPr/>
        </p:nvSpPr>
        <p:spPr>
          <a:xfrm rot="0">
            <a:off x="1609725" y="5964441"/>
            <a:ext cx="4427868"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04</a:t>
            </a:r>
          </a:p>
        </p:txBody>
      </p:sp>
      <p:sp>
        <p:nvSpPr>
          <p:cNvPr name="TextBox 15" id="15"/>
          <p:cNvSpPr txBox="true"/>
          <p:nvPr/>
        </p:nvSpPr>
        <p:spPr>
          <a:xfrm rot="0">
            <a:off x="1609725" y="6669291"/>
            <a:ext cx="4427868" cy="135255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Encourage bathing, clean clothing, oral hygiene and nail care</a:t>
            </a:r>
          </a:p>
        </p:txBody>
      </p:sp>
      <p:sp>
        <p:nvSpPr>
          <p:cNvPr name="Freeform 16" id="16"/>
          <p:cNvSpPr/>
          <p:nvPr/>
        </p:nvSpPr>
        <p:spPr>
          <a:xfrm flipH="false" flipV="false" rot="0">
            <a:off x="6600377" y="5741794"/>
            <a:ext cx="5087112" cy="2636044"/>
          </a:xfrm>
          <a:custGeom>
            <a:avLst/>
            <a:gdLst/>
            <a:ahLst/>
            <a:cxnLst/>
            <a:rect r="r" b="b" t="t" l="l"/>
            <a:pathLst>
              <a:path h="2636044" w="5087112">
                <a:moveTo>
                  <a:pt x="0" y="0"/>
                </a:moveTo>
                <a:lnTo>
                  <a:pt x="5087112" y="0"/>
                </a:lnTo>
                <a:lnTo>
                  <a:pt x="5087112" y="2636044"/>
                </a:lnTo>
                <a:lnTo>
                  <a:pt x="0" y="2636044"/>
                </a:lnTo>
                <a:lnTo>
                  <a:pt x="0" y="0"/>
                </a:lnTo>
                <a:close/>
              </a:path>
            </a:pathLst>
          </a:custGeom>
          <a:blipFill>
            <a:blip r:embed="rId3">
              <a:extLst>
                <a:ext uri="{96DAC541-7B7A-43D3-8B79-37D633B846F1}">
                  <asvg:svgBlip xmlns:asvg="http://schemas.microsoft.com/office/drawing/2016/SVG/main" r:embed="rId4"/>
                </a:ext>
              </a:extLst>
            </a:blip>
            <a:stretch>
              <a:fillRect l="-41" t="0" r="-40" b="0"/>
            </a:stretch>
          </a:blipFill>
        </p:spPr>
      </p:sp>
      <p:sp>
        <p:nvSpPr>
          <p:cNvPr name="TextBox 17" id="17"/>
          <p:cNvSpPr txBox="true"/>
          <p:nvPr/>
        </p:nvSpPr>
        <p:spPr>
          <a:xfrm rot="0">
            <a:off x="6994474" y="5964441"/>
            <a:ext cx="4427868"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05</a:t>
            </a:r>
          </a:p>
        </p:txBody>
      </p:sp>
      <p:sp>
        <p:nvSpPr>
          <p:cNvPr name="TextBox 18" id="18"/>
          <p:cNvSpPr txBox="true"/>
          <p:nvPr/>
        </p:nvSpPr>
        <p:spPr>
          <a:xfrm rot="0">
            <a:off x="6994474" y="6669291"/>
            <a:ext cx="4427868"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Show how everyday actions reduce the spread of infection</a:t>
            </a:r>
          </a:p>
        </p:txBody>
      </p:sp>
      <p:sp>
        <p:nvSpPr>
          <p:cNvPr name="Freeform 19" id="19"/>
          <p:cNvSpPr/>
          <p:nvPr/>
        </p:nvSpPr>
        <p:spPr>
          <a:xfrm flipH="false" flipV="false" rot="0">
            <a:off x="11985127" y="5741794"/>
            <a:ext cx="5087112" cy="2636044"/>
          </a:xfrm>
          <a:custGeom>
            <a:avLst/>
            <a:gdLst/>
            <a:ahLst/>
            <a:cxnLst/>
            <a:rect r="r" b="b" t="t" l="l"/>
            <a:pathLst>
              <a:path h="2636044" w="5087112">
                <a:moveTo>
                  <a:pt x="0" y="0"/>
                </a:moveTo>
                <a:lnTo>
                  <a:pt x="5087112" y="0"/>
                </a:lnTo>
                <a:lnTo>
                  <a:pt x="5087112" y="2636044"/>
                </a:lnTo>
                <a:lnTo>
                  <a:pt x="0" y="2636044"/>
                </a:lnTo>
                <a:lnTo>
                  <a:pt x="0" y="0"/>
                </a:lnTo>
                <a:close/>
              </a:path>
            </a:pathLst>
          </a:custGeom>
          <a:blipFill>
            <a:blip r:embed="rId3">
              <a:extLst>
                <a:ext uri="{96DAC541-7B7A-43D3-8B79-37D633B846F1}">
                  <asvg:svgBlip xmlns:asvg="http://schemas.microsoft.com/office/drawing/2016/SVG/main" r:embed="rId4"/>
                </a:ext>
              </a:extLst>
            </a:blip>
            <a:stretch>
              <a:fillRect l="-41" t="0" r="-40" b="0"/>
            </a:stretch>
          </a:blipFill>
        </p:spPr>
      </p:sp>
      <p:sp>
        <p:nvSpPr>
          <p:cNvPr name="TextBox 20" id="20"/>
          <p:cNvSpPr txBox="true"/>
          <p:nvPr/>
        </p:nvSpPr>
        <p:spPr>
          <a:xfrm rot="0">
            <a:off x="12379223" y="5964441"/>
            <a:ext cx="4427868"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06</a:t>
            </a:r>
          </a:p>
        </p:txBody>
      </p:sp>
      <p:sp>
        <p:nvSpPr>
          <p:cNvPr name="TextBox 21" id="21"/>
          <p:cNvSpPr txBox="true"/>
          <p:nvPr/>
        </p:nvSpPr>
        <p:spPr>
          <a:xfrm rot="0">
            <a:off x="12379223" y="6669291"/>
            <a:ext cx="4427868"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Motivate children to share hygiene messages at home</a:t>
            </a:r>
          </a:p>
        </p:txBody>
      </p:sp>
      <p:sp>
        <p:nvSpPr>
          <p:cNvPr name="TextBox 22" id="22"/>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3" id="23"/>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04 · KEY PERSONAL HYGIENE MESSAGES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Seven messages every child should know</a:t>
            </a:r>
          </a:p>
        </p:txBody>
      </p:sp>
      <p:graphicFrame>
        <p:nvGraphicFramePr>
          <p:cNvPr name="Table 4" id="4"/>
          <p:cNvGraphicFramePr>
            <a:graphicFrameLocks noGrp="true"/>
          </p:cNvGraphicFramePr>
          <p:nvPr/>
        </p:nvGraphicFramePr>
        <p:xfrm>
          <a:off x="1219200" y="2811662"/>
          <a:ext cx="15811500" cy="5486400"/>
        </p:xfrm>
        <a:graphic>
          <a:graphicData uri="http://schemas.openxmlformats.org/drawingml/2006/table">
            <a:tbl>
              <a:tblPr/>
              <a:tblGrid>
                <a:gridCol w="4465980"/>
                <a:gridCol w="11345520"/>
              </a:tblGrid>
              <a:tr h="685800">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Area</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14304A"/>
                    </a:solidFill>
                  </a:tcPr>
                </a:tc>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Key message</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14304A"/>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Hands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Wash with soap and safe water at key times.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Nails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Keep nails short and clean; avoid biting them.</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Body &amp; clothing</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Bathe regularly; wear clean clothes and underwear.</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Teeth</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Brush twice a day, with fluoride toothpaste where available.</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Hair &amp; items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Keep hair clean; never share combs, towels or toothbrushes.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Coughs &amp; sneezes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Use a clean tissue, handkerchief or the elbow.</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Face</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Avoid touching eyes, nose and mouth with unwashed hands.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bl>
          </a:graphicData>
        </a:graphic>
      </p:graphicFrame>
      <p:sp>
        <p:nvSpPr>
          <p:cNvPr name="TextBox 5" id="5"/>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6" id="6"/>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05 · CORRECT HANDWASHING TECHNIQUE</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Five steps, about 20 seconds</a:t>
            </a:r>
          </a:p>
        </p:txBody>
      </p:sp>
      <p:sp>
        <p:nvSpPr>
          <p:cNvPr name="TextBox 4" id="4"/>
          <p:cNvSpPr txBox="true"/>
          <p:nvPr/>
        </p:nvSpPr>
        <p:spPr>
          <a:xfrm rot="0">
            <a:off x="1219200" y="2640216"/>
            <a:ext cx="647700"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1</a:t>
            </a:r>
          </a:p>
        </p:txBody>
      </p:sp>
      <p:sp>
        <p:nvSpPr>
          <p:cNvPr name="TextBox 5" id="5"/>
          <p:cNvSpPr txBox="true"/>
          <p:nvPr/>
        </p:nvSpPr>
        <p:spPr>
          <a:xfrm rot="0">
            <a:off x="2019300" y="2764041"/>
            <a:ext cx="4798838"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Wet</a:t>
            </a:r>
            <a:r>
              <a:rPr lang="en-US" sz="2250">
                <a:solidFill>
                  <a:srgbClr val="14304A"/>
                </a:solidFill>
                <a:latin typeface="IBM Plex Sans"/>
                <a:ea typeface="IBM Plex Sans"/>
                <a:cs typeface="IBM Plex Sans"/>
                <a:sym typeface="IBM Plex Sans"/>
              </a:rPr>
              <a:t> hands with clean running water.</a:t>
            </a:r>
          </a:p>
        </p:txBody>
      </p:sp>
      <p:sp>
        <p:nvSpPr>
          <p:cNvPr name="TextBox 6" id="6"/>
          <p:cNvSpPr txBox="true"/>
          <p:nvPr/>
        </p:nvSpPr>
        <p:spPr>
          <a:xfrm rot="0">
            <a:off x="1219200" y="3249816"/>
            <a:ext cx="647700"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2</a:t>
            </a:r>
          </a:p>
        </p:txBody>
      </p:sp>
      <p:sp>
        <p:nvSpPr>
          <p:cNvPr name="TextBox 7" id="7"/>
          <p:cNvSpPr txBox="true"/>
          <p:nvPr/>
        </p:nvSpPr>
        <p:spPr>
          <a:xfrm rot="0">
            <a:off x="2019300" y="3373641"/>
            <a:ext cx="7394391"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Soap</a:t>
            </a:r>
            <a:r>
              <a:rPr lang="en-US" sz="2250">
                <a:solidFill>
                  <a:srgbClr val="14304A"/>
                </a:solidFill>
                <a:latin typeface="IBM Plex Sans"/>
                <a:ea typeface="IBM Plex Sans"/>
                <a:cs typeface="IBM Plex Sans"/>
                <a:sym typeface="IBM Plex Sans"/>
              </a:rPr>
              <a:t> and scrub palms, backs, fingers, thumbs and nails.</a:t>
            </a:r>
          </a:p>
        </p:txBody>
      </p:sp>
      <p:sp>
        <p:nvSpPr>
          <p:cNvPr name="TextBox 8" id="8"/>
          <p:cNvSpPr txBox="true"/>
          <p:nvPr/>
        </p:nvSpPr>
        <p:spPr>
          <a:xfrm rot="0">
            <a:off x="1219200" y="3859416"/>
            <a:ext cx="647700"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3</a:t>
            </a:r>
          </a:p>
        </p:txBody>
      </p:sp>
      <p:sp>
        <p:nvSpPr>
          <p:cNvPr name="TextBox 9" id="9"/>
          <p:cNvSpPr txBox="true"/>
          <p:nvPr/>
        </p:nvSpPr>
        <p:spPr>
          <a:xfrm rot="0">
            <a:off x="2019300" y="3983241"/>
            <a:ext cx="3733295"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Scrub</a:t>
            </a:r>
            <a:r>
              <a:rPr lang="en-US" sz="2250">
                <a:solidFill>
                  <a:srgbClr val="14304A"/>
                </a:solidFill>
                <a:latin typeface="IBM Plex Sans"/>
                <a:ea typeface="IBM Plex Sans"/>
                <a:cs typeface="IBM Plex Sans"/>
                <a:sym typeface="IBM Plex Sans"/>
              </a:rPr>
              <a:t> for about 20 seconds.</a:t>
            </a:r>
          </a:p>
        </p:txBody>
      </p:sp>
      <p:sp>
        <p:nvSpPr>
          <p:cNvPr name="TextBox 10" id="10"/>
          <p:cNvSpPr txBox="true"/>
          <p:nvPr/>
        </p:nvSpPr>
        <p:spPr>
          <a:xfrm rot="0">
            <a:off x="1219200" y="4469016"/>
            <a:ext cx="647700"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4</a:t>
            </a:r>
          </a:p>
        </p:txBody>
      </p:sp>
      <p:sp>
        <p:nvSpPr>
          <p:cNvPr name="TextBox 11" id="11"/>
          <p:cNvSpPr txBox="true"/>
          <p:nvPr/>
        </p:nvSpPr>
        <p:spPr>
          <a:xfrm rot="0">
            <a:off x="2019300" y="4592841"/>
            <a:ext cx="4551883"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Rinse</a:t>
            </a:r>
            <a:r>
              <a:rPr lang="en-US" sz="2250">
                <a:solidFill>
                  <a:srgbClr val="14304A"/>
                </a:solidFill>
                <a:latin typeface="IBM Plex Sans"/>
                <a:ea typeface="IBM Plex Sans"/>
                <a:cs typeface="IBM Plex Sans"/>
                <a:sym typeface="IBM Plex Sans"/>
              </a:rPr>
              <a:t> thoroughly with clean water.</a:t>
            </a:r>
          </a:p>
        </p:txBody>
      </p:sp>
      <p:sp>
        <p:nvSpPr>
          <p:cNvPr name="TextBox 12" id="12"/>
          <p:cNvSpPr txBox="true"/>
          <p:nvPr/>
        </p:nvSpPr>
        <p:spPr>
          <a:xfrm rot="0">
            <a:off x="1219200" y="5078616"/>
            <a:ext cx="647700" cy="742950"/>
          </a:xfrm>
          <a:prstGeom prst="rect">
            <a:avLst/>
          </a:prstGeom>
        </p:spPr>
        <p:txBody>
          <a:bodyPr anchor="t" rtlCol="false" tIns="0" lIns="0" bIns="0" rIns="0">
            <a:spAutoFit/>
          </a:bodyPr>
          <a:lstStyle/>
          <a:p>
            <a:pPr algn="l">
              <a:lnSpc>
                <a:spcPts val="4200"/>
              </a:lnSpc>
            </a:pPr>
            <a:r>
              <a:rPr lang="en-US" sz="3000" b="true">
                <a:solidFill>
                  <a:srgbClr val="0B6E60"/>
                </a:solidFill>
                <a:latin typeface="Source Serif Pro Bold"/>
                <a:ea typeface="Source Serif Pro Bold"/>
                <a:cs typeface="Source Serif Pro Bold"/>
                <a:sym typeface="Source Serif Pro Bold"/>
              </a:rPr>
              <a:t>5</a:t>
            </a:r>
          </a:p>
        </p:txBody>
      </p:sp>
      <p:sp>
        <p:nvSpPr>
          <p:cNvPr name="TextBox 13" id="13"/>
          <p:cNvSpPr txBox="true"/>
          <p:nvPr/>
        </p:nvSpPr>
        <p:spPr>
          <a:xfrm rot="0">
            <a:off x="2019300" y="5202441"/>
            <a:ext cx="5572811"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Dry</a:t>
            </a:r>
            <a:r>
              <a:rPr lang="en-US" sz="2250">
                <a:solidFill>
                  <a:srgbClr val="14304A"/>
                </a:solidFill>
                <a:latin typeface="IBM Plex Sans"/>
                <a:ea typeface="IBM Plex Sans"/>
                <a:cs typeface="IBM Plex Sans"/>
                <a:sym typeface="IBM Plex Sans"/>
              </a:rPr>
              <a:t> with a clean towel or let hands air-dry.</a:t>
            </a:r>
          </a:p>
        </p:txBody>
      </p:sp>
      <p:sp>
        <p:nvSpPr>
          <p:cNvPr name="Freeform 14" id="14"/>
          <p:cNvSpPr/>
          <p:nvPr/>
        </p:nvSpPr>
        <p:spPr>
          <a:xfrm flipH="false" flipV="false" rot="0">
            <a:off x="1215628" y="6084694"/>
            <a:ext cx="11132344" cy="1755934"/>
          </a:xfrm>
          <a:custGeom>
            <a:avLst/>
            <a:gdLst/>
            <a:ahLst/>
            <a:cxnLst/>
            <a:rect r="r" b="b" t="t" l="l"/>
            <a:pathLst>
              <a:path h="1755934" w="11132344">
                <a:moveTo>
                  <a:pt x="0" y="0"/>
                </a:moveTo>
                <a:lnTo>
                  <a:pt x="11132344" y="0"/>
                </a:lnTo>
                <a:lnTo>
                  <a:pt x="11132344" y="1755934"/>
                </a:lnTo>
                <a:lnTo>
                  <a:pt x="0" y="1755934"/>
                </a:lnTo>
                <a:lnTo>
                  <a:pt x="0" y="0"/>
                </a:lnTo>
                <a:close/>
              </a:path>
            </a:pathLst>
          </a:custGeom>
          <a:blipFill>
            <a:blip r:embed="rId3">
              <a:extLst>
                <a:ext uri="{96DAC541-7B7A-43D3-8B79-37D633B846F1}">
                  <asvg:svgBlip xmlns:asvg="http://schemas.microsoft.com/office/drawing/2016/SVG/main" r:embed="rId4"/>
                </a:ext>
              </a:extLst>
            </a:blip>
            <a:stretch>
              <a:fillRect l="0" t="-165" r="0" b="-165"/>
            </a:stretch>
          </a:blipFill>
        </p:spPr>
      </p:sp>
      <p:sp>
        <p:nvSpPr>
          <p:cNvPr name="TextBox 15" id="15"/>
          <p:cNvSpPr txBox="true"/>
          <p:nvPr/>
        </p:nvSpPr>
        <p:spPr>
          <a:xfrm rot="0">
            <a:off x="1571625" y="6250191"/>
            <a:ext cx="10732960"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KEY TIMES</a:t>
            </a:r>
          </a:p>
        </p:txBody>
      </p:sp>
      <p:sp>
        <p:nvSpPr>
          <p:cNvPr name="TextBox 16" id="16"/>
          <p:cNvSpPr txBox="true"/>
          <p:nvPr/>
        </p:nvSpPr>
        <p:spPr>
          <a:xfrm rot="0">
            <a:off x="1571625" y="6646364"/>
            <a:ext cx="10732960"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Before eating or preparing food · after using the toilet · after coughing or sneezing · after playing outdoors · whenever hands look dirty</a:t>
            </a:r>
          </a:p>
        </p:txBody>
      </p:sp>
      <p:grpSp>
        <p:nvGrpSpPr>
          <p:cNvPr name="Group 17" id="17"/>
          <p:cNvGrpSpPr/>
          <p:nvPr/>
        </p:nvGrpSpPr>
        <p:grpSpPr>
          <a:xfrm rot="0">
            <a:off x="13228291" y="1712414"/>
            <a:ext cx="3810000" cy="5886450"/>
            <a:chOff x="0" y="0"/>
            <a:chExt cx="5080000" cy="7848600"/>
          </a:xfrm>
        </p:grpSpPr>
        <p:sp>
          <p:nvSpPr>
            <p:cNvPr name="Freeform 18" id="18"/>
            <p:cNvSpPr/>
            <p:nvPr/>
          </p:nvSpPr>
          <p:spPr>
            <a:xfrm flipH="false" flipV="false" rot="0">
              <a:off x="0" y="0"/>
              <a:ext cx="5080000" cy="7848600"/>
            </a:xfrm>
            <a:custGeom>
              <a:avLst/>
              <a:gdLst/>
              <a:ahLst/>
              <a:cxnLst/>
              <a:rect r="r" b="b" t="t" l="l"/>
              <a:pathLst>
                <a:path h="7848600" w="5080000">
                  <a:moveTo>
                    <a:pt x="0" y="0"/>
                  </a:moveTo>
                  <a:lnTo>
                    <a:pt x="5080000" y="0"/>
                  </a:lnTo>
                  <a:lnTo>
                    <a:pt x="5080000" y="7848600"/>
                  </a:lnTo>
                  <a:lnTo>
                    <a:pt x="0" y="7848600"/>
                  </a:lnTo>
                  <a:lnTo>
                    <a:pt x="0" y="0"/>
                  </a:lnTo>
                  <a:close/>
                </a:path>
              </a:pathLst>
            </a:custGeom>
            <a:blipFill>
              <a:blip r:embed="rId5"/>
              <a:stretch>
                <a:fillRect l="-66261" t="0" r="-66261" b="0"/>
              </a:stretch>
            </a:blipFill>
          </p:spPr>
        </p:sp>
      </p:grpSp>
      <p:sp>
        <p:nvSpPr>
          <p:cNvPr name="TextBox 19" id="19"/>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0" id="20"/>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06 · MEASURES TO CONTROL DISEASE SPREAD</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Breaking the chain of transmission at school</a:t>
            </a:r>
          </a:p>
        </p:txBody>
      </p:sp>
      <p:sp>
        <p:nvSpPr>
          <p:cNvPr name="Freeform 4" id="4"/>
          <p:cNvSpPr/>
          <p:nvPr/>
        </p:nvSpPr>
        <p:spPr>
          <a:xfrm flipH="false" flipV="false" rot="0">
            <a:off x="1215628" y="2808094"/>
            <a:ext cx="5087112" cy="4588669"/>
          </a:xfrm>
          <a:custGeom>
            <a:avLst/>
            <a:gdLst/>
            <a:ahLst/>
            <a:cxnLst/>
            <a:rect r="r" b="b" t="t" l="l"/>
            <a:pathLst>
              <a:path h="4588669" w="5087112">
                <a:moveTo>
                  <a:pt x="0" y="0"/>
                </a:moveTo>
                <a:lnTo>
                  <a:pt x="5087112" y="0"/>
                </a:lnTo>
                <a:lnTo>
                  <a:pt x="5087112" y="4588669"/>
                </a:lnTo>
                <a:lnTo>
                  <a:pt x="0" y="4588669"/>
                </a:lnTo>
                <a:lnTo>
                  <a:pt x="0" y="0"/>
                </a:lnTo>
                <a:close/>
              </a:path>
            </a:pathLst>
          </a:custGeom>
          <a:blipFill>
            <a:blip r:embed="rId3">
              <a:extLst>
                <a:ext uri="{96DAC541-7B7A-43D3-8B79-37D633B846F1}">
                  <asvg:svgBlip xmlns:asvg="http://schemas.microsoft.com/office/drawing/2016/SVG/main" r:embed="rId4"/>
                </a:ext>
              </a:extLst>
            </a:blip>
            <a:stretch>
              <a:fillRect l="-60" t="0" r="-60" b="0"/>
            </a:stretch>
          </a:blipFill>
        </p:spPr>
      </p:sp>
      <p:sp>
        <p:nvSpPr>
          <p:cNvPr name="TextBox 5" id="5"/>
          <p:cNvSpPr txBox="true"/>
          <p:nvPr/>
        </p:nvSpPr>
        <p:spPr>
          <a:xfrm rot="0">
            <a:off x="1609725" y="3202191"/>
            <a:ext cx="4427868"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Respiratory hygiene</a:t>
            </a:r>
          </a:p>
        </p:txBody>
      </p:sp>
      <p:sp>
        <p:nvSpPr>
          <p:cNvPr name="AutoShape 6" id="6"/>
          <p:cNvSpPr/>
          <p:nvPr/>
        </p:nvSpPr>
        <p:spPr>
          <a:xfrm rot="7560">
            <a:off x="1595409" y="3802266"/>
            <a:ext cx="4327503" cy="0"/>
          </a:xfrm>
          <a:prstGeom prst="line">
            <a:avLst/>
          </a:prstGeom>
          <a:ln cap="rnd" w="9525">
            <a:solidFill>
              <a:srgbClr val="D3DCD9"/>
            </a:solidFill>
            <a:prstDash val="solid"/>
            <a:headEnd type="none" len="sm" w="sm"/>
            <a:tailEnd type="none" len="sm" w="sm"/>
          </a:ln>
        </p:spPr>
      </p:sp>
      <p:sp>
        <p:nvSpPr>
          <p:cNvPr name="TextBox 7" id="7"/>
          <p:cNvSpPr txBox="true"/>
          <p:nvPr/>
        </p:nvSpPr>
        <p:spPr>
          <a:xfrm rot="0">
            <a:off x="1609725" y="3859416"/>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Cover coughs and sneezes with a tissue or the elbow.</a:t>
            </a:r>
          </a:p>
        </p:txBody>
      </p:sp>
      <p:sp>
        <p:nvSpPr>
          <p:cNvPr name="AutoShape 8" id="8"/>
          <p:cNvSpPr/>
          <p:nvPr/>
        </p:nvSpPr>
        <p:spPr>
          <a:xfrm rot="7560">
            <a:off x="1595409" y="4916691"/>
            <a:ext cx="4327503" cy="0"/>
          </a:xfrm>
          <a:prstGeom prst="line">
            <a:avLst/>
          </a:prstGeom>
          <a:ln cap="rnd" w="9525">
            <a:solidFill>
              <a:srgbClr val="D3DCD9"/>
            </a:solidFill>
            <a:prstDash val="solid"/>
            <a:headEnd type="none" len="sm" w="sm"/>
            <a:tailEnd type="none" len="sm" w="sm"/>
          </a:ln>
        </p:spPr>
      </p:sp>
      <p:sp>
        <p:nvSpPr>
          <p:cNvPr name="TextBox 9" id="9"/>
          <p:cNvSpPr txBox="true"/>
          <p:nvPr/>
        </p:nvSpPr>
        <p:spPr>
          <a:xfrm rot="0">
            <a:off x="1609725" y="4973841"/>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Dispose of tissues safely, then wash hands.</a:t>
            </a:r>
          </a:p>
        </p:txBody>
      </p:sp>
      <p:sp>
        <p:nvSpPr>
          <p:cNvPr name="AutoShape 10" id="10"/>
          <p:cNvSpPr/>
          <p:nvPr/>
        </p:nvSpPr>
        <p:spPr>
          <a:xfrm rot="7560">
            <a:off x="1595409" y="6031116"/>
            <a:ext cx="4327503" cy="0"/>
          </a:xfrm>
          <a:prstGeom prst="line">
            <a:avLst/>
          </a:prstGeom>
          <a:ln cap="rnd" w="9525">
            <a:solidFill>
              <a:srgbClr val="D3DCD9"/>
            </a:solidFill>
            <a:prstDash val="solid"/>
            <a:headEnd type="none" len="sm" w="sm"/>
            <a:tailEnd type="none" len="sm" w="sm"/>
          </a:ln>
        </p:spPr>
      </p:sp>
      <p:sp>
        <p:nvSpPr>
          <p:cNvPr name="TextBox 11" id="11"/>
          <p:cNvSpPr txBox="true"/>
          <p:nvPr/>
        </p:nvSpPr>
        <p:spPr>
          <a:xfrm rot="0">
            <a:off x="1609725" y="6088266"/>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Improve classroom ventilation where practical.</a:t>
            </a:r>
          </a:p>
        </p:txBody>
      </p:sp>
      <p:sp>
        <p:nvSpPr>
          <p:cNvPr name="Freeform 12" id="12"/>
          <p:cNvSpPr/>
          <p:nvPr/>
        </p:nvSpPr>
        <p:spPr>
          <a:xfrm flipH="false" flipV="false" rot="0">
            <a:off x="6600377" y="2808094"/>
            <a:ext cx="5087207" cy="4588669"/>
          </a:xfrm>
          <a:custGeom>
            <a:avLst/>
            <a:gdLst/>
            <a:ahLst/>
            <a:cxnLst/>
            <a:rect r="r" b="b" t="t" l="l"/>
            <a:pathLst>
              <a:path h="4588669" w="5087207">
                <a:moveTo>
                  <a:pt x="0" y="0"/>
                </a:moveTo>
                <a:lnTo>
                  <a:pt x="5087208" y="0"/>
                </a:lnTo>
                <a:lnTo>
                  <a:pt x="5087208" y="4588669"/>
                </a:lnTo>
                <a:lnTo>
                  <a:pt x="0" y="4588669"/>
                </a:lnTo>
                <a:lnTo>
                  <a:pt x="0" y="0"/>
                </a:lnTo>
                <a:close/>
              </a:path>
            </a:pathLst>
          </a:custGeom>
          <a:blipFill>
            <a:blip r:embed="rId5">
              <a:extLst>
                <a:ext uri="{96DAC541-7B7A-43D3-8B79-37D633B846F1}">
                  <asvg:svgBlip xmlns:asvg="http://schemas.microsoft.com/office/drawing/2016/SVG/main" r:embed="rId6"/>
                </a:ext>
              </a:extLst>
            </a:blip>
            <a:stretch>
              <a:fillRect l="-59" t="0" r="-59" b="0"/>
            </a:stretch>
          </a:blipFill>
        </p:spPr>
      </p:sp>
      <p:sp>
        <p:nvSpPr>
          <p:cNvPr name="TextBox 13" id="13"/>
          <p:cNvSpPr txBox="true"/>
          <p:nvPr/>
        </p:nvSpPr>
        <p:spPr>
          <a:xfrm rot="0">
            <a:off x="6994474" y="3202191"/>
            <a:ext cx="4428020"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Personal items</a:t>
            </a:r>
          </a:p>
        </p:txBody>
      </p:sp>
      <p:sp>
        <p:nvSpPr>
          <p:cNvPr name="AutoShape 14" id="14"/>
          <p:cNvSpPr/>
          <p:nvPr/>
        </p:nvSpPr>
        <p:spPr>
          <a:xfrm rot="7560">
            <a:off x="6980168" y="3802266"/>
            <a:ext cx="4327655" cy="0"/>
          </a:xfrm>
          <a:prstGeom prst="line">
            <a:avLst/>
          </a:prstGeom>
          <a:ln cap="rnd" w="9525">
            <a:solidFill>
              <a:srgbClr val="D3DCD9"/>
            </a:solidFill>
            <a:prstDash val="solid"/>
            <a:headEnd type="none" len="sm" w="sm"/>
            <a:tailEnd type="none" len="sm" w="sm"/>
          </a:ln>
        </p:spPr>
      </p:sp>
      <p:sp>
        <p:nvSpPr>
          <p:cNvPr name="TextBox 15" id="15"/>
          <p:cNvSpPr txBox="true"/>
          <p:nvPr/>
        </p:nvSpPr>
        <p:spPr>
          <a:xfrm rot="0">
            <a:off x="6994474" y="3859416"/>
            <a:ext cx="442802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Do not share bottles, utensils or toothbrushes.</a:t>
            </a:r>
          </a:p>
        </p:txBody>
      </p:sp>
      <p:sp>
        <p:nvSpPr>
          <p:cNvPr name="AutoShape 16" id="16"/>
          <p:cNvSpPr/>
          <p:nvPr/>
        </p:nvSpPr>
        <p:spPr>
          <a:xfrm rot="7560">
            <a:off x="6980168" y="4916691"/>
            <a:ext cx="4327655" cy="0"/>
          </a:xfrm>
          <a:prstGeom prst="line">
            <a:avLst/>
          </a:prstGeom>
          <a:ln cap="rnd" w="9525">
            <a:solidFill>
              <a:srgbClr val="D3DCD9"/>
            </a:solidFill>
            <a:prstDash val="solid"/>
            <a:headEnd type="none" len="sm" w="sm"/>
            <a:tailEnd type="none" len="sm" w="sm"/>
          </a:ln>
        </p:spPr>
      </p:sp>
      <p:sp>
        <p:nvSpPr>
          <p:cNvPr name="TextBox 17" id="17"/>
          <p:cNvSpPr txBox="true"/>
          <p:nvPr/>
        </p:nvSpPr>
        <p:spPr>
          <a:xfrm rot="0">
            <a:off x="6994474" y="4973841"/>
            <a:ext cx="442802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Stay home when seriously unwell and tell a parent or teacher.</a:t>
            </a:r>
          </a:p>
        </p:txBody>
      </p:sp>
      <p:sp>
        <p:nvSpPr>
          <p:cNvPr name="Freeform 18" id="18"/>
          <p:cNvSpPr/>
          <p:nvPr/>
        </p:nvSpPr>
        <p:spPr>
          <a:xfrm flipH="false" flipV="false" rot="0">
            <a:off x="11985279" y="2808094"/>
            <a:ext cx="5087112" cy="4588669"/>
          </a:xfrm>
          <a:custGeom>
            <a:avLst/>
            <a:gdLst/>
            <a:ahLst/>
            <a:cxnLst/>
            <a:rect r="r" b="b" t="t" l="l"/>
            <a:pathLst>
              <a:path h="4588669" w="5087112">
                <a:moveTo>
                  <a:pt x="0" y="0"/>
                </a:moveTo>
                <a:lnTo>
                  <a:pt x="5087112" y="0"/>
                </a:lnTo>
                <a:lnTo>
                  <a:pt x="5087112" y="4588669"/>
                </a:lnTo>
                <a:lnTo>
                  <a:pt x="0" y="4588669"/>
                </a:lnTo>
                <a:lnTo>
                  <a:pt x="0" y="0"/>
                </a:lnTo>
                <a:close/>
              </a:path>
            </a:pathLst>
          </a:custGeom>
          <a:blipFill>
            <a:blip r:embed="rId3">
              <a:extLst>
                <a:ext uri="{96DAC541-7B7A-43D3-8B79-37D633B846F1}">
                  <asvg:svgBlip xmlns:asvg="http://schemas.microsoft.com/office/drawing/2016/SVG/main" r:embed="rId4"/>
                </a:ext>
              </a:extLst>
            </a:blip>
            <a:stretch>
              <a:fillRect l="-60" t="0" r="-60" b="0"/>
            </a:stretch>
          </a:blipFill>
        </p:spPr>
      </p:sp>
      <p:sp>
        <p:nvSpPr>
          <p:cNvPr name="TextBox 19" id="19"/>
          <p:cNvSpPr txBox="true"/>
          <p:nvPr/>
        </p:nvSpPr>
        <p:spPr>
          <a:xfrm rot="0">
            <a:off x="12379376" y="3202191"/>
            <a:ext cx="4427868"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Clean environment</a:t>
            </a:r>
          </a:p>
        </p:txBody>
      </p:sp>
      <p:sp>
        <p:nvSpPr>
          <p:cNvPr name="AutoShape 20" id="20"/>
          <p:cNvSpPr/>
          <p:nvPr/>
        </p:nvSpPr>
        <p:spPr>
          <a:xfrm rot="7560">
            <a:off x="12365060" y="3802266"/>
            <a:ext cx="4327503" cy="0"/>
          </a:xfrm>
          <a:prstGeom prst="line">
            <a:avLst/>
          </a:prstGeom>
          <a:ln cap="rnd" w="9525">
            <a:solidFill>
              <a:srgbClr val="D3DCD9"/>
            </a:solidFill>
            <a:prstDash val="solid"/>
            <a:headEnd type="none" len="sm" w="sm"/>
            <a:tailEnd type="none" len="sm" w="sm"/>
          </a:ln>
        </p:spPr>
      </p:sp>
      <p:sp>
        <p:nvSpPr>
          <p:cNvPr name="TextBox 21" id="21"/>
          <p:cNvSpPr txBox="true"/>
          <p:nvPr/>
        </p:nvSpPr>
        <p:spPr>
          <a:xfrm rot="0">
            <a:off x="12379376" y="3859416"/>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Keep desks, touched surfaces and shared materials clean.</a:t>
            </a:r>
          </a:p>
        </p:txBody>
      </p:sp>
      <p:sp>
        <p:nvSpPr>
          <p:cNvPr name="AutoShape 22" id="22"/>
          <p:cNvSpPr/>
          <p:nvPr/>
        </p:nvSpPr>
        <p:spPr>
          <a:xfrm rot="7560">
            <a:off x="12365060" y="4916691"/>
            <a:ext cx="4327503" cy="0"/>
          </a:xfrm>
          <a:prstGeom prst="line">
            <a:avLst/>
          </a:prstGeom>
          <a:ln cap="rnd" w="9525">
            <a:solidFill>
              <a:srgbClr val="D3DCD9"/>
            </a:solidFill>
            <a:prstDash val="solid"/>
            <a:headEnd type="none" len="sm" w="sm"/>
            <a:tailEnd type="none" len="sm" w="sm"/>
          </a:ln>
        </p:spPr>
      </p:sp>
      <p:sp>
        <p:nvSpPr>
          <p:cNvPr name="TextBox 23" id="23"/>
          <p:cNvSpPr txBox="true"/>
          <p:nvPr/>
        </p:nvSpPr>
        <p:spPr>
          <a:xfrm rot="0">
            <a:off x="12379376" y="4973841"/>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Use safe water; keep toilets and handwashing points clean.</a:t>
            </a:r>
          </a:p>
        </p:txBody>
      </p:sp>
      <p:sp>
        <p:nvSpPr>
          <p:cNvPr name="TextBox 24" id="24"/>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5" id="25"/>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07 · SAFE FOOD &amp; WATER PRACTICES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Safe water and clean food, every school day</a:t>
            </a:r>
          </a:p>
        </p:txBody>
      </p:sp>
      <p:sp>
        <p:nvSpPr>
          <p:cNvPr name="Freeform 4" id="4"/>
          <p:cNvSpPr/>
          <p:nvPr/>
        </p:nvSpPr>
        <p:spPr>
          <a:xfrm flipH="false" flipV="false" rot="0">
            <a:off x="1215628" y="2808094"/>
            <a:ext cx="5087112" cy="4188619"/>
          </a:xfrm>
          <a:custGeom>
            <a:avLst/>
            <a:gdLst/>
            <a:ahLst/>
            <a:cxnLst/>
            <a:rect r="r" b="b" t="t" l="l"/>
            <a:pathLst>
              <a:path h="4188619" w="5087112">
                <a:moveTo>
                  <a:pt x="0" y="0"/>
                </a:moveTo>
                <a:lnTo>
                  <a:pt x="5087112" y="0"/>
                </a:lnTo>
                <a:lnTo>
                  <a:pt x="5087112" y="4188619"/>
                </a:lnTo>
                <a:lnTo>
                  <a:pt x="0" y="4188619"/>
                </a:lnTo>
                <a:lnTo>
                  <a:pt x="0" y="0"/>
                </a:lnTo>
                <a:close/>
              </a:path>
            </a:pathLst>
          </a:custGeom>
          <a:blipFill>
            <a:blip r:embed="rId3">
              <a:extLst>
                <a:ext uri="{96DAC541-7B7A-43D3-8B79-37D633B846F1}">
                  <asvg:svgBlip xmlns:asvg="http://schemas.microsoft.com/office/drawing/2016/SVG/main" r:embed="rId4"/>
                </a:ext>
              </a:extLst>
            </a:blip>
            <a:stretch>
              <a:fillRect l="-57" t="0" r="-57" b="0"/>
            </a:stretch>
          </a:blipFill>
        </p:spPr>
      </p:sp>
      <p:sp>
        <p:nvSpPr>
          <p:cNvPr name="TextBox 5" id="5"/>
          <p:cNvSpPr txBox="true"/>
          <p:nvPr/>
        </p:nvSpPr>
        <p:spPr>
          <a:xfrm rot="0">
            <a:off x="1609725" y="3202191"/>
            <a:ext cx="4427868"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Water</a:t>
            </a:r>
          </a:p>
        </p:txBody>
      </p:sp>
      <p:sp>
        <p:nvSpPr>
          <p:cNvPr name="AutoShape 6" id="6"/>
          <p:cNvSpPr/>
          <p:nvPr/>
        </p:nvSpPr>
        <p:spPr>
          <a:xfrm rot="7560">
            <a:off x="1595409" y="3802266"/>
            <a:ext cx="4327503" cy="0"/>
          </a:xfrm>
          <a:prstGeom prst="line">
            <a:avLst/>
          </a:prstGeom>
          <a:ln cap="rnd" w="9525">
            <a:solidFill>
              <a:srgbClr val="D3DCD9"/>
            </a:solidFill>
            <a:prstDash val="solid"/>
            <a:headEnd type="none" len="sm" w="sm"/>
            <a:tailEnd type="none" len="sm" w="sm"/>
          </a:ln>
        </p:spPr>
      </p:sp>
      <p:sp>
        <p:nvSpPr>
          <p:cNvPr name="TextBox 7" id="7"/>
          <p:cNvSpPr txBox="true"/>
          <p:nvPr/>
        </p:nvSpPr>
        <p:spPr>
          <a:xfrm rot="0">
            <a:off x="1609725" y="3859416"/>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Drink only from a safe, trusted source.</a:t>
            </a:r>
          </a:p>
        </p:txBody>
      </p:sp>
      <p:sp>
        <p:nvSpPr>
          <p:cNvPr name="AutoShape 8" id="8"/>
          <p:cNvSpPr/>
          <p:nvPr/>
        </p:nvSpPr>
        <p:spPr>
          <a:xfrm rot="7560">
            <a:off x="1595409" y="4916691"/>
            <a:ext cx="4327503" cy="0"/>
          </a:xfrm>
          <a:prstGeom prst="line">
            <a:avLst/>
          </a:prstGeom>
          <a:ln cap="rnd" w="9525">
            <a:solidFill>
              <a:srgbClr val="D3DCD9"/>
            </a:solidFill>
            <a:prstDash val="solid"/>
            <a:headEnd type="none" len="sm" w="sm"/>
            <a:tailEnd type="none" len="sm" w="sm"/>
          </a:ln>
        </p:spPr>
      </p:sp>
      <p:sp>
        <p:nvSpPr>
          <p:cNvPr name="TextBox 9" id="9"/>
          <p:cNvSpPr txBox="true"/>
          <p:nvPr/>
        </p:nvSpPr>
        <p:spPr>
          <a:xfrm rot="0">
            <a:off x="1609725" y="4973841"/>
            <a:ext cx="4427868"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Keep your bottle clean and never share it.</a:t>
            </a:r>
          </a:p>
        </p:txBody>
      </p:sp>
      <p:sp>
        <p:nvSpPr>
          <p:cNvPr name="Freeform 10" id="10"/>
          <p:cNvSpPr/>
          <p:nvPr/>
        </p:nvSpPr>
        <p:spPr>
          <a:xfrm flipH="false" flipV="false" rot="0">
            <a:off x="6600377" y="2808094"/>
            <a:ext cx="5087303" cy="4188619"/>
          </a:xfrm>
          <a:custGeom>
            <a:avLst/>
            <a:gdLst/>
            <a:ahLst/>
            <a:cxnLst/>
            <a:rect r="r" b="b" t="t" l="l"/>
            <a:pathLst>
              <a:path h="4188619" w="5087303">
                <a:moveTo>
                  <a:pt x="0" y="0"/>
                </a:moveTo>
                <a:lnTo>
                  <a:pt x="5087303" y="0"/>
                </a:lnTo>
                <a:lnTo>
                  <a:pt x="5087303" y="4188619"/>
                </a:lnTo>
                <a:lnTo>
                  <a:pt x="0" y="4188619"/>
                </a:lnTo>
                <a:lnTo>
                  <a:pt x="0" y="0"/>
                </a:lnTo>
                <a:close/>
              </a:path>
            </a:pathLst>
          </a:custGeom>
          <a:blipFill>
            <a:blip r:embed="rId5">
              <a:extLst>
                <a:ext uri="{96DAC541-7B7A-43D3-8B79-37D633B846F1}">
                  <asvg:svgBlip xmlns:asvg="http://schemas.microsoft.com/office/drawing/2016/SVG/main" r:embed="rId6"/>
                </a:ext>
              </a:extLst>
            </a:blip>
            <a:stretch>
              <a:fillRect l="-55" t="0" r="-55" b="0"/>
            </a:stretch>
          </a:blipFill>
        </p:spPr>
      </p:sp>
      <p:sp>
        <p:nvSpPr>
          <p:cNvPr name="TextBox 11" id="11"/>
          <p:cNvSpPr txBox="true"/>
          <p:nvPr/>
        </p:nvSpPr>
        <p:spPr>
          <a:xfrm rot="0">
            <a:off x="6994474" y="3202191"/>
            <a:ext cx="4428020"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Food</a:t>
            </a:r>
          </a:p>
        </p:txBody>
      </p:sp>
      <p:sp>
        <p:nvSpPr>
          <p:cNvPr name="AutoShape 12" id="12"/>
          <p:cNvSpPr/>
          <p:nvPr/>
        </p:nvSpPr>
        <p:spPr>
          <a:xfrm rot="7560">
            <a:off x="6980168" y="3802266"/>
            <a:ext cx="4327655" cy="0"/>
          </a:xfrm>
          <a:prstGeom prst="line">
            <a:avLst/>
          </a:prstGeom>
          <a:ln cap="rnd" w="9525">
            <a:solidFill>
              <a:srgbClr val="D3DCD9"/>
            </a:solidFill>
            <a:prstDash val="solid"/>
            <a:headEnd type="none" len="sm" w="sm"/>
            <a:tailEnd type="none" len="sm" w="sm"/>
          </a:ln>
        </p:spPr>
      </p:sp>
      <p:sp>
        <p:nvSpPr>
          <p:cNvPr name="TextBox 13" id="13"/>
          <p:cNvSpPr txBox="true"/>
          <p:nvPr/>
        </p:nvSpPr>
        <p:spPr>
          <a:xfrm rot="0">
            <a:off x="6994474" y="3859416"/>
            <a:ext cx="4428020" cy="55245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Wash hands before eating.</a:t>
            </a:r>
          </a:p>
        </p:txBody>
      </p:sp>
      <p:sp>
        <p:nvSpPr>
          <p:cNvPr name="AutoShape 14" id="14"/>
          <p:cNvSpPr/>
          <p:nvPr/>
        </p:nvSpPr>
        <p:spPr>
          <a:xfrm rot="7560">
            <a:off x="6980168" y="4516641"/>
            <a:ext cx="4327655" cy="0"/>
          </a:xfrm>
          <a:prstGeom prst="line">
            <a:avLst/>
          </a:prstGeom>
          <a:ln cap="rnd" w="9525">
            <a:solidFill>
              <a:srgbClr val="D3DCD9"/>
            </a:solidFill>
            <a:prstDash val="solid"/>
            <a:headEnd type="none" len="sm" w="sm"/>
            <a:tailEnd type="none" len="sm" w="sm"/>
          </a:ln>
        </p:spPr>
      </p:sp>
      <p:sp>
        <p:nvSpPr>
          <p:cNvPr name="TextBox 15" id="15"/>
          <p:cNvSpPr txBox="true"/>
          <p:nvPr/>
        </p:nvSpPr>
        <p:spPr>
          <a:xfrm rot="0">
            <a:off x="6994474" y="4573791"/>
            <a:ext cx="442802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Keep lunch boxes clean and covered.</a:t>
            </a:r>
          </a:p>
        </p:txBody>
      </p:sp>
      <p:sp>
        <p:nvSpPr>
          <p:cNvPr name="AutoShape 16" id="16"/>
          <p:cNvSpPr/>
          <p:nvPr/>
        </p:nvSpPr>
        <p:spPr>
          <a:xfrm rot="7560">
            <a:off x="6980168" y="5631066"/>
            <a:ext cx="4327655" cy="0"/>
          </a:xfrm>
          <a:prstGeom prst="line">
            <a:avLst/>
          </a:prstGeom>
          <a:ln cap="rnd" w="9525">
            <a:solidFill>
              <a:srgbClr val="D3DCD9"/>
            </a:solidFill>
            <a:prstDash val="solid"/>
            <a:headEnd type="none" len="sm" w="sm"/>
            <a:tailEnd type="none" len="sm" w="sm"/>
          </a:ln>
        </p:spPr>
      </p:sp>
      <p:sp>
        <p:nvSpPr>
          <p:cNvPr name="TextBox 17" id="17"/>
          <p:cNvSpPr txBox="true"/>
          <p:nvPr/>
        </p:nvSpPr>
        <p:spPr>
          <a:xfrm rot="0">
            <a:off x="6994474" y="5688216"/>
            <a:ext cx="442802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Wash fruit and vegetables; avoid spoiled food.</a:t>
            </a:r>
          </a:p>
        </p:txBody>
      </p:sp>
      <p:sp>
        <p:nvSpPr>
          <p:cNvPr name="Freeform 18" id="18"/>
          <p:cNvSpPr/>
          <p:nvPr/>
        </p:nvSpPr>
        <p:spPr>
          <a:xfrm flipH="false" flipV="false" rot="0">
            <a:off x="11985279" y="2808094"/>
            <a:ext cx="5087112" cy="4188619"/>
          </a:xfrm>
          <a:custGeom>
            <a:avLst/>
            <a:gdLst/>
            <a:ahLst/>
            <a:cxnLst/>
            <a:rect r="r" b="b" t="t" l="l"/>
            <a:pathLst>
              <a:path h="4188619" w="5087112">
                <a:moveTo>
                  <a:pt x="0" y="0"/>
                </a:moveTo>
                <a:lnTo>
                  <a:pt x="5087112" y="0"/>
                </a:lnTo>
                <a:lnTo>
                  <a:pt x="5087112" y="4188619"/>
                </a:lnTo>
                <a:lnTo>
                  <a:pt x="0" y="4188619"/>
                </a:lnTo>
                <a:lnTo>
                  <a:pt x="0" y="0"/>
                </a:lnTo>
                <a:close/>
              </a:path>
            </a:pathLst>
          </a:custGeom>
          <a:blipFill>
            <a:blip r:embed="rId7">
              <a:extLst>
                <a:ext uri="{96DAC541-7B7A-43D3-8B79-37D633B846F1}">
                  <asvg:svgBlip xmlns:asvg="http://schemas.microsoft.com/office/drawing/2016/SVG/main" r:embed="rId8"/>
                </a:ext>
              </a:extLst>
            </a:blip>
            <a:stretch>
              <a:fillRect l="-57" t="0" r="-57" b="0"/>
            </a:stretch>
          </a:blipFill>
        </p:spPr>
      </p:sp>
      <p:sp>
        <p:nvSpPr>
          <p:cNvPr name="TextBox 19" id="19"/>
          <p:cNvSpPr txBox="true"/>
          <p:nvPr/>
        </p:nvSpPr>
        <p:spPr>
          <a:xfrm rot="0">
            <a:off x="12379376" y="3202191"/>
            <a:ext cx="4427868" cy="495300"/>
          </a:xfrm>
          <a:prstGeom prst="rect">
            <a:avLst/>
          </a:prstGeom>
        </p:spPr>
        <p:txBody>
          <a:bodyPr anchor="t" rtlCol="false" tIns="0" lIns="0" bIns="0" rIns="0">
            <a:spAutoFit/>
          </a:bodyPr>
          <a:lstStyle/>
          <a:p>
            <a:pPr algn="l">
              <a:lnSpc>
                <a:spcPts val="3600"/>
              </a:lnSpc>
            </a:pPr>
            <a:r>
              <a:rPr lang="en-US" sz="3000" b="true">
                <a:solidFill>
                  <a:srgbClr val="7FD1C0"/>
                </a:solidFill>
                <a:latin typeface="Source Serif Pro Bold"/>
                <a:ea typeface="Source Serif Pro Bold"/>
                <a:cs typeface="Source Serif Pro Bold"/>
                <a:sym typeface="Source Serif Pro Bold"/>
              </a:rPr>
              <a:t>Speak up</a:t>
            </a:r>
          </a:p>
        </p:txBody>
      </p:sp>
      <p:sp>
        <p:nvSpPr>
          <p:cNvPr name="AutoShape 20" id="20"/>
          <p:cNvSpPr/>
          <p:nvPr/>
        </p:nvSpPr>
        <p:spPr>
          <a:xfrm rot="7560">
            <a:off x="12365060" y="3802266"/>
            <a:ext cx="4327503" cy="0"/>
          </a:xfrm>
          <a:prstGeom prst="line">
            <a:avLst/>
          </a:prstGeom>
          <a:ln cap="rnd" w="9525">
            <a:solidFill>
              <a:srgbClr val="2E4B66"/>
            </a:solidFill>
            <a:prstDash val="solid"/>
            <a:headEnd type="none" len="sm" w="sm"/>
            <a:tailEnd type="none" len="sm" w="sm"/>
          </a:ln>
        </p:spPr>
      </p:sp>
      <p:sp>
        <p:nvSpPr>
          <p:cNvPr name="TextBox 21" id="21"/>
          <p:cNvSpPr txBox="true"/>
          <p:nvPr/>
        </p:nvSpPr>
        <p:spPr>
          <a:xfrm rot="0">
            <a:off x="12379376" y="3859416"/>
            <a:ext cx="4427868" cy="1352550"/>
          </a:xfrm>
          <a:prstGeom prst="rect">
            <a:avLst/>
          </a:prstGeom>
        </p:spPr>
        <p:txBody>
          <a:bodyPr anchor="t" rtlCol="false" tIns="0" lIns="0" bIns="0" rIns="0">
            <a:spAutoFit/>
          </a:bodyPr>
          <a:lstStyle/>
          <a:p>
            <a:pPr algn="l">
              <a:lnSpc>
                <a:spcPts val="3149"/>
              </a:lnSpc>
            </a:pPr>
            <a:r>
              <a:rPr lang="en-US" sz="2250">
                <a:solidFill>
                  <a:srgbClr val="D8E6E3"/>
                </a:solidFill>
                <a:latin typeface="IBM Plex Sans"/>
                <a:ea typeface="IBM Plex Sans"/>
                <a:cs typeface="IBM Plex Sans"/>
                <a:sym typeface="IBM Plex Sans"/>
              </a:rPr>
              <a:t>Tell a teacher about unsafe water, dirty toilets or unhygienic food areas.</a:t>
            </a:r>
          </a:p>
        </p:txBody>
      </p:sp>
      <p:sp>
        <p:nvSpPr>
          <p:cNvPr name="TextBox 22" id="22"/>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3" id="23"/>
          <p:cNvSpPr txBox="true"/>
          <p:nvPr/>
        </p:nvSpPr>
        <p:spPr>
          <a:xfrm rot="0">
            <a:off x="16931583" y="9241184"/>
            <a:ext cx="21341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9</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08 · SCHOOL-BASED EDUCATION ACTIVITIES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Learning by doing, not by listening</a:t>
            </a:r>
          </a:p>
        </p:txBody>
      </p:sp>
      <p:graphicFrame>
        <p:nvGraphicFramePr>
          <p:cNvPr name="Table 4" id="4"/>
          <p:cNvGraphicFramePr>
            <a:graphicFrameLocks noGrp="true"/>
          </p:cNvGraphicFramePr>
          <p:nvPr/>
        </p:nvGraphicFramePr>
        <p:xfrm>
          <a:off x="1219200" y="2811662"/>
          <a:ext cx="15798800" cy="5486400"/>
        </p:xfrm>
        <a:graphic>
          <a:graphicData uri="http://schemas.openxmlformats.org/drawingml/2006/table">
            <a:tbl>
              <a:tblPr/>
              <a:tblGrid>
                <a:gridCol w="5712219"/>
                <a:gridCol w="10086581"/>
              </a:tblGrid>
              <a:tr h="685800">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Activity</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14304A"/>
                    </a:solidFill>
                  </a:tcPr>
                </a:tc>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What children do</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14304A"/>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Handwashing demonstration</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Live, step-by-step practice with soap and water</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Hygiene quiz</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Simple questions and answers on the key messages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Poster competition</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“Clean Hands, Healthy School” posters for display</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Cough &amp; sneeze etiquette</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Demonstration of the tissue and elbow technique</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Role-play</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How infections spread, and how hygiene stops them</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Hygiene checklist</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A take-home checklist for school and home</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0B6E60"/>
                          </a:solidFill>
                          <a:latin typeface="IBM Plex Sans"/>
                          <a:ea typeface="IBM Plex Sans"/>
                          <a:cs typeface="IBM Plex Sans"/>
                          <a:sym typeface="IBM Plex Sans"/>
                        </a:rPr>
                        <a:t>Teacher reminders</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5-minute reminders after the main session</a:t>
                      </a:r>
                      <a:endParaRPr lang="en-US" sz="1100"/>
                    </a:p>
                  </a:txBody>
                  <a:tcPr marL="152400" marR="152400" marT="152400" marB="152400" anchor="t">
                    <a:lnL cmpd="sng" algn="ctr" cap="flat" w="12700">
                      <a:solidFill>
                        <a:srgbClr val="C5CACD"/>
                      </a:solidFill>
                      <a:prstDash val="solid"/>
                      <a:round/>
                      <a:headEnd type="none" w="med" len="med"/>
                      <a:tailEnd type="none" w="med" len="med"/>
                    </a:lnL>
                    <a:lnR cmpd="sng" algn="ctr" cap="flat" w="12700">
                      <a:solidFill>
                        <a:srgbClr val="C5CACD"/>
                      </a:solidFill>
                      <a:prstDash val="solid"/>
                      <a:round/>
                      <a:headEnd type="none" w="med" len="med"/>
                      <a:tailEnd type="none" w="med" len="med"/>
                    </a:lnR>
                    <a:lnT cmpd="sng" algn="ctr" cap="flat" w="12700">
                      <a:solidFill>
                        <a:srgbClr val="C5CACD"/>
                      </a:solidFill>
                      <a:prstDash val="solid"/>
                      <a:round/>
                      <a:headEnd type="none" w="med" len="med"/>
                      <a:tailEnd type="none" w="med" len="med"/>
                    </a:lnT>
                    <a:lnB cmpd="sng" algn="ctr" cap="flat" w="12700">
                      <a:solidFill>
                        <a:srgbClr val="C5CACD"/>
                      </a:solidFill>
                      <a:prstDash val="solid"/>
                      <a:round/>
                      <a:headEnd type="none" w="med" len="med"/>
                      <a:tailEnd type="none" w="med" len="med"/>
                    </a:lnB>
                    <a:solidFill>
                      <a:srgbClr val="FDFDFB"/>
                    </a:solidFill>
                  </a:tcPr>
                </a:tc>
              </a:tr>
            </a:tbl>
          </a:graphicData>
        </a:graphic>
      </p:graphicFrame>
      <p:sp>
        <p:nvSpPr>
          <p:cNvPr name="TextBox 5" id="5"/>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6" id="6"/>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08 · ACTIVITIES IN PRACTICE</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Hygiene education in the classroom</a:t>
            </a:r>
          </a:p>
        </p:txBody>
      </p:sp>
      <p:grpSp>
        <p:nvGrpSpPr>
          <p:cNvPr name="Group 4" id="4"/>
          <p:cNvGrpSpPr/>
          <p:nvPr/>
        </p:nvGrpSpPr>
        <p:grpSpPr>
          <a:xfrm rot="0">
            <a:off x="978328" y="2937272"/>
            <a:ext cx="2466975" cy="3810000"/>
            <a:chOff x="0" y="0"/>
            <a:chExt cx="3289300" cy="5080000"/>
          </a:xfrm>
        </p:grpSpPr>
        <p:sp>
          <p:nvSpPr>
            <p:cNvPr name="Freeform 5" id="5" descr="Handwashing steps poster"/>
            <p:cNvSpPr/>
            <p:nvPr/>
          </p:nvSpPr>
          <p:spPr>
            <a:xfrm flipH="false" flipV="false" rot="0">
              <a:off x="0" y="0"/>
              <a:ext cx="3289300" cy="5080000"/>
            </a:xfrm>
            <a:custGeom>
              <a:avLst/>
              <a:gdLst/>
              <a:ahLst/>
              <a:cxnLst/>
              <a:rect r="r" b="b" t="t" l="l"/>
              <a:pathLst>
                <a:path h="5080000" w="3289300">
                  <a:moveTo>
                    <a:pt x="0" y="0"/>
                  </a:moveTo>
                  <a:lnTo>
                    <a:pt x="3289300" y="0"/>
                  </a:lnTo>
                  <a:lnTo>
                    <a:pt x="3289300" y="5080000"/>
                  </a:lnTo>
                  <a:lnTo>
                    <a:pt x="0" y="5080000"/>
                  </a:lnTo>
                  <a:lnTo>
                    <a:pt x="0" y="0"/>
                  </a:lnTo>
                  <a:close/>
                </a:path>
              </a:pathLst>
            </a:custGeom>
            <a:blipFill>
              <a:blip r:embed="rId3"/>
              <a:stretch>
                <a:fillRect l="-148289" t="0" r="-148290" b="0"/>
              </a:stretch>
            </a:blipFill>
          </p:spPr>
        </p:sp>
      </p:grpSp>
      <p:sp>
        <p:nvSpPr>
          <p:cNvPr name="TextBox 6" id="6"/>
          <p:cNvSpPr txBox="true"/>
          <p:nvPr/>
        </p:nvSpPr>
        <p:spPr>
          <a:xfrm rot="0">
            <a:off x="1219200" y="6823472"/>
            <a:ext cx="2543175" cy="792366"/>
          </a:xfrm>
          <a:prstGeom prst="rect">
            <a:avLst/>
          </a:prstGeom>
        </p:spPr>
        <p:txBody>
          <a:bodyPr anchor="t" rtlCol="false" tIns="0" lIns="0" bIns="0" rIns="0">
            <a:spAutoFit/>
          </a:bodyPr>
          <a:lstStyle/>
          <a:p>
            <a:pPr algn="l">
              <a:lnSpc>
                <a:spcPts val="2520"/>
              </a:lnSpc>
            </a:pPr>
            <a:r>
              <a:rPr lang="en-US" sz="1800">
                <a:solidFill>
                  <a:srgbClr val="3F4B57"/>
                </a:solidFill>
                <a:latin typeface="IBM Plex Sans"/>
                <a:ea typeface="IBM Plex Sans"/>
                <a:cs typeface="IBM Plex Sans"/>
                <a:sym typeface="IBM Plex Sans"/>
              </a:rPr>
              <a:t>“Give me five” handwashing poster</a:t>
            </a:r>
          </a:p>
        </p:txBody>
      </p:sp>
      <p:grpSp>
        <p:nvGrpSpPr>
          <p:cNvPr name="Group 7" id="7"/>
          <p:cNvGrpSpPr/>
          <p:nvPr/>
        </p:nvGrpSpPr>
        <p:grpSpPr>
          <a:xfrm rot="0">
            <a:off x="3938207" y="2887866"/>
            <a:ext cx="2990850" cy="3703287"/>
            <a:chOff x="0" y="0"/>
            <a:chExt cx="3987800" cy="4937716"/>
          </a:xfrm>
        </p:grpSpPr>
        <p:sp>
          <p:nvSpPr>
            <p:cNvPr name="Freeform 8" id="8" descr="Children at a healthy habits activity table"/>
            <p:cNvSpPr/>
            <p:nvPr/>
          </p:nvSpPr>
          <p:spPr>
            <a:xfrm flipH="false" flipV="false" rot="0">
              <a:off x="0" y="0"/>
              <a:ext cx="3987800" cy="4937716"/>
            </a:xfrm>
            <a:custGeom>
              <a:avLst/>
              <a:gdLst/>
              <a:ahLst/>
              <a:cxnLst/>
              <a:rect r="r" b="b" t="t" l="l"/>
              <a:pathLst>
                <a:path h="4937716" w="3987800">
                  <a:moveTo>
                    <a:pt x="0" y="0"/>
                  </a:moveTo>
                  <a:lnTo>
                    <a:pt x="3987800" y="0"/>
                  </a:lnTo>
                  <a:lnTo>
                    <a:pt x="3987800" y="4937716"/>
                  </a:lnTo>
                  <a:lnTo>
                    <a:pt x="0" y="4937716"/>
                  </a:lnTo>
                  <a:lnTo>
                    <a:pt x="0" y="0"/>
                  </a:lnTo>
                  <a:close/>
                </a:path>
              </a:pathLst>
            </a:custGeom>
            <a:blipFill>
              <a:blip r:embed="rId3"/>
              <a:stretch>
                <a:fillRect l="-108976" t="0" r="-108976" b="0"/>
              </a:stretch>
            </a:blipFill>
          </p:spPr>
        </p:sp>
      </p:grpSp>
      <p:sp>
        <p:nvSpPr>
          <p:cNvPr name="TextBox 9" id="9"/>
          <p:cNvSpPr txBox="true"/>
          <p:nvPr/>
        </p:nvSpPr>
        <p:spPr>
          <a:xfrm rot="0">
            <a:off x="4090002" y="6774066"/>
            <a:ext cx="3080576" cy="792366"/>
          </a:xfrm>
          <a:prstGeom prst="rect">
            <a:avLst/>
          </a:prstGeom>
        </p:spPr>
        <p:txBody>
          <a:bodyPr anchor="t" rtlCol="false" tIns="0" lIns="0" bIns="0" rIns="0">
            <a:spAutoFit/>
          </a:bodyPr>
          <a:lstStyle/>
          <a:p>
            <a:pPr algn="l">
              <a:lnSpc>
                <a:spcPts val="2520"/>
              </a:lnSpc>
            </a:pPr>
            <a:r>
              <a:rPr lang="en-US" sz="1800">
                <a:solidFill>
                  <a:srgbClr val="3F4B57"/>
                </a:solidFill>
                <a:latin typeface="IBM Plex Sans"/>
                <a:ea typeface="IBM Plex Sans"/>
                <a:cs typeface="IBM Plex Sans"/>
                <a:sym typeface="IBM Plex Sans"/>
              </a:rPr>
              <a:t>Healthy-habits activity corner</a:t>
            </a:r>
          </a:p>
        </p:txBody>
      </p:sp>
      <p:grpSp>
        <p:nvGrpSpPr>
          <p:cNvPr name="Group 10" id="10"/>
          <p:cNvGrpSpPr/>
          <p:nvPr/>
        </p:nvGrpSpPr>
        <p:grpSpPr>
          <a:xfrm rot="0">
            <a:off x="7491032" y="2781152"/>
            <a:ext cx="3781425" cy="3810000"/>
            <a:chOff x="0" y="0"/>
            <a:chExt cx="5041900" cy="5080000"/>
          </a:xfrm>
        </p:grpSpPr>
        <p:sp>
          <p:nvSpPr>
            <p:cNvPr name="Freeform 11" id="11"/>
            <p:cNvSpPr/>
            <p:nvPr/>
          </p:nvSpPr>
          <p:spPr>
            <a:xfrm flipH="false" flipV="false" rot="0">
              <a:off x="0" y="0"/>
              <a:ext cx="5041900" cy="5080000"/>
            </a:xfrm>
            <a:custGeom>
              <a:avLst/>
              <a:gdLst/>
              <a:ahLst/>
              <a:cxnLst/>
              <a:rect r="r" b="b" t="t" l="l"/>
              <a:pathLst>
                <a:path h="5080000" w="5041900">
                  <a:moveTo>
                    <a:pt x="0" y="0"/>
                  </a:moveTo>
                  <a:lnTo>
                    <a:pt x="5041900" y="0"/>
                  </a:lnTo>
                  <a:lnTo>
                    <a:pt x="5041900" y="5080000"/>
                  </a:lnTo>
                  <a:lnTo>
                    <a:pt x="0" y="5080000"/>
                  </a:lnTo>
                  <a:lnTo>
                    <a:pt x="0" y="0"/>
                  </a:lnTo>
                  <a:close/>
                </a:path>
              </a:pathLst>
            </a:custGeom>
            <a:blipFill>
              <a:blip r:embed="rId4"/>
              <a:stretch>
                <a:fillRect l="-25818" t="0" r="-25818" b="0"/>
              </a:stretch>
            </a:blipFill>
          </p:spPr>
        </p:sp>
      </p:grpSp>
      <p:sp>
        <p:nvSpPr>
          <p:cNvPr name="TextBox 12" id="12"/>
          <p:cNvSpPr txBox="true"/>
          <p:nvPr/>
        </p:nvSpPr>
        <p:spPr>
          <a:xfrm rot="0">
            <a:off x="7943945" y="6730194"/>
            <a:ext cx="3894868" cy="344805"/>
          </a:xfrm>
          <a:prstGeom prst="rect">
            <a:avLst/>
          </a:prstGeom>
        </p:spPr>
        <p:txBody>
          <a:bodyPr anchor="t" rtlCol="false" tIns="0" lIns="0" bIns="0" rIns="0">
            <a:spAutoFit/>
          </a:bodyPr>
          <a:lstStyle/>
          <a:p>
            <a:pPr algn="l">
              <a:lnSpc>
                <a:spcPts val="2520"/>
              </a:lnSpc>
            </a:pPr>
            <a:r>
              <a:rPr lang="en-US" sz="1800">
                <a:solidFill>
                  <a:srgbClr val="3F4B57"/>
                </a:solidFill>
                <a:latin typeface="IBM Plex Sans"/>
                <a:ea typeface="IBM Plex Sans"/>
                <a:cs typeface="IBM Plex Sans"/>
                <a:sym typeface="IBM Plex Sans"/>
              </a:rPr>
              <a:t>"Clean hand"bright future</a:t>
            </a:r>
          </a:p>
        </p:txBody>
      </p:sp>
      <p:grpSp>
        <p:nvGrpSpPr>
          <p:cNvPr name="Group 13" id="13"/>
          <p:cNvGrpSpPr/>
          <p:nvPr/>
        </p:nvGrpSpPr>
        <p:grpSpPr>
          <a:xfrm rot="0">
            <a:off x="11838813" y="2640216"/>
            <a:ext cx="5705475" cy="3810000"/>
            <a:chOff x="0" y="0"/>
            <a:chExt cx="7607300" cy="5080000"/>
          </a:xfrm>
        </p:grpSpPr>
        <p:sp>
          <p:nvSpPr>
            <p:cNvPr name="Freeform 14" id="14"/>
            <p:cNvSpPr/>
            <p:nvPr/>
          </p:nvSpPr>
          <p:spPr>
            <a:xfrm flipH="false" flipV="false" rot="0">
              <a:off x="0" y="0"/>
              <a:ext cx="7607300" cy="5080000"/>
            </a:xfrm>
            <a:custGeom>
              <a:avLst/>
              <a:gdLst/>
              <a:ahLst/>
              <a:cxnLst/>
              <a:rect r="r" b="b" t="t" l="l"/>
              <a:pathLst>
                <a:path h="5080000" w="7607300">
                  <a:moveTo>
                    <a:pt x="0" y="0"/>
                  </a:moveTo>
                  <a:lnTo>
                    <a:pt x="7607300" y="0"/>
                  </a:lnTo>
                  <a:lnTo>
                    <a:pt x="7607300" y="5080000"/>
                  </a:lnTo>
                  <a:lnTo>
                    <a:pt x="0" y="5080000"/>
                  </a:lnTo>
                  <a:lnTo>
                    <a:pt x="0" y="0"/>
                  </a:lnTo>
                  <a:close/>
                </a:path>
              </a:pathLst>
            </a:custGeom>
            <a:blipFill>
              <a:blip r:embed="rId5"/>
              <a:stretch>
                <a:fillRect l="-250" t="0" r="-250" b="0"/>
              </a:stretch>
            </a:blipFill>
          </p:spPr>
        </p:sp>
      </p:grpSp>
      <p:sp>
        <p:nvSpPr>
          <p:cNvPr name="TextBox 15" id="15"/>
          <p:cNvSpPr txBox="true"/>
          <p:nvPr/>
        </p:nvSpPr>
        <p:spPr>
          <a:xfrm rot="0">
            <a:off x="12130057" y="6659766"/>
            <a:ext cx="5876639" cy="472383"/>
          </a:xfrm>
          <a:prstGeom prst="rect">
            <a:avLst/>
          </a:prstGeom>
        </p:spPr>
        <p:txBody>
          <a:bodyPr anchor="t" rtlCol="false" tIns="0" lIns="0" bIns="0" rIns="0">
            <a:spAutoFit/>
          </a:bodyPr>
          <a:lstStyle/>
          <a:p>
            <a:pPr algn="l">
              <a:lnSpc>
                <a:spcPts val="2520"/>
              </a:lnSpc>
            </a:pPr>
            <a:r>
              <a:rPr lang="en-US" sz="1800">
                <a:solidFill>
                  <a:srgbClr val="3F4B57"/>
                </a:solidFill>
                <a:latin typeface="IBM Plex Sans"/>
                <a:ea typeface="IBM Plex Sans"/>
                <a:cs typeface="IBM Plex Sans"/>
                <a:sym typeface="IBM Plex Sans"/>
              </a:rPr>
              <a:t>Students presenting hygiene posters</a:t>
            </a:r>
          </a:p>
        </p:txBody>
      </p:sp>
      <p:sp>
        <p:nvSpPr>
          <p:cNvPr name="TextBox 16" id="16"/>
          <p:cNvSpPr txBox="true"/>
          <p:nvPr/>
        </p:nvSpPr>
        <p:spPr>
          <a:xfrm rot="0">
            <a:off x="1219200" y="7756922"/>
            <a:ext cx="16325088" cy="472383"/>
          </a:xfrm>
          <a:prstGeom prst="rect">
            <a:avLst/>
          </a:prstGeom>
        </p:spPr>
        <p:txBody>
          <a:bodyPr anchor="t" rtlCol="false" tIns="0" lIns="0" bIns="0" rIns="0">
            <a:spAutoFit/>
          </a:bodyPr>
          <a:lstStyle/>
          <a:p>
            <a:pPr algn="l">
              <a:lnSpc>
                <a:spcPts val="2520"/>
              </a:lnSpc>
            </a:pPr>
            <a:r>
              <a:rPr lang="en-US" sz="1800" i="true">
                <a:solidFill>
                  <a:srgbClr val="5B6770"/>
                </a:solidFill>
                <a:latin typeface="IBM Plex Sans Italics"/>
                <a:ea typeface="IBM Plex Sans Italics"/>
                <a:cs typeface="IBM Plex Sans Italics"/>
                <a:sym typeface="IBM Plex Sans Italics"/>
              </a:rPr>
              <a:t>Photographs: hygiene sessions at participating government and private schools, Chakwal District · January–February 2026</a:t>
            </a:r>
          </a:p>
        </p:txBody>
      </p:sp>
      <p:sp>
        <p:nvSpPr>
          <p:cNvPr name="TextBox 17" id="17"/>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18" id="18"/>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11</a:t>
            </a:r>
          </a:p>
        </p:txBody>
      </p:sp>
      <p:grpSp>
        <p:nvGrpSpPr>
          <p:cNvPr name="Group 19" id="19"/>
          <p:cNvGrpSpPr/>
          <p:nvPr/>
        </p:nvGrpSpPr>
        <p:grpSpPr>
          <a:xfrm rot="0">
            <a:off x="978328" y="2937272"/>
            <a:ext cx="2466975" cy="3810000"/>
            <a:chOff x="0" y="0"/>
            <a:chExt cx="3289300" cy="5080000"/>
          </a:xfrm>
        </p:grpSpPr>
        <p:sp>
          <p:nvSpPr>
            <p:cNvPr name="Freeform 20" id="20"/>
            <p:cNvSpPr/>
            <p:nvPr/>
          </p:nvSpPr>
          <p:spPr>
            <a:xfrm flipH="false" flipV="false" rot="0">
              <a:off x="0" y="0"/>
              <a:ext cx="3289300" cy="5080000"/>
            </a:xfrm>
            <a:custGeom>
              <a:avLst/>
              <a:gdLst/>
              <a:ahLst/>
              <a:cxnLst/>
              <a:rect r="r" b="b" t="t" l="l"/>
              <a:pathLst>
                <a:path h="5080000" w="3289300">
                  <a:moveTo>
                    <a:pt x="0" y="0"/>
                  </a:moveTo>
                  <a:lnTo>
                    <a:pt x="3289300" y="0"/>
                  </a:lnTo>
                  <a:lnTo>
                    <a:pt x="3289300" y="5080000"/>
                  </a:lnTo>
                  <a:lnTo>
                    <a:pt x="0" y="5080000"/>
                  </a:lnTo>
                  <a:lnTo>
                    <a:pt x="0" y="0"/>
                  </a:lnTo>
                  <a:close/>
                </a:path>
              </a:pathLst>
            </a:custGeom>
            <a:blipFill>
              <a:blip r:embed="rId6"/>
              <a:stretch>
                <a:fillRect l="-66216" t="0" r="-66216" b="0"/>
              </a:stretch>
            </a:blipFill>
          </p:spPr>
        </p:sp>
      </p:grpSp>
      <p:grpSp>
        <p:nvGrpSpPr>
          <p:cNvPr name="Group 21" id="21"/>
          <p:cNvGrpSpPr/>
          <p:nvPr/>
        </p:nvGrpSpPr>
        <p:grpSpPr>
          <a:xfrm rot="0">
            <a:off x="3938207" y="2887866"/>
            <a:ext cx="2990850" cy="3810000"/>
            <a:chOff x="0" y="0"/>
            <a:chExt cx="3987800" cy="5080000"/>
          </a:xfrm>
        </p:grpSpPr>
        <p:sp>
          <p:nvSpPr>
            <p:cNvPr name="Freeform 22" id="22"/>
            <p:cNvSpPr/>
            <p:nvPr/>
          </p:nvSpPr>
          <p:spPr>
            <a:xfrm flipH="false" flipV="false" rot="0">
              <a:off x="0" y="0"/>
              <a:ext cx="3987800" cy="5080000"/>
            </a:xfrm>
            <a:custGeom>
              <a:avLst/>
              <a:gdLst/>
              <a:ahLst/>
              <a:cxnLst/>
              <a:rect r="r" b="b" t="t" l="l"/>
              <a:pathLst>
                <a:path h="5080000" w="3987800">
                  <a:moveTo>
                    <a:pt x="0" y="0"/>
                  </a:moveTo>
                  <a:lnTo>
                    <a:pt x="3987800" y="0"/>
                  </a:lnTo>
                  <a:lnTo>
                    <a:pt x="3987800" y="5080000"/>
                  </a:lnTo>
                  <a:lnTo>
                    <a:pt x="0" y="5080000"/>
                  </a:lnTo>
                  <a:lnTo>
                    <a:pt x="0" y="0"/>
                  </a:lnTo>
                  <a:close/>
                </a:path>
              </a:pathLst>
            </a:custGeom>
            <a:blipFill>
              <a:blip r:embed="rId7"/>
              <a:stretch>
                <a:fillRect l="-45859" t="0" r="-45859"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09 · IMPLEMENTATION PLAN</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Six phases across 5 government and private schools</a:t>
            </a:r>
          </a:p>
        </p:txBody>
      </p:sp>
      <p:sp>
        <p:nvSpPr>
          <p:cNvPr name="Freeform 4" id="4"/>
          <p:cNvSpPr/>
          <p:nvPr/>
        </p:nvSpPr>
        <p:spPr>
          <a:xfrm flipH="false" flipV="false" rot="0">
            <a:off x="1215628" y="2808094"/>
            <a:ext cx="5087112" cy="2289334"/>
          </a:xfrm>
          <a:custGeom>
            <a:avLst/>
            <a:gdLst/>
            <a:ahLst/>
            <a:cxnLst/>
            <a:rect r="r" b="b" t="t" l="l"/>
            <a:pathLst>
              <a:path h="2289334" w="5087112">
                <a:moveTo>
                  <a:pt x="0" y="0"/>
                </a:moveTo>
                <a:lnTo>
                  <a:pt x="5087112" y="0"/>
                </a:lnTo>
                <a:lnTo>
                  <a:pt x="5087112" y="2289334"/>
                </a:lnTo>
                <a:lnTo>
                  <a:pt x="0" y="2289334"/>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TextBox 5" id="5"/>
          <p:cNvSpPr txBox="true"/>
          <p:nvPr/>
        </p:nvSpPr>
        <p:spPr>
          <a:xfrm rot="0">
            <a:off x="1571625" y="2973591"/>
            <a:ext cx="4506354"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PHASE 1 · WEEK 1</a:t>
            </a:r>
          </a:p>
        </p:txBody>
      </p:sp>
      <p:sp>
        <p:nvSpPr>
          <p:cNvPr name="TextBox 6" id="6"/>
          <p:cNvSpPr txBox="true"/>
          <p:nvPr/>
        </p:nvSpPr>
        <p:spPr>
          <a:xfrm rot="0">
            <a:off x="1571625" y="3484064"/>
            <a:ext cx="4506354" cy="495300"/>
          </a:xfrm>
          <a:prstGeom prst="rect">
            <a:avLst/>
          </a:prstGeom>
        </p:spPr>
        <p:txBody>
          <a:bodyPr anchor="t" rtlCol="false" tIns="0" lIns="0" bIns="0" rIns="0">
            <a:spAutoFit/>
          </a:bodyPr>
          <a:lstStyle/>
          <a:p>
            <a:pPr algn="l">
              <a:lnSpc>
                <a:spcPts val="3600"/>
              </a:lnSpc>
            </a:pPr>
            <a:r>
              <a:rPr lang="en-US" sz="3000" b="true">
                <a:solidFill>
                  <a:srgbClr val="14304A"/>
                </a:solidFill>
                <a:latin typeface="Source Serif Pro Bold"/>
                <a:ea typeface="Source Serif Pro Bold"/>
                <a:cs typeface="Source Serif Pro Bold"/>
                <a:sym typeface="Source Serif Pro Bold"/>
              </a:rPr>
              <a:t>Preparation</a:t>
            </a:r>
          </a:p>
        </p:txBody>
      </p:sp>
      <p:sp>
        <p:nvSpPr>
          <p:cNvPr name="TextBox 7" id="7"/>
          <p:cNvSpPr txBox="true"/>
          <p:nvPr/>
        </p:nvSpPr>
        <p:spPr>
          <a:xfrm rot="0">
            <a:off x="1571625" y="3903164"/>
            <a:ext cx="4506354"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NOCs signed; materials and visit dates agreed.</a:t>
            </a:r>
          </a:p>
        </p:txBody>
      </p:sp>
      <p:sp>
        <p:nvSpPr>
          <p:cNvPr name="Freeform 8" id="8"/>
          <p:cNvSpPr/>
          <p:nvPr/>
        </p:nvSpPr>
        <p:spPr>
          <a:xfrm flipH="false" flipV="false" rot="0">
            <a:off x="6600377" y="2808094"/>
            <a:ext cx="5087112" cy="2289334"/>
          </a:xfrm>
          <a:custGeom>
            <a:avLst/>
            <a:gdLst/>
            <a:ahLst/>
            <a:cxnLst/>
            <a:rect r="r" b="b" t="t" l="l"/>
            <a:pathLst>
              <a:path h="2289334" w="5087112">
                <a:moveTo>
                  <a:pt x="0" y="0"/>
                </a:moveTo>
                <a:lnTo>
                  <a:pt x="5087112" y="0"/>
                </a:lnTo>
                <a:lnTo>
                  <a:pt x="5087112" y="2289334"/>
                </a:lnTo>
                <a:lnTo>
                  <a:pt x="0" y="2289334"/>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TextBox 9" id="9"/>
          <p:cNvSpPr txBox="true"/>
          <p:nvPr/>
        </p:nvSpPr>
        <p:spPr>
          <a:xfrm rot="0">
            <a:off x="6956374" y="2973591"/>
            <a:ext cx="4506354"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PHASE 2 · WEEKS 1–7</a:t>
            </a:r>
          </a:p>
        </p:txBody>
      </p:sp>
      <p:sp>
        <p:nvSpPr>
          <p:cNvPr name="TextBox 10" id="10"/>
          <p:cNvSpPr txBox="true"/>
          <p:nvPr/>
        </p:nvSpPr>
        <p:spPr>
          <a:xfrm rot="0">
            <a:off x="6956374" y="3484064"/>
            <a:ext cx="4506354" cy="495300"/>
          </a:xfrm>
          <a:prstGeom prst="rect">
            <a:avLst/>
          </a:prstGeom>
        </p:spPr>
        <p:txBody>
          <a:bodyPr anchor="t" rtlCol="false" tIns="0" lIns="0" bIns="0" rIns="0">
            <a:spAutoFit/>
          </a:bodyPr>
          <a:lstStyle/>
          <a:p>
            <a:pPr algn="l">
              <a:lnSpc>
                <a:spcPts val="3600"/>
              </a:lnSpc>
            </a:pPr>
            <a:r>
              <a:rPr lang="en-US" sz="3000" b="true">
                <a:solidFill>
                  <a:srgbClr val="14304A"/>
                </a:solidFill>
                <a:latin typeface="Source Serif Pro Bold"/>
                <a:ea typeface="Source Serif Pro Bold"/>
                <a:cs typeface="Source Serif Pro Bold"/>
                <a:sym typeface="Source Serif Pro Bold"/>
              </a:rPr>
              <a:t>Baseline</a:t>
            </a:r>
          </a:p>
        </p:txBody>
      </p:sp>
      <p:sp>
        <p:nvSpPr>
          <p:cNvPr name="TextBox 11" id="11"/>
          <p:cNvSpPr txBox="true"/>
          <p:nvPr/>
        </p:nvSpPr>
        <p:spPr>
          <a:xfrm rot="0">
            <a:off x="6956374" y="3903164"/>
            <a:ext cx="4506354"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Short questionnaire on day 1 of each school visit.</a:t>
            </a:r>
          </a:p>
        </p:txBody>
      </p:sp>
      <p:sp>
        <p:nvSpPr>
          <p:cNvPr name="Freeform 12" id="12"/>
          <p:cNvSpPr/>
          <p:nvPr/>
        </p:nvSpPr>
        <p:spPr>
          <a:xfrm flipH="false" flipV="false" rot="0">
            <a:off x="11985127" y="2808094"/>
            <a:ext cx="5087112" cy="2289334"/>
          </a:xfrm>
          <a:custGeom>
            <a:avLst/>
            <a:gdLst/>
            <a:ahLst/>
            <a:cxnLst/>
            <a:rect r="r" b="b" t="t" l="l"/>
            <a:pathLst>
              <a:path h="2289334" w="5087112">
                <a:moveTo>
                  <a:pt x="0" y="0"/>
                </a:moveTo>
                <a:lnTo>
                  <a:pt x="5087112" y="0"/>
                </a:lnTo>
                <a:lnTo>
                  <a:pt x="5087112" y="2289334"/>
                </a:lnTo>
                <a:lnTo>
                  <a:pt x="0" y="2289334"/>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TextBox 13" id="13"/>
          <p:cNvSpPr txBox="true"/>
          <p:nvPr/>
        </p:nvSpPr>
        <p:spPr>
          <a:xfrm rot="0">
            <a:off x="12341123" y="2973591"/>
            <a:ext cx="4506354"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PHASE 3 · WEEKS 1–7</a:t>
            </a:r>
          </a:p>
        </p:txBody>
      </p:sp>
      <p:sp>
        <p:nvSpPr>
          <p:cNvPr name="TextBox 14" id="14"/>
          <p:cNvSpPr txBox="true"/>
          <p:nvPr/>
        </p:nvSpPr>
        <p:spPr>
          <a:xfrm rot="0">
            <a:off x="12341123" y="3484064"/>
            <a:ext cx="4506354" cy="495300"/>
          </a:xfrm>
          <a:prstGeom prst="rect">
            <a:avLst/>
          </a:prstGeom>
        </p:spPr>
        <p:txBody>
          <a:bodyPr anchor="t" rtlCol="false" tIns="0" lIns="0" bIns="0" rIns="0">
            <a:spAutoFit/>
          </a:bodyPr>
          <a:lstStyle/>
          <a:p>
            <a:pPr algn="l">
              <a:lnSpc>
                <a:spcPts val="3600"/>
              </a:lnSpc>
            </a:pPr>
            <a:r>
              <a:rPr lang="en-US" sz="3000" b="true">
                <a:solidFill>
                  <a:srgbClr val="14304A"/>
                </a:solidFill>
                <a:latin typeface="Source Serif Pro Bold"/>
                <a:ea typeface="Source Serif Pro Bold"/>
                <a:cs typeface="Source Serif Pro Bold"/>
                <a:sym typeface="Source Serif Pro Bold"/>
              </a:rPr>
              <a:t>Education</a:t>
            </a:r>
          </a:p>
        </p:txBody>
      </p:sp>
      <p:sp>
        <p:nvSpPr>
          <p:cNvPr name="TextBox 15" id="15"/>
          <p:cNvSpPr txBox="true"/>
          <p:nvPr/>
        </p:nvSpPr>
        <p:spPr>
          <a:xfrm rot="0">
            <a:off x="12341123" y="3903164"/>
            <a:ext cx="4506354"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Interactive sessions in all 5 schools.</a:t>
            </a:r>
          </a:p>
        </p:txBody>
      </p:sp>
      <p:sp>
        <p:nvSpPr>
          <p:cNvPr name="Freeform 16" id="16"/>
          <p:cNvSpPr/>
          <p:nvPr/>
        </p:nvSpPr>
        <p:spPr>
          <a:xfrm flipH="false" flipV="false" rot="0">
            <a:off x="1215628" y="5395017"/>
            <a:ext cx="5087112" cy="2289334"/>
          </a:xfrm>
          <a:custGeom>
            <a:avLst/>
            <a:gdLst/>
            <a:ahLst/>
            <a:cxnLst/>
            <a:rect r="r" b="b" t="t" l="l"/>
            <a:pathLst>
              <a:path h="2289334" w="5087112">
                <a:moveTo>
                  <a:pt x="0" y="0"/>
                </a:moveTo>
                <a:lnTo>
                  <a:pt x="5087112" y="0"/>
                </a:lnTo>
                <a:lnTo>
                  <a:pt x="5087112" y="2289334"/>
                </a:lnTo>
                <a:lnTo>
                  <a:pt x="0" y="2289334"/>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TextBox 17" id="17"/>
          <p:cNvSpPr txBox="true"/>
          <p:nvPr/>
        </p:nvSpPr>
        <p:spPr>
          <a:xfrm rot="0">
            <a:off x="1571625" y="5560514"/>
            <a:ext cx="4506354"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PHASE 4 · WEEKS 1–7</a:t>
            </a:r>
          </a:p>
        </p:txBody>
      </p:sp>
      <p:sp>
        <p:nvSpPr>
          <p:cNvPr name="TextBox 18" id="18"/>
          <p:cNvSpPr txBox="true"/>
          <p:nvPr/>
        </p:nvSpPr>
        <p:spPr>
          <a:xfrm rot="0">
            <a:off x="1571625" y="6070997"/>
            <a:ext cx="4506354" cy="495300"/>
          </a:xfrm>
          <a:prstGeom prst="rect">
            <a:avLst/>
          </a:prstGeom>
        </p:spPr>
        <p:txBody>
          <a:bodyPr anchor="t" rtlCol="false" tIns="0" lIns="0" bIns="0" rIns="0">
            <a:spAutoFit/>
          </a:bodyPr>
          <a:lstStyle/>
          <a:p>
            <a:pPr algn="l">
              <a:lnSpc>
                <a:spcPts val="3600"/>
              </a:lnSpc>
            </a:pPr>
            <a:r>
              <a:rPr lang="en-US" sz="3000" b="true">
                <a:solidFill>
                  <a:srgbClr val="14304A"/>
                </a:solidFill>
                <a:latin typeface="Source Serif Pro Bold"/>
                <a:ea typeface="Source Serif Pro Bold"/>
                <a:cs typeface="Source Serif Pro Bold"/>
                <a:sym typeface="Source Serif Pro Bold"/>
              </a:rPr>
              <a:t>Demonstration</a:t>
            </a:r>
          </a:p>
        </p:txBody>
      </p:sp>
      <p:sp>
        <p:nvSpPr>
          <p:cNvPr name="TextBox 19" id="19"/>
          <p:cNvSpPr txBox="true"/>
          <p:nvPr/>
        </p:nvSpPr>
        <p:spPr>
          <a:xfrm rot="0">
            <a:off x="1571625" y="6490097"/>
            <a:ext cx="4506354"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Practise handwashing, cough etiquette, safe food and water.</a:t>
            </a:r>
          </a:p>
        </p:txBody>
      </p:sp>
      <p:sp>
        <p:nvSpPr>
          <p:cNvPr name="Freeform 20" id="20"/>
          <p:cNvSpPr/>
          <p:nvPr/>
        </p:nvSpPr>
        <p:spPr>
          <a:xfrm flipH="false" flipV="false" rot="0">
            <a:off x="6600377" y="5395017"/>
            <a:ext cx="5087112" cy="2289334"/>
          </a:xfrm>
          <a:custGeom>
            <a:avLst/>
            <a:gdLst/>
            <a:ahLst/>
            <a:cxnLst/>
            <a:rect r="r" b="b" t="t" l="l"/>
            <a:pathLst>
              <a:path h="2289334" w="5087112">
                <a:moveTo>
                  <a:pt x="0" y="0"/>
                </a:moveTo>
                <a:lnTo>
                  <a:pt x="5087112" y="0"/>
                </a:lnTo>
                <a:lnTo>
                  <a:pt x="5087112" y="2289334"/>
                </a:lnTo>
                <a:lnTo>
                  <a:pt x="0" y="2289334"/>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TextBox 21" id="21"/>
          <p:cNvSpPr txBox="true"/>
          <p:nvPr/>
        </p:nvSpPr>
        <p:spPr>
          <a:xfrm rot="0">
            <a:off x="6956374" y="5560514"/>
            <a:ext cx="4506354"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PHASE 5 · WEEKS 2–8</a:t>
            </a:r>
          </a:p>
        </p:txBody>
      </p:sp>
      <p:sp>
        <p:nvSpPr>
          <p:cNvPr name="TextBox 22" id="22"/>
          <p:cNvSpPr txBox="true"/>
          <p:nvPr/>
        </p:nvSpPr>
        <p:spPr>
          <a:xfrm rot="0">
            <a:off x="6956374" y="6070997"/>
            <a:ext cx="4506354" cy="495300"/>
          </a:xfrm>
          <a:prstGeom prst="rect">
            <a:avLst/>
          </a:prstGeom>
        </p:spPr>
        <p:txBody>
          <a:bodyPr anchor="t" rtlCol="false" tIns="0" lIns="0" bIns="0" rIns="0">
            <a:spAutoFit/>
          </a:bodyPr>
          <a:lstStyle/>
          <a:p>
            <a:pPr algn="l">
              <a:lnSpc>
                <a:spcPts val="3600"/>
              </a:lnSpc>
            </a:pPr>
            <a:r>
              <a:rPr lang="en-US" sz="3000" b="true">
                <a:solidFill>
                  <a:srgbClr val="14304A"/>
                </a:solidFill>
                <a:latin typeface="Source Serif Pro Bold"/>
                <a:ea typeface="Source Serif Pro Bold"/>
                <a:cs typeface="Source Serif Pro Bold"/>
                <a:sym typeface="Source Serif Pro Bold"/>
              </a:rPr>
              <a:t>Reinforcement</a:t>
            </a:r>
          </a:p>
        </p:txBody>
      </p:sp>
      <p:sp>
        <p:nvSpPr>
          <p:cNvPr name="TextBox 23" id="23"/>
          <p:cNvSpPr txBox="true"/>
          <p:nvPr/>
        </p:nvSpPr>
        <p:spPr>
          <a:xfrm rot="0">
            <a:off x="6956374" y="6490097"/>
            <a:ext cx="4506354"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Posters displayed; teachers give regular reminders.</a:t>
            </a:r>
          </a:p>
        </p:txBody>
      </p:sp>
      <p:sp>
        <p:nvSpPr>
          <p:cNvPr name="Freeform 24" id="24"/>
          <p:cNvSpPr/>
          <p:nvPr/>
        </p:nvSpPr>
        <p:spPr>
          <a:xfrm flipH="false" flipV="false" rot="0">
            <a:off x="11985127" y="5395017"/>
            <a:ext cx="5087112" cy="2289334"/>
          </a:xfrm>
          <a:custGeom>
            <a:avLst/>
            <a:gdLst/>
            <a:ahLst/>
            <a:cxnLst/>
            <a:rect r="r" b="b" t="t" l="l"/>
            <a:pathLst>
              <a:path h="2289334" w="5087112">
                <a:moveTo>
                  <a:pt x="0" y="0"/>
                </a:moveTo>
                <a:lnTo>
                  <a:pt x="5087112" y="0"/>
                </a:lnTo>
                <a:lnTo>
                  <a:pt x="5087112" y="2289334"/>
                </a:lnTo>
                <a:lnTo>
                  <a:pt x="0" y="2289334"/>
                </a:lnTo>
                <a:lnTo>
                  <a:pt x="0" y="0"/>
                </a:lnTo>
                <a:close/>
              </a:path>
            </a:pathLst>
          </a:custGeom>
          <a:blipFill>
            <a:blip r:embed="rId3">
              <a:extLst>
                <a:ext uri="{96DAC541-7B7A-43D3-8B79-37D633B846F1}">
                  <asvg:svgBlip xmlns:asvg="http://schemas.microsoft.com/office/drawing/2016/SVG/main" r:embed="rId4"/>
                </a:ext>
              </a:extLst>
            </a:blip>
            <a:stretch>
              <a:fillRect l="0" t="-49" r="0" b="-49"/>
            </a:stretch>
          </a:blipFill>
        </p:spPr>
      </p:sp>
      <p:sp>
        <p:nvSpPr>
          <p:cNvPr name="TextBox 25" id="25"/>
          <p:cNvSpPr txBox="true"/>
          <p:nvPr/>
        </p:nvSpPr>
        <p:spPr>
          <a:xfrm rot="0">
            <a:off x="12341123" y="5560514"/>
            <a:ext cx="4506354"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PHASE 6 · WEEKS 1–8</a:t>
            </a:r>
          </a:p>
        </p:txBody>
      </p:sp>
      <p:sp>
        <p:nvSpPr>
          <p:cNvPr name="TextBox 26" id="26"/>
          <p:cNvSpPr txBox="true"/>
          <p:nvPr/>
        </p:nvSpPr>
        <p:spPr>
          <a:xfrm rot="0">
            <a:off x="12341123" y="6070997"/>
            <a:ext cx="4506354" cy="495300"/>
          </a:xfrm>
          <a:prstGeom prst="rect">
            <a:avLst/>
          </a:prstGeom>
        </p:spPr>
        <p:txBody>
          <a:bodyPr anchor="t" rtlCol="false" tIns="0" lIns="0" bIns="0" rIns="0">
            <a:spAutoFit/>
          </a:bodyPr>
          <a:lstStyle/>
          <a:p>
            <a:pPr algn="l">
              <a:lnSpc>
                <a:spcPts val="3600"/>
              </a:lnSpc>
            </a:pPr>
            <a:r>
              <a:rPr lang="en-US" sz="3000" b="true">
                <a:solidFill>
                  <a:srgbClr val="14304A"/>
                </a:solidFill>
                <a:latin typeface="Source Serif Pro Bold"/>
                <a:ea typeface="Source Serif Pro Bold"/>
                <a:cs typeface="Source Serif Pro Bold"/>
                <a:sym typeface="Source Serif Pro Bold"/>
              </a:rPr>
              <a:t>Follow-up</a:t>
            </a:r>
          </a:p>
        </p:txBody>
      </p:sp>
      <p:sp>
        <p:nvSpPr>
          <p:cNvPr name="TextBox 27" id="27"/>
          <p:cNvSpPr txBox="true"/>
          <p:nvPr/>
        </p:nvSpPr>
        <p:spPr>
          <a:xfrm rot="0">
            <a:off x="12341123" y="6490097"/>
            <a:ext cx="4506354"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Post-visit assessment; results compiled in Week 8.</a:t>
            </a:r>
          </a:p>
        </p:txBody>
      </p:sp>
      <p:sp>
        <p:nvSpPr>
          <p:cNvPr name="TextBox 28" id="28"/>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9" id="29"/>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12</a:t>
            </a:r>
          </a:p>
        </p:txBody>
      </p:sp>
      <p:sp>
        <p:nvSpPr>
          <p:cNvPr name="TextBox 30" id="30"/>
          <p:cNvSpPr txBox="true"/>
          <p:nvPr/>
        </p:nvSpPr>
        <p:spPr>
          <a:xfrm rot="0">
            <a:off x="1219200" y="7994999"/>
            <a:ext cx="15849600" cy="840000"/>
          </a:xfrm>
          <a:prstGeom prst="rect">
            <a:avLst/>
          </a:prstGeom>
        </p:spPr>
        <p:txBody>
          <a:bodyPr anchor="t" rtlCol="false" tIns="0" lIns="0" bIns="0" rIns="0">
            <a:spAutoFit/>
          </a:bodyPr>
          <a:lstStyle/>
          <a:p>
            <a:pPr algn="l">
              <a:lnSpc>
                <a:spcPts val="1800"/>
              </a:lnSpc>
            </a:pPr>
            <a:r>
              <a:rPr lang="en-US" b="true" sz="1500" spc="150">
                <a:solidFill>
                  <a:srgbClr val="0B6E60"/>
                </a:solidFill>
                <a:latin typeface="IBM Plex Sans Bold"/>
                <a:ea typeface="IBM Plex Sans Bold"/>
                <a:cs typeface="IBM Plex Sans Bold"/>
                <a:sym typeface="IBM Plex Sans Bold"/>
              </a:rPr>
              <a:t>SCHOOL VISITS (WEEK 1 = 1 JANUARY 2026)</a:t>
            </a:r>
          </a:p>
          <a:p>
            <a:pPr algn="l">
              <a:lnSpc>
                <a:spcPts val="2160"/>
              </a:lnSpc>
            </a:pPr>
            <a:r>
              <a:rPr lang="en-US" sz="1800" spc="178">
                <a:solidFill>
                  <a:srgbClr val="3F4B57"/>
                </a:solidFill>
                <a:latin typeface="IBM Plex Sans"/>
                <a:ea typeface="IBM Plex Sans"/>
                <a:cs typeface="IBM Plex Sans"/>
                <a:sym typeface="IBM Plex Sans"/>
              </a:rPr>
              <a:t>Wk 1 Zainab Education System · Wk 3 Dar-e-Arqam School · Wk 4 GHS Choa Saidan Shah · Wks 4–5 GHS Saloi · Wks 6–7 Leader House School System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10 · ETHICS &amp; SAFEGUARDING</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Protecting the children we work with</a:t>
            </a:r>
          </a:p>
        </p:txBody>
      </p:sp>
      <p:sp>
        <p:nvSpPr>
          <p:cNvPr name="Freeform 4" id="4"/>
          <p:cNvSpPr/>
          <p:nvPr/>
        </p:nvSpPr>
        <p:spPr>
          <a:xfrm flipH="false" flipV="false" rot="0">
            <a:off x="1215628" y="2808094"/>
            <a:ext cx="7779544" cy="2083594"/>
          </a:xfrm>
          <a:custGeom>
            <a:avLst/>
            <a:gdLst/>
            <a:ahLst/>
            <a:cxnLst/>
            <a:rect r="r" b="b" t="t" l="l"/>
            <a:pathLst>
              <a:path h="2083594" w="7779544">
                <a:moveTo>
                  <a:pt x="0" y="0"/>
                </a:moveTo>
                <a:lnTo>
                  <a:pt x="7779544" y="0"/>
                </a:lnTo>
                <a:lnTo>
                  <a:pt x="7779544" y="2083594"/>
                </a:lnTo>
                <a:lnTo>
                  <a:pt x="0" y="2083594"/>
                </a:lnTo>
                <a:lnTo>
                  <a:pt x="0" y="0"/>
                </a:lnTo>
                <a:close/>
              </a:path>
            </a:pathLst>
          </a:custGeom>
          <a:blipFill>
            <a:blip r:embed="rId3">
              <a:extLst>
                <a:ext uri="{96DAC541-7B7A-43D3-8B79-37D633B846F1}">
                  <asvg:svgBlip xmlns:asvg="http://schemas.microsoft.com/office/drawing/2016/SVG/main" r:embed="rId4"/>
                </a:ext>
              </a:extLst>
            </a:blip>
            <a:stretch>
              <a:fillRect l="0" t="-41" r="0" b="-42"/>
            </a:stretch>
          </a:blipFill>
        </p:spPr>
      </p:sp>
      <p:sp>
        <p:nvSpPr>
          <p:cNvPr name="TextBox 5" id="5"/>
          <p:cNvSpPr txBox="true"/>
          <p:nvPr/>
        </p:nvSpPr>
        <p:spPr>
          <a:xfrm rot="0">
            <a:off x="1609725" y="3164091"/>
            <a:ext cx="7201090"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School permission</a:t>
            </a:r>
          </a:p>
        </p:txBody>
      </p:sp>
      <p:sp>
        <p:nvSpPr>
          <p:cNvPr name="TextBox 6" id="6"/>
          <p:cNvSpPr txBox="true"/>
          <p:nvPr/>
        </p:nvSpPr>
        <p:spPr>
          <a:xfrm rot="0">
            <a:off x="1609725" y="3621291"/>
            <a:ext cx="720109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Written approval from each school's administration and, where required, the education authority.</a:t>
            </a:r>
          </a:p>
        </p:txBody>
      </p:sp>
      <p:sp>
        <p:nvSpPr>
          <p:cNvPr name="Freeform 7" id="7"/>
          <p:cNvSpPr/>
          <p:nvPr/>
        </p:nvSpPr>
        <p:spPr>
          <a:xfrm flipH="false" flipV="false" rot="0">
            <a:off x="9292828" y="2808094"/>
            <a:ext cx="7779544" cy="2083594"/>
          </a:xfrm>
          <a:custGeom>
            <a:avLst/>
            <a:gdLst/>
            <a:ahLst/>
            <a:cxnLst/>
            <a:rect r="r" b="b" t="t" l="l"/>
            <a:pathLst>
              <a:path h="2083594" w="7779544">
                <a:moveTo>
                  <a:pt x="0" y="0"/>
                </a:moveTo>
                <a:lnTo>
                  <a:pt x="7779544" y="0"/>
                </a:lnTo>
                <a:lnTo>
                  <a:pt x="7779544" y="2083594"/>
                </a:lnTo>
                <a:lnTo>
                  <a:pt x="0" y="2083594"/>
                </a:lnTo>
                <a:lnTo>
                  <a:pt x="0" y="0"/>
                </a:lnTo>
                <a:close/>
              </a:path>
            </a:pathLst>
          </a:custGeom>
          <a:blipFill>
            <a:blip r:embed="rId3">
              <a:extLst>
                <a:ext uri="{96DAC541-7B7A-43D3-8B79-37D633B846F1}">
                  <asvg:svgBlip xmlns:asvg="http://schemas.microsoft.com/office/drawing/2016/SVG/main" r:embed="rId4"/>
                </a:ext>
              </a:extLst>
            </a:blip>
            <a:stretch>
              <a:fillRect l="0" t="-41" r="0" b="-42"/>
            </a:stretch>
          </a:blipFill>
        </p:spPr>
      </p:sp>
      <p:sp>
        <p:nvSpPr>
          <p:cNvPr name="TextBox 8" id="8"/>
          <p:cNvSpPr txBox="true"/>
          <p:nvPr/>
        </p:nvSpPr>
        <p:spPr>
          <a:xfrm rot="0">
            <a:off x="9686925" y="3164091"/>
            <a:ext cx="7201090"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Informed parents</a:t>
            </a:r>
          </a:p>
        </p:txBody>
      </p:sp>
      <p:sp>
        <p:nvSpPr>
          <p:cNvPr name="TextBox 9" id="9"/>
          <p:cNvSpPr txBox="true"/>
          <p:nvPr/>
        </p:nvSpPr>
        <p:spPr>
          <a:xfrm rot="0">
            <a:off x="9686925" y="3621291"/>
            <a:ext cx="720109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An information letter for parents or guardians; consent before any photographs are taken.</a:t>
            </a:r>
          </a:p>
        </p:txBody>
      </p:sp>
      <p:sp>
        <p:nvSpPr>
          <p:cNvPr name="Freeform 10" id="10"/>
          <p:cNvSpPr/>
          <p:nvPr/>
        </p:nvSpPr>
        <p:spPr>
          <a:xfrm flipH="false" flipV="false" rot="0">
            <a:off x="1215628" y="5189344"/>
            <a:ext cx="7779544" cy="2083594"/>
          </a:xfrm>
          <a:custGeom>
            <a:avLst/>
            <a:gdLst/>
            <a:ahLst/>
            <a:cxnLst/>
            <a:rect r="r" b="b" t="t" l="l"/>
            <a:pathLst>
              <a:path h="2083594" w="7779544">
                <a:moveTo>
                  <a:pt x="0" y="0"/>
                </a:moveTo>
                <a:lnTo>
                  <a:pt x="7779544" y="0"/>
                </a:lnTo>
                <a:lnTo>
                  <a:pt x="7779544" y="2083594"/>
                </a:lnTo>
                <a:lnTo>
                  <a:pt x="0" y="2083594"/>
                </a:lnTo>
                <a:lnTo>
                  <a:pt x="0" y="0"/>
                </a:lnTo>
                <a:close/>
              </a:path>
            </a:pathLst>
          </a:custGeom>
          <a:blipFill>
            <a:blip r:embed="rId3">
              <a:extLst>
                <a:ext uri="{96DAC541-7B7A-43D3-8B79-37D633B846F1}">
                  <asvg:svgBlip xmlns:asvg="http://schemas.microsoft.com/office/drawing/2016/SVG/main" r:embed="rId4"/>
                </a:ext>
              </a:extLst>
            </a:blip>
            <a:stretch>
              <a:fillRect l="0" t="-41" r="0" b="-42"/>
            </a:stretch>
          </a:blipFill>
        </p:spPr>
      </p:sp>
      <p:sp>
        <p:nvSpPr>
          <p:cNvPr name="TextBox 11" id="11"/>
          <p:cNvSpPr txBox="true"/>
          <p:nvPr/>
        </p:nvSpPr>
        <p:spPr>
          <a:xfrm rot="0">
            <a:off x="1609725" y="5545341"/>
            <a:ext cx="7201090"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Anonymous data</a:t>
            </a:r>
          </a:p>
        </p:txBody>
      </p:sp>
      <p:sp>
        <p:nvSpPr>
          <p:cNvPr name="TextBox 12" id="12"/>
          <p:cNvSpPr txBox="true"/>
          <p:nvPr/>
        </p:nvSpPr>
        <p:spPr>
          <a:xfrm rot="0">
            <a:off x="1609725" y="6002541"/>
            <a:ext cx="720109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No names on questionnaires; results are reported per school, never per child.</a:t>
            </a:r>
          </a:p>
        </p:txBody>
      </p:sp>
      <p:sp>
        <p:nvSpPr>
          <p:cNvPr name="Freeform 13" id="13"/>
          <p:cNvSpPr/>
          <p:nvPr/>
        </p:nvSpPr>
        <p:spPr>
          <a:xfrm flipH="false" flipV="false" rot="0">
            <a:off x="9292828" y="5189344"/>
            <a:ext cx="7779544" cy="2083594"/>
          </a:xfrm>
          <a:custGeom>
            <a:avLst/>
            <a:gdLst/>
            <a:ahLst/>
            <a:cxnLst/>
            <a:rect r="r" b="b" t="t" l="l"/>
            <a:pathLst>
              <a:path h="2083594" w="7779544">
                <a:moveTo>
                  <a:pt x="0" y="0"/>
                </a:moveTo>
                <a:lnTo>
                  <a:pt x="7779544" y="0"/>
                </a:lnTo>
                <a:lnTo>
                  <a:pt x="7779544" y="2083594"/>
                </a:lnTo>
                <a:lnTo>
                  <a:pt x="0" y="2083594"/>
                </a:lnTo>
                <a:lnTo>
                  <a:pt x="0" y="0"/>
                </a:lnTo>
                <a:close/>
              </a:path>
            </a:pathLst>
          </a:custGeom>
          <a:blipFill>
            <a:blip r:embed="rId3">
              <a:extLst>
                <a:ext uri="{96DAC541-7B7A-43D3-8B79-37D633B846F1}">
                  <asvg:svgBlip xmlns:asvg="http://schemas.microsoft.com/office/drawing/2016/SVG/main" r:embed="rId4"/>
                </a:ext>
              </a:extLst>
            </a:blip>
            <a:stretch>
              <a:fillRect l="0" t="-41" r="0" b="-42"/>
            </a:stretch>
          </a:blipFill>
        </p:spPr>
      </p:sp>
      <p:sp>
        <p:nvSpPr>
          <p:cNvPr name="TextBox 14" id="14"/>
          <p:cNvSpPr txBox="true"/>
          <p:nvPr/>
        </p:nvSpPr>
        <p:spPr>
          <a:xfrm rot="0">
            <a:off x="9686925" y="5545341"/>
            <a:ext cx="7201090" cy="495300"/>
          </a:xfrm>
          <a:prstGeom prst="rect">
            <a:avLst/>
          </a:prstGeom>
        </p:spPr>
        <p:txBody>
          <a:bodyPr anchor="t" rtlCol="false" tIns="0" lIns="0" bIns="0" rIns="0">
            <a:spAutoFit/>
          </a:bodyPr>
          <a:lstStyle/>
          <a:p>
            <a:pPr algn="l">
              <a:lnSpc>
                <a:spcPts val="3600"/>
              </a:lnSpc>
            </a:pPr>
            <a:r>
              <a:rPr lang="en-US" sz="3000" b="true">
                <a:solidFill>
                  <a:srgbClr val="0B6E60"/>
                </a:solidFill>
                <a:latin typeface="Source Serif Pro Bold"/>
                <a:ea typeface="Source Serif Pro Bold"/>
                <a:cs typeface="Source Serif Pro Bold"/>
                <a:sym typeface="Source Serif Pro Bold"/>
              </a:rPr>
              <a:t>Child-safe conduct</a:t>
            </a:r>
          </a:p>
        </p:txBody>
      </p:sp>
      <p:sp>
        <p:nvSpPr>
          <p:cNvPr name="TextBox 15" id="15"/>
          <p:cNvSpPr txBox="true"/>
          <p:nvPr/>
        </p:nvSpPr>
        <p:spPr>
          <a:xfrm rot="0">
            <a:off x="9686925" y="6002541"/>
            <a:ext cx="7201090" cy="952500"/>
          </a:xfrm>
          <a:prstGeom prst="rect">
            <a:avLst/>
          </a:prstGeom>
        </p:spPr>
        <p:txBody>
          <a:bodyPr anchor="t" rtlCol="false" tIns="0" lIns="0" bIns="0" rIns="0">
            <a:spAutoFit/>
          </a:bodyPr>
          <a:lstStyle/>
          <a:p>
            <a:pPr algn="l">
              <a:lnSpc>
                <a:spcPts val="3149"/>
              </a:lnSpc>
            </a:pPr>
            <a:r>
              <a:rPr lang="en-US" sz="2250">
                <a:solidFill>
                  <a:srgbClr val="3F4B57"/>
                </a:solidFill>
                <a:latin typeface="IBM Plex Sans"/>
                <a:ea typeface="IBM Plex Sans"/>
                <a:cs typeface="IBM Plex Sans"/>
                <a:sym typeface="IBM Plex Sans"/>
              </a:rPr>
              <a:t>A teacher is present at every session; messages are age-appropriate and non-judgemental.</a:t>
            </a:r>
          </a:p>
        </p:txBody>
      </p:sp>
      <p:sp>
        <p:nvSpPr>
          <p:cNvPr name="TextBox 16" id="16"/>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17" id="17"/>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306705"/>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Achieved Outcomes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What we expect to change</a:t>
            </a:r>
          </a:p>
        </p:txBody>
      </p:sp>
      <p:grpSp>
        <p:nvGrpSpPr>
          <p:cNvPr name="Group 4" id="4"/>
          <p:cNvGrpSpPr/>
          <p:nvPr/>
        </p:nvGrpSpPr>
        <p:grpSpPr>
          <a:xfrm rot="0">
            <a:off x="1219200" y="2811666"/>
            <a:ext cx="337566" cy="419100"/>
            <a:chOff x="0" y="0"/>
            <a:chExt cx="450088" cy="558800"/>
          </a:xfrm>
        </p:grpSpPr>
        <p:sp>
          <p:nvSpPr>
            <p:cNvPr name="Freeform 5" id="5" descr="CheckCircle"/>
            <p:cNvSpPr/>
            <p:nvPr/>
          </p:nvSpPr>
          <p:spPr>
            <a:xfrm flipH="false" flipV="false" rot="0">
              <a:off x="0" y="0"/>
              <a:ext cx="450088" cy="558800"/>
            </a:xfrm>
            <a:custGeom>
              <a:avLst/>
              <a:gdLst/>
              <a:ahLst/>
              <a:cxnLst/>
              <a:rect r="r" b="b" t="t" l="l"/>
              <a:pathLst>
                <a:path h="558800" w="450088">
                  <a:moveTo>
                    <a:pt x="0" y="0"/>
                  </a:moveTo>
                  <a:lnTo>
                    <a:pt x="450088" y="0"/>
                  </a:lnTo>
                  <a:lnTo>
                    <a:pt x="450088" y="558800"/>
                  </a:lnTo>
                  <a:lnTo>
                    <a:pt x="0" y="558800"/>
                  </a:lnTo>
                  <a:lnTo>
                    <a:pt x="0" y="0"/>
                  </a:lnTo>
                  <a:close/>
                </a:path>
              </a:pathLst>
            </a:custGeom>
            <a:blipFill>
              <a:blip r:embed="rId3"/>
              <a:stretch>
                <a:fillRect l="0" t="-820" r="0" b="-820"/>
              </a:stretch>
            </a:blipFill>
          </p:spPr>
        </p:sp>
      </p:grpSp>
      <p:sp>
        <p:nvSpPr>
          <p:cNvPr name="TextBox 6" id="6"/>
          <p:cNvSpPr txBox="true"/>
          <p:nvPr/>
        </p:nvSpPr>
        <p:spPr>
          <a:xfrm rot="0">
            <a:off x="1785337" y="2697366"/>
            <a:ext cx="7108498"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Better knowledge of personal hygiene among participating children</a:t>
            </a:r>
          </a:p>
        </p:txBody>
      </p:sp>
      <p:grpSp>
        <p:nvGrpSpPr>
          <p:cNvPr name="Group 7" id="7"/>
          <p:cNvGrpSpPr/>
          <p:nvPr/>
        </p:nvGrpSpPr>
        <p:grpSpPr>
          <a:xfrm rot="0">
            <a:off x="1219200" y="4068966"/>
            <a:ext cx="393668" cy="419100"/>
            <a:chOff x="0" y="0"/>
            <a:chExt cx="524891" cy="558800"/>
          </a:xfrm>
        </p:grpSpPr>
        <p:sp>
          <p:nvSpPr>
            <p:cNvPr name="Freeform 8" id="8" descr="CheckCircle"/>
            <p:cNvSpPr/>
            <p:nvPr/>
          </p:nvSpPr>
          <p:spPr>
            <a:xfrm flipH="false" flipV="false" rot="0">
              <a:off x="0" y="0"/>
              <a:ext cx="524891" cy="558800"/>
            </a:xfrm>
            <a:custGeom>
              <a:avLst/>
              <a:gdLst/>
              <a:ahLst/>
              <a:cxnLst/>
              <a:rect r="r" b="b" t="t" l="l"/>
              <a:pathLst>
                <a:path h="558800" w="524891">
                  <a:moveTo>
                    <a:pt x="0" y="0"/>
                  </a:moveTo>
                  <a:lnTo>
                    <a:pt x="524891" y="0"/>
                  </a:lnTo>
                  <a:lnTo>
                    <a:pt x="524891" y="558800"/>
                  </a:lnTo>
                  <a:lnTo>
                    <a:pt x="0" y="558800"/>
                  </a:lnTo>
                  <a:lnTo>
                    <a:pt x="0" y="0"/>
                  </a:lnTo>
                  <a:close/>
                </a:path>
              </a:pathLst>
            </a:custGeom>
            <a:blipFill>
              <a:blip r:embed="rId4"/>
              <a:stretch>
                <a:fillRect l="-217" t="0" r="-215" b="0"/>
              </a:stretch>
            </a:blipFill>
          </p:spPr>
        </p:sp>
      </p:grpSp>
      <p:sp>
        <p:nvSpPr>
          <p:cNvPr name="TextBox 9" id="9"/>
          <p:cNvSpPr txBox="true"/>
          <p:nvPr/>
        </p:nvSpPr>
        <p:spPr>
          <a:xfrm rot="0">
            <a:off x="1841449" y="3954666"/>
            <a:ext cx="7050710"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Clearer understanding of how infections spread at school</a:t>
            </a:r>
          </a:p>
        </p:txBody>
      </p:sp>
      <p:grpSp>
        <p:nvGrpSpPr>
          <p:cNvPr name="Group 10" id="10"/>
          <p:cNvGrpSpPr/>
          <p:nvPr/>
        </p:nvGrpSpPr>
        <p:grpSpPr>
          <a:xfrm rot="0">
            <a:off x="1219200" y="5326266"/>
            <a:ext cx="419100" cy="419100"/>
            <a:chOff x="0" y="0"/>
            <a:chExt cx="558800" cy="558800"/>
          </a:xfrm>
        </p:grpSpPr>
        <p:sp>
          <p:nvSpPr>
            <p:cNvPr name="Freeform 11" id="11" descr="CheckCircle"/>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5"/>
              <a:stretch>
                <a:fillRect l="0" t="0" r="0" b="0"/>
              </a:stretch>
            </a:blipFill>
          </p:spPr>
        </p:sp>
      </p:grpSp>
      <p:sp>
        <p:nvSpPr>
          <p:cNvPr name="TextBox 12" id="12"/>
          <p:cNvSpPr txBox="true"/>
          <p:nvPr/>
        </p:nvSpPr>
        <p:spPr>
          <a:xfrm rot="0">
            <a:off x="1866900" y="5211966"/>
            <a:ext cx="6862162" cy="55245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More confidence in performing correct handwashing</a:t>
            </a:r>
          </a:p>
        </p:txBody>
      </p:sp>
      <p:grpSp>
        <p:nvGrpSpPr>
          <p:cNvPr name="Group 13" id="13"/>
          <p:cNvGrpSpPr/>
          <p:nvPr/>
        </p:nvGrpSpPr>
        <p:grpSpPr>
          <a:xfrm rot="0">
            <a:off x="9601200" y="2811666"/>
            <a:ext cx="338614" cy="419100"/>
            <a:chOff x="0" y="0"/>
            <a:chExt cx="451485" cy="558800"/>
          </a:xfrm>
        </p:grpSpPr>
        <p:sp>
          <p:nvSpPr>
            <p:cNvPr name="Freeform 14" id="14" descr="CheckCircle"/>
            <p:cNvSpPr/>
            <p:nvPr/>
          </p:nvSpPr>
          <p:spPr>
            <a:xfrm flipH="false" flipV="false" rot="0">
              <a:off x="0" y="0"/>
              <a:ext cx="451485" cy="558800"/>
            </a:xfrm>
            <a:custGeom>
              <a:avLst/>
              <a:gdLst/>
              <a:ahLst/>
              <a:cxnLst/>
              <a:rect r="r" b="b" t="t" l="l"/>
              <a:pathLst>
                <a:path h="558800" w="451485">
                  <a:moveTo>
                    <a:pt x="0" y="0"/>
                  </a:moveTo>
                  <a:lnTo>
                    <a:pt x="451485" y="0"/>
                  </a:lnTo>
                  <a:lnTo>
                    <a:pt x="451485" y="558800"/>
                  </a:lnTo>
                  <a:lnTo>
                    <a:pt x="0" y="558800"/>
                  </a:lnTo>
                  <a:lnTo>
                    <a:pt x="0" y="0"/>
                  </a:lnTo>
                  <a:close/>
                </a:path>
              </a:pathLst>
            </a:custGeom>
            <a:blipFill>
              <a:blip r:embed="rId6"/>
              <a:stretch>
                <a:fillRect l="-1375" t="0" r="-1375" b="0"/>
              </a:stretch>
            </a:blipFill>
          </p:spPr>
        </p:sp>
      </p:grpSp>
      <p:sp>
        <p:nvSpPr>
          <p:cNvPr name="TextBox 15" id="15"/>
          <p:cNvSpPr txBox="true"/>
          <p:nvPr/>
        </p:nvSpPr>
        <p:spPr>
          <a:xfrm rot="0">
            <a:off x="10168385" y="2697366"/>
            <a:ext cx="7107431"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Greater awareness of respiratory hygiene, safe food and safe water</a:t>
            </a:r>
          </a:p>
        </p:txBody>
      </p:sp>
      <p:grpSp>
        <p:nvGrpSpPr>
          <p:cNvPr name="Group 16" id="16"/>
          <p:cNvGrpSpPr/>
          <p:nvPr/>
        </p:nvGrpSpPr>
        <p:grpSpPr>
          <a:xfrm rot="0">
            <a:off x="9601200" y="4068966"/>
            <a:ext cx="340709" cy="419100"/>
            <a:chOff x="0" y="0"/>
            <a:chExt cx="454279" cy="558800"/>
          </a:xfrm>
        </p:grpSpPr>
        <p:sp>
          <p:nvSpPr>
            <p:cNvPr name="Freeform 17" id="17" descr="CheckCircle"/>
            <p:cNvSpPr/>
            <p:nvPr/>
          </p:nvSpPr>
          <p:spPr>
            <a:xfrm flipH="false" flipV="false" rot="0">
              <a:off x="0" y="0"/>
              <a:ext cx="454279" cy="558800"/>
            </a:xfrm>
            <a:custGeom>
              <a:avLst/>
              <a:gdLst/>
              <a:ahLst/>
              <a:cxnLst/>
              <a:rect r="r" b="b" t="t" l="l"/>
              <a:pathLst>
                <a:path h="558800" w="454279">
                  <a:moveTo>
                    <a:pt x="0" y="0"/>
                  </a:moveTo>
                  <a:lnTo>
                    <a:pt x="454279" y="0"/>
                  </a:lnTo>
                  <a:lnTo>
                    <a:pt x="454279" y="558800"/>
                  </a:lnTo>
                  <a:lnTo>
                    <a:pt x="0" y="558800"/>
                  </a:lnTo>
                  <a:lnTo>
                    <a:pt x="0" y="0"/>
                  </a:lnTo>
                  <a:close/>
                </a:path>
              </a:pathLst>
            </a:custGeom>
            <a:blipFill>
              <a:blip r:embed="rId6"/>
              <a:stretch>
                <a:fillRect l="-1059" t="0" r="-1059" b="0"/>
              </a:stretch>
            </a:blipFill>
          </p:spPr>
        </p:sp>
      </p:grpSp>
      <p:sp>
        <p:nvSpPr>
          <p:cNvPr name="TextBox 18" id="18"/>
          <p:cNvSpPr txBox="true"/>
          <p:nvPr/>
        </p:nvSpPr>
        <p:spPr>
          <a:xfrm rot="0">
            <a:off x="10170471" y="3954666"/>
            <a:ext cx="7105279"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More student participation in keeping classrooms and toilets clean</a:t>
            </a:r>
          </a:p>
        </p:txBody>
      </p:sp>
      <p:grpSp>
        <p:nvGrpSpPr>
          <p:cNvPr name="Group 19" id="19"/>
          <p:cNvGrpSpPr/>
          <p:nvPr/>
        </p:nvGrpSpPr>
        <p:grpSpPr>
          <a:xfrm rot="0">
            <a:off x="9601200" y="5326266"/>
            <a:ext cx="353282" cy="419100"/>
            <a:chOff x="0" y="0"/>
            <a:chExt cx="471043" cy="558800"/>
          </a:xfrm>
        </p:grpSpPr>
        <p:sp>
          <p:nvSpPr>
            <p:cNvPr name="Freeform 20" id="20" descr="CheckCircle"/>
            <p:cNvSpPr/>
            <p:nvPr/>
          </p:nvSpPr>
          <p:spPr>
            <a:xfrm flipH="false" flipV="false" rot="0">
              <a:off x="0" y="0"/>
              <a:ext cx="471043" cy="558800"/>
            </a:xfrm>
            <a:custGeom>
              <a:avLst/>
              <a:gdLst/>
              <a:ahLst/>
              <a:cxnLst/>
              <a:rect r="r" b="b" t="t" l="l"/>
              <a:pathLst>
                <a:path h="558800" w="471043">
                  <a:moveTo>
                    <a:pt x="0" y="0"/>
                  </a:moveTo>
                  <a:lnTo>
                    <a:pt x="471043" y="0"/>
                  </a:lnTo>
                  <a:lnTo>
                    <a:pt x="471043" y="558800"/>
                  </a:lnTo>
                  <a:lnTo>
                    <a:pt x="0" y="558800"/>
                  </a:lnTo>
                  <a:lnTo>
                    <a:pt x="0" y="0"/>
                  </a:lnTo>
                  <a:close/>
                </a:path>
              </a:pathLst>
            </a:custGeom>
            <a:blipFill>
              <a:blip r:embed="rId7"/>
              <a:stretch>
                <a:fillRect l="-361" t="0" r="-361" b="0"/>
              </a:stretch>
            </a:blipFill>
          </p:spPr>
        </p:sp>
      </p:grpSp>
      <p:sp>
        <p:nvSpPr>
          <p:cNvPr name="TextBox 21" id="21"/>
          <p:cNvSpPr txBox="true"/>
          <p:nvPr/>
        </p:nvSpPr>
        <p:spPr>
          <a:xfrm rot="0">
            <a:off x="10183120" y="5211966"/>
            <a:ext cx="7092248" cy="95250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Simple, repeatable messages that teachers continue afterwards</a:t>
            </a:r>
          </a:p>
        </p:txBody>
      </p:sp>
      <p:sp>
        <p:nvSpPr>
          <p:cNvPr name="TextBox 22" id="22"/>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3" id="23"/>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14</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12 · MONITORING &amp; EVALUATION</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Measuring reach, knowledge and practice</a:t>
            </a:r>
          </a:p>
        </p:txBody>
      </p:sp>
      <p:graphicFrame>
        <p:nvGraphicFramePr>
          <p:cNvPr name="Table 4" id="4"/>
          <p:cNvGraphicFramePr>
            <a:graphicFrameLocks noGrp="true"/>
          </p:cNvGraphicFramePr>
          <p:nvPr/>
        </p:nvGraphicFramePr>
        <p:xfrm>
          <a:off x="1219200" y="2811662"/>
          <a:ext cx="15786100" cy="4800600"/>
        </p:xfrm>
        <a:graphic>
          <a:graphicData uri="http://schemas.openxmlformats.org/drawingml/2006/table">
            <a:tbl>
              <a:tblPr/>
              <a:tblGrid>
                <a:gridCol w="5986449"/>
                <a:gridCol w="5675984"/>
                <a:gridCol w="4123667"/>
              </a:tblGrid>
              <a:tr h="685800">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Indicator</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14304A"/>
                    </a:solidFill>
                  </a:tcPr>
                </a:tc>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Tool</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14304A"/>
                    </a:solidFill>
                  </a:tcPr>
                </a:tc>
                <a:tc>
                  <a:txBody>
                    <a:bodyPr anchor="t" rtlCol="false"/>
                    <a:lstStyle/>
                    <a:p>
                      <a:pPr algn="l">
                        <a:lnSpc>
                          <a:spcPts val="3149"/>
                        </a:lnSpc>
                        <a:defRPr/>
                      </a:pPr>
                      <a:r>
                        <a:rPr lang="en-US" sz="2250" b="true">
                          <a:solidFill>
                            <a:srgbClr val="F7F6F2"/>
                          </a:solidFill>
                          <a:latin typeface="IBM Plex Sans Bold"/>
                          <a:ea typeface="IBM Plex Sans Bold"/>
                          <a:cs typeface="IBM Plex Sans Bold"/>
                          <a:sym typeface="IBM Plex Sans Bold"/>
                        </a:rPr>
                        <a:t>Timing</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14304A"/>
                    </a:solidFill>
                  </a:tcPr>
                </a:tc>
              </a:tr>
              <a:tr h="685800">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Schools and students reached</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Attendance register</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Every session</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Hygiene knowledge</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Pre- and post-session questionnaire</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Baseline and follow-up</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Handwashing technique</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Observation checklist</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Baseline and follow-up</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Hygiene facilities available</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Facility checklist</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Baseline</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r>
              <a:tr h="685800">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Teacher and student participation</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Participation record</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Every session</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FDFDFB"/>
                    </a:solidFill>
                  </a:tcPr>
                </a:tc>
              </a:tr>
              <a:tr h="685800">
                <a:tc>
                  <a:txBody>
                    <a:bodyPr anchor="t" rtlCol="false"/>
                    <a:lstStyle/>
                    <a:p>
                      <a:pPr algn="l">
                        <a:lnSpc>
                          <a:spcPts val="3149"/>
                        </a:lnSpc>
                        <a:defRPr/>
                      </a:pPr>
                      <a:r>
                        <a:rPr lang="en-US" sz="2250">
                          <a:solidFill>
                            <a:srgbClr val="14304A"/>
                          </a:solidFill>
                          <a:latin typeface="IBM Plex Sans"/>
                          <a:ea typeface="IBM Plex Sans"/>
                          <a:cs typeface="IBM Plex Sans"/>
                          <a:sym typeface="IBM Plex Sans"/>
                        </a:rPr>
                        <a:t>Activities conducted</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Activity log, posters, photos</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c>
                  <a:txBody>
                    <a:bodyPr anchor="t" rtlCol="false"/>
                    <a:lstStyle/>
                    <a:p>
                      <a:pPr algn="l">
                        <a:lnSpc>
                          <a:spcPts val="3149"/>
                        </a:lnSpc>
                        <a:defRPr/>
                      </a:pPr>
                      <a:r>
                        <a:rPr lang="en-US" sz="2250">
                          <a:solidFill>
                            <a:srgbClr val="3F4B57"/>
                          </a:solidFill>
                          <a:latin typeface="IBM Plex Sans"/>
                          <a:ea typeface="IBM Plex Sans"/>
                          <a:cs typeface="IBM Plex Sans"/>
                          <a:sym typeface="IBM Plex Sans"/>
                        </a:rPr>
                        <a:t>Throughout</a:t>
                      </a:r>
                      <a:endParaRPr lang="en-US" sz="1100"/>
                    </a:p>
                  </a:txBody>
                  <a:tcPr marL="152400" marR="152400" marT="152400" marB="152400" anchor="t">
                    <a:lnL cmpd="sng" algn="ctr" cap="flat" w="12700">
                      <a:solidFill>
                        <a:srgbClr val="CFD0D0"/>
                      </a:solidFill>
                      <a:prstDash val="solid"/>
                      <a:round/>
                      <a:headEnd type="none" w="med" len="med"/>
                      <a:tailEnd type="none" w="med" len="med"/>
                    </a:lnL>
                    <a:lnR cmpd="sng" algn="ctr" cap="flat" w="12700">
                      <a:solidFill>
                        <a:srgbClr val="CFD0D0"/>
                      </a:solidFill>
                      <a:prstDash val="solid"/>
                      <a:round/>
                      <a:headEnd type="none" w="med" len="med"/>
                      <a:tailEnd type="none" w="med" len="med"/>
                    </a:lnR>
                    <a:lnT cmpd="sng" algn="ctr" cap="flat" w="12700">
                      <a:solidFill>
                        <a:srgbClr val="CFD0D0"/>
                      </a:solidFill>
                      <a:prstDash val="solid"/>
                      <a:round/>
                      <a:headEnd type="none" w="med" len="med"/>
                      <a:tailEnd type="none" w="med" len="med"/>
                    </a:lnT>
                    <a:lnB cmpd="sng" algn="ctr" cap="flat" w="12700">
                      <a:solidFill>
                        <a:srgbClr val="CFD0D0"/>
                      </a:solidFill>
                      <a:prstDash val="solid"/>
                      <a:round/>
                      <a:headEnd type="none" w="med" len="med"/>
                      <a:tailEnd type="none" w="med" len="med"/>
                    </a:lnB>
                    <a:solidFill>
                      <a:srgbClr val="EAF0EE"/>
                    </a:solidFill>
                  </a:tcPr>
                </a:tc>
              </a:tr>
            </a:tbl>
          </a:graphicData>
        </a:graphic>
      </p:graphicFrame>
      <p:sp>
        <p:nvSpPr>
          <p:cNvPr name="TextBox 5" id="5"/>
          <p:cNvSpPr txBox="true"/>
          <p:nvPr/>
        </p:nvSpPr>
        <p:spPr>
          <a:xfrm rot="0">
            <a:off x="1219200" y="7983741"/>
            <a:ext cx="16325088" cy="552450"/>
          </a:xfrm>
          <a:prstGeom prst="rect">
            <a:avLst/>
          </a:prstGeom>
        </p:spPr>
        <p:txBody>
          <a:bodyPr anchor="t" rtlCol="false" tIns="0" lIns="0" bIns="0" rIns="0">
            <a:spAutoFit/>
          </a:bodyPr>
          <a:lstStyle/>
          <a:p>
            <a:pPr algn="l">
              <a:lnSpc>
                <a:spcPts val="3149"/>
              </a:lnSpc>
            </a:pPr>
            <a:r>
              <a:rPr lang="en-US" sz="2250">
                <a:solidFill>
                  <a:srgbClr val="14304A"/>
                </a:solidFill>
                <a:latin typeface="IBM Plex Sans"/>
                <a:ea typeface="IBM Plex Sans"/>
                <a:cs typeface="IBM Plex Sans"/>
                <a:sym typeface="IBM Plex Sans"/>
              </a:rPr>
              <a:t>Comparing baseline and follow-up results shows which topics need further education.</a:t>
            </a:r>
          </a:p>
        </p:txBody>
      </p:sp>
      <p:sp>
        <p:nvSpPr>
          <p:cNvPr name="TextBox 6" id="6"/>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7" id="7"/>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15</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4304A"/>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7FD1C0"/>
                </a:solidFill>
                <a:latin typeface="IBM Plex Sans Bold"/>
                <a:ea typeface="IBM Plex Sans Bold"/>
                <a:cs typeface="IBM Plex Sans Bold"/>
                <a:sym typeface="IBM Plex Sans Bold"/>
              </a:rPr>
              <a:t>13 · CONCLUSION</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F7F6F2"/>
                </a:solidFill>
                <a:latin typeface="Source Serif Pro Bold"/>
                <a:ea typeface="Source Serif Pro Bold"/>
                <a:cs typeface="Source Serif Pro Bold"/>
                <a:sym typeface="Source Serif Pro Bold"/>
              </a:rPr>
              <a:t>Small habits, lasting impact</a:t>
            </a:r>
          </a:p>
        </p:txBody>
      </p:sp>
      <p:sp>
        <p:nvSpPr>
          <p:cNvPr name="TextBox 4" id="4"/>
          <p:cNvSpPr txBox="true"/>
          <p:nvPr/>
        </p:nvSpPr>
        <p:spPr>
          <a:xfrm rot="0">
            <a:off x="1219200" y="2821191"/>
            <a:ext cx="16325088" cy="2223049"/>
          </a:xfrm>
          <a:prstGeom prst="rect">
            <a:avLst/>
          </a:prstGeom>
        </p:spPr>
        <p:txBody>
          <a:bodyPr anchor="t" rtlCol="false" tIns="0" lIns="0" bIns="0" rIns="0">
            <a:spAutoFit/>
          </a:bodyPr>
          <a:lstStyle/>
          <a:p>
            <a:pPr algn="l">
              <a:lnSpc>
                <a:spcPts val="5757"/>
              </a:lnSpc>
            </a:pPr>
            <a:r>
              <a:rPr lang="en-US" sz="4800">
                <a:solidFill>
                  <a:srgbClr val="F7F6F2"/>
                </a:solidFill>
                <a:latin typeface="Source Serif Pro"/>
                <a:ea typeface="Source Serif Pro"/>
                <a:cs typeface="Source Serif Pro"/>
                <a:sym typeface="Source Serif Pro"/>
              </a:rPr>
              <a:t>Personal hygiene is a practical, low-cost foundation of infection prevention, and habits learned at school travel home.</a:t>
            </a:r>
          </a:p>
        </p:txBody>
      </p:sp>
      <p:sp>
        <p:nvSpPr>
          <p:cNvPr name="AutoShape 5" id="5"/>
          <p:cNvSpPr/>
          <p:nvPr/>
        </p:nvSpPr>
        <p:spPr>
          <a:xfrm rot="6540">
            <a:off x="1200121" y="7314305"/>
            <a:ext cx="5016456" cy="0"/>
          </a:xfrm>
          <a:prstGeom prst="line">
            <a:avLst/>
          </a:prstGeom>
          <a:ln cap="rnd" w="9525">
            <a:solidFill>
              <a:srgbClr val="7FD1C0"/>
            </a:solidFill>
            <a:prstDash val="solid"/>
            <a:headEnd type="none" len="sm" w="sm"/>
            <a:tailEnd type="none" len="sm" w="sm"/>
          </a:ln>
        </p:spPr>
      </p:sp>
      <p:sp>
        <p:nvSpPr>
          <p:cNvPr name="TextBox 6" id="6"/>
          <p:cNvSpPr txBox="true"/>
          <p:nvPr/>
        </p:nvSpPr>
        <p:spPr>
          <a:xfrm rot="0">
            <a:off x="1219200" y="7452417"/>
            <a:ext cx="5127650" cy="472383"/>
          </a:xfrm>
          <a:prstGeom prst="rect">
            <a:avLst/>
          </a:prstGeom>
        </p:spPr>
        <p:txBody>
          <a:bodyPr anchor="t" rtlCol="false" tIns="0" lIns="0" bIns="0" rIns="0">
            <a:spAutoFit/>
          </a:bodyPr>
          <a:lstStyle/>
          <a:p>
            <a:pPr algn="l">
              <a:lnSpc>
                <a:spcPts val="2520"/>
              </a:lnSpc>
            </a:pPr>
            <a:r>
              <a:rPr lang="en-US" b="true" sz="1800" spc="149">
                <a:solidFill>
                  <a:srgbClr val="7FD1C0"/>
                </a:solidFill>
                <a:latin typeface="IBM Plex Sans Bold"/>
                <a:ea typeface="IBM Plex Sans Bold"/>
                <a:cs typeface="IBM Plex Sans Bold"/>
                <a:sym typeface="IBM Plex Sans Bold"/>
              </a:rPr>
              <a:t>STRUCTURE</a:t>
            </a:r>
          </a:p>
        </p:txBody>
      </p:sp>
      <p:sp>
        <p:nvSpPr>
          <p:cNvPr name="TextBox 7" id="7"/>
          <p:cNvSpPr txBox="true"/>
          <p:nvPr/>
        </p:nvSpPr>
        <p:spPr>
          <a:xfrm rot="0">
            <a:off x="1219200" y="7848600"/>
            <a:ext cx="5127650" cy="952500"/>
          </a:xfrm>
          <a:prstGeom prst="rect">
            <a:avLst/>
          </a:prstGeom>
        </p:spPr>
        <p:txBody>
          <a:bodyPr anchor="t" rtlCol="false" tIns="0" lIns="0" bIns="0" rIns="0">
            <a:spAutoFit/>
          </a:bodyPr>
          <a:lstStyle/>
          <a:p>
            <a:pPr algn="l">
              <a:lnSpc>
                <a:spcPts val="3149"/>
              </a:lnSpc>
            </a:pPr>
            <a:r>
              <a:rPr lang="en-US" sz="2250">
                <a:solidFill>
                  <a:srgbClr val="D8E6E3"/>
                </a:solidFill>
                <a:latin typeface="IBM Plex Sans"/>
                <a:ea typeface="IBM Plex Sans"/>
                <a:cs typeface="IBM Plex Sans"/>
                <a:sym typeface="IBM Plex Sans"/>
              </a:rPr>
              <a:t>5 schools form one platform for education and monitoring.</a:t>
            </a:r>
          </a:p>
        </p:txBody>
      </p:sp>
      <p:sp>
        <p:nvSpPr>
          <p:cNvPr name="AutoShape 8" id="8"/>
          <p:cNvSpPr/>
          <p:nvPr/>
        </p:nvSpPr>
        <p:spPr>
          <a:xfrm rot="6540">
            <a:off x="6635610" y="7314305"/>
            <a:ext cx="5016608" cy="0"/>
          </a:xfrm>
          <a:prstGeom prst="line">
            <a:avLst/>
          </a:prstGeom>
          <a:ln cap="rnd" w="9525">
            <a:solidFill>
              <a:srgbClr val="7FD1C0"/>
            </a:solidFill>
            <a:prstDash val="solid"/>
            <a:headEnd type="none" len="sm" w="sm"/>
            <a:tailEnd type="none" len="sm" w="sm"/>
          </a:ln>
        </p:spPr>
      </p:sp>
      <p:sp>
        <p:nvSpPr>
          <p:cNvPr name="TextBox 9" id="9"/>
          <p:cNvSpPr txBox="true"/>
          <p:nvPr/>
        </p:nvSpPr>
        <p:spPr>
          <a:xfrm rot="0">
            <a:off x="6654698" y="7452417"/>
            <a:ext cx="5127803" cy="472383"/>
          </a:xfrm>
          <a:prstGeom prst="rect">
            <a:avLst/>
          </a:prstGeom>
        </p:spPr>
        <p:txBody>
          <a:bodyPr anchor="t" rtlCol="false" tIns="0" lIns="0" bIns="0" rIns="0">
            <a:spAutoFit/>
          </a:bodyPr>
          <a:lstStyle/>
          <a:p>
            <a:pPr algn="l">
              <a:lnSpc>
                <a:spcPts val="2520"/>
              </a:lnSpc>
            </a:pPr>
            <a:r>
              <a:rPr lang="en-US" b="true" sz="1800" spc="149">
                <a:solidFill>
                  <a:srgbClr val="7FD1C0"/>
                </a:solidFill>
                <a:latin typeface="IBM Plex Sans Bold"/>
                <a:ea typeface="IBM Plex Sans Bold"/>
                <a:cs typeface="IBM Plex Sans Bold"/>
                <a:sym typeface="IBM Plex Sans Bold"/>
              </a:rPr>
              <a:t>SUSTAINABILITY</a:t>
            </a:r>
          </a:p>
        </p:txBody>
      </p:sp>
      <p:sp>
        <p:nvSpPr>
          <p:cNvPr name="TextBox 10" id="10"/>
          <p:cNvSpPr txBox="true"/>
          <p:nvPr/>
        </p:nvSpPr>
        <p:spPr>
          <a:xfrm rot="0">
            <a:off x="6654698" y="7848600"/>
            <a:ext cx="5127803" cy="952500"/>
          </a:xfrm>
          <a:prstGeom prst="rect">
            <a:avLst/>
          </a:prstGeom>
        </p:spPr>
        <p:txBody>
          <a:bodyPr anchor="t" rtlCol="false" tIns="0" lIns="0" bIns="0" rIns="0">
            <a:spAutoFit/>
          </a:bodyPr>
          <a:lstStyle/>
          <a:p>
            <a:pPr algn="l">
              <a:lnSpc>
                <a:spcPts val="3149"/>
              </a:lnSpc>
            </a:pPr>
            <a:r>
              <a:rPr lang="en-US" sz="2250">
                <a:solidFill>
                  <a:srgbClr val="D8E6E3"/>
                </a:solidFill>
                <a:latin typeface="IBM Plex Sans"/>
                <a:ea typeface="IBM Plex Sans"/>
                <a:cs typeface="IBM Plex Sans"/>
                <a:sym typeface="IBM Plex Sans"/>
              </a:rPr>
              <a:t>Teachers carry the messages beyond the programme.</a:t>
            </a:r>
          </a:p>
        </p:txBody>
      </p:sp>
      <p:sp>
        <p:nvSpPr>
          <p:cNvPr name="AutoShape 11" id="11"/>
          <p:cNvSpPr/>
          <p:nvPr/>
        </p:nvSpPr>
        <p:spPr>
          <a:xfrm rot="6540">
            <a:off x="12071280" y="7314305"/>
            <a:ext cx="5016608" cy="0"/>
          </a:xfrm>
          <a:prstGeom prst="line">
            <a:avLst/>
          </a:prstGeom>
          <a:ln cap="rnd" w="9525">
            <a:solidFill>
              <a:srgbClr val="7FD1C0"/>
            </a:solidFill>
            <a:prstDash val="solid"/>
            <a:headEnd type="none" len="sm" w="sm"/>
            <a:tailEnd type="none" len="sm" w="sm"/>
          </a:ln>
        </p:spPr>
      </p:sp>
      <p:sp>
        <p:nvSpPr>
          <p:cNvPr name="TextBox 12" id="12"/>
          <p:cNvSpPr txBox="true"/>
          <p:nvPr/>
        </p:nvSpPr>
        <p:spPr>
          <a:xfrm rot="0">
            <a:off x="12090349" y="7452417"/>
            <a:ext cx="5127803" cy="472383"/>
          </a:xfrm>
          <a:prstGeom prst="rect">
            <a:avLst/>
          </a:prstGeom>
        </p:spPr>
        <p:txBody>
          <a:bodyPr anchor="t" rtlCol="false" tIns="0" lIns="0" bIns="0" rIns="0">
            <a:spAutoFit/>
          </a:bodyPr>
          <a:lstStyle/>
          <a:p>
            <a:pPr algn="l">
              <a:lnSpc>
                <a:spcPts val="2520"/>
              </a:lnSpc>
            </a:pPr>
            <a:r>
              <a:rPr lang="en-US" b="true" sz="1800" spc="149">
                <a:solidFill>
                  <a:srgbClr val="7FD1C0"/>
                </a:solidFill>
                <a:latin typeface="IBM Plex Sans Bold"/>
                <a:ea typeface="IBM Plex Sans Bold"/>
                <a:cs typeface="IBM Plex Sans Bold"/>
                <a:sym typeface="IBM Plex Sans Bold"/>
              </a:rPr>
              <a:t>CONDITIONS</a:t>
            </a:r>
          </a:p>
        </p:txBody>
      </p:sp>
      <p:sp>
        <p:nvSpPr>
          <p:cNvPr name="TextBox 13" id="13"/>
          <p:cNvSpPr txBox="true"/>
          <p:nvPr/>
        </p:nvSpPr>
        <p:spPr>
          <a:xfrm rot="0">
            <a:off x="12090349" y="7848600"/>
            <a:ext cx="5127803" cy="952500"/>
          </a:xfrm>
          <a:prstGeom prst="rect">
            <a:avLst/>
          </a:prstGeom>
        </p:spPr>
        <p:txBody>
          <a:bodyPr anchor="t" rtlCol="false" tIns="0" lIns="0" bIns="0" rIns="0">
            <a:spAutoFit/>
          </a:bodyPr>
          <a:lstStyle/>
          <a:p>
            <a:pPr algn="l">
              <a:lnSpc>
                <a:spcPts val="3149"/>
              </a:lnSpc>
            </a:pPr>
            <a:r>
              <a:rPr lang="en-US" sz="2250">
                <a:solidFill>
                  <a:srgbClr val="D8E6E3"/>
                </a:solidFill>
                <a:latin typeface="IBM Plex Sans"/>
                <a:ea typeface="IBM Plex Sans"/>
                <a:cs typeface="IBM Plex Sans"/>
                <a:sym typeface="IBM Plex Sans"/>
              </a:rPr>
              <a:t>Facilities, safe water and repetition drive impact.</a:t>
            </a:r>
          </a:p>
        </p:txBody>
      </p:sp>
      <p:sp>
        <p:nvSpPr>
          <p:cNvPr name="TextBox 14" id="14"/>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A9C3C8"/>
                </a:solidFill>
                <a:latin typeface="IBM Plex Sans"/>
                <a:ea typeface="IBM Plex Sans"/>
                <a:cs typeface="IBM Plex Sans"/>
                <a:sym typeface="IBM Plex Sans"/>
              </a:rPr>
              <a:t>Personal Hygiene &amp; Infection Prevention · School Health Programme, Pakistan</a:t>
            </a:r>
          </a:p>
        </p:txBody>
      </p:sp>
      <p:sp>
        <p:nvSpPr>
          <p:cNvPr name="TextBox 15" id="15"/>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A9C3C8"/>
                </a:solidFill>
                <a:latin typeface="IBM Plex Sans"/>
                <a:ea typeface="IBM Plex Sans"/>
                <a:cs typeface="IBM Plex Sans"/>
                <a:sym typeface="IBM Plex Sans"/>
              </a:rPr>
              <a:t>16</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225">
                <a:solidFill>
                  <a:srgbClr val="0B6E60"/>
                </a:solidFill>
                <a:latin typeface="IBM Plex Sans Bold"/>
                <a:ea typeface="IBM Plex Sans Bold"/>
                <a:cs typeface="IBM Plex Sans Bold"/>
                <a:sym typeface="IBM Plex Sans Bold"/>
              </a:rPr>
              <a:t>13 · REFERENCES</a:t>
            </a:r>
          </a:p>
        </p:txBody>
      </p:sp>
      <p:sp>
        <p:nvSpPr>
          <p:cNvPr name="TextBox 3" id="3"/>
          <p:cNvSpPr txBox="true"/>
          <p:nvPr/>
        </p:nvSpPr>
        <p:spPr>
          <a:xfrm rot="0">
            <a:off x="1219200" y="1720158"/>
            <a:ext cx="16325088" cy="672408"/>
          </a:xfrm>
          <a:prstGeom prst="rect">
            <a:avLst/>
          </a:prstGeom>
        </p:spPr>
        <p:txBody>
          <a:bodyPr anchor="t" rtlCol="false" tIns="0" lIns="0" bIns="0" rIns="0">
            <a:spAutoFit/>
          </a:bodyPr>
          <a:lstStyle/>
          <a:p>
            <a:pPr algn="l">
              <a:lnSpc>
                <a:spcPts val="5520"/>
              </a:lnSpc>
            </a:pPr>
            <a:r>
              <a:rPr lang="en-US" sz="4800" b="true">
                <a:solidFill>
                  <a:srgbClr val="14304A"/>
                </a:solidFill>
                <a:latin typeface="Source Serif Pro Bold"/>
                <a:ea typeface="Source Serif Pro Bold"/>
                <a:cs typeface="Source Serif Pro Bold"/>
                <a:sym typeface="Source Serif Pro Bold"/>
              </a:rPr>
              <a:t>Sources and guidance</a:t>
            </a:r>
          </a:p>
        </p:txBody>
      </p:sp>
      <p:sp>
        <p:nvSpPr>
          <p:cNvPr name="AutoShape 4" id="4"/>
          <p:cNvSpPr/>
          <p:nvPr/>
        </p:nvSpPr>
        <p:spPr>
          <a:xfrm rot="2040">
            <a:off x="1204912" y="3887276"/>
            <a:ext cx="15878175" cy="0"/>
          </a:xfrm>
          <a:prstGeom prst="line">
            <a:avLst/>
          </a:prstGeom>
          <a:ln cap="rnd" w="9525">
            <a:solidFill>
              <a:srgbClr val="D3DCD9"/>
            </a:solidFill>
            <a:prstDash val="solid"/>
            <a:headEnd type="none" len="sm" w="sm"/>
            <a:tailEnd type="none" len="sm" w="sm"/>
          </a:ln>
        </p:spPr>
      </p:sp>
      <p:sp>
        <p:nvSpPr>
          <p:cNvPr name="TextBox 5" id="5"/>
          <p:cNvSpPr txBox="true"/>
          <p:nvPr/>
        </p:nvSpPr>
        <p:spPr>
          <a:xfrm rot="0">
            <a:off x="1219200" y="2849766"/>
            <a:ext cx="609600"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[1]</a:t>
            </a:r>
          </a:p>
        </p:txBody>
      </p:sp>
      <p:sp>
        <p:nvSpPr>
          <p:cNvPr name="TextBox 6" id="6"/>
          <p:cNvSpPr txBox="true"/>
          <p:nvPr/>
        </p:nvSpPr>
        <p:spPr>
          <a:xfrm rot="0">
            <a:off x="1981200" y="2764041"/>
            <a:ext cx="15540228" cy="1040025"/>
          </a:xfrm>
          <a:prstGeom prst="rect">
            <a:avLst/>
          </a:prstGeom>
        </p:spPr>
        <p:txBody>
          <a:bodyPr anchor="t" rtlCol="false" tIns="0" lIns="0" bIns="0" rIns="0">
            <a:spAutoFit/>
          </a:bodyPr>
          <a:lstStyle/>
          <a:p>
            <a:pPr algn="l">
              <a:lnSpc>
                <a:spcPts val="3150"/>
              </a:lnSpc>
            </a:pPr>
            <a:r>
              <a:rPr lang="en-US" sz="2100">
                <a:solidFill>
                  <a:srgbClr val="14304A"/>
                </a:solidFill>
                <a:latin typeface="IBM Plex Sans"/>
                <a:ea typeface="IBM Plex Sans"/>
                <a:cs typeface="IBM Plex Sans"/>
                <a:sym typeface="IBM Plex Sans"/>
              </a:rPr>
              <a:t>World Health Organization (2009). </a:t>
            </a:r>
            <a:r>
              <a:rPr lang="en-US" sz="2100" i="true">
                <a:solidFill>
                  <a:srgbClr val="14304A"/>
                </a:solidFill>
                <a:latin typeface="IBM Plex Sans Italics"/>
                <a:ea typeface="IBM Plex Sans Italics"/>
                <a:cs typeface="IBM Plex Sans Italics"/>
                <a:sym typeface="IBM Plex Sans Italics"/>
              </a:rPr>
              <a:t>WHO Guidelines on Hand Hygiene in Health Care.</a:t>
            </a:r>
            <a:r>
              <a:rPr lang="en-US" sz="2100">
                <a:solidFill>
                  <a:srgbClr val="14304A"/>
                </a:solidFill>
                <a:latin typeface="IBM Plex Sans"/>
                <a:ea typeface="IBM Plex Sans"/>
                <a:cs typeface="IBM Plex Sans"/>
                <a:sym typeface="IBM Plex Sans"/>
              </a:rPr>
              <a:t> Geneva: WHO.</a:t>
            </a:r>
          </a:p>
        </p:txBody>
      </p:sp>
      <p:sp>
        <p:nvSpPr>
          <p:cNvPr name="AutoShape 7" id="7"/>
          <p:cNvSpPr/>
          <p:nvPr/>
        </p:nvSpPr>
        <p:spPr>
          <a:xfrm rot="2040">
            <a:off x="1204912" y="4907270"/>
            <a:ext cx="15878175" cy="0"/>
          </a:xfrm>
          <a:prstGeom prst="line">
            <a:avLst/>
          </a:prstGeom>
          <a:ln cap="rnd" w="9525">
            <a:solidFill>
              <a:srgbClr val="D3DCD9"/>
            </a:solidFill>
            <a:prstDash val="solid"/>
            <a:headEnd type="none" len="sm" w="sm"/>
            <a:tailEnd type="none" len="sm" w="sm"/>
          </a:ln>
        </p:spPr>
      </p:sp>
      <p:sp>
        <p:nvSpPr>
          <p:cNvPr name="TextBox 8" id="8"/>
          <p:cNvSpPr txBox="true"/>
          <p:nvPr/>
        </p:nvSpPr>
        <p:spPr>
          <a:xfrm rot="0">
            <a:off x="1219200" y="3869760"/>
            <a:ext cx="609600"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[2]</a:t>
            </a:r>
          </a:p>
        </p:txBody>
      </p:sp>
      <p:sp>
        <p:nvSpPr>
          <p:cNvPr name="TextBox 9" id="9"/>
          <p:cNvSpPr txBox="true"/>
          <p:nvPr/>
        </p:nvSpPr>
        <p:spPr>
          <a:xfrm rot="0">
            <a:off x="1981200" y="3784035"/>
            <a:ext cx="15540228" cy="1040025"/>
          </a:xfrm>
          <a:prstGeom prst="rect">
            <a:avLst/>
          </a:prstGeom>
        </p:spPr>
        <p:txBody>
          <a:bodyPr anchor="t" rtlCol="false" tIns="0" lIns="0" bIns="0" rIns="0">
            <a:spAutoFit/>
          </a:bodyPr>
          <a:lstStyle/>
          <a:p>
            <a:pPr algn="l">
              <a:lnSpc>
                <a:spcPts val="3150"/>
              </a:lnSpc>
            </a:pPr>
            <a:r>
              <a:rPr lang="en-US" sz="2100">
                <a:solidFill>
                  <a:srgbClr val="14304A"/>
                </a:solidFill>
                <a:latin typeface="IBM Plex Sans"/>
                <a:ea typeface="IBM Plex Sans"/>
                <a:cs typeface="IBM Plex Sans"/>
                <a:sym typeface="IBM Plex Sans"/>
              </a:rPr>
              <a:t>WHO. </a:t>
            </a:r>
            <a:r>
              <a:rPr lang="en-US" sz="2100" i="true">
                <a:solidFill>
                  <a:srgbClr val="14304A"/>
                </a:solidFill>
                <a:latin typeface="IBM Plex Sans Italics"/>
                <a:ea typeface="IBM Plex Sans Italics"/>
                <a:cs typeface="IBM Plex Sans Italics"/>
                <a:sym typeface="IBM Plex Sans Italics"/>
              </a:rPr>
              <a:t>Infection prevention and control: guidance and resources.</a:t>
            </a:r>
            <a:r>
              <a:rPr lang="en-US" sz="2100">
                <a:solidFill>
                  <a:srgbClr val="14304A"/>
                </a:solidFill>
                <a:latin typeface="IBM Plex Sans"/>
                <a:ea typeface="IBM Plex Sans"/>
                <a:cs typeface="IBM Plex Sans"/>
                <a:sym typeface="IBM Plex Sans"/>
              </a:rPr>
              <a:t> who.int [accessed 24.09.2026]</a:t>
            </a:r>
          </a:p>
        </p:txBody>
      </p:sp>
      <p:sp>
        <p:nvSpPr>
          <p:cNvPr name="AutoShape 10" id="10"/>
          <p:cNvSpPr/>
          <p:nvPr/>
        </p:nvSpPr>
        <p:spPr>
          <a:xfrm rot="2040">
            <a:off x="1204912" y="5927274"/>
            <a:ext cx="15878175" cy="0"/>
          </a:xfrm>
          <a:prstGeom prst="line">
            <a:avLst/>
          </a:prstGeom>
          <a:ln cap="rnd" w="9525">
            <a:solidFill>
              <a:srgbClr val="D3DCD9"/>
            </a:solidFill>
            <a:prstDash val="solid"/>
            <a:headEnd type="none" len="sm" w="sm"/>
            <a:tailEnd type="none" len="sm" w="sm"/>
          </a:ln>
        </p:spPr>
      </p:sp>
      <p:sp>
        <p:nvSpPr>
          <p:cNvPr name="TextBox 11" id="11"/>
          <p:cNvSpPr txBox="true"/>
          <p:nvPr/>
        </p:nvSpPr>
        <p:spPr>
          <a:xfrm rot="0">
            <a:off x="1219200" y="4889764"/>
            <a:ext cx="609600"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[3]</a:t>
            </a:r>
          </a:p>
        </p:txBody>
      </p:sp>
      <p:sp>
        <p:nvSpPr>
          <p:cNvPr name="TextBox 12" id="12"/>
          <p:cNvSpPr txBox="true"/>
          <p:nvPr/>
        </p:nvSpPr>
        <p:spPr>
          <a:xfrm rot="0">
            <a:off x="1981200" y="4804039"/>
            <a:ext cx="15540228" cy="1040025"/>
          </a:xfrm>
          <a:prstGeom prst="rect">
            <a:avLst/>
          </a:prstGeom>
        </p:spPr>
        <p:txBody>
          <a:bodyPr anchor="t" rtlCol="false" tIns="0" lIns="0" bIns="0" rIns="0">
            <a:spAutoFit/>
          </a:bodyPr>
          <a:lstStyle/>
          <a:p>
            <a:pPr algn="l">
              <a:lnSpc>
                <a:spcPts val="3150"/>
              </a:lnSpc>
            </a:pPr>
            <a:r>
              <a:rPr lang="en-US" sz="2100">
                <a:solidFill>
                  <a:srgbClr val="14304A"/>
                </a:solidFill>
                <a:latin typeface="IBM Plex Sans"/>
                <a:ea typeface="IBM Plex Sans"/>
                <a:cs typeface="IBM Plex Sans"/>
                <a:sym typeface="IBM Plex Sans"/>
              </a:rPr>
              <a:t>UNICEF. </a:t>
            </a:r>
            <a:r>
              <a:rPr lang="en-US" sz="2100" i="true">
                <a:solidFill>
                  <a:srgbClr val="14304A"/>
                </a:solidFill>
                <a:latin typeface="IBM Plex Sans Italics"/>
                <a:ea typeface="IBM Plex Sans Italics"/>
                <a:cs typeface="IBM Plex Sans Italics"/>
                <a:sym typeface="IBM Plex Sans Italics"/>
              </a:rPr>
              <a:t>Water, Sanitation and Hygiene (WASH) in Schools.</a:t>
            </a:r>
            <a:r>
              <a:rPr lang="en-US" sz="2100">
                <a:solidFill>
                  <a:srgbClr val="14304A"/>
                </a:solidFill>
                <a:latin typeface="IBM Plex Sans"/>
                <a:ea typeface="IBM Plex Sans"/>
                <a:cs typeface="IBM Plex Sans"/>
                <a:sym typeface="IBM Plex Sans"/>
              </a:rPr>
              <a:t> unicef.org [accessed 24.09.2026]</a:t>
            </a:r>
          </a:p>
        </p:txBody>
      </p:sp>
      <p:sp>
        <p:nvSpPr>
          <p:cNvPr name="AutoShape 13" id="13"/>
          <p:cNvSpPr/>
          <p:nvPr/>
        </p:nvSpPr>
        <p:spPr>
          <a:xfrm rot="2040">
            <a:off x="1204912" y="6947278"/>
            <a:ext cx="15878175" cy="0"/>
          </a:xfrm>
          <a:prstGeom prst="line">
            <a:avLst/>
          </a:prstGeom>
          <a:ln cap="rnd" w="9525">
            <a:solidFill>
              <a:srgbClr val="D3DCD9"/>
            </a:solidFill>
            <a:prstDash val="solid"/>
            <a:headEnd type="none" len="sm" w="sm"/>
            <a:tailEnd type="none" len="sm" w="sm"/>
          </a:ln>
        </p:spPr>
      </p:sp>
      <p:sp>
        <p:nvSpPr>
          <p:cNvPr name="TextBox 14" id="14"/>
          <p:cNvSpPr txBox="true"/>
          <p:nvPr/>
        </p:nvSpPr>
        <p:spPr>
          <a:xfrm rot="0">
            <a:off x="1219200" y="5909758"/>
            <a:ext cx="609600"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[4]</a:t>
            </a:r>
          </a:p>
        </p:txBody>
      </p:sp>
      <p:sp>
        <p:nvSpPr>
          <p:cNvPr name="TextBox 15" id="15"/>
          <p:cNvSpPr txBox="true"/>
          <p:nvPr/>
        </p:nvSpPr>
        <p:spPr>
          <a:xfrm rot="0">
            <a:off x="1981200" y="5824033"/>
            <a:ext cx="15540228" cy="1040025"/>
          </a:xfrm>
          <a:prstGeom prst="rect">
            <a:avLst/>
          </a:prstGeom>
        </p:spPr>
        <p:txBody>
          <a:bodyPr anchor="t" rtlCol="false" tIns="0" lIns="0" bIns="0" rIns="0">
            <a:spAutoFit/>
          </a:bodyPr>
          <a:lstStyle/>
          <a:p>
            <a:pPr algn="l">
              <a:lnSpc>
                <a:spcPts val="3150"/>
              </a:lnSpc>
            </a:pPr>
            <a:r>
              <a:rPr lang="en-US" sz="2100">
                <a:solidFill>
                  <a:srgbClr val="14304A"/>
                </a:solidFill>
                <a:latin typeface="IBM Plex Sans"/>
                <a:ea typeface="IBM Plex Sans"/>
                <a:cs typeface="IBM Plex Sans"/>
                <a:sym typeface="IBM Plex Sans"/>
              </a:rPr>
              <a:t>WHO/UNICEF Joint Monitoring Programme (JMP). </a:t>
            </a:r>
            <a:r>
              <a:rPr lang="en-US" sz="2100" i="true">
                <a:solidFill>
                  <a:srgbClr val="14304A"/>
                </a:solidFill>
                <a:latin typeface="IBM Plex Sans Italics"/>
                <a:ea typeface="IBM Plex Sans Italics"/>
                <a:cs typeface="IBM Plex Sans Italics"/>
                <a:sym typeface="IBM Plex Sans Italics"/>
              </a:rPr>
              <a:t>WASH in schools data.</a:t>
            </a:r>
            <a:r>
              <a:rPr lang="en-US" sz="2100">
                <a:solidFill>
                  <a:srgbClr val="14304A"/>
                </a:solidFill>
                <a:latin typeface="IBM Plex Sans"/>
                <a:ea typeface="IBM Plex Sans"/>
                <a:cs typeface="IBM Plex Sans"/>
                <a:sym typeface="IBM Plex Sans"/>
              </a:rPr>
              <a:t> washdata.org [accessed 24.09.2026]</a:t>
            </a:r>
          </a:p>
        </p:txBody>
      </p:sp>
      <p:sp>
        <p:nvSpPr>
          <p:cNvPr name="AutoShape 16" id="16"/>
          <p:cNvSpPr/>
          <p:nvPr/>
        </p:nvSpPr>
        <p:spPr>
          <a:xfrm rot="2040">
            <a:off x="1204912" y="7967272"/>
            <a:ext cx="15878175" cy="0"/>
          </a:xfrm>
          <a:prstGeom prst="line">
            <a:avLst/>
          </a:prstGeom>
          <a:ln cap="rnd" w="9525">
            <a:solidFill>
              <a:srgbClr val="D3DCD9"/>
            </a:solidFill>
            <a:prstDash val="solid"/>
            <a:headEnd type="none" len="sm" w="sm"/>
            <a:tailEnd type="none" len="sm" w="sm"/>
          </a:ln>
        </p:spPr>
      </p:sp>
      <p:sp>
        <p:nvSpPr>
          <p:cNvPr name="TextBox 17" id="17"/>
          <p:cNvSpPr txBox="true"/>
          <p:nvPr/>
        </p:nvSpPr>
        <p:spPr>
          <a:xfrm rot="0">
            <a:off x="1219200" y="6929761"/>
            <a:ext cx="609600"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[5]</a:t>
            </a:r>
          </a:p>
        </p:txBody>
      </p:sp>
      <p:sp>
        <p:nvSpPr>
          <p:cNvPr name="TextBox 18" id="18"/>
          <p:cNvSpPr txBox="true"/>
          <p:nvPr/>
        </p:nvSpPr>
        <p:spPr>
          <a:xfrm rot="0">
            <a:off x="1981200" y="6844036"/>
            <a:ext cx="15540228" cy="1040025"/>
          </a:xfrm>
          <a:prstGeom prst="rect">
            <a:avLst/>
          </a:prstGeom>
        </p:spPr>
        <p:txBody>
          <a:bodyPr anchor="t" rtlCol="false" tIns="0" lIns="0" bIns="0" rIns="0">
            <a:spAutoFit/>
          </a:bodyPr>
          <a:lstStyle/>
          <a:p>
            <a:pPr algn="l">
              <a:lnSpc>
                <a:spcPts val="3150"/>
              </a:lnSpc>
            </a:pPr>
            <a:r>
              <a:rPr lang="en-US" sz="2100">
                <a:solidFill>
                  <a:srgbClr val="14304A"/>
                </a:solidFill>
                <a:latin typeface="IBM Plex Sans"/>
                <a:ea typeface="IBM Plex Sans"/>
                <a:cs typeface="IBM Plex Sans"/>
                <a:sym typeface="IBM Plex Sans"/>
              </a:rPr>
              <a:t>Government of Pakistan, Ministry of Environment (2006). </a:t>
            </a:r>
            <a:r>
              <a:rPr lang="en-US" sz="2100" i="true">
                <a:solidFill>
                  <a:srgbClr val="14304A"/>
                </a:solidFill>
                <a:latin typeface="IBM Plex Sans Italics"/>
                <a:ea typeface="IBM Plex Sans Italics"/>
                <a:cs typeface="IBM Plex Sans Italics"/>
                <a:sym typeface="IBM Plex Sans Italics"/>
              </a:rPr>
              <a:t>National Sanitation Policy.</a:t>
            </a:r>
            <a:r>
              <a:rPr lang="en-US" sz="2100">
                <a:solidFill>
                  <a:srgbClr val="14304A"/>
                </a:solidFill>
                <a:latin typeface="IBM Plex Sans"/>
                <a:ea typeface="IBM Plex Sans"/>
                <a:cs typeface="IBM Plex Sans"/>
                <a:sym typeface="IBM Plex Sans"/>
              </a:rPr>
              <a:t> Islamabad.</a:t>
            </a:r>
          </a:p>
        </p:txBody>
      </p:sp>
      <p:sp>
        <p:nvSpPr>
          <p:cNvPr name="TextBox 19" id="19"/>
          <p:cNvSpPr txBox="true"/>
          <p:nvPr/>
        </p:nvSpPr>
        <p:spPr>
          <a:xfrm rot="0">
            <a:off x="1219200" y="7949765"/>
            <a:ext cx="609600" cy="552450"/>
          </a:xfrm>
          <a:prstGeom prst="rect">
            <a:avLst/>
          </a:prstGeom>
        </p:spPr>
        <p:txBody>
          <a:bodyPr anchor="t" rtlCol="false" tIns="0" lIns="0" bIns="0" rIns="0">
            <a:spAutoFit/>
          </a:bodyPr>
          <a:lstStyle/>
          <a:p>
            <a:pPr algn="l">
              <a:lnSpc>
                <a:spcPts val="3149"/>
              </a:lnSpc>
            </a:pPr>
            <a:r>
              <a:rPr lang="en-US" sz="2250" b="true">
                <a:solidFill>
                  <a:srgbClr val="0B6E60"/>
                </a:solidFill>
                <a:latin typeface="IBM Plex Sans Bold"/>
                <a:ea typeface="IBM Plex Sans Bold"/>
                <a:cs typeface="IBM Plex Sans Bold"/>
                <a:sym typeface="IBM Plex Sans Bold"/>
              </a:rPr>
              <a:t>[6]</a:t>
            </a:r>
          </a:p>
        </p:txBody>
      </p:sp>
      <p:sp>
        <p:nvSpPr>
          <p:cNvPr name="TextBox 20" id="20"/>
          <p:cNvSpPr txBox="true"/>
          <p:nvPr/>
        </p:nvSpPr>
        <p:spPr>
          <a:xfrm rot="0">
            <a:off x="1981200" y="7864040"/>
            <a:ext cx="15540228" cy="1040025"/>
          </a:xfrm>
          <a:prstGeom prst="rect">
            <a:avLst/>
          </a:prstGeom>
        </p:spPr>
        <p:txBody>
          <a:bodyPr anchor="t" rtlCol="false" tIns="0" lIns="0" bIns="0" rIns="0">
            <a:spAutoFit/>
          </a:bodyPr>
          <a:lstStyle/>
          <a:p>
            <a:pPr algn="l">
              <a:lnSpc>
                <a:spcPts val="3150"/>
              </a:lnSpc>
            </a:pPr>
            <a:r>
              <a:rPr lang="en-US" sz="2100">
                <a:solidFill>
                  <a:srgbClr val="14304A"/>
                </a:solidFill>
                <a:latin typeface="IBM Plex Sans"/>
                <a:ea typeface="IBM Plex Sans"/>
                <a:cs typeface="IBM Plex Sans"/>
                <a:sym typeface="IBM Plex Sans"/>
              </a:rPr>
              <a:t>School administration records: student numbers, facilities and attendance (programme data).</a:t>
            </a:r>
          </a:p>
        </p:txBody>
      </p:sp>
      <p:sp>
        <p:nvSpPr>
          <p:cNvPr name="TextBox 21" id="21"/>
          <p:cNvSpPr txBox="true"/>
          <p:nvPr/>
        </p:nvSpPr>
        <p:spPr>
          <a:xfrm rot="0">
            <a:off x="1219200" y="9241184"/>
            <a:ext cx="8225857"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Personal Hygiene &amp; Infection Prevention · School Health Programme, Pakistan</a:t>
            </a:r>
          </a:p>
        </p:txBody>
      </p:sp>
      <p:sp>
        <p:nvSpPr>
          <p:cNvPr name="TextBox 22" id="22"/>
          <p:cNvSpPr txBox="true"/>
          <p:nvPr/>
        </p:nvSpPr>
        <p:spPr>
          <a:xfrm rot="0">
            <a:off x="16794366" y="9241184"/>
            <a:ext cx="350634" cy="472383"/>
          </a:xfrm>
          <a:prstGeom prst="rect">
            <a:avLst/>
          </a:prstGeom>
        </p:spPr>
        <p:txBody>
          <a:bodyPr anchor="t" rtlCol="false" tIns="0" lIns="0" bIns="0" rIns="0">
            <a:spAutoFit/>
          </a:bodyPr>
          <a:lstStyle/>
          <a:p>
            <a:pPr algn="l">
              <a:lnSpc>
                <a:spcPts val="2520"/>
              </a:lnSpc>
            </a:pPr>
            <a:r>
              <a:rPr lang="en-US" sz="1800">
                <a:solidFill>
                  <a:srgbClr val="5B6770"/>
                </a:solidFill>
                <a:latin typeface="IBM Plex Sans"/>
                <a:ea typeface="IBM Plex Sans"/>
                <a:cs typeface="IBM Plex Sans"/>
                <a:sym typeface="IBM Plex Sans"/>
              </a:rPr>
              <a:t>17</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AF0EE"/>
        </a:solidFill>
      </p:bgPr>
    </p:bg>
    <p:spTree>
      <p:nvGrpSpPr>
        <p:cNvPr id="1" name=""/>
        <p:cNvGrpSpPr/>
        <p:nvPr/>
      </p:nvGrpSpPr>
      <p:grpSpPr>
        <a:xfrm>
          <a:off x="0" y="0"/>
          <a:ext cx="0" cy="0"/>
          <a:chOff x="0" y="0"/>
          <a:chExt cx="0" cy="0"/>
        </a:xfrm>
      </p:grpSpPr>
      <p:sp>
        <p:nvSpPr>
          <p:cNvPr name="TextBox 2" id="2"/>
          <p:cNvSpPr txBox="true"/>
          <p:nvPr/>
        </p:nvSpPr>
        <p:spPr>
          <a:xfrm rot="0">
            <a:off x="1219200" y="1104900"/>
            <a:ext cx="16325088" cy="472383"/>
          </a:xfrm>
          <a:prstGeom prst="rect">
            <a:avLst/>
          </a:prstGeom>
        </p:spPr>
        <p:txBody>
          <a:bodyPr anchor="t" rtlCol="false" tIns="0" lIns="0" bIns="0" rIns="0">
            <a:spAutoFit/>
          </a:bodyPr>
          <a:lstStyle/>
          <a:p>
            <a:pPr algn="l">
              <a:lnSpc>
                <a:spcPts val="2520"/>
              </a:lnSpc>
            </a:pPr>
            <a:r>
              <a:rPr lang="en-US" b="true" sz="1800" spc="149">
                <a:solidFill>
                  <a:srgbClr val="0B6E60"/>
                </a:solidFill>
                <a:latin typeface="IBM Plex Sans Bold"/>
                <a:ea typeface="IBM Plex Sans Bold"/>
                <a:cs typeface="IBM Plex Sans Bold"/>
                <a:sym typeface="IBM Plex Sans Bold"/>
              </a:rPr>
              <a:t>THANK YOU FOR YOUR ATTENTION</a:t>
            </a:r>
          </a:p>
        </p:txBody>
      </p:sp>
      <p:sp>
        <p:nvSpPr>
          <p:cNvPr name="TextBox 3" id="3"/>
          <p:cNvSpPr txBox="true"/>
          <p:nvPr/>
        </p:nvSpPr>
        <p:spPr>
          <a:xfrm rot="0">
            <a:off x="1219200" y="2053533"/>
            <a:ext cx="16325088" cy="834333"/>
          </a:xfrm>
          <a:prstGeom prst="rect">
            <a:avLst/>
          </a:prstGeom>
        </p:spPr>
        <p:txBody>
          <a:bodyPr anchor="t" rtlCol="false" tIns="0" lIns="0" bIns="0" rIns="0">
            <a:spAutoFit/>
          </a:bodyPr>
          <a:lstStyle/>
          <a:p>
            <a:pPr algn="l">
              <a:lnSpc>
                <a:spcPts val="7920"/>
              </a:lnSpc>
            </a:pPr>
            <a:r>
              <a:rPr lang="en-US" sz="7200" b="true">
                <a:solidFill>
                  <a:srgbClr val="14304A"/>
                </a:solidFill>
                <a:latin typeface="Source Serif Pro Bold"/>
                <a:ea typeface="Source Serif Pro Bold"/>
                <a:cs typeface="Source Serif Pro Bold"/>
                <a:sym typeface="Source Serif Pro Bold"/>
              </a:rPr>
              <a:t>Vielen Dank</a:t>
            </a:r>
          </a:p>
        </p:txBody>
      </p:sp>
      <p:sp>
        <p:nvSpPr>
          <p:cNvPr name="TextBox 4" id="4"/>
          <p:cNvSpPr txBox="true"/>
          <p:nvPr/>
        </p:nvSpPr>
        <p:spPr>
          <a:xfrm rot="0">
            <a:off x="1219200" y="3068841"/>
            <a:ext cx="16325088" cy="619125"/>
          </a:xfrm>
          <a:prstGeom prst="rect">
            <a:avLst/>
          </a:prstGeom>
        </p:spPr>
        <p:txBody>
          <a:bodyPr anchor="t" rtlCol="false" tIns="0" lIns="0" bIns="0" rIns="0">
            <a:spAutoFit/>
          </a:bodyPr>
          <a:lstStyle/>
          <a:p>
            <a:pPr algn="l">
              <a:lnSpc>
                <a:spcPts val="3900"/>
              </a:lnSpc>
            </a:pPr>
            <a:r>
              <a:rPr lang="en-US" sz="3000">
                <a:solidFill>
                  <a:srgbClr val="3F4B57"/>
                </a:solidFill>
                <a:latin typeface="IBM Plex Sans"/>
                <a:ea typeface="IBM Plex Sans"/>
                <a:cs typeface="IBM Plex Sans"/>
                <a:sym typeface="IBM Plex Sans"/>
              </a:rPr>
              <a:t>Questions and discussion</a:t>
            </a:r>
          </a:p>
        </p:txBody>
      </p:sp>
      <p:sp>
        <p:nvSpPr>
          <p:cNvPr name="AutoShape 5" id="5"/>
          <p:cNvSpPr/>
          <p:nvPr/>
        </p:nvSpPr>
        <p:spPr>
          <a:xfrm rot="48900">
            <a:off x="568242" y="8798300"/>
            <a:ext cx="1340025" cy="0"/>
          </a:xfrm>
          <a:prstGeom prst="line">
            <a:avLst/>
          </a:prstGeom>
          <a:ln cap="rnd" w="19050">
            <a:solidFill>
              <a:srgbClr val="0B6E60"/>
            </a:solidFill>
            <a:prstDash val="solid"/>
            <a:headEnd type="none" len="sm" w="sm"/>
            <a:tailEnd type="none" len="sm" w="sm"/>
          </a:ln>
        </p:spPr>
      </p:sp>
      <p:sp>
        <p:nvSpPr>
          <p:cNvPr name="TextBox 6" id="6"/>
          <p:cNvSpPr txBox="true"/>
          <p:nvPr/>
        </p:nvSpPr>
        <p:spPr>
          <a:xfrm rot="0">
            <a:off x="1485900" y="8119167"/>
            <a:ext cx="16050387" cy="552450"/>
          </a:xfrm>
          <a:prstGeom prst="rect">
            <a:avLst/>
          </a:prstGeom>
        </p:spPr>
        <p:txBody>
          <a:bodyPr anchor="t" rtlCol="false" tIns="0" lIns="0" bIns="0" rIns="0">
            <a:spAutoFit/>
          </a:bodyPr>
          <a:lstStyle/>
          <a:p>
            <a:pPr algn="l">
              <a:lnSpc>
                <a:spcPts val="3149"/>
              </a:lnSpc>
            </a:pPr>
            <a:r>
              <a:rPr lang="en-US" sz="2250" b="true">
                <a:solidFill>
                  <a:srgbClr val="14304A"/>
                </a:solidFill>
                <a:latin typeface="IBM Plex Sans Bold"/>
                <a:ea typeface="IBM Plex Sans Bold"/>
                <a:cs typeface="IBM Plex Sans Bold"/>
                <a:sym typeface="IBM Plex Sans Bold"/>
              </a:rPr>
              <a:t>Anila Munir</a:t>
            </a:r>
          </a:p>
        </p:txBody>
      </p:sp>
      <p:sp>
        <p:nvSpPr>
          <p:cNvPr name="TextBox 7" id="7"/>
          <p:cNvSpPr txBox="true"/>
          <p:nvPr/>
        </p:nvSpPr>
        <p:spPr>
          <a:xfrm rot="0">
            <a:off x="1485900" y="8595417"/>
            <a:ext cx="16050387" cy="864298"/>
          </a:xfrm>
          <a:prstGeom prst="rect">
            <a:avLst/>
          </a:prstGeom>
        </p:spPr>
        <p:txBody>
          <a:bodyPr anchor="t" rtlCol="false" tIns="0" lIns="0" bIns="0" rIns="0">
            <a:spAutoFit/>
          </a:bodyPr>
          <a:lstStyle/>
          <a:p>
            <a:pPr algn="l">
              <a:lnSpc>
                <a:spcPts val="2520"/>
              </a:lnSpc>
            </a:pPr>
            <a:r>
              <a:rPr lang="en-US" sz="1800">
                <a:solidFill>
                  <a:srgbClr val="3F4B57"/>
                </a:solidFill>
                <a:latin typeface="IBM Plex Sans"/>
                <a:ea typeface="IBM Plex Sans"/>
                <a:cs typeface="IBM Plex Sans"/>
                <a:sym typeface="IBM Plex Sans"/>
              </a:rPr>
              <a:t>anilamunir15@gmail.com · Choa Saidan Shah, Chakwal, Pakistan · 1 January – 1 February 2026</a:t>
            </a:r>
          </a:p>
          <a:p>
            <a:pPr algn="l">
              <a:lnSpc>
                <a:spcPts val="2520"/>
              </a:lnSpc>
            </a:pPr>
            <a:r>
              <a:rPr lang="en-US" sz="1800">
                <a:solidFill>
                  <a:srgbClr val="3F4B57"/>
                </a:solidFill>
                <a:latin typeface="IBM Plex Sans"/>
                <a:ea typeface="IBM Plex Sans"/>
                <a:cs typeface="IBM Plex Sans"/>
                <a:sym typeface="IBM Plex Sans"/>
              </a:rPr>
              <a:t>Applicant, Master of Public Health (DAAD EPOS)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DAHWlhvxdPM</dc:identifier>
  <dcterms:modified xsi:type="dcterms:W3CDTF">2011-08-01T06:04:30Z</dcterms:modified>
  <cp:revision>1</cp:revision>
  <dc:title>Personal Hygiene &amp; Infection Prevention .pptx</dc:title>
</cp:coreProperties>
</file>